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notesMasterIdLst>
    <p:notesMasterId r:id="rId7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4159f3b0-a2ac-4fa6-78dc-362a32bbca19}">
          <p14:sldIdLst>
            <p14:sldId id="256"/>
            <p14:sldId id="257"/>
            <p14:sldId id="258"/>
          </p14:sldIdLst>
        </p14:section>
        <p14:section name="풀이 공식" id="{07177a75-8587-c5a5-e240-9952a6c79d81}">
          <p14:sldIdLst>
            <p14:sldId id="259"/>
            <p14:sldId id="260"/>
            <p14:sldId id="261"/>
            <p14:sldId id="262"/>
          </p14:sldIdLst>
        </p14:section>
        <p14:section name="Part 1 · Ex 1–6" id="{d19ccb77-ff25-7653-c255-cb0bacb3b8e5}">
          <p14:sldIdLst>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Lst>
        </p14:section>
        <p14:section name="Part 2 · Ex 7–12" id="{ab6b7dcd-18d3-3811-4cf1-68e9fc76acfe}">
          <p14:sldIdLst>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Lst>
        </p14:section>
        <p14:section name="정리" id="{e7ef13f9-1c5e-b018-b2a5-541556d00cb2}">
          <p14:sldIdLst>
            <p14:sldId id="32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【인사·목표 제시】 "숙제로 풀어 온 빈칸 문제 10개, 밑줄 의미 문제 2개를 오늘 하나씩 해설할 거예요. 오늘 딱 하나만 기억하면 됩니다. 빈칸의 답은 항상 지문 안에 '다른 말로' 숨어 있다!"
【시간 배분 추천】 50분 수업 2차시: 1차시 = 채점 + 풀이 공식 + Ex 1~6, 2차시 = Ex 7~12 + 정리. 한 문제당 약 8~9분(지문+보기·근거 3분 + 문법 2분 + 흐름·정답·오답 3~4분). 시간이 부족하면 문법 슬라이드는 위의 두 개만 짚고 넘어가세요.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 꺼내세요. 정답 불러 줄게요." 학생들이 스스로 채점하게 한 뒤, 문제별로 틀린 사람 손 들기 → 많이 틀린 번호를 칠판에 적어 두고 해설 때 시간을 더 쓰세요.
【정답】 1-③ 2-④ 3-③ 4-① 5-① 6-④ 7-① 8-④ 9-② 10-② 11-② 12-⑤ (6·12번은 함의 추론)
【한 줄 핵심】 1 자존감 낮음 = 자기평가가 오락가락 / 2 문해력 없는 곳에 야만 / 3 문화가 주의 방식을 바꿈 / 4 가격이 내려가면 숨은 수요가 드러남 / 5 역사가는 이해 가능한 서사를 만듦 / 6 위신은 다른 분야로 번짐 / 7 감정의 의미는 우리가 정함 / 8 물 통제 → 권력과 위계 / 9 교환은 문화의 적 / 10 대표는 완벽하지 않음 / 11 숲은 과거 생명을 재활용 / 12 '여기서만' = 신뢰 기반 공개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방식 안내】 "숙제로 다 풀어 왔죠? 매 문제마다 ① 지문+보기 보면서 고른 답 확인 → ② 정답 근거 &amp; 문법 포인트 → ③ 글의 흐름 정리 → ④ 정답과 오답 이유, 이 순서로 해설할게요."
【팁】 지문+보기 슬라이드를 띄우자마자 "몇 번 골랐어?" 손가락으로 표시하게 하면 오답 분포를 바로 알 수 있어요. 많이 틀린 선택지는 정답·오답 슬라이드에서 더 오래 설명하세요.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"빈칸 문제를 처음부터 끝까지 해석하고 나서 고르면 시간이 부족해요. 순서를 바꿔 볼게요.
1단계, 빈칸 문장을 먼저 읽고 '내가 찾아야 할 것'을 정해요. 예: '자존감 낮은 사람의 특징'.
2단계, 지문에서 그것과 같은 말을 찾아요. 글쓴이는 중요한 말을 반드시 반복해요.
3단계, 선택지를 넣어 보고 틀린 것부터 지워요."
【강조】 오늘 12문제 모두 이 3단계로 풀 거라고 예고하세요.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"글을 읽다가 이 네 종류 단어가 나오면 꼭 동그라미 치세요. 답이 바로 근처에 있어요."
【오른쪽 위 칩】 오늘 문제 중 그 신호어가 결정적이었던 Exercise 번호예요. 해당 문제를 풀 때 "아까 배운 반전 신호어 기억나?" 하고 다시 연결해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"오답에도 패턴이 있어요. 이 4가지만 알면 5개 중 2~3개는 바로 지울 수 있어요."
【활용 팁】 뒤에 나오는 '정답 &amp; 오답 체크' 슬라이드에서 각 선택지 오른쪽에 이 4가지 라벨이 붙어 있어요. 학생에게 "이 선택지는 어떤 함정일까?"를 먼저 물어보고 라벨을 확인시키면 참여형 수업이 됩니다.
【색 기억법】 빨강 = 정답, 남색 = 반대, 연두 = 언급 없음, 노랑 = 소재 함정, 파랑 = 범위 오류.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"밑줄 문제는 '암호 풀기'예요. 밑줄은 비유라서 단어 하나하나를 글의 핵심 개념으로 바꿔 줘야 해요."
【칠판 활동】 오른쪽 예시처럼 '밑줄 단어 → 글의 개념'을 표로 만들어 보여 주세요. Ex 6과 Ex 12가 이 유형입니다.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【1차시 본론 시작】 "이제 문제를 풀어 볼게요. 3분 타이머 시작! 빈칸 문장부터 읽는 것 잊지 마세요."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자존감 낮은 사람들의 '특징'을 찾자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문장(2, 5, 6번)에서 멈춰 "여기가 정답 근거!"라고 강조하세요. 파란 굵은 글씨는 문법·내신 포인트로, 다음 슬라이드에서 정리합니다.
【도입 질문】 "자존감 낮은 사람은 자기 자신을 어떻게 평가할까? 그냥 '나쁘게' 평가할까?" → 학생 대부분 '나쁘게'라고 답함.
【반전 포인트】 이 글은 '나쁘게'가 아니라 '오락가락(일관성이 없다)'이 핵심이라고 말해 줍니다. Low self-esteem subjects did NOT strongly endorse the negative adjectives — 부정적인 걸 강하게 인정하지도 않았다는 것!
【단서 연결】 마지막 문장 Therefore ~ evaluatively consistent 를 같이 밑줄 → 선택지 ③의 evaluatively consistent와 똑같은 단어. "빈칸 답은 지문 안에 같은 말로 숨어 있다"를 강조.
【주의 어휘】 variance(분산) = 퍼져 있는 정도, intermediate = 중간의, endorse = 인정하다.
【문장별 해석 · 선생님 참고용 (★ = 정답 근거)】
(1) 자존감이 낮은 사람들은 ______는 증거가 있다.
(2) ★ Campbell과 Fehr가 피실험자들이 한결같이 긍정적이거나 한결같이 부정적인 형용사 세트로 자신을 어떻게 평가하는지 조사했을 때, 자존감이 낮은 피실험자들은 (평균적으로) 덜 긍정적이거나 더 부정적인 평가를 했을 뿐 아니라, 각 세트 안에서의 평가도 더 흩어져 있었다, 즉 분산이 더 컸다.
(3) 자존감이 높은 피실험자들은 긍정적 형용사는 강하고 일관되게 인정하고, 부정적 형용사는 거부했다.
(4) 대조적으로, 자존감이 낮은 피실험자들은 부정적 형용사를 강하고 일관되게 인정하고 긍정적 형용사를 거부하지는 않았다.
(5) ★ 오히려 그들은 두 종류의 형용사 모두에 더 중간적이고 더 가변적인(들쭉날쭉한) 평가를 했다.
(6) ★ 그러므로 자존감이 낮은 사람과 높은 사람은 자기관의 평균적 긍정성뿐 아니라, 자기관들이 서로 평가적으로 일관된 정도에서도 다른 것으로 보인다.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간접의문문 · 재귀대명사: 의문사 how + 주어 + 동사 어순. 주어(subjects) = 목적어이므로 재귀대명사 themselves
• either A or B: 상관접속사: A와 B는 같은 형태(부사+형용사)로 병렬
• not only A but also B: A·B 모두 'in + 명사'로 병렬 → 어법·서술형 단골
• 전치사 + 관계대명사: to which 뒤에는 완전한 절. (the extent to which ~ = ~하는 정도)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"자존감 낮은 사람은 자기 자신을 어떻게 평가할까? 그냥 '나쁘게' 평가할까?" → 학생 대부분 '나쁘게'라고 답함.
【반전 포인트】 이 글은 '나쁘게'가 아니라 '오락가락(일관성이 없다)'이 핵심이라고 말해 줍니다. Low self-esteem subjects did NOT strongly endorse the negative adjectives — 부정적인 걸 강하게 인정하지도 않았다는 것!
【단서 연결】 마지막 문장 Therefore ~ evaluatively consistent 를 같이 밑줄 → 선택지 ③의 evaluatively consistent와 똑같은 단어. "빈칸 답은 지문 안에 같은 말로 숨어 있다"를 강조.
【주의 어휘】 variance(분산) = 퍼져 있는 정도, intermediate = 중간의, endorse = 인정하다.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상황 해석에 민감 → 글에 없는 내용
② 반대: 안정적 → 오히려 '들쭉날쭉'이 핵심
③ 정답: 자기 묘사의 평가적 일관성이 낮다 = consistent의 재진술
④ 반대: '일관되게' 다듬어짐 → 일관성이 낮다는 글과 반대
⑤ 언급 없음: 또래·주변인 인정에 의존 → 글에 없음
【마무리 멘트】 "정답 ③은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'야만'이 흔한 곳 = 어떤 사회?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문장(3, 5, 7번)에서 멈춰 "여기가 정답 근거!"라고 강조하세요. 파란 굵은 글씨는 문법·내신 포인트로, 다음 슬라이드에서 정리합니다.
【도입 질문】 "글을 못 읽는 사회는 어떤 모습일까?"
【풀이 핵심】 빈칸 문장 바로 앞의 '야만'(barbarity)은 Johnson 인용에서 왔음 → 인쇄(printing)가 없는 곳 = 문해력이 없는 곳.
【재진술 보여주기】 3번째 문장 Societies that do not practice literate behavior ↔ 정답 ④ literate behavior is absent. 같은 표현이 '부정문 → absent'로 바뀐 것뿐!
【교재 오타】 ③ previals는 prevails(만연하다)의 오타입니다. 학생에게 미리 알려 주세요.
【어휘】 squalid 지저분한, repressive 억압적인, prevalent 널리 퍼진, go hand in hand 함께 가다.
【문장별 해석 · 선생님 참고용 (★ = 정답 근거)】
(1) 문해 사회에서 글을 읽고 쓸 줄 아는 것의 힘과 가치는 전 세계에서 매일 드러나고 있다.
(2) 다른 이들이 그것을 당연하게 여기는 바로 그때에도, 많은 개인들, 그리고 실은 사회 전체가 문해력을 갖추기 위해 상당한 희생을 치른다.
(3) ★ 문해 행위를 실천하지 않는 사회는 흔히 지저분하고, 정신과 육체가 영양 결핍 상태이며, 인권과 존엄성을 억압하고, 잔인하며 가혹하다.
(4) 오늘날의 예를 열거하기는 쉽지만, 사실 이것은 언제나 그래 왔다.
(5) ★ 2세기도 더 전에 Samuel Johnson이 말했듯이, "인쇄가 없는 곳에서는 모든 민족의 대중이 야만적일 수밖에 없다."
(6) 우리는 다양한 형태의 '야만'이 모든 사회에서 발견될 수 있음을 인정하지만, 그것들은 ______한 곳에서 훨씬 더 널리 퍼져 있다.
(7) ★ 문해력과 삶의 질은 함께 간다.
(8) 문해력과 함께 특권 집단에 속하는 힘과 그 힘에서 나오는 자유가 온다.
(9) 노예로서 읽는 법을 배우려고 분투했던 Frederick Douglass는 이것을 가장 잘 표현했다. "일단 읽는 법을 배우면, 당신은 영원히 자유로울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주어-동사 수일치: 주어 The power and value(복수) → are. 수식어 of ~ society에 속지 말 것
• 주격 관계대명사 + 수일치: that절이 Societies를 수식, 본동사는 복수 are
• 부사구 도치: 부사구 With literacy + 동사 comes + 주어 the power … (주어가 길어서 도치)
• 계속적 용법 관계대명사: 콤마 + who: Frederick Douglass에 대한 부연 설명 (that 불가)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"글을 못 읽는 사회는 어떤 모습일까?"
【풀이 핵심】 빈칸 문장 바로 앞의 '야만'(barbarity)은 Johnson 인용에서 왔음 → 인쇄(printing)가 없는 곳 = 문해력이 없는 곳.
【재진술 보여주기】 3번째 문장 Societies that do not practice literate behavior ↔ 정답 ④ literate behavior is absent. 같은 표현이 '부정문 → absent'로 바뀐 것뿐!
【교재 오타】 ③ previals는 prevails(만연하다)의 오타입니다. 학생에게 미리 알려 주세요.
【어휘】 squalid 지저분한, repressive 억압적인, prevalent 널리 퍼진, go hand in hand 함께 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문해율이 일정하다 → '변화' 이야기 아님
② 소재 함정: 도덕이 무시된다 → 그럴듯하지만 주제는 '문해력'
③ 언급 없음: 경제적 불평등 → 글에 없음 (교재 오타: previals)
④ 정답: 문해 행위가 없는 곳 = do not practice literate behavior
⑤ 언급 없음: 사회 안정이 취약하다 → 글의 핵심어 아님
【마무리 멘트】 "정답 ④은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문화적 자아관이 '무엇에' 영향을 주나?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문장(2, 5, 8번)에서 멈춰 "여기가 정답 근거!"라고 강조하세요. 파란 굵은 글씨는 문법·내신 포인트로, 다음 슬라이드에서 정리합니다.
【도입 질문】 "어항 사진을 보고 '무엇을 봤어?'라고 물으면 너희는 뭐라고 할 것 같아? 물고기? 아니면 물풀·돌까지?"
【풀이 핵심】 지문에 attention / attend 가 계속 반복됨 → 반복되는 단어가 곧 주제! 정답 ③에 attention이 그대로 나옴.
【오답 설명】 ⑤ '사회적 태도와 행동'은 그럴듯하지만 글은 '어디에 주의를 기울이나'만 다룸 → 범위를 벗어남.
【어휘】 in lieu of ~대신에, attuned to ~에 맞춰진, borne out 입증된, vignette 짤막한 장면.
※ 교재 본문 'ani mated'는 animated의 띄어쓰기 오류.
【문장별 해석 · 선생님 참고용 (★ = 정답 근거)】
(1) 문화적으로 공유된 자아관은 ______라고 제시되어 왔다.
(2) ★ 서양 문화에서 개인은 욕구와 개인적 목표 같은 내적 속성을 발견하도록 장려되며, 따라서 그런 욕구와 목표에 관련된 사건에 주의를 집중할 것으로 예상될 수 있다.
(3) 그 결과, 그들의 주의는 (한 곳에) 집중될 수 있다.
(4) 맥락 대신 초점 대상에 고정된 이러한 인지 방식은 '분석적'이라고 불려 왔다.
(5) ★ 대조적으로, 동양 문화에서 개인은 늘 중요한 사회적 관계의 다양한 측면에 더 맞춰져 있으며, 그 결과 초점 대상뿐 아니라 그 주변 맥락에도 더 넓게 주의를 기울여, 대상과 맥락 사이의 관계를 추론할 것으로 예상될 수 있다.
(6) 이러한 인지 방식은 '총체적'이라고 불려 왔다.
(7) 이러한 예측은 입증되었다.
(8) ★ 예를 들어, 수중 장면을 담은 짤막한 애니메이션을 보고 나서 본 것을 기억해 보라는 요청을 받았을 때, 유럽계 미국인은 초점 대상을 더 많이 회상한 반면, 일본인은 초점 대상들 사이의 관계뿐 아니라 맥락 정보도 더 많이 언급했다.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현재완료 수동태: suggest의 대상인 views → have been p.p. (be suggested to V: ~하는 것으로 제시되다)
• encourage O to V의 수동태: 능동 encourage individuals to discover → 수동 be encouraged to V
• 삽입절 · 수일치: 주어 This cognitive style ↔ 동사 has been called (삽입된 which절 건너뛰기). call O C의 수동태
• 분사구문: and they draw inferences의 의미 (동시동작·부대상황)
• 접속사 + 분사구문: when (they were) presented with ~ → 접속사를 남긴 수동 분사구문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"어항 사진을 보고 '무엇을 봤어?'라고 물으면 너희는 뭐라고 할 것 같아? 물고기? 아니면 물풀·돌까지?"
【풀이 핵심】 지문에 attention / attend 가 계속 반복됨 → 반복되는 단어가 곧 주제! 정답 ③에 attention이 그대로 나옴.
【오답 설명】 ⑤ '사회적 태도와 행동'은 그럴듯하지만 글은 '어디에 주의를 기울이나'만 다룸 → 범위를 벗어남.
【어휘】 in lieu of ~대신에, attuned to ~에 맞춰진, borne out 입증된, vignette 짤막한 장면.
※ 교재 본문 'ani mated'는 animated의 띄어쓰기 오류.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사회적 상호작용 해석을 '왜곡' → 부정적 내용 없음
② 언급 없음: 세대에 걸친 사회 문제 → 무관
③ 정답: 기본적 주의 과정에 깊은 영향 = attention 반복
④ 반대: '최소한의' 영향 → 큰 영향이라는 글과 반대
⑤ 범위 오류: 사회적 태도·행동 → 글은 '주의(보는 방식)' 이야기
【마무리 멘트】 "정답 ③은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숨어 있던 수요가 '언제' 드러나나?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문장(5, 6, 8번)에서 멈춰 "여기가 정답 근거!"라고 강조하세요. 파란 굵은 글씨는 문법·내신 포인트로, 다음 슬라이드에서 정리합니다.
【도입 질문】 "아이폰이 10만 원이 되면 몇 대 살래?" → 가격이 내려가면 '원래 안 사던 사람'도 산다.
【풀이 핵심】 For example 이후는 전부 예시 → 예시의 공통점을 한 줄로 = 정답. 숫자가 $1 million → $100,000 → $100 → $10 으로 계속 '내려감'을 칠판에 화살표로 그려 주세요.
【오답 설명】 ⑤ risk-free: 15분 시술 = 편리함이지 '위험 제로' 이야기 아님. 핵심 변수는 cost.
【어휘】 latent 잠재하는, implant 이식하다, give out (기능이) 다하다.
【문장별 해석 · 선생님 참고용 (★ = 정답 근거)】
(1) 환자가 구매를 선택하면 그 사람은 수요의 일부가 된다.
(2) (약, 성형수술, 인공 고관절 등을) 사고 싶지만 사지 않으면 그 잠재적 환자는 보이지 않는 상태, 즉 시장에 실질적으로 참여하지 않는 잠재 수요의 일부로 남는다.
(3) 그 추가 수요는 ______ 드러날 것이다.
(4) 예를 들어, 인공 심장의 개발을 생각해 보라.
(5) ★ 심장 하나에 100만 달러가 든다면, 그것은 생사가 걸린 문제에만 사용될 것이다.
(6) ★ 추가 개발로 인공 심장의 비용이 개당 10만 달러로 줄어든다면, 더 많은 사람이 그것을 얻게 될 것이다.
(7) 인공 심장은 여전히 중병 환자에게만 사용되겠지만, 사람의 원래 심장이 기능을 다하기 훨씬 전에 이식될 수도 있을 것이다.
(8) ★ 인공 심장 제작 비용이 100달러로 떨어진다면, 필요한 누구나 쉽게 구할 수 있을 것이다.
(9) 인공 심장 비용이 10달러로 떨어지고 15분짜리 진료 중에 쉽게 이식될 수 있다면 어떤 일이 일어날지 생각해 보라.
(10) 한 번도 아픈 적 없이 그저 걱정만 하던 사람들 중 일부는 새 심장을 이식받을지도 모른다.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동명사 주어 · leave O C: 동명사 주어는 단수 → leaves. 목적격 보어 자리에 형용사 invisible (부사 X)
• 주격 관계대명사 수일치: 선행사 latent demand(단수) → does
• 가정법 과거: If + S + 과거동사, S + would + 동사원형: 현재 사실의 가정
• 사역동사 have O p.p.: 심장이 '이식되는' 것 → 목적격 보어 과거분사 implanted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"아이폰이 10만 원이 되면 몇 대 살래?" → 가격이 내려가면 '원래 안 사던 사람'도 산다.
【풀이 핵심】 For example 이후는 전부 예시 → 예시의 공통점을 한 줄로 = 정답. 숫자가 $1 million → $100,000 → $100 → $10 으로 계속 '내려감'을 칠판에 화살표로 그려 주세요.
【오답 설명】 ⑤ risk-free: 15분 시술 = 편리함이지 '위험 제로' 이야기 아님. 핵심 변수는 cost.
【어휘】 latent 잠재하는, implant 이식하다, give out (기능이) 다하다.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정답: 가격이 충분히 낮아지면 = 예시 전체의 공통점
② 소재 함정: 소득 증가 → 예시는 '소득'이 아니라 '가격' 변화
③ 언급 없음: 사회가 필요하다고 여길 때 → 글에 없음
④ 언급 없음: 규칙이 올바르게 적용될 때 → 무관
⑤ 소재 함정: 위험이 없어지면 → 예시는 '안전'이 아니라 '비용'
【마무리 멘트】 "정답 ①은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These(앞의 예시들)를 한 마디로 묶으면?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문장(1, 3번)에서 멈춰 "여기가 정답 근거!"라고 강조하세요. 파란 굵은 글씨는 문법·내신 포인트로, 다음 슬라이드에서 정리합니다.
【풀이 핵심】 빈칸이 '맨 끝'에 있고 These are just a few of the ways ~ 형태 → 앞에 나온 방법들을 '요약'하는 문장. 요약은 보통 첫 문장(주제문)과 같음!
【활동】 학생에게 "앞에서 역사가가 한 일 3가지를 찾아봐" → 연대순 / 관점·어조 / 발전 vs 쇠퇴. 이 셋의 공통 목적 = understandable narrative.
【오답 설명】 ⑤ 케네디를 '카멜롯'으로 낭만화한 것은 허구(fiction)를 쓴 것이 아니라 '비유로 색을 입힌 것'.
【어휘】 plausible 그럴듯한, allude to 넌지시 암시하다, chronological 연대순의.
【문장별 해석 · 선생님 참고용 (★ = 정답 근거)】
(1) ★ 역사가는 증거를 선별하고 해석하는 것 이상의 일을 한다. 그들은 또한 이해할 수 있는 (그리고 그들이 바라기로는 설득력 있는) 서사를 만들기 위해 증거를 조직한다.
(2) 특히 변화의 원인이 핵심일 때 연대순은 일반적으로 역사를 그럴듯하게 만드는 요소의 일부이지만, 실제로 많은 역사 서술은 복잡한 이야기의 여러 가닥을 집어내기 위해 시간을 앞뒤로 오가야 한다.
(3) ★ 역사가는 또한 사건을 특정한 관점에서 비추거나 서사에 특정한 어조를 부여함으로써 사건을 이해할 수 있게 만든다.
(4) 예를 들어, 역사가는 역사적 아이러니를 부각할 수 있다. George W. Bush 대통령은 한 나라의 정부가 무너졌을 때 미국이 그 나라의 경제·정치 구조를 재건하는 '국가 건설'을 한때 비판했지만, 나중에 이라크 전쟁을 일으킨 결과 바로 그 일을 시도해야 했던 것이 그 예이다.
(5) 역사가는 사건을 낭만화할 수도 있는데, 영웅적인 아서 왕과 원탁의 기사들에 관한 브로드웨이 뮤지컬을 암시하며 John F. Kennedy의 대통령 임기를 '카멜롯'이라고 묘사한 사람들이 그랬다.
(6) 마찬가지로, 어떤 역사가는 일련의 사건을 발전으로 보는 반면, 다른 역사가는 그것을 쇠퇴로 인식할 수 있다.
(7) 이것들은 ______하는 방식들 중 단지 몇 가지일 뿐이다.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by -ing 병렬: by + casting / giving: or로 연결된 동명사 병렬
• 전치사 + 관계대명사: in which = where, 뒤에 완전한 절 (선행사 nation building)
• as + 대동사 + 주어 도치: as did those = as those (romanticized events) did
• view / perceive A as B: A를 B로 여기다 (regard A as B 유형) — as 자리 어법 출제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【풀이 핵심】 빈칸이 '맨 끝'에 있고 These are just a few of the ways ~ 형태 → 앞에 나온 방법들을 '요약'하는 문장. 요약은 보통 첫 문장(주제문)과 같음!
【활동】 학생에게 "앞에서 역사가가 한 일 3가지를 찾아봐" → 연대순 / 관점·어조 / 발전 vs 쇠퇴. 이 셋의 공통 목적 = understandable narrative.
【오답 설명】 ⑤ 케네디를 '카멜롯'으로 낭만화한 것은 허구(fiction)를 쓴 것이 아니라 '비유로 색을 입힌 것'.
【어휘】 plausible 그럴듯한, allude to 넌지시 암시하다, chronological 연대순의.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정답: 역사를 서사적으로 이해되게 만든다 = 첫 문장 재진술
② 범위 오류: 연구가 추진·전달되는 방식 → 너무 넓고 막연함
③ 언급 없음: 지식을 풍부하게 → 가치 평가, 글에 없음
④ 언급 없음: 교훈적 자료로 사용 → 글에 없음
⑤ 소재 함정: 허구 사용·공감 → romanticize ≠ fiction
【마무리 멘트】 "정답 ①은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골프(분야 A) → 시계(분야 B) = 무슨 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문장(5, 7번)에서 멈춰 "여기가 정답 근거!"라고 강조하세요. 파란 굵은 글씨는 문법·내신 포인트로, 다음 슬라이드에서 정리합니다.
【유형 전환】 "이번엔 빈칸이 아니라 '밑줄 친 말의 의미' 문제야. 밑줄은 비유라서 그대로 해석하면 안 돼!"
【활동】 칠판에 [골프] → [시계] 화살표. "골프 선수가 시계 전문가야? 아니지! 그런데 왜 시계를 팔 수 있어?" → 한 분야의 위신이 다른 분야로 번진다.
【단서】 their influence won't be limited to their field / Success in one area of life affords someone the status of general opinion leader.
【교재 오타】 ④ expends는 extends(확장되다)의 오타입니다. PPT에는 고쳐서 넣었어요.
【어휘】 dominance 지배, rub off on ~에게 옮아가다, afford 제공하다.
【문장별 해석 · 선생님 참고용 (★ = 정답 근거)】
(1) 위신은 인간만이 인식하는 특별한 형태의 지위이다.
(2) 대부분의 동물은 가장 힘세거나 공격적인 개체가 되는 것 같은 지배의 이점을 따르며, 이것은 인간에게도 중요하다. 무시무시한 전사는 어디서나 찬양받는다.
(3) 위신은 거의 그 반대이다.
(4) 위신 있는 사람은 배울 가치가 있는 사람, 즉 전문가나 연장자이다.
(5) ★ 그리고 누군가 한 분야에서 위신을 가지면, 그들은 높은 지위의 사람이 되고 그들의 영향력은 그 분야에 한정되지 않는다. 우리는 그들의 모든 결정을 따라 할 가능성이 크다.
(6) 실제로 위신은 문화 전달의 이점을 높이는 방법으로 진화했을지도 모른다.
(7) ★ 삶의 한 영역에서의 성공은 그 사람에게 전반적인 여론 주도자의 지위를 부여한다.
(8) 우리는 성공한 사람들에게서 배우거나, 그저 어떤 식으로든 그들과 연관되기를 원하는데, 그들의 명성이 우리에게 옮아오도록 하기 위해서이다.
(9) 그래서 골프 영웅이 당신에게 시계를 팔 수 있는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목적격 관계대명사: recognize의 목적어가 빠진 불완전한 절 → that/which
• worthy of -ing · 전치사 잔류: ones = individuals. learn from them → learning from (전치사 from 남음)
• 4형식 afford IO DO: afford + 사람 + 사물: ~에게 …을 주다
• so that (목적): so that + S + V: ~하도록. rub off on: ~에게 옮아가다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【유형 전환】 "이번엔 빈칸이 아니라 '밑줄 친 말의 의미' 문제야. 밑줄은 비유라서 그대로 해석하면 안 돼!"
【활동】 칠판에 [골프] → [시계] 화살표. "골프 선수가 시계 전문가야? 아니지! 그런데 왜 시계를 팔 수 있어?" → 한 분야의 위신이 다른 분야로 번진다.
【단서】 their influence won't be limited to their field / Success in one area of life affords someone the status of general opinion leader.
【교재 오타】 ④ expends는 extends(확장되다)의 오타입니다. PPT에는 고쳐서 넣었어요.
【어휘】 dominance 지배, rub off on ~에게 옮아가다, afford 제공하다.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돈을 많이 버는 것 → 글에 없음
② 소재 함정: 은퇴 후 진로 → 글은 '영향력 확장'
③ 언급 없음: 즉각적 만족을 위한 구매 → 글에 없음
④ 정답: 위신을 얻으면 영향력이 원래 분야를 넘어 확장
⑤ 반대: 위신의 상속 → 글은 실력·성공으로 얻음
【마무리 멘트】 "정답 ④은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【2차시 시작】 지난 시간 3단계 공식(빈칸 문장 먼저 → 같은 말 찾기 → 함정 지우기)과 신호어 4종을 1분 동안 복습하고 시작하세요.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우리가 '생각해서 결정'할 수 있는 것은?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문장(1, 5, 6번)에서 멈춰 "여기가 정답 근거!"라고 강조하세요. 파란 굵은 글씨는 문법·내신 포인트로, 다음 슬라이드에서 정리합니다.
【도입】 "심장이 두근거릴 때, 그게 '설렘'인지 '불안'인지 누가 정해?" → 몸은 반응만, 의미는 내가 붙인다 = emotion vs feeling.
【풀이 핵심】 빈칸의 cognitively assign 은 앞 문장 feelings are the cognitive assignments ~ 와 같은 말 → 감정에 '의미'를 붙이는 것 = ①.
【예시 해석】 북소리는 편을 골라 주지 않음(의미는 내가 정함) + 고른 쪽으로 힘만 줌(감정 에너지).
【오답】 ②⑤는 '북소리/음악'이라는 소재만 같은 대표적 함정.
【어휘】 neurobiological 신경생물학적, exemplar 전형적인 예, set off 일으키다.
【문장별 해석 · 선생님 참고용 (★ = 정답 근거)】
(1) ★ 감정(emotion)은 무의식적인 신경생물학적 반응을 가리키는 데 쓰일 수 있는 반면, 느낌(feeling)은 우리가 그 감정에 부여하는 인지적 의미이다.
(2) 이것은 분명 훨씬 더 복잡한 역학 관계이며, 이 둘의 상호 작용을 설명하는 매우 상세한 정보가 아주 많다.
(3) 그러나 감정과 느낌의 구분이 가장 주목할 만하게 적용되는 점은, 인간이 바로 ______을 인지적으로 부여할, 즉 그것에 대해 생각하고 결정할 어느 정도의 능력이 있다는 것이다.
(4) 이것은 더 구체적인 예인 고대의 전쟁 북을 생각해 보면 더 쉽게 이해할 수 있다.
(5) ★ 대부분은 울리는 전쟁 북소리를 듣는다고 해서 어떤 갈등에서 편을 고르게 되지는 않는다는 데 동의할 것이다.
(6) ★ 울리는 전쟁 북은 처음에 선택한 쪽이 어느 쪽이든 그 편에서 더 힘차게 행진하도록 도울 뿐이다.
(7) 북소리의 청각적 감각이 일으킨 신경생물학적 경험은 사람이 주어진 목적을 향해 더 많은 에너지를 '느끼고' 더 빨리 걷게 만든다.
(8) 아마 셰익스피어는 Timon의 대사 "그대의 북을 따르라…"를 쓸 때 이것에 대해 무언가 알고 있었을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목적격 관계대명사 생략: assignments (that) we make ~: make의 목적어가 빠진 절
• 명사절 that (보어): the most noteworthy application … is that ~: that절이 보어
• lead O to V: 목적격 보어 자리에 to부정사 (lead/cause/allow O to V)
• 복합관계형용사: whichever + 명사: 어느 쪽 ~이든
• 과거분사 수식 · cause O to V: experience (which was) set off by ~ / 주어 experience → 단수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"심장이 두근거릴 때, 그게 '설렘'인지 '불안'인지 누가 정해?" → 몸은 반응만, 의미는 내가 붙인다 = emotion vs feeling.
【풀이 핵심】 빈칸의 cognitively assign 은 앞 문장 feelings are the cognitive assignments ~ 와 같은 말 → 감정에 '의미'를 붙이는 것 = ①.
【예시 해석】 북소리는 편을 골라 주지 않음(의미는 내가 정함) + 고른 쪽으로 힘만 줌(감정 에너지).
【오답】 ②⑤는 '북소리/음악'이라는 소재만 같은 대표적 함정.
【어휘】 neurobiological 신경생물학적, exemplar 전형적인 예, set off 일으키다.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정답: 우리가 경험하는 감정이 무엇을 의미할지 = feeling의 정의
② 소재 함정: 음악 = 심리 무기 → 북소리 '소재'만 빌린 함정
③ 반대: 무의식이 본능적 행동을 형성 → 글은 '인지적' 선택 강조
④ 언급 없음: 리듬과 신경 발달 → 글에 없음
⑤ 소재 함정: 외부 신호가 감정·기억 유발 → 핵심 아님
【마무리 멘트】 "정답 ①은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물을 '중앙에서 통제'하면 무엇이 생기나?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문장(4, 7번)에서 멈춰 "여기가 정답 근거!"라고 강조하세요. 파란 굵은 글씨는 문법·내신 포인트로, 다음 슬라이드에서 정리합니다.
【풀이 핵심】 이 문제는 오답 4개가 전부 '반대'라서 초보자도 지우기 쉬운 문제. "centralized control(중앙 통제) 하면 평등해질까, 위아래가 생길까?"라고 물어보세요.
【단서】 complex social structures, powerful city-states, temple priests or powerful leaders → power + hierarchy.
【팁】 빈칸 앞 단어 centralized control 하나만 제대로 해석해도 정답이 나온다는 걸 강조.
【어휘】 irrigation 관개, divert (물길을) 돌리다, dike 제방, reservoir 저수지, hierarchy 위계.
【문장별 해석 · 선생님 참고용 (★ = 정답 근거)】
(1) 메소포타미아의 농업 잠재력을 여는 열쇠는 관개에 있었다.
(2) 초기 메소포타미아인들, 특히 수메르인들은 정교한 관개 기술을 개발한 선구자였다.
(3) 그들은 강의 흐름을 통제하기 위해 운하, 제방, 저수지를 건설하여, 건기에는 물을 밭으로 돌리고 홍수로부터 정착지를 보호했다.
(4) ★ 이 거대한 노력은 이전에 없던 규모의 협력과 조직을 필요로 했고, 복잡한 사회 구조의 발달과 강력한 도시 국가의 부상으로 이어졌다.
(5) 초기 관개는 비교적 소규모였으며, 근처 밭으로 물을 돌리기 위해 단순한 수로를 파는 일이었다.
(6) 시간이 지나면서 이 체계는 더 정교해져, 먼 거리에 걸친 복잡한 운하망을 갖추게 되었다.
(7) ★ 이 체계를 건설하고 유지하는 데는 상당한 노동력이 필요했는데, 그것은 흔히 신전 사제나 강력한 지도자들이 조직하고 지휘했다.
(8) 물 자원에 대한 이러한 중앙 집중식 통제는 ______을 제공했다.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전치사 to + 동명사: the key to -ing (~의 열쇠). to부정사로 착각 금지
• 분사구문 병렬: diverting … and protecting …: 주절의 결과·부연 (and로 병렬)
• 결과의 분사구문: , leading to ~ = and it led to ~ (lead to + 명사)
• 계속적 용법 which + 수동: 선행사 a significant labor force(단수) → was, 조직'되는' 것이라 수동태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【풀이 핵심】 이 문제는 오답 4개가 전부 '반대'라서 초보자도 지우기 쉬운 문제. "centralized control(중앙 통제) 하면 평등해질까, 위아래가 생길까?"라고 물어보세요.
【단서】 complex social structures, powerful city-states, temple priests or powerful leaders → power + hierarchy.
【팁】 빈칸 앞 단어 centralized control 하나만 제대로 해석해도 정답이 나온다는 걸 강조.
【어휘】 irrigation 관개, divert (물길을) 돌리다, dike 제방, reservoir 저수지, hierarchy 위계.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반대: 조직 노동의 필요 감소 → 오히려 대규모 노동 필요
② 반대: 모두에게 평등한 접근 → '중앙 통제'와 반대
③ 반대: 사회 계급 제거 → 오히려 계급 형성
④ 정답: 정치 권력과 사회 위계의 기반
⑤ 반대: 개인 농업의 독립성 → 중앙 통제와 반대
【마무리 멘트】 "정답 ④은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앞 내용(옛 방식을 버림)을 한 문장으로 요약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문장(1, 9, 10번)에서 멈춰 "여기가 정답 근거!"라고 강조하세요. 파란 굵은 글씨는 문법·내신 포인트로, 다음 슬라이드에서 정리합니다.
【도입】 "외국 음식·유튜브를 접하고 나서 바뀐 내 습관 있어?" → 교환이 '예전의 나'를 바꾼다.
【풀이 핵심】 Or, differently put(다시 말하면) = 재진술 신호어! 바로 뒤 exchange is the enemy of culture가 정답의 원본. 문명(=교환)이 문화의 적 → civilization undermines and destroys culture.
【주의】 글 중간의 '해방적(liberating)'이라는 긍정 어조에 속아 ⑤를 고르는 학생이 많음.
【교재 오류】 각주 endowment, exacerbate는 이 지문에 나오지 않는 단어입니다(다른 지문 각주가 잘못 들어간 것으로 보임). 학생에게 무시하라고 안내하세요.
【어휘】 unencumbered 방해받지 않는, unsettling 불안하게 하는, confined to ~에 갇힌.
【문장별 해석 · 선생님 참고용 (★ = 정답 근거)】
(1) ★ 문화가 그 은유적 기반을 농업에서 찾는다면, 문명은 그것을 교환에서 찾는다.
(2) 우리 사회가 다른 사회와 연결되면 우리는 다른 사람들과 연결되고, 갑자기 사물을 비교하고 서로와의 관계 속에서 판단할 수 있게 된다.
(3) 그 결과, 우리는 더 좋고 더 싼 선택지 중에서 고를 수 있게 되고, 새로운 것과 한 번도 시도해 보지 않은 것을 고를 수 있다.
(4) 그러한 선택은 우리의 시야를 넓히고 삶을 향상시킨다.
(5) 이것이 문명이 상품, 사람, 사상, 신앙, 생활 방식의 방해받지 않는 순환에 의존하는 이유이다.
(6) 그러한 상호 작용의 결과는 불안하게 할 수도 있지만, 해방감을 줄 수도 있다.
(7) 우리는 더 이상 우리 문화에 갇혀 그 짐을 질 필요가 없고, 더 이상 지금의 우리일 필요도 없다.
(8) 문명은 우리에게 탈출 수단을 제공한다.
(9) ★ 또는 달리 말하면, 교환은 문화의 적이다.
(10) ★ 대안이 주어지면 우리는 옛 방식을 버린다.
(11) 우리는 더 이상 예전에 하던 일을 하지 않고, 더 이상 예전과 꼭 같은 사람이 아니다.
(12) 이것이 ______하는 방식이다.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대명사 it: it = its metaphorical basis (앞 절과 대구 구조)
• This is why + 결과: 앞 내용이 원인, 뒤가 결과 (This is because와 구별)
• 공통관계: to와 of가 our culture를 공통 목적어로 공유
• 접속사 + 분사구문: When (we are) presented with ~: 수동 분사구문
• used to V: ~하곤 했다 (be used to -ing: ~에 익숙하다와 구별)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"외국 음식·유튜브를 접하고 나서 바뀐 내 습관 있어?" → 교환이 '예전의 나'를 바꾼다.
【풀이 핵심】 Or, differently put(다시 말하면) = 재진술 신호어! 바로 뒤 exchange is the enemy of culture가 정답의 원본. 문명(=교환)이 문화의 적 → civilization undermines and destroys culture.
【주의】 글 중간의 '해방적(liberating)'이라는 긍정 어조에 속아 ⑤를 고르는 학생이 많음.
【교재 오류】 각주 endowment, exacerbate는 이 지문에 나오지 않는 단어입니다(다른 지문 각주가 잘못 들어간 것으로 보임). 학생에게 무시하라고 안내하세요.
【어휘】 unencumbered 방해받지 않는, unsettling 불안하게 하는, confined to ~에 갇힌.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반대: 강한 문화적 경계 → 경계가 무너지는 글
② 정답: 문명이 문화를 약화·파괴 = enemy of culture
③ 반대: 지역 고유성 장려 → 반대
④ 반대: 핵심 가치 변화 없음 → '예전의 우리가 아님'과 반대
⑤ 반대: 정체성 강화 → 반대
【마무리 멘트】 "정답 ②은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However 뒤 → 앞(정당성)과 반대되는 '한계'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문장(5, 6, 7번)에서 멈춰 "여기가 정답 근거!"라고 강조하세요. 파란 굵은 글씨는 문법·내신 포인트로, 다음 슬라이드에서 정리합니다.
【풀이 핵심】 빈칸 문장 속 however 가 결정적! "앞에서 대표성이 권위를 준다고 칭찬했지? 그런데(however) → 이제 단점이 나온다."
【단서 정리】 alternative representations / continuous struggles / to represent means to simplify / mechanisms for improvement → 전부 '완벽하지 않다'를 가리킴.
【팁】 However, But, Yet 이 빈칸 근처에 있으면 '앞 내용의 반대'를 고르라는 신호.
【어휘】 legitimate 정당한, governance 통치, foresee 예견하다, inbuilt 내장된.
【문장별 해석 · 선생님 참고용 (★ = 정답 근거)】
(1) 과학과 민주주의는 지식과 권력에 대한 부당한 주장에 반대하는 중요한 원칙과 이상을 공유한다.
(2) 과학적 지식과 민주적 통치의 권위는 모두 대표(representation)에 의해 정당화된다.
(3) 이 대표가 정당하다고 받아들여질 때에만 그것은 제기된 지식 주장의 권위나 특정 형태의 통치의 권위를 뒷받침할 수 있다.
(4) 그러나 대표는 ______하다.
(5) ★ 과학적 실천과 민주적 통치는 모두 원칙적으로 잠재적인 대안적 대표를 인정하므로, 무엇이 대표되고 무엇이 대표되지 않는지를 두고 지속적인 다툼이 예견될 수 있다.
(6) ★ 대표한다는 것은 단순화한다는 뜻이며, 이는 대안, 즉 복잡한 문제를 단순화하는 다른 방식들이 존재함을 암시한다.
(7) ★ 이것은 나아가 과학과 민주주의 모두 개선을 위한 내장된 장치를 가지고 있다는 뜻이며, 그 장치는 기존 대표에 대한 비판적 평가에 기반한다.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주격 관계대명사 수일치: 선행사 principles and ideals(복수) → oppose
• It is ~ that 강조구문: only when ~ 부사절을 강조. that 뒤는 완전한 절
• since(이유) · both A and B: both A and B는 복수 → admit. 삽입구 in principle 건너뛰기
• 계속적 용법 which: 앞 절 전체(To represent means to simplify)를 받음 → 단수 implies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【풀이 핵심】 빈칸 문장 속 however 가 결정적! "앞에서 대표성이 권위를 준다고 칭찬했지? 그런데(however) → 이제 단점이 나온다."
【단서 정리】 alternative representations / continuous struggles / to represent means to simplify / mechanisms for improvement → 전부 '완벽하지 않다'를 가리킴.
【팁】 However, But, Yet 이 빈칸 근처에 있으면 '앞 내용의 반대'를 고르라는 신호.
【어휘】 legitimate 정당한, governance 통치, foresee 예견하다, inbuilt 내장된.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반대: 논쟁이 없다 → continuous struggles와 반대
② 정답: 결코 완벽·완전하지 않다 = 단순화, 대안, 개선 필요
③ 범위 오류: 과학에서만 유효 → 민주주의도 해당
④ 반대: 고정·변화 저항 → 개선 메커니즘과 반대
⑤ 언급 없음: 주관적이지도 거부되지도 않음 → 무관
【마무리 멘트】 "정답 ②은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열대 토양 사례 → '일반 법칙'으로 바꾸기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문장(3, 4번)에서 멈춰 "여기가 정답 근거!"라고 강조하세요. 파란 굵은 글씨는 문법·내신 포인트로, 다음 슬라이드에서 정리합니다.
【도입】 "정글처럼 나무가 빽빽한 곳은 땅이 비옥할까?" → 대부분 '네' → 이 글은 '아니다'라고 말함. 이게 바로 ④번 함정!
【풀이 핵심】 feeds on itself, recycling nutrients 가 키워드. 숲이 자기 몸(낙엽, 죽은 식물)의 영양분을 계속 돌려 씀 → '생명은 과거 생명을 재활용한다'.
【팁】 the general rule that ~ 은 구체적 사례를 '일반화'하라는 뜻 → 선택지도 추상적인 문장이 정답인 경우가 많음.
【어휘】 weathering 풍화, seep 스며들다, leach out 씻겨 나가다, lush 울창한, deforestation 삼림 벌채.
【문장별 해석 · 선생님 참고용 (★ = 정답 근거)】
(1) 지질과 기후의 차이 때문에 지역마다 토양이 지속적인 농업을 감당할 수 있는 정도가 다르다.
(2) 특히, 많은 열대 지형의 완만한 경사지에 내리는 풍부한 비와 높은 풍화율은, 충분한 시간이 지나면 땅속으로 스며든 빗물이 토양과 그 아래 풍화된 암석 모두에서 거의 모든 영양분을 씻어 낸다는 것을 의미한다.
(3) ★ 일단 이렇게 되면, 울창한 식생은 본질적으로 스스로를 먹고 살며, 오래전 풍화된 암석에서 물려받은 영양분을 보유하고 재활용한다.
(4) ★ 이 지역의 영양분 대부분은 토양이 아니라 식물 자체에 있기 때문에, 토착 식생이 사라지면 토양의 생산 능력도 사라진다.
(5) 흔히 삼림 벌채 후 수십 년 안에, 농작물이나 가축을 부양하기에는 너무 적은 영양분만 남게 된다.
(6) 영양분이 부족한 열대 토양은 ______라는 일반 법칙을 보여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5형식 make O C: 목적격 보어 자리에 형용사 capable (부사 X)
• 현재분사 수식 · 수일치: rainfall (which is) seeping ~ → 주어 rainfall(단수) → leaches
• 분사구문 · 과거분사 수식: retaining and recycling: 분사구문 병렬 / nutrients (which were) inherited
• not A but B: A가 아니라 B: in the soil / in the plants 병렬
• so + V + S 도치: ~도 그렇다: so does + 주어 (앞 동사 disappears를 대신)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"정글처럼 나무가 빽빽한 곳은 땅이 비옥할까?" → 대부분 '네' → 이 글은 '아니다'라고 말함. 이게 바로 ④번 함정!
【풀이 핵심】 feeds on itself, recycling nutrients 가 키워드. 숲이 자기 몸(낙엽, 죽은 식물)의 영양분을 계속 돌려 씀 → '생명은 과거 생명을 재활용한다'.
【팁】 the general rule that ~ 은 구체적 사례를 '일반화'하라는 뜻 → 선택지도 추상적인 문장이 정답인 경우가 많음.
【어휘】 weathering 풍화, seep 스며들다, leach out 씻겨 나가다, lush 울창한, deforestation 삼림 벌채.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모든 성장이 변화로 이어지진 않음 → 무관
② 정답: 생명은 과거 생명의 재활용에 의존 = recycling
③ 소재 함정: 뿌리 깊은 곳에서 농업 번성 → 글에 없음
④ 반대: 울창한 숲 = 비옥한 땅? → 열대는 정반대!
⑤ 반대: 토양은 항상 충분 → 반대
【마무리 멘트】 "정답 ②은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이 말을 하는 사람의 '속뜻'은?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문장(2, 3, 8번)에서 멈춰 "여기가 정답 근거!"라고 강조하세요. 파란 굵은 글씨는 문법·내신 포인트로, 다음 슬라이드에서 정리합니다.
【도입】 "친구가 '이건 너한테만 말하는 건데…'라고 하면 기분이 어때?" → 믿어 준다는 느낌!
【풀이 핵심】 밑줄 바로 뒤 문장 spoken in trust 가 의미를 직접 설명해 줌. 함의 문제는 밑줄 '앞뒤 한 문장'에 답이 있는 경우가 많다.
【오답 설명】 ①②④는 '숨기다/경계하다'라는 반대 방향. 글은 '공개 + 신뢰'.
【어휘】 privileged information 특권 정보(일부만 아는 정보), handed down 하달된, inner circle 핵심층.
【문장별 해석 · 선생님 참고용 (★ = 정답 근거)】
(1) 아는 것이 힘이다.
(2) ★ 그리고 팀 내 신뢰의 양을 측정하는 한 가지 방법은 사람들이 얼마나 많은 정보를 혼자 간직하는지(낮은 신뢰), 혹은 공개적으로 공유하는지(높은 신뢰)를 살펴보는 것이다.
(3) ★ 팀 리더는 특권 정보(일부만 아는 정보)를 팀원과 공유할 때 팀을 신뢰한다는 신호를 보낸다.
(4) 이것은 팀의 재정이나 윗선에서 내려온 예산을 공유하여, 팀 전체가 무엇을 가지고 일하는지, 우선순위가 어디에 있는지 알게 하는 것일 수 있다.
(5) 또한 널리 구할 수 있지만 거의 공유되지 않는 경쟁 데이터나 고객 동향일 수도 있다.
(6) 심지어 다른 팀이 공유한 정보를 전달하는 것일 수도 있다.
(7) 회의에서 누군가 "이건 여기서만 하는 얘기예요"라고 말할 때마다 분위기가 바뀐다.
(8) ★ 사람들은 뒤이어 나오는 말이 무엇이든 신뢰 속에서 하는 말임을 알고, 신뢰받는다는 그 느낌에 신뢰할 만한 행동으로 응답한다.
(9) 사람들은 자기 업무나 환경에 대해 평소보다 많은 정보를 받을 때 자신이 핵심층에 속해 있다고 느끼기 시작한다.
(10) 그들은 자신의 일이 더 큰 조직 전체에 어떻게 들어맞는지 보기 시작한다.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간접의문문: how much + 명사 + 주어 + 동사 어순
• so that (목적): so that + S + V: ~하도록. 주어 the whole team(단수) → knows
• 주격 관계대명사 수일치: 선행사 competitive data or customer trends → are (가까운 trends에 일치)
• 복합관계대명사 whatever: whatever = anything that, 명사절 주어 → 단수 is
• 비교급 · 대동사 do: do = receive information (반복을 피하는 대동사)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"친구가 '이건 너한테만 말하는 건데…'라고 하면 기분이 어때?" → 믿어 준다는 느낌!
【풀이 핵심】 밑줄 바로 뒤 문장 spoken in trust 가 의미를 직접 설명해 줌. 함의 문제는 밑줄 '앞뒤 한 문장'에 답이 있는 경우가 많다.
【오답 설명】 ①②④는 '숨기다/경계하다'라는 반대 방향. 글은 '공개 + 신뢰'.
【어휘】 privileged information 특권 정보(일부만 아는 정보), handed down 하달된, inner circle 핵심층.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반대: 신뢰가 아닌 경계심 → 정반대
② 반대: 너무 민감해서 말 못 함 → 실제로는 공개함
③ 언급 없음: 불편하니 잊어라 → 글에 없음
④ 반대: 모호하게 말하겠다 → 오히려 솔직히 공유
⑤ 정답: 상호 신뢰를 바탕으로 민감한 정보를 공개하겠다
【마무리 멘트】 "정답 ⑤은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 멘트】 "오늘 12문제를 다 3단계로 풀었어요. 다음 시간에도 빈칸 문장 먼저, 같은 말 찾기, 함정 지우기!"
【과제 안내】 틀린 문제의 결정적 단서 문장을 찾아 밑줄 + 해석해 오기. 다음 시간 시작 5분 동안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수능특강 영어 03강 · 빈칸 &amp; 함의 추론</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3.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3.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3.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3.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3.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3.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3.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914400"/>
            <a:ext cx="822960" cy="822960"/>
          </a:xfrm>
          <a:prstGeom prst="rect">
            <a:avLst/>
          </a:prstGeom>
        </p:spPr>
      </p:pic>
      <p:sp>
        <p:nvSpPr>
          <p:cNvPr id="3"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chemeClr val="bg1"/>
                </a:solidFill>
              </a:rPr>
              <a:t>수능특강 영어 03강  Exercise 1–12</a:t>
            </a:r>
            <a:endParaRPr lang="en-US" sz="4400" dirty="0"/>
          </a:p>
        </p:txBody>
      </p:sp>
      <p:sp>
        <p:nvSpPr>
          <p:cNvPr id="4"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chemeClr val="bg2"/>
                </a:solidFill>
              </a:rPr>
              <a:t>빈칸 추론 10문항 + 함의(밑줄) 추론 2문항</a:t>
            </a:r>
            <a:endParaRPr lang="en-US" sz="2000" dirty="0"/>
          </a:p>
          <a:p>
            <a:pPr algn="l" indent="0" marL="0">
              <a:buNone/>
            </a:pPr>
            <a:r>
              <a:rPr lang="en-US" sz="2000" b="1" dirty="0">
                <a:solidFill>
                  <a:schemeClr val="accent3"/>
                </a:solidFill>
              </a:rPr>
              <a:t>오늘의 목표: 빈칸은 '찍는' 게 아니라 지문에서 '찾는' 것</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채점부터! 정답 한눈에 보기</a:t>
            </a:r>
            <a:endParaRPr lang="en-US" sz="3000" dirty="0"/>
          </a:p>
        </p:txBody>
      </p:sp>
      <p:sp>
        <p:nvSpPr>
          <p:cNvPr id="3" name="Shape 1"/>
          <p:cNvSpPr/>
          <p:nvPr/>
        </p:nvSpPr>
        <p:spPr>
          <a:xfrm>
            <a:off x="548640" y="1325880"/>
            <a:ext cx="1700784" cy="2148840"/>
          </a:xfrm>
          <a:prstGeom prst="roundRect">
            <a:avLst>
              <a:gd name="adj" fmla="val 6452"/>
            </a:avLst>
          </a:prstGeom>
          <a:solidFill>
            <a:srgbClr val="E6F2ED"/>
          </a:solidFill>
          <a:ln w="12700">
            <a:solidFill>
              <a:srgbClr val="E6F2ED"/>
            </a:solidFill>
            <a:prstDash val="solid"/>
          </a:ln>
        </p:spPr>
      </p:sp>
      <p:sp>
        <p:nvSpPr>
          <p:cNvPr id="4" name="Text 2"/>
          <p:cNvSpPr txBox="1"/>
          <p:nvPr/>
        </p:nvSpPr>
        <p:spPr>
          <a:xfrm>
            <a:off x="548640" y="146304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1</a:t>
            </a:r>
            <a:endParaRPr lang="en-US" sz="1800" dirty="0"/>
          </a:p>
        </p:txBody>
      </p:sp>
      <p:sp>
        <p:nvSpPr>
          <p:cNvPr id="5" name="Text 3"/>
          <p:cNvSpPr txBox="1"/>
          <p:nvPr/>
        </p:nvSpPr>
        <p:spPr>
          <a:xfrm>
            <a:off x="548640" y="187452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③</a:t>
            </a:r>
            <a:endParaRPr lang="en-US" sz="6000" dirty="0"/>
          </a:p>
        </p:txBody>
      </p:sp>
      <p:sp>
        <p:nvSpPr>
          <p:cNvPr id="6" name="Text 4"/>
          <p:cNvSpPr txBox="1"/>
          <p:nvPr/>
        </p:nvSpPr>
        <p:spPr>
          <a:xfrm>
            <a:off x="548640" y="297180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7" name="Shape 5"/>
          <p:cNvSpPr/>
          <p:nvPr/>
        </p:nvSpPr>
        <p:spPr>
          <a:xfrm>
            <a:off x="2414016" y="1325880"/>
            <a:ext cx="1700784" cy="2148840"/>
          </a:xfrm>
          <a:prstGeom prst="roundRect">
            <a:avLst>
              <a:gd name="adj" fmla="val 6452"/>
            </a:avLst>
          </a:prstGeom>
          <a:solidFill>
            <a:srgbClr val="E6F2ED"/>
          </a:solidFill>
          <a:ln w="12700">
            <a:solidFill>
              <a:srgbClr val="E6F2ED"/>
            </a:solidFill>
            <a:prstDash val="solid"/>
          </a:ln>
        </p:spPr>
      </p:sp>
      <p:sp>
        <p:nvSpPr>
          <p:cNvPr id="8" name="Text 6"/>
          <p:cNvSpPr txBox="1"/>
          <p:nvPr/>
        </p:nvSpPr>
        <p:spPr>
          <a:xfrm>
            <a:off x="2414016" y="146304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2</a:t>
            </a:r>
            <a:endParaRPr lang="en-US" sz="1800" dirty="0"/>
          </a:p>
        </p:txBody>
      </p:sp>
      <p:sp>
        <p:nvSpPr>
          <p:cNvPr id="9" name="Text 7"/>
          <p:cNvSpPr txBox="1"/>
          <p:nvPr/>
        </p:nvSpPr>
        <p:spPr>
          <a:xfrm>
            <a:off x="2414016" y="187452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④</a:t>
            </a:r>
            <a:endParaRPr lang="en-US" sz="6000" dirty="0"/>
          </a:p>
        </p:txBody>
      </p:sp>
      <p:sp>
        <p:nvSpPr>
          <p:cNvPr id="10" name="Text 8"/>
          <p:cNvSpPr txBox="1"/>
          <p:nvPr/>
        </p:nvSpPr>
        <p:spPr>
          <a:xfrm>
            <a:off x="2414016" y="297180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11" name="Shape 9"/>
          <p:cNvSpPr/>
          <p:nvPr/>
        </p:nvSpPr>
        <p:spPr>
          <a:xfrm>
            <a:off x="4279392" y="1325880"/>
            <a:ext cx="1700784" cy="2148840"/>
          </a:xfrm>
          <a:prstGeom prst="roundRect">
            <a:avLst>
              <a:gd name="adj" fmla="val 6452"/>
            </a:avLst>
          </a:prstGeom>
          <a:solidFill>
            <a:srgbClr val="E6F2ED"/>
          </a:solidFill>
          <a:ln w="12700">
            <a:solidFill>
              <a:srgbClr val="E6F2ED"/>
            </a:solidFill>
            <a:prstDash val="solid"/>
          </a:ln>
        </p:spPr>
      </p:sp>
      <p:sp>
        <p:nvSpPr>
          <p:cNvPr id="12" name="Text 10"/>
          <p:cNvSpPr txBox="1"/>
          <p:nvPr/>
        </p:nvSpPr>
        <p:spPr>
          <a:xfrm>
            <a:off x="4279392" y="146304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3</a:t>
            </a:r>
            <a:endParaRPr lang="en-US" sz="1800" dirty="0"/>
          </a:p>
        </p:txBody>
      </p:sp>
      <p:sp>
        <p:nvSpPr>
          <p:cNvPr id="13" name="Text 11"/>
          <p:cNvSpPr txBox="1"/>
          <p:nvPr/>
        </p:nvSpPr>
        <p:spPr>
          <a:xfrm>
            <a:off x="4279392" y="187452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③</a:t>
            </a:r>
            <a:endParaRPr lang="en-US" sz="6000" dirty="0"/>
          </a:p>
        </p:txBody>
      </p:sp>
      <p:sp>
        <p:nvSpPr>
          <p:cNvPr id="14" name="Text 12"/>
          <p:cNvSpPr txBox="1"/>
          <p:nvPr/>
        </p:nvSpPr>
        <p:spPr>
          <a:xfrm>
            <a:off x="4279392" y="297180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15" name="Shape 13"/>
          <p:cNvSpPr/>
          <p:nvPr/>
        </p:nvSpPr>
        <p:spPr>
          <a:xfrm>
            <a:off x="6144768" y="1325880"/>
            <a:ext cx="1700784" cy="2148840"/>
          </a:xfrm>
          <a:prstGeom prst="roundRect">
            <a:avLst>
              <a:gd name="adj" fmla="val 6452"/>
            </a:avLst>
          </a:prstGeom>
          <a:solidFill>
            <a:srgbClr val="E6F2ED"/>
          </a:solidFill>
          <a:ln w="12700">
            <a:solidFill>
              <a:srgbClr val="E6F2ED"/>
            </a:solidFill>
            <a:prstDash val="solid"/>
          </a:ln>
        </p:spPr>
      </p:sp>
      <p:sp>
        <p:nvSpPr>
          <p:cNvPr id="16" name="Text 14"/>
          <p:cNvSpPr txBox="1"/>
          <p:nvPr/>
        </p:nvSpPr>
        <p:spPr>
          <a:xfrm>
            <a:off x="6144768" y="146304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4</a:t>
            </a:r>
            <a:endParaRPr lang="en-US" sz="1800" dirty="0"/>
          </a:p>
        </p:txBody>
      </p:sp>
      <p:sp>
        <p:nvSpPr>
          <p:cNvPr id="17" name="Text 15"/>
          <p:cNvSpPr txBox="1"/>
          <p:nvPr/>
        </p:nvSpPr>
        <p:spPr>
          <a:xfrm>
            <a:off x="6144768" y="187452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①</a:t>
            </a:r>
            <a:endParaRPr lang="en-US" sz="6000" dirty="0"/>
          </a:p>
        </p:txBody>
      </p:sp>
      <p:sp>
        <p:nvSpPr>
          <p:cNvPr id="18" name="Text 16"/>
          <p:cNvSpPr txBox="1"/>
          <p:nvPr/>
        </p:nvSpPr>
        <p:spPr>
          <a:xfrm>
            <a:off x="6144768" y="297180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19" name="Shape 17"/>
          <p:cNvSpPr/>
          <p:nvPr/>
        </p:nvSpPr>
        <p:spPr>
          <a:xfrm>
            <a:off x="8010144" y="1325880"/>
            <a:ext cx="1700784" cy="2148840"/>
          </a:xfrm>
          <a:prstGeom prst="roundRect">
            <a:avLst>
              <a:gd name="adj" fmla="val 6452"/>
            </a:avLst>
          </a:prstGeom>
          <a:solidFill>
            <a:srgbClr val="E6F2ED"/>
          </a:solidFill>
          <a:ln w="12700">
            <a:solidFill>
              <a:srgbClr val="E6F2ED"/>
            </a:solidFill>
            <a:prstDash val="solid"/>
          </a:ln>
        </p:spPr>
      </p:sp>
      <p:sp>
        <p:nvSpPr>
          <p:cNvPr id="20" name="Text 18"/>
          <p:cNvSpPr txBox="1"/>
          <p:nvPr/>
        </p:nvSpPr>
        <p:spPr>
          <a:xfrm>
            <a:off x="8010144" y="146304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5</a:t>
            </a:r>
            <a:endParaRPr lang="en-US" sz="1800" dirty="0"/>
          </a:p>
        </p:txBody>
      </p:sp>
      <p:sp>
        <p:nvSpPr>
          <p:cNvPr id="21" name="Text 19"/>
          <p:cNvSpPr txBox="1"/>
          <p:nvPr/>
        </p:nvSpPr>
        <p:spPr>
          <a:xfrm>
            <a:off x="8010144" y="187452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①</a:t>
            </a:r>
            <a:endParaRPr lang="en-US" sz="6000" dirty="0"/>
          </a:p>
        </p:txBody>
      </p:sp>
      <p:sp>
        <p:nvSpPr>
          <p:cNvPr id="22" name="Text 20"/>
          <p:cNvSpPr txBox="1"/>
          <p:nvPr/>
        </p:nvSpPr>
        <p:spPr>
          <a:xfrm>
            <a:off x="8010144" y="297180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23" name="Shape 21"/>
          <p:cNvSpPr/>
          <p:nvPr/>
        </p:nvSpPr>
        <p:spPr>
          <a:xfrm>
            <a:off x="9875520" y="1325880"/>
            <a:ext cx="1700784" cy="2148840"/>
          </a:xfrm>
          <a:prstGeom prst="roundRect">
            <a:avLst>
              <a:gd name="adj" fmla="val 6452"/>
            </a:avLst>
          </a:prstGeom>
          <a:solidFill>
            <a:srgbClr val="F7E9E4"/>
          </a:solidFill>
          <a:ln w="12700">
            <a:solidFill>
              <a:srgbClr val="EF5B3F"/>
            </a:solidFill>
            <a:prstDash val="solid"/>
          </a:ln>
        </p:spPr>
      </p:sp>
      <p:sp>
        <p:nvSpPr>
          <p:cNvPr id="24" name="Text 22"/>
          <p:cNvSpPr txBox="1"/>
          <p:nvPr/>
        </p:nvSpPr>
        <p:spPr>
          <a:xfrm>
            <a:off x="9875520" y="146304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6</a:t>
            </a:r>
            <a:endParaRPr lang="en-US" sz="1800" dirty="0"/>
          </a:p>
        </p:txBody>
      </p:sp>
      <p:sp>
        <p:nvSpPr>
          <p:cNvPr id="25" name="Text 23"/>
          <p:cNvSpPr txBox="1"/>
          <p:nvPr/>
        </p:nvSpPr>
        <p:spPr>
          <a:xfrm>
            <a:off x="9875520" y="187452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④</a:t>
            </a:r>
            <a:endParaRPr lang="en-US" sz="6000" dirty="0"/>
          </a:p>
        </p:txBody>
      </p:sp>
      <p:sp>
        <p:nvSpPr>
          <p:cNvPr id="26" name="Text 24"/>
          <p:cNvSpPr txBox="1"/>
          <p:nvPr/>
        </p:nvSpPr>
        <p:spPr>
          <a:xfrm>
            <a:off x="9875520" y="297180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함의(밑줄)</a:t>
            </a:r>
            <a:endParaRPr lang="en-US" sz="1300" dirty="0"/>
          </a:p>
        </p:txBody>
      </p:sp>
      <p:sp>
        <p:nvSpPr>
          <p:cNvPr id="27" name="Shape 25"/>
          <p:cNvSpPr/>
          <p:nvPr/>
        </p:nvSpPr>
        <p:spPr>
          <a:xfrm>
            <a:off x="548640" y="3703320"/>
            <a:ext cx="1700784" cy="2148840"/>
          </a:xfrm>
          <a:prstGeom prst="roundRect">
            <a:avLst>
              <a:gd name="adj" fmla="val 6452"/>
            </a:avLst>
          </a:prstGeom>
          <a:solidFill>
            <a:srgbClr val="E6F2ED"/>
          </a:solidFill>
          <a:ln w="12700">
            <a:solidFill>
              <a:srgbClr val="E6F2ED"/>
            </a:solidFill>
            <a:prstDash val="solid"/>
          </a:ln>
        </p:spPr>
      </p:sp>
      <p:sp>
        <p:nvSpPr>
          <p:cNvPr id="28" name="Text 26"/>
          <p:cNvSpPr txBox="1"/>
          <p:nvPr/>
        </p:nvSpPr>
        <p:spPr>
          <a:xfrm>
            <a:off x="548640" y="384048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7</a:t>
            </a:r>
            <a:endParaRPr lang="en-US" sz="1800" dirty="0"/>
          </a:p>
        </p:txBody>
      </p:sp>
      <p:sp>
        <p:nvSpPr>
          <p:cNvPr id="29" name="Text 27"/>
          <p:cNvSpPr txBox="1"/>
          <p:nvPr/>
        </p:nvSpPr>
        <p:spPr>
          <a:xfrm>
            <a:off x="548640" y="425196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①</a:t>
            </a:r>
            <a:endParaRPr lang="en-US" sz="6000" dirty="0"/>
          </a:p>
        </p:txBody>
      </p:sp>
      <p:sp>
        <p:nvSpPr>
          <p:cNvPr id="30" name="Text 28"/>
          <p:cNvSpPr txBox="1"/>
          <p:nvPr/>
        </p:nvSpPr>
        <p:spPr>
          <a:xfrm>
            <a:off x="548640" y="534924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31" name="Shape 29"/>
          <p:cNvSpPr/>
          <p:nvPr/>
        </p:nvSpPr>
        <p:spPr>
          <a:xfrm>
            <a:off x="2414016" y="3703320"/>
            <a:ext cx="1700784" cy="2148840"/>
          </a:xfrm>
          <a:prstGeom prst="roundRect">
            <a:avLst>
              <a:gd name="adj" fmla="val 6452"/>
            </a:avLst>
          </a:prstGeom>
          <a:solidFill>
            <a:srgbClr val="E6F2ED"/>
          </a:solidFill>
          <a:ln w="12700">
            <a:solidFill>
              <a:srgbClr val="E6F2ED"/>
            </a:solidFill>
            <a:prstDash val="solid"/>
          </a:ln>
        </p:spPr>
      </p:sp>
      <p:sp>
        <p:nvSpPr>
          <p:cNvPr id="32" name="Text 30"/>
          <p:cNvSpPr txBox="1"/>
          <p:nvPr/>
        </p:nvSpPr>
        <p:spPr>
          <a:xfrm>
            <a:off x="2414016" y="384048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8</a:t>
            </a:r>
            <a:endParaRPr lang="en-US" sz="1800" dirty="0"/>
          </a:p>
        </p:txBody>
      </p:sp>
      <p:sp>
        <p:nvSpPr>
          <p:cNvPr id="33" name="Text 31"/>
          <p:cNvSpPr txBox="1"/>
          <p:nvPr/>
        </p:nvSpPr>
        <p:spPr>
          <a:xfrm>
            <a:off x="2414016" y="425196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④</a:t>
            </a:r>
            <a:endParaRPr lang="en-US" sz="6000" dirty="0"/>
          </a:p>
        </p:txBody>
      </p:sp>
      <p:sp>
        <p:nvSpPr>
          <p:cNvPr id="34" name="Text 32"/>
          <p:cNvSpPr txBox="1"/>
          <p:nvPr/>
        </p:nvSpPr>
        <p:spPr>
          <a:xfrm>
            <a:off x="2414016" y="534924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35" name="Shape 33"/>
          <p:cNvSpPr/>
          <p:nvPr/>
        </p:nvSpPr>
        <p:spPr>
          <a:xfrm>
            <a:off x="4279392" y="3703320"/>
            <a:ext cx="1700784" cy="2148840"/>
          </a:xfrm>
          <a:prstGeom prst="roundRect">
            <a:avLst>
              <a:gd name="adj" fmla="val 6452"/>
            </a:avLst>
          </a:prstGeom>
          <a:solidFill>
            <a:srgbClr val="E6F2ED"/>
          </a:solidFill>
          <a:ln w="12700">
            <a:solidFill>
              <a:srgbClr val="E6F2ED"/>
            </a:solidFill>
            <a:prstDash val="solid"/>
          </a:ln>
        </p:spPr>
      </p:sp>
      <p:sp>
        <p:nvSpPr>
          <p:cNvPr id="36" name="Text 34"/>
          <p:cNvSpPr txBox="1"/>
          <p:nvPr/>
        </p:nvSpPr>
        <p:spPr>
          <a:xfrm>
            <a:off x="4279392" y="384048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9</a:t>
            </a:r>
            <a:endParaRPr lang="en-US" sz="1800" dirty="0"/>
          </a:p>
        </p:txBody>
      </p:sp>
      <p:sp>
        <p:nvSpPr>
          <p:cNvPr id="37" name="Text 35"/>
          <p:cNvSpPr txBox="1"/>
          <p:nvPr/>
        </p:nvSpPr>
        <p:spPr>
          <a:xfrm>
            <a:off x="4279392" y="425196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②</a:t>
            </a:r>
            <a:endParaRPr lang="en-US" sz="6000" dirty="0"/>
          </a:p>
        </p:txBody>
      </p:sp>
      <p:sp>
        <p:nvSpPr>
          <p:cNvPr id="38" name="Text 36"/>
          <p:cNvSpPr txBox="1"/>
          <p:nvPr/>
        </p:nvSpPr>
        <p:spPr>
          <a:xfrm>
            <a:off x="4279392" y="534924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39" name="Shape 37"/>
          <p:cNvSpPr/>
          <p:nvPr/>
        </p:nvSpPr>
        <p:spPr>
          <a:xfrm>
            <a:off x="6144768" y="3703320"/>
            <a:ext cx="1700784" cy="2148840"/>
          </a:xfrm>
          <a:prstGeom prst="roundRect">
            <a:avLst>
              <a:gd name="adj" fmla="val 6452"/>
            </a:avLst>
          </a:prstGeom>
          <a:solidFill>
            <a:srgbClr val="E6F2ED"/>
          </a:solidFill>
          <a:ln w="12700">
            <a:solidFill>
              <a:srgbClr val="E6F2ED"/>
            </a:solidFill>
            <a:prstDash val="solid"/>
          </a:ln>
        </p:spPr>
      </p:sp>
      <p:sp>
        <p:nvSpPr>
          <p:cNvPr id="40" name="Text 38"/>
          <p:cNvSpPr txBox="1"/>
          <p:nvPr/>
        </p:nvSpPr>
        <p:spPr>
          <a:xfrm>
            <a:off x="6144768" y="384048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10</a:t>
            </a:r>
            <a:endParaRPr lang="en-US" sz="1800" dirty="0"/>
          </a:p>
        </p:txBody>
      </p:sp>
      <p:sp>
        <p:nvSpPr>
          <p:cNvPr id="41" name="Text 39"/>
          <p:cNvSpPr txBox="1"/>
          <p:nvPr/>
        </p:nvSpPr>
        <p:spPr>
          <a:xfrm>
            <a:off x="6144768" y="425196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②</a:t>
            </a:r>
            <a:endParaRPr lang="en-US" sz="6000" dirty="0"/>
          </a:p>
        </p:txBody>
      </p:sp>
      <p:sp>
        <p:nvSpPr>
          <p:cNvPr id="42" name="Text 40"/>
          <p:cNvSpPr txBox="1"/>
          <p:nvPr/>
        </p:nvSpPr>
        <p:spPr>
          <a:xfrm>
            <a:off x="6144768" y="534924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43" name="Shape 41"/>
          <p:cNvSpPr/>
          <p:nvPr/>
        </p:nvSpPr>
        <p:spPr>
          <a:xfrm>
            <a:off x="8010144" y="3703320"/>
            <a:ext cx="1700784" cy="2148840"/>
          </a:xfrm>
          <a:prstGeom prst="roundRect">
            <a:avLst>
              <a:gd name="adj" fmla="val 6452"/>
            </a:avLst>
          </a:prstGeom>
          <a:solidFill>
            <a:srgbClr val="E6F2ED"/>
          </a:solidFill>
          <a:ln w="12700">
            <a:solidFill>
              <a:srgbClr val="E6F2ED"/>
            </a:solidFill>
            <a:prstDash val="solid"/>
          </a:ln>
        </p:spPr>
      </p:sp>
      <p:sp>
        <p:nvSpPr>
          <p:cNvPr id="44" name="Text 42"/>
          <p:cNvSpPr txBox="1"/>
          <p:nvPr/>
        </p:nvSpPr>
        <p:spPr>
          <a:xfrm>
            <a:off x="8010144" y="384048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11</a:t>
            </a:r>
            <a:endParaRPr lang="en-US" sz="1800" dirty="0"/>
          </a:p>
        </p:txBody>
      </p:sp>
      <p:sp>
        <p:nvSpPr>
          <p:cNvPr id="45" name="Text 43"/>
          <p:cNvSpPr txBox="1"/>
          <p:nvPr/>
        </p:nvSpPr>
        <p:spPr>
          <a:xfrm>
            <a:off x="8010144" y="425196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②</a:t>
            </a:r>
            <a:endParaRPr lang="en-US" sz="6000" dirty="0"/>
          </a:p>
        </p:txBody>
      </p:sp>
      <p:sp>
        <p:nvSpPr>
          <p:cNvPr id="46" name="Text 44"/>
          <p:cNvSpPr txBox="1"/>
          <p:nvPr/>
        </p:nvSpPr>
        <p:spPr>
          <a:xfrm>
            <a:off x="8010144" y="534924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빈칸</a:t>
            </a:r>
            <a:endParaRPr lang="en-US" sz="1300" dirty="0"/>
          </a:p>
        </p:txBody>
      </p:sp>
      <p:sp>
        <p:nvSpPr>
          <p:cNvPr id="47" name="Shape 45"/>
          <p:cNvSpPr/>
          <p:nvPr/>
        </p:nvSpPr>
        <p:spPr>
          <a:xfrm>
            <a:off x="9875520" y="3703320"/>
            <a:ext cx="1700784" cy="2148840"/>
          </a:xfrm>
          <a:prstGeom prst="roundRect">
            <a:avLst>
              <a:gd name="adj" fmla="val 6452"/>
            </a:avLst>
          </a:prstGeom>
          <a:solidFill>
            <a:srgbClr val="F7E9E4"/>
          </a:solidFill>
          <a:ln w="12700">
            <a:solidFill>
              <a:srgbClr val="EF5B3F"/>
            </a:solidFill>
            <a:prstDash val="solid"/>
          </a:ln>
        </p:spPr>
      </p:sp>
      <p:sp>
        <p:nvSpPr>
          <p:cNvPr id="48" name="Text 46"/>
          <p:cNvSpPr txBox="1"/>
          <p:nvPr/>
        </p:nvSpPr>
        <p:spPr>
          <a:xfrm>
            <a:off x="9875520" y="3840480"/>
            <a:ext cx="1700784" cy="411480"/>
          </a:xfrm>
          <a:prstGeom prst="rect">
            <a:avLst/>
          </a:prstGeom>
          <a:noFill/>
          <a:ln/>
        </p:spPr>
        <p:txBody>
          <a:bodyPr wrap="square" lIns="0" tIns="0" rIns="0" bIns="0" rtlCol="0" anchor="ctr"/>
          <a:lstStyle/>
          <a:p>
            <a:pPr algn="ctr" indent="0" marL="0">
              <a:buNone/>
            </a:pPr>
            <a:r>
              <a:rPr lang="en-US" sz="1800" b="1" dirty="0">
                <a:solidFill>
                  <a:schemeClr val="tx2"/>
                </a:solidFill>
              </a:rPr>
              <a:t>Ex 12</a:t>
            </a:r>
            <a:endParaRPr lang="en-US" sz="1800" dirty="0"/>
          </a:p>
        </p:txBody>
      </p:sp>
      <p:sp>
        <p:nvSpPr>
          <p:cNvPr id="49" name="Text 47"/>
          <p:cNvSpPr txBox="1"/>
          <p:nvPr/>
        </p:nvSpPr>
        <p:spPr>
          <a:xfrm>
            <a:off x="9875520" y="4251960"/>
            <a:ext cx="1700784" cy="1005840"/>
          </a:xfrm>
          <a:prstGeom prst="rect">
            <a:avLst/>
          </a:prstGeom>
          <a:noFill/>
          <a:ln/>
        </p:spPr>
        <p:txBody>
          <a:bodyPr wrap="square" lIns="0" tIns="0" rIns="0" bIns="0" rtlCol="0" anchor="ctr"/>
          <a:lstStyle/>
          <a:p>
            <a:pPr algn="ctr" indent="0" marL="0">
              <a:buNone/>
            </a:pPr>
            <a:r>
              <a:rPr lang="en-US" sz="6000" b="1" dirty="0">
                <a:solidFill>
                  <a:schemeClr val="accent2"/>
                </a:solidFill>
              </a:rPr>
              <a:t>⑤</a:t>
            </a:r>
            <a:endParaRPr lang="en-US" sz="6000" dirty="0"/>
          </a:p>
        </p:txBody>
      </p:sp>
      <p:sp>
        <p:nvSpPr>
          <p:cNvPr id="50" name="Text 48"/>
          <p:cNvSpPr txBox="1"/>
          <p:nvPr/>
        </p:nvSpPr>
        <p:spPr>
          <a:xfrm>
            <a:off x="9875520" y="5349240"/>
            <a:ext cx="1700784" cy="320040"/>
          </a:xfrm>
          <a:prstGeom prst="rect">
            <a:avLst/>
          </a:prstGeom>
          <a:noFill/>
          <a:ln/>
        </p:spPr>
        <p:txBody>
          <a:bodyPr wrap="square" lIns="0" tIns="0" rIns="0" bIns="0" rtlCol="0" anchor="ctr"/>
          <a:lstStyle/>
          <a:p>
            <a:pPr algn="ctr" indent="0" marL="0">
              <a:buNone/>
            </a:pPr>
            <a:r>
              <a:rPr lang="en-US" sz="1300" dirty="0">
                <a:solidFill>
                  <a:schemeClr val="accent4"/>
                </a:solidFill>
              </a:rPr>
              <a:t>함의(밑줄)</a:t>
            </a:r>
            <a:endParaRPr lang="en-US" sz="1300" dirty="0"/>
          </a:p>
        </p:txBody>
      </p:sp>
      <p:sp>
        <p:nvSpPr>
          <p:cNvPr id="51" name="Text 49"/>
          <p:cNvSpPr txBox="1"/>
          <p:nvPr/>
        </p:nvSpPr>
        <p:spPr>
          <a:xfrm>
            <a:off x="548640" y="6053328"/>
            <a:ext cx="11064240" cy="320040"/>
          </a:xfrm>
          <a:prstGeom prst="rect">
            <a:avLst/>
          </a:prstGeom>
          <a:noFill/>
          <a:ln/>
        </p:spPr>
        <p:txBody>
          <a:bodyPr wrap="square" lIns="0" tIns="0" rIns="0" bIns="0" rtlCol="0" anchor="ctr"/>
          <a:lstStyle/>
          <a:p>
            <a:pPr indent="0" marL="0">
              <a:buNone/>
            </a:pPr>
            <a:r>
              <a:rPr lang="en-US" sz="1400" b="1" dirty="0">
                <a:solidFill>
                  <a:schemeClr val="accent1"/>
                </a:solidFill>
              </a:rPr>
              <a:t>틀린 문제 번호에 동그라미 → 해설 때 집중해서 듣기!</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오늘 수업은 이렇게 진행해요</a:t>
            </a:r>
            <a:endParaRPr lang="en-US" sz="3000" dirty="0"/>
          </a:p>
        </p:txBody>
      </p:sp>
      <p:sp>
        <p:nvSpPr>
          <p:cNvPr id="3" name="Shape 1"/>
          <p:cNvSpPr/>
          <p:nvPr/>
        </p:nvSpPr>
        <p:spPr>
          <a:xfrm>
            <a:off x="548640" y="1554480"/>
            <a:ext cx="2606040" cy="4206240"/>
          </a:xfrm>
          <a:prstGeom prst="roundRect">
            <a:avLst>
              <a:gd name="adj" fmla="val 5263"/>
            </a:avLst>
          </a:prstGeom>
          <a:solidFill>
            <a:schemeClr val="bg2"/>
          </a:solidFill>
          <a:ln w="12700">
            <a:solidFill>
              <a:schemeClr val="bg2"/>
            </a:solidFill>
            <a:prstDash val="solid"/>
          </a:ln>
          <a:effectLst>
            <a:outerShdw sx="100000" sy="100000" kx="0" ky="0" algn="bl" rotWithShape="0" blurRad="101600" dist="25400" dir="5400000">
              <a:srgbClr val="1E2B2A">
                <a:alpha val="12000"/>
              </a:srgbClr>
            </a:outerShdw>
          </a:effectLst>
        </p:spPr>
      </p:sp>
      <p:sp>
        <p:nvSpPr>
          <p:cNvPr id="4" name="Text 2"/>
          <p:cNvSpPr/>
          <p:nvPr/>
        </p:nvSpPr>
        <p:spPr>
          <a:xfrm>
            <a:off x="822960" y="1828800"/>
            <a:ext cx="822960" cy="822960"/>
          </a:xfrm>
          <a:prstGeom prst="ellipse">
            <a:avLst/>
          </a:prstGeom>
          <a:solidFill>
            <a:schemeClr val="accent1"/>
          </a:solidFill>
          <a:ln/>
        </p:spPr>
        <p:txBody>
          <a:bodyPr wrap="square" lIns="0" tIns="0" rIns="0" bIns="0" rtlCol="0" anchor="ctr"/>
          <a:lstStyle/>
          <a:p>
            <a:pPr algn="ctr" indent="0" marL="0">
              <a:buNone/>
            </a:pPr>
            <a:r>
              <a:rPr lang="en-US" sz="3200" b="1" dirty="0">
                <a:solidFill>
                  <a:schemeClr val="bg1"/>
                </a:solidFill>
              </a:rPr>
              <a:t>1</a:t>
            </a:r>
            <a:endParaRPr lang="en-US" sz="3200" dirty="0"/>
          </a:p>
        </p:txBody>
      </p:sp>
      <p:sp>
        <p:nvSpPr>
          <p:cNvPr id="5" name="Text 3"/>
          <p:cNvSpPr txBox="1"/>
          <p:nvPr/>
        </p:nvSpPr>
        <p:spPr>
          <a:xfrm>
            <a:off x="822960" y="2880360"/>
            <a:ext cx="2103120" cy="822960"/>
          </a:xfrm>
          <a:prstGeom prst="rect">
            <a:avLst/>
          </a:prstGeom>
          <a:noFill/>
          <a:ln/>
        </p:spPr>
        <p:txBody>
          <a:bodyPr wrap="square" lIns="0" tIns="0" rIns="0" bIns="0" rtlCol="0" anchor="t"/>
          <a:lstStyle/>
          <a:p>
            <a:pPr indent="0" marL="0">
              <a:buNone/>
            </a:pPr>
            <a:r>
              <a:rPr lang="en-US" sz="2000" b="1" dirty="0">
                <a:solidFill>
                  <a:schemeClr val="tx2"/>
                </a:solidFill>
              </a:rPr>
              <a:t>채점하기</a:t>
            </a:r>
            <a:endParaRPr lang="en-US" sz="2000" dirty="0"/>
          </a:p>
        </p:txBody>
      </p:sp>
      <p:sp>
        <p:nvSpPr>
          <p:cNvPr id="6" name="Text 4"/>
          <p:cNvSpPr txBox="1"/>
          <p:nvPr/>
        </p:nvSpPr>
        <p:spPr>
          <a:xfrm>
            <a:off x="822960" y="3749040"/>
            <a:ext cx="2103120" cy="1188720"/>
          </a:xfrm>
          <a:prstGeom prst="rect">
            <a:avLst/>
          </a:prstGeom>
          <a:noFill/>
          <a:ln/>
        </p:spPr>
        <p:txBody>
          <a:bodyPr wrap="square" lIns="0" tIns="0" rIns="0" bIns="0" rtlCol="0" anchor="t"/>
          <a:lstStyle/>
          <a:p>
            <a:pPr indent="0" marL="0">
              <a:buNone/>
            </a:pPr>
            <a:r>
              <a:rPr lang="en-US" sz="1500" dirty="0">
                <a:solidFill>
                  <a:schemeClr val="tx1"/>
                </a:solidFill>
              </a:rPr>
              <a:t>정답 한눈에 보기로 채점 → 틀린 문제 표시</a:t>
            </a:r>
            <a:endParaRPr lang="en-US" sz="1500" dirty="0"/>
          </a:p>
        </p:txBody>
      </p:sp>
      <p:sp>
        <p:nvSpPr>
          <p:cNvPr id="7" name="Text 5"/>
          <p:cNvSpPr/>
          <p:nvPr/>
        </p:nvSpPr>
        <p:spPr>
          <a:xfrm>
            <a:off x="822960" y="5120640"/>
            <a:ext cx="12801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300" b="1" dirty="0">
                <a:solidFill>
                  <a:schemeClr val="bg1"/>
                </a:solidFill>
              </a:rPr>
              <a:t>약 5분</a:t>
            </a:r>
            <a:endParaRPr lang="en-US" sz="1300" dirty="0"/>
          </a:p>
        </p:txBody>
      </p:sp>
      <p:sp>
        <p:nvSpPr>
          <p:cNvPr id="8" name="Shape 6"/>
          <p:cNvSpPr/>
          <p:nvPr/>
        </p:nvSpPr>
        <p:spPr>
          <a:xfrm>
            <a:off x="3383280" y="1554480"/>
            <a:ext cx="2606040" cy="4206240"/>
          </a:xfrm>
          <a:prstGeom prst="roundRect">
            <a:avLst>
              <a:gd name="adj" fmla="val 5263"/>
            </a:avLst>
          </a:prstGeom>
          <a:solidFill>
            <a:schemeClr val="bg1"/>
          </a:solidFill>
          <a:ln w="12700">
            <a:solidFill>
              <a:schemeClr val="bg2"/>
            </a:solidFill>
            <a:prstDash val="solid"/>
          </a:ln>
          <a:effectLst>
            <a:outerShdw sx="100000" sy="100000" kx="0" ky="0" algn="bl" rotWithShape="0" blurRad="101600" dist="25400" dir="5400000">
              <a:srgbClr val="1E2B2A">
                <a:alpha val="12000"/>
              </a:srgbClr>
            </a:outerShdw>
          </a:effectLst>
        </p:spPr>
      </p:sp>
      <p:sp>
        <p:nvSpPr>
          <p:cNvPr id="9" name="Text 7"/>
          <p:cNvSpPr/>
          <p:nvPr/>
        </p:nvSpPr>
        <p:spPr>
          <a:xfrm>
            <a:off x="3657600" y="1828800"/>
            <a:ext cx="822960" cy="822960"/>
          </a:xfrm>
          <a:prstGeom prst="ellipse">
            <a:avLst/>
          </a:prstGeom>
          <a:solidFill>
            <a:schemeClr val="accent1"/>
          </a:solidFill>
          <a:ln/>
        </p:spPr>
        <p:txBody>
          <a:bodyPr wrap="square" lIns="0" tIns="0" rIns="0" bIns="0" rtlCol="0" anchor="ctr"/>
          <a:lstStyle/>
          <a:p>
            <a:pPr algn="ctr" indent="0" marL="0">
              <a:buNone/>
            </a:pPr>
            <a:r>
              <a:rPr lang="en-US" sz="3200" b="1" dirty="0">
                <a:solidFill>
                  <a:schemeClr val="bg1"/>
                </a:solidFill>
              </a:rPr>
              <a:t>2</a:t>
            </a:r>
            <a:endParaRPr lang="en-US" sz="3200" dirty="0"/>
          </a:p>
        </p:txBody>
      </p:sp>
      <p:sp>
        <p:nvSpPr>
          <p:cNvPr id="10" name="Text 8"/>
          <p:cNvSpPr txBox="1"/>
          <p:nvPr/>
        </p:nvSpPr>
        <p:spPr>
          <a:xfrm>
            <a:off x="3657600" y="2880360"/>
            <a:ext cx="2103120" cy="822960"/>
          </a:xfrm>
          <a:prstGeom prst="rect">
            <a:avLst/>
          </a:prstGeom>
          <a:noFill/>
          <a:ln/>
        </p:spPr>
        <p:txBody>
          <a:bodyPr wrap="square" lIns="0" tIns="0" rIns="0" bIns="0" rtlCol="0" anchor="t"/>
          <a:lstStyle/>
          <a:p>
            <a:pPr indent="0" marL="0">
              <a:buNone/>
            </a:pPr>
            <a:r>
              <a:rPr lang="en-US" sz="2000" b="1" dirty="0">
                <a:solidFill>
                  <a:schemeClr val="tx2"/>
                </a:solidFill>
              </a:rPr>
              <a:t>풀이 공식 익히기</a:t>
            </a:r>
            <a:endParaRPr lang="en-US" sz="2000" dirty="0"/>
          </a:p>
        </p:txBody>
      </p:sp>
      <p:sp>
        <p:nvSpPr>
          <p:cNvPr id="11" name="Text 9"/>
          <p:cNvSpPr txBox="1"/>
          <p:nvPr/>
        </p:nvSpPr>
        <p:spPr>
          <a:xfrm>
            <a:off x="3657600" y="3749040"/>
            <a:ext cx="2103120" cy="1188720"/>
          </a:xfrm>
          <a:prstGeom prst="rect">
            <a:avLst/>
          </a:prstGeom>
          <a:noFill/>
          <a:ln/>
        </p:spPr>
        <p:txBody>
          <a:bodyPr wrap="square" lIns="0" tIns="0" rIns="0" bIns="0" rtlCol="0" anchor="t"/>
          <a:lstStyle/>
          <a:p>
            <a:pPr indent="0" marL="0">
              <a:buNone/>
            </a:pPr>
            <a:r>
              <a:rPr lang="en-US" sz="1500" dirty="0">
                <a:solidFill>
                  <a:schemeClr val="tx1"/>
                </a:solidFill>
              </a:rPr>
              <a:t>빈칸 3단계 · 신호어 · 오답 함정 · 함의 추론</a:t>
            </a:r>
            <a:endParaRPr lang="en-US" sz="1500" dirty="0"/>
          </a:p>
        </p:txBody>
      </p:sp>
      <p:sp>
        <p:nvSpPr>
          <p:cNvPr id="12" name="Text 10"/>
          <p:cNvSpPr/>
          <p:nvPr/>
        </p:nvSpPr>
        <p:spPr>
          <a:xfrm>
            <a:off x="3657600" y="5120640"/>
            <a:ext cx="12801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300" b="1" dirty="0">
                <a:solidFill>
                  <a:schemeClr val="bg1"/>
                </a:solidFill>
              </a:rPr>
              <a:t>약 10분</a:t>
            </a:r>
            <a:endParaRPr lang="en-US" sz="1300" dirty="0"/>
          </a:p>
        </p:txBody>
      </p:sp>
      <p:sp>
        <p:nvSpPr>
          <p:cNvPr id="13" name="Shape 11"/>
          <p:cNvSpPr/>
          <p:nvPr/>
        </p:nvSpPr>
        <p:spPr>
          <a:xfrm>
            <a:off x="6217920" y="1554480"/>
            <a:ext cx="2606040" cy="4206240"/>
          </a:xfrm>
          <a:prstGeom prst="roundRect">
            <a:avLst>
              <a:gd name="adj" fmla="val 5263"/>
            </a:avLst>
          </a:prstGeom>
          <a:solidFill>
            <a:schemeClr val="bg2"/>
          </a:solidFill>
          <a:ln w="12700">
            <a:solidFill>
              <a:schemeClr val="bg2"/>
            </a:solidFill>
            <a:prstDash val="solid"/>
          </a:ln>
          <a:effectLst>
            <a:outerShdw sx="100000" sy="100000" kx="0" ky="0" algn="bl" rotWithShape="0" blurRad="101600" dist="25400" dir="5400000">
              <a:srgbClr val="1E2B2A">
                <a:alpha val="12000"/>
              </a:srgbClr>
            </a:outerShdw>
          </a:effectLst>
        </p:spPr>
      </p:sp>
      <p:sp>
        <p:nvSpPr>
          <p:cNvPr id="14" name="Text 12"/>
          <p:cNvSpPr/>
          <p:nvPr/>
        </p:nvSpPr>
        <p:spPr>
          <a:xfrm>
            <a:off x="6492240" y="1828800"/>
            <a:ext cx="822960" cy="822960"/>
          </a:xfrm>
          <a:prstGeom prst="ellipse">
            <a:avLst/>
          </a:prstGeom>
          <a:solidFill>
            <a:schemeClr val="accent1"/>
          </a:solidFill>
          <a:ln/>
        </p:spPr>
        <p:txBody>
          <a:bodyPr wrap="square" lIns="0" tIns="0" rIns="0" bIns="0" rtlCol="0" anchor="ctr"/>
          <a:lstStyle/>
          <a:p>
            <a:pPr algn="ctr" indent="0" marL="0">
              <a:buNone/>
            </a:pPr>
            <a:r>
              <a:rPr lang="en-US" sz="3200" b="1" dirty="0">
                <a:solidFill>
                  <a:schemeClr val="bg1"/>
                </a:solidFill>
              </a:rPr>
              <a:t>3</a:t>
            </a:r>
            <a:endParaRPr lang="en-US" sz="3200" dirty="0"/>
          </a:p>
        </p:txBody>
      </p:sp>
      <p:sp>
        <p:nvSpPr>
          <p:cNvPr id="15" name="Text 13"/>
          <p:cNvSpPr txBox="1"/>
          <p:nvPr/>
        </p:nvSpPr>
        <p:spPr>
          <a:xfrm>
            <a:off x="6492240" y="2880360"/>
            <a:ext cx="2103120" cy="822960"/>
          </a:xfrm>
          <a:prstGeom prst="rect">
            <a:avLst/>
          </a:prstGeom>
          <a:noFill/>
          <a:ln/>
        </p:spPr>
        <p:txBody>
          <a:bodyPr wrap="square" lIns="0" tIns="0" rIns="0" bIns="0" rtlCol="0" anchor="t"/>
          <a:lstStyle/>
          <a:p>
            <a:pPr indent="0" marL="0">
              <a:buNone/>
            </a:pPr>
            <a:r>
              <a:rPr lang="en-US" sz="2000" b="1" dirty="0">
                <a:solidFill>
                  <a:schemeClr val="tx2"/>
                </a:solidFill>
              </a:rPr>
              <a:t>Exercise 1–6</a:t>
            </a:r>
            <a:endParaRPr lang="en-US" sz="2000" dirty="0"/>
          </a:p>
        </p:txBody>
      </p:sp>
      <p:sp>
        <p:nvSpPr>
          <p:cNvPr id="16" name="Text 14"/>
          <p:cNvSpPr txBox="1"/>
          <p:nvPr/>
        </p:nvSpPr>
        <p:spPr>
          <a:xfrm>
            <a:off x="6492240" y="3749040"/>
            <a:ext cx="2103120" cy="1188720"/>
          </a:xfrm>
          <a:prstGeom prst="rect">
            <a:avLst/>
          </a:prstGeom>
          <a:noFill/>
          <a:ln/>
        </p:spPr>
        <p:txBody>
          <a:bodyPr wrap="square" lIns="0" tIns="0" rIns="0" bIns="0" rtlCol="0" anchor="t"/>
          <a:lstStyle/>
          <a:p>
            <a:pPr indent="0" marL="0">
              <a:buNone/>
            </a:pPr>
            <a:r>
              <a:rPr lang="en-US" sz="1500" dirty="0">
                <a:solidFill>
                  <a:schemeClr val="tx1"/>
                </a:solidFill>
              </a:rPr>
              <a:t>지문+보기 → 근거·문법 → 흐름 → 정답·오답</a:t>
            </a:r>
            <a:endParaRPr lang="en-US" sz="1500" dirty="0"/>
          </a:p>
        </p:txBody>
      </p:sp>
      <p:sp>
        <p:nvSpPr>
          <p:cNvPr id="17" name="Text 15"/>
          <p:cNvSpPr/>
          <p:nvPr/>
        </p:nvSpPr>
        <p:spPr>
          <a:xfrm>
            <a:off x="6492240" y="5120640"/>
            <a:ext cx="12801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300" b="1" dirty="0">
                <a:solidFill>
                  <a:schemeClr val="bg1"/>
                </a:solidFill>
              </a:rPr>
              <a:t>1차시</a:t>
            </a:r>
            <a:endParaRPr lang="en-US" sz="1300" dirty="0"/>
          </a:p>
        </p:txBody>
      </p:sp>
      <p:sp>
        <p:nvSpPr>
          <p:cNvPr id="18" name="Shape 16"/>
          <p:cNvSpPr/>
          <p:nvPr/>
        </p:nvSpPr>
        <p:spPr>
          <a:xfrm>
            <a:off x="9052560" y="1554480"/>
            <a:ext cx="2606040" cy="4206240"/>
          </a:xfrm>
          <a:prstGeom prst="roundRect">
            <a:avLst>
              <a:gd name="adj" fmla="val 5263"/>
            </a:avLst>
          </a:prstGeom>
          <a:solidFill>
            <a:schemeClr val="bg1"/>
          </a:solidFill>
          <a:ln w="12700">
            <a:solidFill>
              <a:schemeClr val="bg2"/>
            </a:solidFill>
            <a:prstDash val="solid"/>
          </a:ln>
          <a:effectLst>
            <a:outerShdw sx="100000" sy="100000" kx="0" ky="0" algn="bl" rotWithShape="0" blurRad="101600" dist="25400" dir="5400000">
              <a:srgbClr val="1E2B2A">
                <a:alpha val="12000"/>
              </a:srgbClr>
            </a:outerShdw>
          </a:effectLst>
        </p:spPr>
      </p:sp>
      <p:sp>
        <p:nvSpPr>
          <p:cNvPr id="19" name="Text 17"/>
          <p:cNvSpPr/>
          <p:nvPr/>
        </p:nvSpPr>
        <p:spPr>
          <a:xfrm>
            <a:off x="9326880" y="1828800"/>
            <a:ext cx="822960" cy="822960"/>
          </a:xfrm>
          <a:prstGeom prst="ellipse">
            <a:avLst/>
          </a:prstGeom>
          <a:solidFill>
            <a:schemeClr val="accent1"/>
          </a:solidFill>
          <a:ln/>
        </p:spPr>
        <p:txBody>
          <a:bodyPr wrap="square" lIns="0" tIns="0" rIns="0" bIns="0" rtlCol="0" anchor="ctr"/>
          <a:lstStyle/>
          <a:p>
            <a:pPr algn="ctr" indent="0" marL="0">
              <a:buNone/>
            </a:pPr>
            <a:r>
              <a:rPr lang="en-US" sz="3200" b="1" dirty="0">
                <a:solidFill>
                  <a:schemeClr val="bg1"/>
                </a:solidFill>
              </a:rPr>
              <a:t>4</a:t>
            </a:r>
            <a:endParaRPr lang="en-US" sz="3200" dirty="0"/>
          </a:p>
        </p:txBody>
      </p:sp>
      <p:sp>
        <p:nvSpPr>
          <p:cNvPr id="20" name="Text 18"/>
          <p:cNvSpPr txBox="1"/>
          <p:nvPr/>
        </p:nvSpPr>
        <p:spPr>
          <a:xfrm>
            <a:off x="9326880" y="2880360"/>
            <a:ext cx="2103120" cy="822960"/>
          </a:xfrm>
          <a:prstGeom prst="rect">
            <a:avLst/>
          </a:prstGeom>
          <a:noFill/>
          <a:ln/>
        </p:spPr>
        <p:txBody>
          <a:bodyPr wrap="square" lIns="0" tIns="0" rIns="0" bIns="0" rtlCol="0" anchor="t"/>
          <a:lstStyle/>
          <a:p>
            <a:pPr indent="0" marL="0">
              <a:buNone/>
            </a:pPr>
            <a:r>
              <a:rPr lang="en-US" sz="2000" b="1" dirty="0">
                <a:solidFill>
                  <a:schemeClr val="tx2"/>
                </a:solidFill>
              </a:rPr>
              <a:t>Exercise 7–12</a:t>
            </a:r>
            <a:endParaRPr lang="en-US" sz="2000" dirty="0"/>
          </a:p>
        </p:txBody>
      </p:sp>
      <p:sp>
        <p:nvSpPr>
          <p:cNvPr id="21" name="Text 19"/>
          <p:cNvSpPr txBox="1"/>
          <p:nvPr/>
        </p:nvSpPr>
        <p:spPr>
          <a:xfrm>
            <a:off x="9326880" y="3749040"/>
            <a:ext cx="2103120" cy="1188720"/>
          </a:xfrm>
          <a:prstGeom prst="rect">
            <a:avLst/>
          </a:prstGeom>
          <a:noFill/>
          <a:ln/>
        </p:spPr>
        <p:txBody>
          <a:bodyPr wrap="square" lIns="0" tIns="0" rIns="0" bIns="0" rtlCol="0" anchor="t"/>
          <a:lstStyle/>
          <a:p>
            <a:pPr indent="0" marL="0">
              <a:buNone/>
            </a:pPr>
            <a:r>
              <a:rPr lang="en-US" sz="1500" dirty="0">
                <a:solidFill>
                  <a:schemeClr val="tx1"/>
                </a:solidFill>
              </a:rPr>
              <a:t>같은 순서로 해설 → 학생이 단서 먼저 말하기</a:t>
            </a:r>
            <a:endParaRPr lang="en-US" sz="1500" dirty="0"/>
          </a:p>
        </p:txBody>
      </p:sp>
      <p:sp>
        <p:nvSpPr>
          <p:cNvPr id="22" name="Text 20"/>
          <p:cNvSpPr/>
          <p:nvPr/>
        </p:nvSpPr>
        <p:spPr>
          <a:xfrm>
            <a:off x="9326880" y="5120640"/>
            <a:ext cx="12801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300" b="1" dirty="0">
                <a:solidFill>
                  <a:schemeClr val="bg1"/>
                </a:solidFill>
              </a:rPr>
              <a:t>2차시</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빈칸 추론, 딱 3단계만 기억하자</a:t>
            </a:r>
            <a:endParaRPr lang="en-US" sz="3000" dirty="0"/>
          </a:p>
        </p:txBody>
      </p:sp>
      <p:sp>
        <p:nvSpPr>
          <p:cNvPr id="3" name="Shape 1"/>
          <p:cNvSpPr/>
          <p:nvPr/>
        </p:nvSpPr>
        <p:spPr>
          <a:xfrm>
            <a:off x="548640" y="1463040"/>
            <a:ext cx="3520440" cy="4480560"/>
          </a:xfrm>
          <a:prstGeom prst="roundRect">
            <a:avLst>
              <a:gd name="adj" fmla="val 3896"/>
            </a:avLst>
          </a:prstGeom>
          <a:solidFill>
            <a:schemeClr val="bg2"/>
          </a:solidFill>
          <a:ln w="12700">
            <a:solidFill>
              <a:schemeClr val="bg2"/>
            </a:solidFill>
            <a:prstDash val="solid"/>
          </a:ln>
        </p:spPr>
      </p:sp>
      <p:sp>
        <p:nvSpPr>
          <p:cNvPr id="4" name="Shape 2"/>
          <p:cNvSpPr/>
          <p:nvPr/>
        </p:nvSpPr>
        <p:spPr>
          <a:xfrm>
            <a:off x="868680" y="1783080"/>
            <a:ext cx="914400" cy="914400"/>
          </a:xfrm>
          <a:prstGeom prst="ellipse">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1097280" y="2011680"/>
            <a:ext cx="457200" cy="457200"/>
          </a:xfrm>
          <a:prstGeom prst="rect">
            <a:avLst/>
          </a:prstGeom>
        </p:spPr>
      </p:pic>
      <p:sp>
        <p:nvSpPr>
          <p:cNvPr id="6" name="Text 3"/>
          <p:cNvSpPr txBox="1"/>
          <p:nvPr/>
        </p:nvSpPr>
        <p:spPr>
          <a:xfrm>
            <a:off x="1965960" y="1874520"/>
            <a:ext cx="1828800" cy="365760"/>
          </a:xfrm>
          <a:prstGeom prst="rect">
            <a:avLst/>
          </a:prstGeom>
          <a:noFill/>
          <a:ln/>
        </p:spPr>
        <p:txBody>
          <a:bodyPr wrap="square" lIns="0" tIns="0" rIns="0" bIns="0" rtlCol="0" anchor="ctr"/>
          <a:lstStyle/>
          <a:p>
            <a:pPr indent="0" marL="0">
              <a:buNone/>
            </a:pPr>
            <a:r>
              <a:rPr lang="en-US" sz="1400" b="1" dirty="0">
                <a:solidFill>
                  <a:schemeClr val="accent2"/>
                </a:solidFill>
              </a:rPr>
              <a:t>STEP 1</a:t>
            </a:r>
            <a:endParaRPr lang="en-US" sz="1400" dirty="0"/>
          </a:p>
        </p:txBody>
      </p:sp>
      <p:sp>
        <p:nvSpPr>
          <p:cNvPr id="7" name="Text 4"/>
          <p:cNvSpPr txBox="1"/>
          <p:nvPr/>
        </p:nvSpPr>
        <p:spPr>
          <a:xfrm>
            <a:off x="1965960" y="2240280"/>
            <a:ext cx="2011680" cy="457200"/>
          </a:xfrm>
          <a:prstGeom prst="rect">
            <a:avLst/>
          </a:prstGeom>
          <a:noFill/>
          <a:ln/>
        </p:spPr>
        <p:txBody>
          <a:bodyPr wrap="square" lIns="0" tIns="0" rIns="0" bIns="0" rtlCol="0" anchor="ctr"/>
          <a:lstStyle/>
          <a:p>
            <a:pPr indent="0" marL="0">
              <a:buNone/>
            </a:pPr>
            <a:r>
              <a:rPr lang="en-US" sz="2000" b="1" dirty="0">
                <a:solidFill>
                  <a:schemeClr val="tx2"/>
                </a:solidFill>
              </a:rPr>
              <a:t>빈칸 문장부터 읽기</a:t>
            </a:r>
            <a:endParaRPr lang="en-US" sz="2000" dirty="0"/>
          </a:p>
        </p:txBody>
      </p:sp>
      <p:sp>
        <p:nvSpPr>
          <p:cNvPr id="8" name="Text 5"/>
          <p:cNvSpPr txBox="1"/>
          <p:nvPr/>
        </p:nvSpPr>
        <p:spPr>
          <a:xfrm>
            <a:off x="86868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chemeClr val="tx1"/>
                </a:solidFill>
              </a:rPr>
              <a:t>지문 처음부터 읽지 말고 빈칸 문장을 먼저!</a:t>
            </a:r>
            <a:endParaRPr lang="en-US" sz="1700" dirty="0"/>
          </a:p>
          <a:p>
            <a:pPr indent="0" marL="0">
              <a:spcAft>
                <a:spcPts val="600"/>
              </a:spcAft>
              <a:buNone/>
            </a:pPr>
            <a:r>
              <a:rPr lang="en-US" sz="1700" dirty="0">
                <a:solidFill>
                  <a:schemeClr val="tx1"/>
                </a:solidFill>
              </a:rPr>
              <a:t>→ "무엇을 찾아야 하지?" 질문 만들기</a:t>
            </a:r>
            <a:endParaRPr lang="en-US" sz="1700" dirty="0"/>
          </a:p>
        </p:txBody>
      </p:sp>
      <p:pic>
        <p:nvPicPr>
          <p:cNvPr id="9" name="Image 1" descr="preencoded.png">    </p:cNvPr>
          <p:cNvPicPr>
            <a:picLocks noChangeAspect="1"/>
          </p:cNvPicPr>
          <p:nvPr/>
        </p:nvPicPr>
        <p:blipFill>
          <a:blip r:embed="rId2"/>
          <a:stretch>
            <a:fillRect/>
          </a:stretch>
        </p:blipFill>
        <p:spPr>
          <a:xfrm>
            <a:off x="4096512" y="3520440"/>
            <a:ext cx="228600" cy="228600"/>
          </a:xfrm>
          <a:prstGeom prst="rect">
            <a:avLst/>
          </a:prstGeom>
        </p:spPr>
      </p:pic>
      <p:sp>
        <p:nvSpPr>
          <p:cNvPr id="10" name="Shape 6"/>
          <p:cNvSpPr/>
          <p:nvPr/>
        </p:nvSpPr>
        <p:spPr>
          <a:xfrm>
            <a:off x="4343400" y="1463040"/>
            <a:ext cx="3520440" cy="4480560"/>
          </a:xfrm>
          <a:prstGeom prst="roundRect">
            <a:avLst>
              <a:gd name="adj" fmla="val 3896"/>
            </a:avLst>
          </a:prstGeom>
          <a:solidFill>
            <a:schemeClr val="bg2"/>
          </a:solidFill>
          <a:ln w="12700">
            <a:solidFill>
              <a:schemeClr val="bg2"/>
            </a:solidFill>
            <a:prstDash val="solid"/>
          </a:ln>
        </p:spPr>
      </p:sp>
      <p:sp>
        <p:nvSpPr>
          <p:cNvPr id="11" name="Shape 7"/>
          <p:cNvSpPr/>
          <p:nvPr/>
        </p:nvSpPr>
        <p:spPr>
          <a:xfrm>
            <a:off x="4663440" y="1783080"/>
            <a:ext cx="914400" cy="914400"/>
          </a:xfrm>
          <a:prstGeom prst="ellipse">
            <a:avLst/>
          </a:prstGeom>
          <a:solidFill>
            <a:schemeClr val="accent1"/>
          </a:solidFill>
          <a:ln w="12700">
            <a:solidFill>
              <a:schemeClr val="accent1"/>
            </a:solidFill>
            <a:prstDash val="solid"/>
          </a:ln>
        </p:spPr>
      </p:sp>
      <p:pic>
        <p:nvPicPr>
          <p:cNvPr id="12" name="Image 2" descr="preencoded.png">    </p:cNvPr>
          <p:cNvPicPr>
            <a:picLocks noChangeAspect="1"/>
          </p:cNvPicPr>
          <p:nvPr/>
        </p:nvPicPr>
        <p:blipFill>
          <a:blip r:embed="rId3"/>
          <a:stretch>
            <a:fillRect/>
          </a:stretch>
        </p:blipFill>
        <p:spPr>
          <a:xfrm>
            <a:off x="4892040" y="2011680"/>
            <a:ext cx="457200" cy="457200"/>
          </a:xfrm>
          <a:prstGeom prst="rect">
            <a:avLst/>
          </a:prstGeom>
        </p:spPr>
      </p:pic>
      <p:sp>
        <p:nvSpPr>
          <p:cNvPr id="13" name="Text 8"/>
          <p:cNvSpPr txBox="1"/>
          <p:nvPr/>
        </p:nvSpPr>
        <p:spPr>
          <a:xfrm>
            <a:off x="5760720" y="1874520"/>
            <a:ext cx="1828800" cy="365760"/>
          </a:xfrm>
          <a:prstGeom prst="rect">
            <a:avLst/>
          </a:prstGeom>
          <a:noFill/>
          <a:ln/>
        </p:spPr>
        <p:txBody>
          <a:bodyPr wrap="square" lIns="0" tIns="0" rIns="0" bIns="0" rtlCol="0" anchor="ctr"/>
          <a:lstStyle/>
          <a:p>
            <a:pPr indent="0" marL="0">
              <a:buNone/>
            </a:pPr>
            <a:r>
              <a:rPr lang="en-US" sz="1400" b="1" dirty="0">
                <a:solidFill>
                  <a:schemeClr val="accent2"/>
                </a:solidFill>
              </a:rPr>
              <a:t>STEP 2</a:t>
            </a:r>
            <a:endParaRPr lang="en-US" sz="1400" dirty="0"/>
          </a:p>
        </p:txBody>
      </p:sp>
      <p:sp>
        <p:nvSpPr>
          <p:cNvPr id="14" name="Text 9"/>
          <p:cNvSpPr txBox="1"/>
          <p:nvPr/>
        </p:nvSpPr>
        <p:spPr>
          <a:xfrm>
            <a:off x="5760720" y="2240280"/>
            <a:ext cx="2011680" cy="457200"/>
          </a:xfrm>
          <a:prstGeom prst="rect">
            <a:avLst/>
          </a:prstGeom>
          <a:noFill/>
          <a:ln/>
        </p:spPr>
        <p:txBody>
          <a:bodyPr wrap="square" lIns="0" tIns="0" rIns="0" bIns="0" rtlCol="0" anchor="ctr"/>
          <a:lstStyle/>
          <a:p>
            <a:pPr indent="0" marL="0">
              <a:buNone/>
            </a:pPr>
            <a:r>
              <a:rPr lang="en-US" sz="2000" b="1" dirty="0">
                <a:solidFill>
                  <a:schemeClr val="tx2"/>
                </a:solidFill>
              </a:rPr>
              <a:t>같은 말 찾기</a:t>
            </a:r>
            <a:endParaRPr lang="en-US" sz="2000" dirty="0"/>
          </a:p>
        </p:txBody>
      </p:sp>
      <p:sp>
        <p:nvSpPr>
          <p:cNvPr id="15" name="Text 10"/>
          <p:cNvSpPr txBox="1"/>
          <p:nvPr/>
        </p:nvSpPr>
        <p:spPr>
          <a:xfrm>
            <a:off x="466344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chemeClr val="tx1"/>
                </a:solidFill>
              </a:rPr>
              <a:t>빈칸 내용은 지문 어딘가에서 다른 표현으로 반복된다 (재진술)</a:t>
            </a:r>
            <a:endParaRPr lang="en-US" sz="1700" dirty="0"/>
          </a:p>
          <a:p>
            <a:pPr indent="0" marL="0">
              <a:spcAft>
                <a:spcPts val="600"/>
              </a:spcAft>
              <a:buNone/>
            </a:pPr>
            <a:r>
              <a:rPr lang="en-US" sz="1700" dirty="0">
                <a:solidFill>
                  <a:schemeClr val="tx1"/>
                </a:solidFill>
              </a:rPr>
              <a:t>→ 반복 단어·예시·결론에 밑줄</a:t>
            </a:r>
            <a:endParaRPr lang="en-US" sz="1700" dirty="0"/>
          </a:p>
        </p:txBody>
      </p:sp>
      <p:pic>
        <p:nvPicPr>
          <p:cNvPr id="16" name="Image 3" descr="preencoded.png">    </p:cNvPr>
          <p:cNvPicPr>
            <a:picLocks noChangeAspect="1"/>
          </p:cNvPicPr>
          <p:nvPr/>
        </p:nvPicPr>
        <p:blipFill>
          <a:blip r:embed="rId4"/>
          <a:stretch>
            <a:fillRect/>
          </a:stretch>
        </p:blipFill>
        <p:spPr>
          <a:xfrm>
            <a:off x="7891272" y="3520440"/>
            <a:ext cx="228600" cy="228600"/>
          </a:xfrm>
          <a:prstGeom prst="rect">
            <a:avLst/>
          </a:prstGeom>
        </p:spPr>
      </p:pic>
      <p:sp>
        <p:nvSpPr>
          <p:cNvPr id="17" name="Shape 11"/>
          <p:cNvSpPr/>
          <p:nvPr/>
        </p:nvSpPr>
        <p:spPr>
          <a:xfrm>
            <a:off x="8138160" y="1463040"/>
            <a:ext cx="3520440" cy="4480560"/>
          </a:xfrm>
          <a:prstGeom prst="roundRect">
            <a:avLst>
              <a:gd name="adj" fmla="val 3896"/>
            </a:avLst>
          </a:prstGeom>
          <a:solidFill>
            <a:schemeClr val="bg2"/>
          </a:solidFill>
          <a:ln w="12700">
            <a:solidFill>
              <a:schemeClr val="bg2"/>
            </a:solidFill>
            <a:prstDash val="solid"/>
          </a:ln>
        </p:spPr>
      </p:sp>
      <p:sp>
        <p:nvSpPr>
          <p:cNvPr id="18" name="Shape 12"/>
          <p:cNvSpPr/>
          <p:nvPr/>
        </p:nvSpPr>
        <p:spPr>
          <a:xfrm>
            <a:off x="8458200" y="1783080"/>
            <a:ext cx="914400" cy="914400"/>
          </a:xfrm>
          <a:prstGeom prst="ellipse">
            <a:avLst/>
          </a:prstGeom>
          <a:solidFill>
            <a:schemeClr val="accent1"/>
          </a:solidFill>
          <a:ln w="12700">
            <a:solidFill>
              <a:schemeClr val="accent1"/>
            </a:solidFill>
            <a:prstDash val="solid"/>
          </a:ln>
        </p:spPr>
      </p:sp>
      <p:pic>
        <p:nvPicPr>
          <p:cNvPr id="19" name="Image 4" descr="preencoded.png">    </p:cNvPr>
          <p:cNvPicPr>
            <a:picLocks noChangeAspect="1"/>
          </p:cNvPicPr>
          <p:nvPr/>
        </p:nvPicPr>
        <p:blipFill>
          <a:blip r:embed="rId5"/>
          <a:stretch>
            <a:fillRect/>
          </a:stretch>
        </p:blipFill>
        <p:spPr>
          <a:xfrm>
            <a:off x="8686800" y="2011680"/>
            <a:ext cx="457200" cy="457200"/>
          </a:xfrm>
          <a:prstGeom prst="rect">
            <a:avLst/>
          </a:prstGeom>
        </p:spPr>
      </p:pic>
      <p:sp>
        <p:nvSpPr>
          <p:cNvPr id="20" name="Text 13"/>
          <p:cNvSpPr txBox="1"/>
          <p:nvPr/>
        </p:nvSpPr>
        <p:spPr>
          <a:xfrm>
            <a:off x="9555480" y="1874520"/>
            <a:ext cx="1828800" cy="365760"/>
          </a:xfrm>
          <a:prstGeom prst="rect">
            <a:avLst/>
          </a:prstGeom>
          <a:noFill/>
          <a:ln/>
        </p:spPr>
        <p:txBody>
          <a:bodyPr wrap="square" lIns="0" tIns="0" rIns="0" bIns="0" rtlCol="0" anchor="ctr"/>
          <a:lstStyle/>
          <a:p>
            <a:pPr indent="0" marL="0">
              <a:buNone/>
            </a:pPr>
            <a:r>
              <a:rPr lang="en-US" sz="1400" b="1" dirty="0">
                <a:solidFill>
                  <a:schemeClr val="accent2"/>
                </a:solidFill>
              </a:rPr>
              <a:t>STEP 3</a:t>
            </a:r>
            <a:endParaRPr lang="en-US" sz="1400" dirty="0"/>
          </a:p>
        </p:txBody>
      </p:sp>
      <p:sp>
        <p:nvSpPr>
          <p:cNvPr id="21" name="Text 14"/>
          <p:cNvSpPr txBox="1"/>
          <p:nvPr/>
        </p:nvSpPr>
        <p:spPr>
          <a:xfrm>
            <a:off x="9555480" y="2240280"/>
            <a:ext cx="2011680" cy="457200"/>
          </a:xfrm>
          <a:prstGeom prst="rect">
            <a:avLst/>
          </a:prstGeom>
          <a:noFill/>
          <a:ln/>
        </p:spPr>
        <p:txBody>
          <a:bodyPr wrap="square" lIns="0" tIns="0" rIns="0" bIns="0" rtlCol="0" anchor="ctr"/>
          <a:lstStyle/>
          <a:p>
            <a:pPr indent="0" marL="0">
              <a:buNone/>
            </a:pPr>
            <a:r>
              <a:rPr lang="en-US" sz="2000" b="1" dirty="0">
                <a:solidFill>
                  <a:schemeClr val="tx2"/>
                </a:solidFill>
              </a:rPr>
              <a:t>대입하고 함정 지우기</a:t>
            </a:r>
            <a:endParaRPr lang="en-US" sz="2000" dirty="0"/>
          </a:p>
        </p:txBody>
      </p:sp>
      <p:sp>
        <p:nvSpPr>
          <p:cNvPr id="22" name="Text 15"/>
          <p:cNvSpPr txBox="1"/>
          <p:nvPr/>
        </p:nvSpPr>
        <p:spPr>
          <a:xfrm>
            <a:off x="845820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chemeClr val="tx1"/>
                </a:solidFill>
              </a:rPr>
              <a:t>선택지를 빈칸에 넣어 읽어 보기</a:t>
            </a:r>
            <a:endParaRPr lang="en-US" sz="1700" dirty="0"/>
          </a:p>
          <a:p>
            <a:pPr indent="0" marL="0">
              <a:spcAft>
                <a:spcPts val="600"/>
              </a:spcAft>
              <a:buNone/>
            </a:pPr>
            <a:r>
              <a:rPr lang="en-US" sz="1700" dirty="0">
                <a:solidFill>
                  <a:schemeClr val="tx1"/>
                </a:solidFill>
              </a:rPr>
              <a:t>→ 반대·언급 없음·소재 함정부터 X</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이런 단어가 보이면 멈춰! 신호어 4종</a:t>
            </a:r>
            <a:endParaRPr lang="en-US" sz="3000" dirty="0"/>
          </a:p>
        </p:txBody>
      </p:sp>
      <p:sp>
        <p:nvSpPr>
          <p:cNvPr id="3" name="Shape 1"/>
          <p:cNvSpPr/>
          <p:nvPr/>
        </p:nvSpPr>
        <p:spPr>
          <a:xfrm>
            <a:off x="548640" y="1417320"/>
            <a:ext cx="5440680" cy="2240280"/>
          </a:xfrm>
          <a:prstGeom prst="roundRect">
            <a:avLst>
              <a:gd name="adj" fmla="val 4898"/>
            </a:avLst>
          </a:prstGeom>
          <a:solidFill>
            <a:schemeClr val="bg1"/>
          </a:solidFill>
          <a:ln w="19050">
            <a:solidFill>
              <a:schemeClr val="bg2"/>
            </a:solidFill>
            <a:prstDash val="solid"/>
          </a:ln>
          <a:effectLst>
            <a:outerShdw sx="100000" sy="100000" kx="0" ky="0" algn="bl" rotWithShape="0" blurRad="101600" dist="25400" dir="5400000">
              <a:srgbClr val="1E2B2A">
                <a:alpha val="12000"/>
              </a:srgbClr>
            </a:outerShdw>
          </a:effectLst>
        </p:spPr>
      </p:sp>
      <p:sp>
        <p:nvSpPr>
          <p:cNvPr id="4" name="Shape 2"/>
          <p:cNvSpPr/>
          <p:nvPr/>
        </p:nvSpPr>
        <p:spPr>
          <a:xfrm>
            <a:off x="822960" y="1691640"/>
            <a:ext cx="731520" cy="731520"/>
          </a:xfrm>
          <a:prstGeom prst="ellipse">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1005840" y="1874520"/>
            <a:ext cx="365760" cy="365760"/>
          </a:xfrm>
          <a:prstGeom prst="rect">
            <a:avLst/>
          </a:prstGeom>
        </p:spPr>
      </p:pic>
      <p:sp>
        <p:nvSpPr>
          <p:cNvPr id="6" name="Text 3"/>
          <p:cNvSpPr txBox="1"/>
          <p:nvPr/>
        </p:nvSpPr>
        <p:spPr>
          <a:xfrm>
            <a:off x="1737360" y="1691640"/>
            <a:ext cx="2286000" cy="411480"/>
          </a:xfrm>
          <a:prstGeom prst="rect">
            <a:avLst/>
          </a:prstGeom>
          <a:noFill/>
          <a:ln/>
        </p:spPr>
        <p:txBody>
          <a:bodyPr wrap="square" lIns="0" tIns="0" rIns="0" bIns="0" rtlCol="0" anchor="ctr"/>
          <a:lstStyle/>
          <a:p>
            <a:pPr indent="0" marL="0">
              <a:buNone/>
            </a:pPr>
            <a:r>
              <a:rPr lang="en-US" sz="2200" b="1" dirty="0">
                <a:solidFill>
                  <a:schemeClr val="tx2"/>
                </a:solidFill>
              </a:rPr>
              <a:t>반전</a:t>
            </a:r>
            <a:endParaRPr lang="en-US" sz="2200" dirty="0"/>
          </a:p>
        </p:txBody>
      </p:sp>
      <p:sp>
        <p:nvSpPr>
          <p:cNvPr id="7" name="Text 4"/>
          <p:cNvSpPr/>
          <p:nvPr/>
        </p:nvSpPr>
        <p:spPr>
          <a:xfrm>
            <a:off x="4572000" y="1737360"/>
            <a:ext cx="114300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Ex 10</a:t>
            </a:r>
            <a:endParaRPr lang="en-US" sz="1200" dirty="0"/>
          </a:p>
        </p:txBody>
      </p:sp>
      <p:sp>
        <p:nvSpPr>
          <p:cNvPr id="8" name="Text 5"/>
          <p:cNvSpPr txBox="1"/>
          <p:nvPr/>
        </p:nvSpPr>
        <p:spPr>
          <a:xfrm>
            <a:off x="1737360" y="2148840"/>
            <a:ext cx="4023360" cy="365760"/>
          </a:xfrm>
          <a:prstGeom prst="rect">
            <a:avLst/>
          </a:prstGeom>
          <a:noFill/>
          <a:ln/>
        </p:spPr>
        <p:txBody>
          <a:bodyPr wrap="square" lIns="0" tIns="0" rIns="0" bIns="0" rtlCol="0" anchor="ctr"/>
          <a:lstStyle/>
          <a:p>
            <a:pPr indent="0" marL="0">
              <a:buNone/>
            </a:pPr>
            <a:r>
              <a:rPr lang="en-US" sz="1400" i="1" dirty="0">
                <a:solidFill>
                  <a:schemeClr val="accent1"/>
                </a:solidFill>
              </a:rPr>
              <a:t>However · But · Yet · In contrast · Rather</a:t>
            </a:r>
            <a:endParaRPr lang="en-US" sz="1400" dirty="0"/>
          </a:p>
        </p:txBody>
      </p:sp>
      <p:sp>
        <p:nvSpPr>
          <p:cNvPr id="9" name="Text 6"/>
          <p:cNvSpPr txBox="1"/>
          <p:nvPr/>
        </p:nvSpPr>
        <p:spPr>
          <a:xfrm>
            <a:off x="1737360" y="2606040"/>
            <a:ext cx="4023360" cy="868680"/>
          </a:xfrm>
          <a:prstGeom prst="rect">
            <a:avLst/>
          </a:prstGeom>
          <a:noFill/>
          <a:ln/>
        </p:spPr>
        <p:txBody>
          <a:bodyPr wrap="square" lIns="0" tIns="0" rIns="0" bIns="0" rtlCol="0" anchor="t"/>
          <a:lstStyle/>
          <a:p>
            <a:pPr indent="0" marL="0">
              <a:buNone/>
            </a:pPr>
            <a:r>
              <a:rPr lang="en-US" sz="1500" dirty="0">
                <a:solidFill>
                  <a:schemeClr val="tx1"/>
                </a:solidFill>
              </a:rPr>
              <a:t>앞 내용과 반대가 나온다</a:t>
            </a:r>
            <a:endParaRPr lang="en-US" sz="1500" dirty="0"/>
          </a:p>
          <a:p>
            <a:pPr indent="0" marL="0">
              <a:buNone/>
            </a:pPr>
            <a:r>
              <a:rPr lang="en-US" sz="1500" dirty="0">
                <a:solidFill>
                  <a:schemeClr val="tx1"/>
                </a:solidFill>
              </a:rPr>
              <a:t>→ 뒤가 진짜 주장</a:t>
            </a:r>
            <a:endParaRPr lang="en-US" sz="1500" dirty="0"/>
          </a:p>
        </p:txBody>
      </p:sp>
      <p:sp>
        <p:nvSpPr>
          <p:cNvPr id="10" name="Shape 7"/>
          <p:cNvSpPr/>
          <p:nvPr/>
        </p:nvSpPr>
        <p:spPr>
          <a:xfrm>
            <a:off x="6172200" y="1417320"/>
            <a:ext cx="5440680" cy="2240280"/>
          </a:xfrm>
          <a:prstGeom prst="roundRect">
            <a:avLst>
              <a:gd name="adj" fmla="val 4898"/>
            </a:avLst>
          </a:prstGeom>
          <a:solidFill>
            <a:schemeClr val="bg1"/>
          </a:solidFill>
          <a:ln w="19050">
            <a:solidFill>
              <a:schemeClr val="bg2"/>
            </a:solidFill>
            <a:prstDash val="solid"/>
          </a:ln>
          <a:effectLst>
            <a:outerShdw sx="100000" sy="100000" kx="0" ky="0" algn="bl" rotWithShape="0" blurRad="101600" dist="25400" dir="5400000">
              <a:srgbClr val="1E2B2A">
                <a:alpha val="12000"/>
              </a:srgbClr>
            </a:outerShdw>
          </a:effectLst>
        </p:spPr>
      </p:sp>
      <p:sp>
        <p:nvSpPr>
          <p:cNvPr id="11" name="Shape 8"/>
          <p:cNvSpPr/>
          <p:nvPr/>
        </p:nvSpPr>
        <p:spPr>
          <a:xfrm>
            <a:off x="6446520" y="1691640"/>
            <a:ext cx="731520" cy="731520"/>
          </a:xfrm>
          <a:prstGeom prst="ellipse">
            <a:avLst/>
          </a:prstGeom>
          <a:solidFill>
            <a:schemeClr val="accent1"/>
          </a:solidFill>
          <a:ln w="12700">
            <a:solidFill>
              <a:schemeClr val="accent1"/>
            </a:solidFill>
            <a:prstDash val="solid"/>
          </a:ln>
        </p:spPr>
      </p:sp>
      <p:pic>
        <p:nvPicPr>
          <p:cNvPr id="12" name="Image 1" descr="preencoded.png">    </p:cNvPr>
          <p:cNvPicPr>
            <a:picLocks noChangeAspect="1"/>
          </p:cNvPicPr>
          <p:nvPr/>
        </p:nvPicPr>
        <p:blipFill>
          <a:blip r:embed="rId2"/>
          <a:stretch>
            <a:fillRect/>
          </a:stretch>
        </p:blipFill>
        <p:spPr>
          <a:xfrm>
            <a:off x="6629400" y="1874520"/>
            <a:ext cx="365760" cy="365760"/>
          </a:xfrm>
          <a:prstGeom prst="rect">
            <a:avLst/>
          </a:prstGeom>
        </p:spPr>
      </p:pic>
      <p:sp>
        <p:nvSpPr>
          <p:cNvPr id="13" name="Text 9"/>
          <p:cNvSpPr txBox="1"/>
          <p:nvPr/>
        </p:nvSpPr>
        <p:spPr>
          <a:xfrm>
            <a:off x="7360920" y="1691640"/>
            <a:ext cx="2286000" cy="411480"/>
          </a:xfrm>
          <a:prstGeom prst="rect">
            <a:avLst/>
          </a:prstGeom>
          <a:noFill/>
          <a:ln/>
        </p:spPr>
        <p:txBody>
          <a:bodyPr wrap="square" lIns="0" tIns="0" rIns="0" bIns="0" rtlCol="0" anchor="ctr"/>
          <a:lstStyle/>
          <a:p>
            <a:pPr indent="0" marL="0">
              <a:buNone/>
            </a:pPr>
            <a:r>
              <a:rPr lang="en-US" sz="2200" b="1" dirty="0">
                <a:solidFill>
                  <a:schemeClr val="tx2"/>
                </a:solidFill>
              </a:rPr>
              <a:t>결론</a:t>
            </a:r>
            <a:endParaRPr lang="en-US" sz="2200" dirty="0"/>
          </a:p>
        </p:txBody>
      </p:sp>
      <p:sp>
        <p:nvSpPr>
          <p:cNvPr id="14" name="Text 10"/>
          <p:cNvSpPr/>
          <p:nvPr/>
        </p:nvSpPr>
        <p:spPr>
          <a:xfrm>
            <a:off x="10195560" y="1737360"/>
            <a:ext cx="114300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Ex 1, 9</a:t>
            </a:r>
            <a:endParaRPr lang="en-US" sz="1200" dirty="0"/>
          </a:p>
        </p:txBody>
      </p:sp>
      <p:sp>
        <p:nvSpPr>
          <p:cNvPr id="15" name="Text 11"/>
          <p:cNvSpPr txBox="1"/>
          <p:nvPr/>
        </p:nvSpPr>
        <p:spPr>
          <a:xfrm>
            <a:off x="7360920" y="2148840"/>
            <a:ext cx="4023360" cy="365760"/>
          </a:xfrm>
          <a:prstGeom prst="rect">
            <a:avLst/>
          </a:prstGeom>
          <a:noFill/>
          <a:ln/>
        </p:spPr>
        <p:txBody>
          <a:bodyPr wrap="square" lIns="0" tIns="0" rIns="0" bIns="0" rtlCol="0" anchor="ctr"/>
          <a:lstStyle/>
          <a:p>
            <a:pPr indent="0" marL="0">
              <a:buNone/>
            </a:pPr>
            <a:r>
              <a:rPr lang="en-US" sz="1400" i="1" dirty="0">
                <a:solidFill>
                  <a:schemeClr val="accent1"/>
                </a:solidFill>
              </a:rPr>
              <a:t>Therefore · As a result · This is why · Thus</a:t>
            </a:r>
            <a:endParaRPr lang="en-US" sz="1400" dirty="0"/>
          </a:p>
        </p:txBody>
      </p:sp>
      <p:sp>
        <p:nvSpPr>
          <p:cNvPr id="16" name="Text 12"/>
          <p:cNvSpPr txBox="1"/>
          <p:nvPr/>
        </p:nvSpPr>
        <p:spPr>
          <a:xfrm>
            <a:off x="7360920" y="2606040"/>
            <a:ext cx="4023360" cy="868680"/>
          </a:xfrm>
          <a:prstGeom prst="rect">
            <a:avLst/>
          </a:prstGeom>
          <a:noFill/>
          <a:ln/>
        </p:spPr>
        <p:txBody>
          <a:bodyPr wrap="square" lIns="0" tIns="0" rIns="0" bIns="0" rtlCol="0" anchor="t"/>
          <a:lstStyle/>
          <a:p>
            <a:pPr indent="0" marL="0">
              <a:buNone/>
            </a:pPr>
            <a:r>
              <a:rPr lang="en-US" sz="1500" dirty="0">
                <a:solidFill>
                  <a:schemeClr val="tx1"/>
                </a:solidFill>
              </a:rPr>
              <a:t>지금까지 내용을 정리한다</a:t>
            </a:r>
            <a:endParaRPr lang="en-US" sz="1500" dirty="0"/>
          </a:p>
          <a:p>
            <a:pPr indent="0" marL="0">
              <a:buNone/>
            </a:pPr>
            <a:r>
              <a:rPr lang="en-US" sz="1500" dirty="0">
                <a:solidFill>
                  <a:schemeClr val="tx1"/>
                </a:solidFill>
              </a:rPr>
              <a:t>→ 빈칸 답의 원본</a:t>
            </a:r>
            <a:endParaRPr lang="en-US" sz="1500" dirty="0"/>
          </a:p>
        </p:txBody>
      </p:sp>
      <p:sp>
        <p:nvSpPr>
          <p:cNvPr id="17" name="Shape 13"/>
          <p:cNvSpPr/>
          <p:nvPr/>
        </p:nvSpPr>
        <p:spPr>
          <a:xfrm>
            <a:off x="548640" y="3886200"/>
            <a:ext cx="5440680" cy="2240280"/>
          </a:xfrm>
          <a:prstGeom prst="roundRect">
            <a:avLst>
              <a:gd name="adj" fmla="val 4898"/>
            </a:avLst>
          </a:prstGeom>
          <a:solidFill>
            <a:schemeClr val="bg1"/>
          </a:solidFill>
          <a:ln w="19050">
            <a:solidFill>
              <a:schemeClr val="bg2"/>
            </a:solidFill>
            <a:prstDash val="solid"/>
          </a:ln>
          <a:effectLst>
            <a:outerShdw sx="100000" sy="100000" kx="0" ky="0" algn="bl" rotWithShape="0" blurRad="101600" dist="25400" dir="5400000">
              <a:srgbClr val="1E2B2A">
                <a:alpha val="12000"/>
              </a:srgbClr>
            </a:outerShdw>
          </a:effectLst>
        </p:spPr>
      </p:sp>
      <p:sp>
        <p:nvSpPr>
          <p:cNvPr id="18" name="Shape 14"/>
          <p:cNvSpPr/>
          <p:nvPr/>
        </p:nvSpPr>
        <p:spPr>
          <a:xfrm>
            <a:off x="822960" y="4160520"/>
            <a:ext cx="731520" cy="731520"/>
          </a:xfrm>
          <a:prstGeom prst="ellipse">
            <a:avLst/>
          </a:prstGeom>
          <a:solidFill>
            <a:schemeClr val="accent1"/>
          </a:solidFill>
          <a:ln w="12700">
            <a:solidFill>
              <a:schemeClr val="accent1"/>
            </a:solidFill>
            <a:prstDash val="solid"/>
          </a:ln>
        </p:spPr>
      </p:sp>
      <p:pic>
        <p:nvPicPr>
          <p:cNvPr id="19" name="Image 2" descr="preencoded.png">    </p:cNvPr>
          <p:cNvPicPr>
            <a:picLocks noChangeAspect="1"/>
          </p:cNvPicPr>
          <p:nvPr/>
        </p:nvPicPr>
        <p:blipFill>
          <a:blip r:embed="rId3"/>
          <a:stretch>
            <a:fillRect/>
          </a:stretch>
        </p:blipFill>
        <p:spPr>
          <a:xfrm>
            <a:off x="1005840" y="4343400"/>
            <a:ext cx="365760" cy="365760"/>
          </a:xfrm>
          <a:prstGeom prst="rect">
            <a:avLst/>
          </a:prstGeom>
        </p:spPr>
      </p:pic>
      <p:sp>
        <p:nvSpPr>
          <p:cNvPr id="20" name="Text 15"/>
          <p:cNvSpPr txBox="1"/>
          <p:nvPr/>
        </p:nvSpPr>
        <p:spPr>
          <a:xfrm>
            <a:off x="1737360" y="4160520"/>
            <a:ext cx="2286000" cy="411480"/>
          </a:xfrm>
          <a:prstGeom prst="rect">
            <a:avLst/>
          </a:prstGeom>
          <a:noFill/>
          <a:ln/>
        </p:spPr>
        <p:txBody>
          <a:bodyPr wrap="square" lIns="0" tIns="0" rIns="0" bIns="0" rtlCol="0" anchor="ctr"/>
          <a:lstStyle/>
          <a:p>
            <a:pPr indent="0" marL="0">
              <a:buNone/>
            </a:pPr>
            <a:r>
              <a:rPr lang="en-US" sz="2200" b="1" dirty="0">
                <a:solidFill>
                  <a:schemeClr val="tx2"/>
                </a:solidFill>
              </a:rPr>
              <a:t>예시</a:t>
            </a:r>
            <a:endParaRPr lang="en-US" sz="2200" dirty="0"/>
          </a:p>
        </p:txBody>
      </p:sp>
      <p:sp>
        <p:nvSpPr>
          <p:cNvPr id="21" name="Text 16"/>
          <p:cNvSpPr/>
          <p:nvPr/>
        </p:nvSpPr>
        <p:spPr>
          <a:xfrm>
            <a:off x="4572000" y="4206240"/>
            <a:ext cx="114300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Ex 4, 7</a:t>
            </a:r>
            <a:endParaRPr lang="en-US" sz="1200" dirty="0"/>
          </a:p>
        </p:txBody>
      </p:sp>
      <p:sp>
        <p:nvSpPr>
          <p:cNvPr id="22" name="Text 17"/>
          <p:cNvSpPr txBox="1"/>
          <p:nvPr/>
        </p:nvSpPr>
        <p:spPr>
          <a:xfrm>
            <a:off x="1737360" y="4617720"/>
            <a:ext cx="4023360" cy="365760"/>
          </a:xfrm>
          <a:prstGeom prst="rect">
            <a:avLst/>
          </a:prstGeom>
          <a:noFill/>
          <a:ln/>
        </p:spPr>
        <p:txBody>
          <a:bodyPr wrap="square" lIns="0" tIns="0" rIns="0" bIns="0" rtlCol="0" anchor="ctr"/>
          <a:lstStyle/>
          <a:p>
            <a:pPr indent="0" marL="0">
              <a:buNone/>
            </a:pPr>
            <a:r>
              <a:rPr lang="en-US" sz="1400" i="1" dirty="0">
                <a:solidFill>
                  <a:schemeClr val="accent1"/>
                </a:solidFill>
              </a:rPr>
              <a:t>For example · For instance · Consider</a:t>
            </a:r>
            <a:endParaRPr lang="en-US" sz="1400" dirty="0"/>
          </a:p>
        </p:txBody>
      </p:sp>
      <p:sp>
        <p:nvSpPr>
          <p:cNvPr id="23" name="Text 18"/>
          <p:cNvSpPr txBox="1"/>
          <p:nvPr/>
        </p:nvSpPr>
        <p:spPr>
          <a:xfrm>
            <a:off x="1737360" y="5074920"/>
            <a:ext cx="4023360" cy="868680"/>
          </a:xfrm>
          <a:prstGeom prst="rect">
            <a:avLst/>
          </a:prstGeom>
          <a:noFill/>
          <a:ln/>
        </p:spPr>
        <p:txBody>
          <a:bodyPr wrap="square" lIns="0" tIns="0" rIns="0" bIns="0" rtlCol="0" anchor="t"/>
          <a:lstStyle/>
          <a:p>
            <a:pPr indent="0" marL="0">
              <a:buNone/>
            </a:pPr>
            <a:r>
              <a:rPr lang="en-US" sz="1500" dirty="0">
                <a:solidFill>
                  <a:schemeClr val="tx1"/>
                </a:solidFill>
              </a:rPr>
              <a:t>예시 앞 문장이 핵심</a:t>
            </a:r>
            <a:endParaRPr lang="en-US" sz="1500" dirty="0"/>
          </a:p>
          <a:p>
            <a:pPr indent="0" marL="0">
              <a:buNone/>
            </a:pPr>
            <a:r>
              <a:rPr lang="en-US" sz="1500" dirty="0">
                <a:solidFill>
                  <a:schemeClr val="tx1"/>
                </a:solidFill>
              </a:rPr>
              <a:t>→ 예시들의 공통점 = 답</a:t>
            </a:r>
            <a:endParaRPr lang="en-US" sz="1500" dirty="0"/>
          </a:p>
        </p:txBody>
      </p:sp>
      <p:sp>
        <p:nvSpPr>
          <p:cNvPr id="24" name="Shape 19"/>
          <p:cNvSpPr/>
          <p:nvPr/>
        </p:nvSpPr>
        <p:spPr>
          <a:xfrm>
            <a:off x="6172200" y="3886200"/>
            <a:ext cx="5440680" cy="2240280"/>
          </a:xfrm>
          <a:prstGeom prst="roundRect">
            <a:avLst>
              <a:gd name="adj" fmla="val 4898"/>
            </a:avLst>
          </a:prstGeom>
          <a:solidFill>
            <a:schemeClr val="bg1"/>
          </a:solidFill>
          <a:ln w="19050">
            <a:solidFill>
              <a:schemeClr val="bg2"/>
            </a:solidFill>
            <a:prstDash val="solid"/>
          </a:ln>
          <a:effectLst>
            <a:outerShdw sx="100000" sy="100000" kx="0" ky="0" algn="bl" rotWithShape="0" blurRad="101600" dist="25400" dir="5400000">
              <a:srgbClr val="1E2B2A">
                <a:alpha val="12000"/>
              </a:srgbClr>
            </a:outerShdw>
          </a:effectLst>
        </p:spPr>
      </p:sp>
      <p:sp>
        <p:nvSpPr>
          <p:cNvPr id="25" name="Shape 20"/>
          <p:cNvSpPr/>
          <p:nvPr/>
        </p:nvSpPr>
        <p:spPr>
          <a:xfrm>
            <a:off x="6446520" y="4160520"/>
            <a:ext cx="731520" cy="731520"/>
          </a:xfrm>
          <a:prstGeom prst="ellipse">
            <a:avLst/>
          </a:prstGeom>
          <a:solidFill>
            <a:schemeClr val="accent1"/>
          </a:solidFill>
          <a:ln w="12700">
            <a:solidFill>
              <a:schemeClr val="accent1"/>
            </a:solidFill>
            <a:prstDash val="solid"/>
          </a:ln>
        </p:spPr>
      </p:sp>
      <p:pic>
        <p:nvPicPr>
          <p:cNvPr id="26" name="Image 3" descr="preencoded.png">    </p:cNvPr>
          <p:cNvPicPr>
            <a:picLocks noChangeAspect="1"/>
          </p:cNvPicPr>
          <p:nvPr/>
        </p:nvPicPr>
        <p:blipFill>
          <a:blip r:embed="rId4"/>
          <a:stretch>
            <a:fillRect/>
          </a:stretch>
        </p:blipFill>
        <p:spPr>
          <a:xfrm>
            <a:off x="6629400" y="4343400"/>
            <a:ext cx="365760" cy="365760"/>
          </a:xfrm>
          <a:prstGeom prst="rect">
            <a:avLst/>
          </a:prstGeom>
        </p:spPr>
      </p:pic>
      <p:sp>
        <p:nvSpPr>
          <p:cNvPr id="27" name="Text 21"/>
          <p:cNvSpPr txBox="1"/>
          <p:nvPr/>
        </p:nvSpPr>
        <p:spPr>
          <a:xfrm>
            <a:off x="7360920" y="4160520"/>
            <a:ext cx="2286000" cy="411480"/>
          </a:xfrm>
          <a:prstGeom prst="rect">
            <a:avLst/>
          </a:prstGeom>
          <a:noFill/>
          <a:ln/>
        </p:spPr>
        <p:txBody>
          <a:bodyPr wrap="square" lIns="0" tIns="0" rIns="0" bIns="0" rtlCol="0" anchor="ctr"/>
          <a:lstStyle/>
          <a:p>
            <a:pPr indent="0" marL="0">
              <a:buNone/>
            </a:pPr>
            <a:r>
              <a:rPr lang="en-US" sz="2200" b="1" dirty="0">
                <a:solidFill>
                  <a:schemeClr val="tx2"/>
                </a:solidFill>
              </a:rPr>
              <a:t>재진술</a:t>
            </a:r>
            <a:endParaRPr lang="en-US" sz="2200" dirty="0"/>
          </a:p>
        </p:txBody>
      </p:sp>
      <p:sp>
        <p:nvSpPr>
          <p:cNvPr id="28" name="Text 22"/>
          <p:cNvSpPr/>
          <p:nvPr/>
        </p:nvSpPr>
        <p:spPr>
          <a:xfrm>
            <a:off x="10195560" y="4206240"/>
            <a:ext cx="114300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Ex 7, 9</a:t>
            </a:r>
            <a:endParaRPr lang="en-US" sz="1200" dirty="0"/>
          </a:p>
        </p:txBody>
      </p:sp>
      <p:sp>
        <p:nvSpPr>
          <p:cNvPr id="29" name="Text 23"/>
          <p:cNvSpPr txBox="1"/>
          <p:nvPr/>
        </p:nvSpPr>
        <p:spPr>
          <a:xfrm>
            <a:off x="7360920" y="4617720"/>
            <a:ext cx="4023360" cy="365760"/>
          </a:xfrm>
          <a:prstGeom prst="rect">
            <a:avLst/>
          </a:prstGeom>
          <a:noFill/>
          <a:ln/>
        </p:spPr>
        <p:txBody>
          <a:bodyPr wrap="square" lIns="0" tIns="0" rIns="0" bIns="0" rtlCol="0" anchor="ctr"/>
          <a:lstStyle/>
          <a:p>
            <a:pPr indent="0" marL="0">
              <a:buNone/>
            </a:pPr>
            <a:r>
              <a:rPr lang="en-US" sz="1400" i="1" dirty="0">
                <a:solidFill>
                  <a:schemeClr val="accent1"/>
                </a:solidFill>
              </a:rPr>
              <a:t>In other words · Differently put · That is</a:t>
            </a:r>
            <a:endParaRPr lang="en-US" sz="1400" dirty="0"/>
          </a:p>
        </p:txBody>
      </p:sp>
      <p:sp>
        <p:nvSpPr>
          <p:cNvPr id="30" name="Text 24"/>
          <p:cNvSpPr txBox="1"/>
          <p:nvPr/>
        </p:nvSpPr>
        <p:spPr>
          <a:xfrm>
            <a:off x="7360920" y="5074920"/>
            <a:ext cx="4023360" cy="868680"/>
          </a:xfrm>
          <a:prstGeom prst="rect">
            <a:avLst/>
          </a:prstGeom>
          <a:noFill/>
          <a:ln/>
        </p:spPr>
        <p:txBody>
          <a:bodyPr wrap="square" lIns="0" tIns="0" rIns="0" bIns="0" rtlCol="0" anchor="t"/>
          <a:lstStyle/>
          <a:p>
            <a:pPr indent="0" marL="0">
              <a:buNone/>
            </a:pPr>
            <a:r>
              <a:rPr lang="en-US" sz="1500" dirty="0">
                <a:solidFill>
                  <a:schemeClr val="tx1"/>
                </a:solidFill>
              </a:rPr>
              <a:t>같은 말을 다르게 한 번 더</a:t>
            </a:r>
            <a:endParaRPr lang="en-US" sz="1500" dirty="0"/>
          </a:p>
          <a:p>
            <a:pPr indent="0" marL="0">
              <a:buNone/>
            </a:pPr>
            <a:r>
              <a:rPr lang="en-US" sz="1500" dirty="0">
                <a:solidFill>
                  <a:schemeClr val="tx1"/>
                </a:solidFill>
              </a:rPr>
              <a:t>→ 정답과 거의 같은 표현</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오답은 4가지 얼굴로 나타난다</a:t>
            </a:r>
            <a:endParaRPr lang="en-US" sz="3000" dirty="0"/>
          </a:p>
        </p:txBody>
      </p:sp>
      <p:sp>
        <p:nvSpPr>
          <p:cNvPr id="3" name="Shape 1"/>
          <p:cNvSpPr/>
          <p:nvPr/>
        </p:nvSpPr>
        <p:spPr>
          <a:xfrm>
            <a:off x="548640" y="1417320"/>
            <a:ext cx="11064240" cy="1051560"/>
          </a:xfrm>
          <a:prstGeom prst="roundRect">
            <a:avLst>
              <a:gd name="adj" fmla="val 10435"/>
            </a:avLst>
          </a:prstGeom>
          <a:solidFill>
            <a:schemeClr val="bg2"/>
          </a:solidFill>
          <a:ln w="12700">
            <a:solidFill>
              <a:schemeClr val="bg2"/>
            </a:solidFill>
            <a:prstDash val="solid"/>
          </a:ln>
        </p:spPr>
      </p:sp>
      <p:sp>
        <p:nvSpPr>
          <p:cNvPr id="4" name="Text 2"/>
          <p:cNvSpPr/>
          <p:nvPr/>
        </p:nvSpPr>
        <p:spPr>
          <a:xfrm>
            <a:off x="822960" y="1691640"/>
            <a:ext cx="1737360" cy="502920"/>
          </a:xfrm>
          <a:prstGeom prst="roundRect">
            <a:avLst>
              <a:gd name="adj" fmla="val 27273"/>
            </a:avLst>
          </a:prstGeom>
          <a:solidFill>
            <a:schemeClr val="tx2"/>
          </a:solidFill>
          <a:ln/>
        </p:spPr>
        <p:txBody>
          <a:bodyPr wrap="square" lIns="0" tIns="0" rIns="0" bIns="0" rtlCol="0" anchor="ctr"/>
          <a:lstStyle/>
          <a:p>
            <a:pPr algn="ctr" indent="0" marL="0">
              <a:buNone/>
            </a:pPr>
            <a:r>
              <a:rPr lang="en-US" sz="1800" b="1" dirty="0">
                <a:solidFill>
                  <a:schemeClr val="bg1"/>
                </a:solidFill>
              </a:rPr>
              <a:t>반대</a:t>
            </a:r>
            <a:endParaRPr lang="en-US" sz="1800" dirty="0"/>
          </a:p>
        </p:txBody>
      </p:sp>
      <p:sp>
        <p:nvSpPr>
          <p:cNvPr id="5" name="Text 3"/>
          <p:cNvSpPr txBox="1"/>
          <p:nvPr/>
        </p:nvSpPr>
        <p:spPr>
          <a:xfrm>
            <a:off x="2834640" y="1600200"/>
            <a:ext cx="4023360" cy="685800"/>
          </a:xfrm>
          <a:prstGeom prst="rect">
            <a:avLst/>
          </a:prstGeom>
          <a:noFill/>
          <a:ln/>
        </p:spPr>
        <p:txBody>
          <a:bodyPr wrap="square" lIns="0" tIns="0" rIns="0" bIns="0" rtlCol="0" anchor="ctr"/>
          <a:lstStyle/>
          <a:p>
            <a:pPr indent="0" marL="0">
              <a:buNone/>
            </a:pPr>
            <a:r>
              <a:rPr lang="en-US" sz="1800" b="1" dirty="0">
                <a:solidFill>
                  <a:schemeClr val="tx2"/>
                </a:solidFill>
              </a:rPr>
              <a:t>글의 내용과 정반대</a:t>
            </a:r>
            <a:endParaRPr lang="en-US" sz="1800" dirty="0"/>
          </a:p>
        </p:txBody>
      </p:sp>
      <p:sp>
        <p:nvSpPr>
          <p:cNvPr id="6" name="Text 4"/>
          <p:cNvSpPr txBox="1"/>
          <p:nvPr/>
        </p:nvSpPr>
        <p:spPr>
          <a:xfrm>
            <a:off x="6949440" y="1600200"/>
            <a:ext cx="4480560" cy="685800"/>
          </a:xfrm>
          <a:prstGeom prst="rect">
            <a:avLst/>
          </a:prstGeom>
          <a:noFill/>
          <a:ln/>
        </p:spPr>
        <p:txBody>
          <a:bodyPr wrap="square" lIns="0" tIns="0" rIns="0" bIns="0" rtlCol="0" anchor="ctr"/>
          <a:lstStyle/>
          <a:p>
            <a:pPr indent="0" marL="0">
              <a:buNone/>
            </a:pPr>
            <a:r>
              <a:rPr lang="en-US" sz="1500" dirty="0">
                <a:solidFill>
                  <a:schemeClr val="tx1"/>
                </a:solidFill>
              </a:rPr>
              <a:t>예) Ex 8 ② 평등한 물 접근 ↔ 중앙 통제</a:t>
            </a:r>
            <a:endParaRPr lang="en-US" sz="1500" dirty="0"/>
          </a:p>
        </p:txBody>
      </p:sp>
      <p:sp>
        <p:nvSpPr>
          <p:cNvPr id="7" name="Shape 5"/>
          <p:cNvSpPr/>
          <p:nvPr/>
        </p:nvSpPr>
        <p:spPr>
          <a:xfrm>
            <a:off x="548640" y="2633472"/>
            <a:ext cx="11064240" cy="1051560"/>
          </a:xfrm>
          <a:prstGeom prst="roundRect">
            <a:avLst>
              <a:gd name="adj" fmla="val 10435"/>
            </a:avLst>
          </a:prstGeom>
          <a:solidFill>
            <a:schemeClr val="bg1"/>
          </a:solidFill>
          <a:ln w="12700">
            <a:solidFill>
              <a:schemeClr val="bg2"/>
            </a:solidFill>
            <a:prstDash val="solid"/>
          </a:ln>
        </p:spPr>
      </p:sp>
      <p:sp>
        <p:nvSpPr>
          <p:cNvPr id="8" name="Text 6"/>
          <p:cNvSpPr/>
          <p:nvPr/>
        </p:nvSpPr>
        <p:spPr>
          <a:xfrm>
            <a:off x="822960" y="2907792"/>
            <a:ext cx="1737360" cy="502920"/>
          </a:xfrm>
          <a:prstGeom prst="roundRect">
            <a:avLst>
              <a:gd name="adj" fmla="val 27273"/>
            </a:avLst>
          </a:prstGeom>
          <a:solidFill>
            <a:schemeClr val="bg2"/>
          </a:solidFill>
          <a:ln/>
        </p:spPr>
        <p:txBody>
          <a:bodyPr wrap="square" lIns="0" tIns="0" rIns="0" bIns="0" rtlCol="0" anchor="ctr"/>
          <a:lstStyle/>
          <a:p>
            <a:pPr algn="ctr" indent="0" marL="0">
              <a:buNone/>
            </a:pPr>
            <a:r>
              <a:rPr lang="en-US" sz="1800" b="1" dirty="0">
                <a:solidFill>
                  <a:schemeClr val="tx2"/>
                </a:solidFill>
              </a:rPr>
              <a:t>언급 없음</a:t>
            </a:r>
            <a:endParaRPr lang="en-US" sz="1800" dirty="0"/>
          </a:p>
        </p:txBody>
      </p:sp>
      <p:sp>
        <p:nvSpPr>
          <p:cNvPr id="9" name="Text 7"/>
          <p:cNvSpPr txBox="1"/>
          <p:nvPr/>
        </p:nvSpPr>
        <p:spPr>
          <a:xfrm>
            <a:off x="2834640" y="2816352"/>
            <a:ext cx="4023360" cy="685800"/>
          </a:xfrm>
          <a:prstGeom prst="rect">
            <a:avLst/>
          </a:prstGeom>
          <a:noFill/>
          <a:ln/>
        </p:spPr>
        <p:txBody>
          <a:bodyPr wrap="square" lIns="0" tIns="0" rIns="0" bIns="0" rtlCol="0" anchor="ctr"/>
          <a:lstStyle/>
          <a:p>
            <a:pPr indent="0" marL="0">
              <a:buNone/>
            </a:pPr>
            <a:r>
              <a:rPr lang="en-US" sz="1800" b="1" dirty="0">
                <a:solidFill>
                  <a:schemeClr val="tx2"/>
                </a:solidFill>
              </a:rPr>
              <a:t>그럴듯하지만 글에 없는 내용</a:t>
            </a:r>
            <a:endParaRPr lang="en-US" sz="1800" dirty="0"/>
          </a:p>
        </p:txBody>
      </p:sp>
      <p:sp>
        <p:nvSpPr>
          <p:cNvPr id="10" name="Text 8"/>
          <p:cNvSpPr txBox="1"/>
          <p:nvPr/>
        </p:nvSpPr>
        <p:spPr>
          <a:xfrm>
            <a:off x="6949440" y="2816352"/>
            <a:ext cx="4480560" cy="685800"/>
          </a:xfrm>
          <a:prstGeom prst="rect">
            <a:avLst/>
          </a:prstGeom>
          <a:noFill/>
          <a:ln/>
        </p:spPr>
        <p:txBody>
          <a:bodyPr wrap="square" lIns="0" tIns="0" rIns="0" bIns="0" rtlCol="0" anchor="ctr"/>
          <a:lstStyle/>
          <a:p>
            <a:pPr indent="0" marL="0">
              <a:buNone/>
            </a:pPr>
            <a:r>
              <a:rPr lang="en-US" sz="1500" dirty="0">
                <a:solidFill>
                  <a:schemeClr val="tx1"/>
                </a:solidFill>
              </a:rPr>
              <a:t>예) Ex 2 ③ 경제적 불평등</a:t>
            </a:r>
            <a:endParaRPr lang="en-US" sz="1500" dirty="0"/>
          </a:p>
        </p:txBody>
      </p:sp>
      <p:sp>
        <p:nvSpPr>
          <p:cNvPr id="11" name="Shape 9"/>
          <p:cNvSpPr/>
          <p:nvPr/>
        </p:nvSpPr>
        <p:spPr>
          <a:xfrm>
            <a:off x="548640" y="3849624"/>
            <a:ext cx="11064240" cy="1051560"/>
          </a:xfrm>
          <a:prstGeom prst="roundRect">
            <a:avLst>
              <a:gd name="adj" fmla="val 10435"/>
            </a:avLst>
          </a:prstGeom>
          <a:solidFill>
            <a:schemeClr val="bg2"/>
          </a:solidFill>
          <a:ln w="12700">
            <a:solidFill>
              <a:schemeClr val="bg2"/>
            </a:solidFill>
            <a:prstDash val="solid"/>
          </a:ln>
        </p:spPr>
      </p:sp>
      <p:sp>
        <p:nvSpPr>
          <p:cNvPr id="12" name="Text 10"/>
          <p:cNvSpPr/>
          <p:nvPr/>
        </p:nvSpPr>
        <p:spPr>
          <a:xfrm>
            <a:off x="822960" y="4123944"/>
            <a:ext cx="1737360" cy="502920"/>
          </a:xfrm>
          <a:prstGeom prst="roundRect">
            <a:avLst>
              <a:gd name="adj" fmla="val 27273"/>
            </a:avLst>
          </a:prstGeom>
          <a:solidFill>
            <a:schemeClr val="accent3"/>
          </a:solidFill>
          <a:ln/>
        </p:spPr>
        <p:txBody>
          <a:bodyPr wrap="square" lIns="0" tIns="0" rIns="0" bIns="0" rtlCol="0" anchor="ctr"/>
          <a:lstStyle/>
          <a:p>
            <a:pPr algn="ctr" indent="0" marL="0">
              <a:buNone/>
            </a:pPr>
            <a:r>
              <a:rPr lang="en-US" sz="1800" b="1" dirty="0">
                <a:solidFill>
                  <a:schemeClr val="tx1"/>
                </a:solidFill>
              </a:rPr>
              <a:t>소재 함정</a:t>
            </a:r>
            <a:endParaRPr lang="en-US" sz="1800" dirty="0"/>
          </a:p>
        </p:txBody>
      </p:sp>
      <p:sp>
        <p:nvSpPr>
          <p:cNvPr id="13" name="Text 11"/>
          <p:cNvSpPr txBox="1"/>
          <p:nvPr/>
        </p:nvSpPr>
        <p:spPr>
          <a:xfrm>
            <a:off x="2834640" y="4032504"/>
            <a:ext cx="4023360" cy="685800"/>
          </a:xfrm>
          <a:prstGeom prst="rect">
            <a:avLst/>
          </a:prstGeom>
          <a:noFill/>
          <a:ln/>
        </p:spPr>
        <p:txBody>
          <a:bodyPr wrap="square" lIns="0" tIns="0" rIns="0" bIns="0" rtlCol="0" anchor="ctr"/>
          <a:lstStyle/>
          <a:p>
            <a:pPr indent="0" marL="0">
              <a:buNone/>
            </a:pPr>
            <a:r>
              <a:rPr lang="en-US" sz="1800" b="1" dirty="0">
                <a:solidFill>
                  <a:schemeClr val="tx2"/>
                </a:solidFill>
              </a:rPr>
              <a:t>글 속 단어·소재만 빌려온 것</a:t>
            </a:r>
            <a:endParaRPr lang="en-US" sz="1800" dirty="0"/>
          </a:p>
        </p:txBody>
      </p:sp>
      <p:sp>
        <p:nvSpPr>
          <p:cNvPr id="14" name="Text 12"/>
          <p:cNvSpPr txBox="1"/>
          <p:nvPr/>
        </p:nvSpPr>
        <p:spPr>
          <a:xfrm>
            <a:off x="6949440" y="4032504"/>
            <a:ext cx="4480560" cy="685800"/>
          </a:xfrm>
          <a:prstGeom prst="rect">
            <a:avLst/>
          </a:prstGeom>
          <a:noFill/>
          <a:ln/>
        </p:spPr>
        <p:txBody>
          <a:bodyPr wrap="square" lIns="0" tIns="0" rIns="0" bIns="0" rtlCol="0" anchor="ctr"/>
          <a:lstStyle/>
          <a:p>
            <a:pPr indent="0" marL="0">
              <a:buNone/>
            </a:pPr>
            <a:r>
              <a:rPr lang="en-US" sz="1500" dirty="0">
                <a:solidFill>
                  <a:schemeClr val="tx1"/>
                </a:solidFill>
              </a:rPr>
              <a:t>예) Ex 7 ② 음악 = 심리 무기 (북소리)</a:t>
            </a:r>
            <a:endParaRPr lang="en-US" sz="1500" dirty="0"/>
          </a:p>
        </p:txBody>
      </p:sp>
      <p:sp>
        <p:nvSpPr>
          <p:cNvPr id="15" name="Shape 13"/>
          <p:cNvSpPr/>
          <p:nvPr/>
        </p:nvSpPr>
        <p:spPr>
          <a:xfrm>
            <a:off x="548640" y="5065776"/>
            <a:ext cx="11064240" cy="1051560"/>
          </a:xfrm>
          <a:prstGeom prst="roundRect">
            <a:avLst>
              <a:gd name="adj" fmla="val 10435"/>
            </a:avLst>
          </a:prstGeom>
          <a:solidFill>
            <a:schemeClr val="bg1"/>
          </a:solidFill>
          <a:ln w="12700">
            <a:solidFill>
              <a:schemeClr val="bg2"/>
            </a:solidFill>
            <a:prstDash val="solid"/>
          </a:ln>
        </p:spPr>
      </p:sp>
      <p:sp>
        <p:nvSpPr>
          <p:cNvPr id="16" name="Text 14"/>
          <p:cNvSpPr/>
          <p:nvPr/>
        </p:nvSpPr>
        <p:spPr>
          <a:xfrm>
            <a:off x="822960" y="5340096"/>
            <a:ext cx="1737360" cy="502920"/>
          </a:xfrm>
          <a:prstGeom prst="roundRect">
            <a:avLst>
              <a:gd name="adj" fmla="val 27273"/>
            </a:avLst>
          </a:prstGeom>
          <a:solidFill>
            <a:schemeClr val="accent5"/>
          </a:solidFill>
          <a:ln/>
        </p:spPr>
        <p:txBody>
          <a:bodyPr wrap="square" lIns="0" tIns="0" rIns="0" bIns="0" rtlCol="0" anchor="ctr"/>
          <a:lstStyle/>
          <a:p>
            <a:pPr algn="ctr" indent="0" marL="0">
              <a:buNone/>
            </a:pPr>
            <a:r>
              <a:rPr lang="en-US" sz="1800" b="1" dirty="0">
                <a:solidFill>
                  <a:schemeClr val="bg1"/>
                </a:solidFill>
              </a:rPr>
              <a:t>범위 오류</a:t>
            </a:r>
            <a:endParaRPr lang="en-US" sz="1800" dirty="0"/>
          </a:p>
        </p:txBody>
      </p:sp>
      <p:sp>
        <p:nvSpPr>
          <p:cNvPr id="17" name="Text 15"/>
          <p:cNvSpPr txBox="1"/>
          <p:nvPr/>
        </p:nvSpPr>
        <p:spPr>
          <a:xfrm>
            <a:off x="2834640" y="5248656"/>
            <a:ext cx="4023360" cy="685800"/>
          </a:xfrm>
          <a:prstGeom prst="rect">
            <a:avLst/>
          </a:prstGeom>
          <a:noFill/>
          <a:ln/>
        </p:spPr>
        <p:txBody>
          <a:bodyPr wrap="square" lIns="0" tIns="0" rIns="0" bIns="0" rtlCol="0" anchor="ctr"/>
          <a:lstStyle/>
          <a:p>
            <a:pPr indent="0" marL="0">
              <a:buNone/>
            </a:pPr>
            <a:r>
              <a:rPr lang="en-US" sz="1800" b="1" dirty="0">
                <a:solidFill>
                  <a:schemeClr val="tx2"/>
                </a:solidFill>
              </a:rPr>
              <a:t>너무 넓거나 좁거나 엉뚱한 범위</a:t>
            </a:r>
            <a:endParaRPr lang="en-US" sz="1800" dirty="0"/>
          </a:p>
        </p:txBody>
      </p:sp>
      <p:sp>
        <p:nvSpPr>
          <p:cNvPr id="18" name="Text 16"/>
          <p:cNvSpPr txBox="1"/>
          <p:nvPr/>
        </p:nvSpPr>
        <p:spPr>
          <a:xfrm>
            <a:off x="6949440" y="5248656"/>
            <a:ext cx="4480560" cy="685800"/>
          </a:xfrm>
          <a:prstGeom prst="rect">
            <a:avLst/>
          </a:prstGeom>
          <a:noFill/>
          <a:ln/>
        </p:spPr>
        <p:txBody>
          <a:bodyPr wrap="square" lIns="0" tIns="0" rIns="0" bIns="0" rtlCol="0" anchor="ctr"/>
          <a:lstStyle/>
          <a:p>
            <a:pPr indent="0" marL="0">
              <a:buNone/>
            </a:pPr>
            <a:r>
              <a:rPr lang="en-US" sz="1500" dirty="0">
                <a:solidFill>
                  <a:schemeClr val="tx1"/>
                </a:solidFill>
              </a:rPr>
              <a:t>예) Ex 3 ⑤ 사회적 태도·행동 전반</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함의(밑줄) 추론: 비유를 '주제'로 번역하기</a:t>
            </a:r>
            <a:endParaRPr lang="en-US" sz="3000" dirty="0"/>
          </a:p>
        </p:txBody>
      </p:sp>
      <p:sp>
        <p:nvSpPr>
          <p:cNvPr id="3" name="Text 1"/>
          <p:cNvSpPr/>
          <p:nvPr/>
        </p:nvSpPr>
        <p:spPr>
          <a:xfrm>
            <a:off x="548640" y="1463040"/>
            <a:ext cx="685800" cy="685800"/>
          </a:xfrm>
          <a:prstGeom prst="ellipse">
            <a:avLst/>
          </a:prstGeom>
          <a:solidFill>
            <a:schemeClr val="accent1"/>
          </a:solid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4" name="Text 2"/>
          <p:cNvSpPr txBox="1"/>
          <p:nvPr/>
        </p:nvSpPr>
        <p:spPr>
          <a:xfrm>
            <a:off x="1463040" y="1444752"/>
            <a:ext cx="4206240" cy="411480"/>
          </a:xfrm>
          <a:prstGeom prst="rect">
            <a:avLst/>
          </a:prstGeom>
          <a:noFill/>
          <a:ln/>
        </p:spPr>
        <p:txBody>
          <a:bodyPr wrap="square" lIns="0" tIns="0" rIns="0" bIns="0" rtlCol="0" anchor="ctr"/>
          <a:lstStyle/>
          <a:p>
            <a:pPr indent="0" marL="0">
              <a:buNone/>
            </a:pPr>
            <a:r>
              <a:rPr lang="en-US" sz="2000" b="1" dirty="0">
                <a:solidFill>
                  <a:schemeClr val="tx2"/>
                </a:solidFill>
              </a:rPr>
              <a:t>밑줄은 비유다</a:t>
            </a:r>
            <a:endParaRPr lang="en-US" sz="2000" dirty="0"/>
          </a:p>
        </p:txBody>
      </p:sp>
      <p:sp>
        <p:nvSpPr>
          <p:cNvPr id="5" name="Text 3"/>
          <p:cNvSpPr txBox="1"/>
          <p:nvPr/>
        </p:nvSpPr>
        <p:spPr>
          <a:xfrm>
            <a:off x="1463040" y="1920240"/>
            <a:ext cx="4206240" cy="960120"/>
          </a:xfrm>
          <a:prstGeom prst="rect">
            <a:avLst/>
          </a:prstGeom>
          <a:noFill/>
          <a:ln/>
        </p:spPr>
        <p:txBody>
          <a:bodyPr wrap="square" lIns="0" tIns="0" rIns="0" bIns="0" rtlCol="0" anchor="t"/>
          <a:lstStyle/>
          <a:p>
            <a:pPr indent="0" marL="0">
              <a:buNone/>
            </a:pPr>
            <a:r>
              <a:rPr lang="en-US" sz="1500" dirty="0">
                <a:solidFill>
                  <a:schemeClr val="tx1"/>
                </a:solidFill>
              </a:rPr>
              <a:t>문자 그대로 해석하면 오답! "골프 선수가 시계를 판다" → 진짜 시계 이야기 아님</a:t>
            </a:r>
            <a:endParaRPr lang="en-US" sz="1500" dirty="0"/>
          </a:p>
        </p:txBody>
      </p:sp>
      <p:sp>
        <p:nvSpPr>
          <p:cNvPr id="6" name="Text 4"/>
          <p:cNvSpPr/>
          <p:nvPr/>
        </p:nvSpPr>
        <p:spPr>
          <a:xfrm>
            <a:off x="548640" y="3063240"/>
            <a:ext cx="685800" cy="685800"/>
          </a:xfrm>
          <a:prstGeom prst="ellipse">
            <a:avLst/>
          </a:prstGeom>
          <a:solidFill>
            <a:schemeClr val="accent1"/>
          </a:solid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7" name="Text 5"/>
          <p:cNvSpPr txBox="1"/>
          <p:nvPr/>
        </p:nvSpPr>
        <p:spPr>
          <a:xfrm>
            <a:off x="1463040" y="3044952"/>
            <a:ext cx="4206240" cy="411480"/>
          </a:xfrm>
          <a:prstGeom prst="rect">
            <a:avLst/>
          </a:prstGeom>
          <a:noFill/>
          <a:ln/>
        </p:spPr>
        <p:txBody>
          <a:bodyPr wrap="square" lIns="0" tIns="0" rIns="0" bIns="0" rtlCol="0" anchor="ctr"/>
          <a:lstStyle/>
          <a:p>
            <a:pPr indent="0" marL="0">
              <a:buNone/>
            </a:pPr>
            <a:r>
              <a:rPr lang="en-US" sz="2000" b="1" dirty="0">
                <a:solidFill>
                  <a:schemeClr val="tx2"/>
                </a:solidFill>
              </a:rPr>
              <a:t>주제문 찾기</a:t>
            </a:r>
            <a:endParaRPr lang="en-US" sz="2000" dirty="0"/>
          </a:p>
        </p:txBody>
      </p:sp>
      <p:sp>
        <p:nvSpPr>
          <p:cNvPr id="8" name="Text 6"/>
          <p:cNvSpPr txBox="1"/>
          <p:nvPr/>
        </p:nvSpPr>
        <p:spPr>
          <a:xfrm>
            <a:off x="1463040" y="3520440"/>
            <a:ext cx="4206240" cy="960120"/>
          </a:xfrm>
          <a:prstGeom prst="rect">
            <a:avLst/>
          </a:prstGeom>
          <a:noFill/>
          <a:ln/>
        </p:spPr>
        <p:txBody>
          <a:bodyPr wrap="square" lIns="0" tIns="0" rIns="0" bIns="0" rtlCol="0" anchor="t"/>
          <a:lstStyle/>
          <a:p>
            <a:pPr indent="0" marL="0">
              <a:buNone/>
            </a:pPr>
            <a:r>
              <a:rPr lang="en-US" sz="1500" dirty="0">
                <a:solidFill>
                  <a:schemeClr val="tx1"/>
                </a:solidFill>
              </a:rPr>
              <a:t>밑줄 앞뒤 1~2문장에 설명이 있다</a:t>
            </a:r>
            <a:endParaRPr lang="en-US" sz="1500" dirty="0"/>
          </a:p>
          <a:p>
            <a:pPr indent="0" marL="0">
              <a:buNone/>
            </a:pPr>
            <a:r>
              <a:rPr lang="en-US" sz="1500" dirty="0">
                <a:solidFill>
                  <a:schemeClr val="tx1"/>
                </a:solidFill>
              </a:rPr>
              <a:t>(That's why / This means 등)</a:t>
            </a:r>
            <a:endParaRPr lang="en-US" sz="1500" dirty="0"/>
          </a:p>
        </p:txBody>
      </p:sp>
      <p:sp>
        <p:nvSpPr>
          <p:cNvPr id="9" name="Text 7"/>
          <p:cNvSpPr/>
          <p:nvPr/>
        </p:nvSpPr>
        <p:spPr>
          <a:xfrm>
            <a:off x="548640" y="4663440"/>
            <a:ext cx="685800" cy="685800"/>
          </a:xfrm>
          <a:prstGeom prst="ellipse">
            <a:avLst/>
          </a:prstGeom>
          <a:solidFill>
            <a:schemeClr val="accent1"/>
          </a:solid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0" name="Text 8"/>
          <p:cNvSpPr txBox="1"/>
          <p:nvPr/>
        </p:nvSpPr>
        <p:spPr>
          <a:xfrm>
            <a:off x="1463040" y="4645152"/>
            <a:ext cx="4206240" cy="411480"/>
          </a:xfrm>
          <a:prstGeom prst="rect">
            <a:avLst/>
          </a:prstGeom>
          <a:noFill/>
          <a:ln/>
        </p:spPr>
        <p:txBody>
          <a:bodyPr wrap="square" lIns="0" tIns="0" rIns="0" bIns="0" rtlCol="0" anchor="ctr"/>
          <a:lstStyle/>
          <a:p>
            <a:pPr indent="0" marL="0">
              <a:buNone/>
            </a:pPr>
            <a:r>
              <a:rPr lang="en-US" sz="2000" b="1" dirty="0">
                <a:solidFill>
                  <a:schemeClr val="tx2"/>
                </a:solidFill>
              </a:rPr>
              <a:t>비유 ↔ 주제 연결</a:t>
            </a:r>
            <a:endParaRPr lang="en-US" sz="2000" dirty="0"/>
          </a:p>
        </p:txBody>
      </p:sp>
      <p:sp>
        <p:nvSpPr>
          <p:cNvPr id="11" name="Text 9"/>
          <p:cNvSpPr txBox="1"/>
          <p:nvPr/>
        </p:nvSpPr>
        <p:spPr>
          <a:xfrm>
            <a:off x="1463040" y="5120640"/>
            <a:ext cx="4206240" cy="960120"/>
          </a:xfrm>
          <a:prstGeom prst="rect">
            <a:avLst/>
          </a:prstGeom>
          <a:noFill/>
          <a:ln/>
        </p:spPr>
        <p:txBody>
          <a:bodyPr wrap="square" lIns="0" tIns="0" rIns="0" bIns="0" rtlCol="0" anchor="t"/>
          <a:lstStyle/>
          <a:p>
            <a:pPr indent="0" marL="0">
              <a:buNone/>
            </a:pPr>
            <a:r>
              <a:rPr lang="en-US" sz="1500" dirty="0">
                <a:solidFill>
                  <a:schemeClr val="tx1"/>
                </a:solidFill>
              </a:rPr>
              <a:t>밑줄 속 단어를 글의 핵심 개념으로 바꿔 넣고, 같은 뜻의 선택지 고르기</a:t>
            </a:r>
            <a:endParaRPr lang="en-US" sz="1500" dirty="0"/>
          </a:p>
        </p:txBody>
      </p:sp>
      <p:sp>
        <p:nvSpPr>
          <p:cNvPr id="12" name="Shape 10"/>
          <p:cNvSpPr/>
          <p:nvPr/>
        </p:nvSpPr>
        <p:spPr>
          <a:xfrm>
            <a:off x="6126480" y="1463040"/>
            <a:ext cx="5486400" cy="4572000"/>
          </a:xfrm>
          <a:prstGeom prst="roundRect">
            <a:avLst>
              <a:gd name="adj" fmla="val 3000"/>
            </a:avLst>
          </a:prstGeom>
          <a:solidFill>
            <a:schemeClr val="bg2"/>
          </a:solidFill>
          <a:ln w="12700">
            <a:solidFill>
              <a:schemeClr val="bg2"/>
            </a:solidFill>
            <a:prstDash val="solid"/>
          </a:ln>
        </p:spPr>
      </p:sp>
      <p:sp>
        <p:nvSpPr>
          <p:cNvPr id="13" name="Text 11"/>
          <p:cNvSpPr txBox="1"/>
          <p:nvPr/>
        </p:nvSpPr>
        <p:spPr>
          <a:xfrm>
            <a:off x="6400800" y="1691640"/>
            <a:ext cx="2743200" cy="365760"/>
          </a:xfrm>
          <a:prstGeom prst="rect">
            <a:avLst/>
          </a:prstGeom>
          <a:noFill/>
          <a:ln/>
        </p:spPr>
        <p:txBody>
          <a:bodyPr wrap="square" lIns="0" tIns="0" rIns="0" bIns="0" rtlCol="0" anchor="ctr"/>
          <a:lstStyle/>
          <a:p>
            <a:pPr indent="0" marL="0">
              <a:buNone/>
            </a:pPr>
            <a:r>
              <a:rPr lang="en-US" sz="1400" b="1" dirty="0">
                <a:solidFill>
                  <a:schemeClr val="accent2"/>
                </a:solidFill>
              </a:rPr>
              <a:t>예시 · Ex 6</a:t>
            </a:r>
            <a:endParaRPr lang="en-US" sz="1400" dirty="0"/>
          </a:p>
        </p:txBody>
      </p:sp>
      <p:sp>
        <p:nvSpPr>
          <p:cNvPr id="14" name="Text 12"/>
          <p:cNvSpPr txBox="1"/>
          <p:nvPr/>
        </p:nvSpPr>
        <p:spPr>
          <a:xfrm>
            <a:off x="6400800" y="2103120"/>
            <a:ext cx="4937760" cy="457200"/>
          </a:xfrm>
          <a:prstGeom prst="rect">
            <a:avLst/>
          </a:prstGeom>
          <a:noFill/>
          <a:ln/>
        </p:spPr>
        <p:txBody>
          <a:bodyPr wrap="square" lIns="0" tIns="0" rIns="0" bIns="0" rtlCol="0" anchor="ctr"/>
          <a:lstStyle/>
          <a:p>
            <a:pPr indent="0" marL="0">
              <a:buNone/>
            </a:pPr>
            <a:r>
              <a:rPr lang="en-US" sz="1800" b="1" i="1" dirty="0">
                <a:solidFill>
                  <a:schemeClr val="tx2"/>
                </a:solidFill>
              </a:rPr>
              <a:t>"a golfing hero can sell you a watch"</a:t>
            </a:r>
            <a:endParaRPr lang="en-US" sz="1800" dirty="0"/>
          </a:p>
        </p:txBody>
      </p:sp>
      <p:sp>
        <p:nvSpPr>
          <p:cNvPr id="15" name="Text 13"/>
          <p:cNvSpPr/>
          <p:nvPr/>
        </p:nvSpPr>
        <p:spPr>
          <a:xfrm>
            <a:off x="6400800" y="2880360"/>
            <a:ext cx="2103120" cy="731520"/>
          </a:xfrm>
          <a:prstGeom prst="roundRect">
            <a:avLst>
              <a:gd name="adj" fmla="val 15000"/>
            </a:avLst>
          </a:prstGeom>
          <a:solidFill>
            <a:schemeClr val="bg1"/>
          </a:solidFill>
          <a:ln/>
        </p:spPr>
        <p:txBody>
          <a:bodyPr wrap="square" lIns="0" tIns="0" rIns="0" bIns="0" rtlCol="0" anchor="ctr"/>
          <a:lstStyle/>
          <a:p>
            <a:pPr algn="ctr" indent="0" marL="0">
              <a:buNone/>
            </a:pPr>
            <a:r>
              <a:rPr lang="en-US" sz="1700" b="1" dirty="0">
                <a:solidFill>
                  <a:schemeClr val="tx2"/>
                </a:solidFill>
              </a:rPr>
              <a:t>골프 영웅</a:t>
            </a:r>
            <a:endParaRPr lang="en-US" sz="1700" dirty="0"/>
          </a:p>
        </p:txBody>
      </p:sp>
      <p:pic>
        <p:nvPicPr>
          <p:cNvPr id="16" name="Image 0" descr="preencoded.png">    </p:cNvPr>
          <p:cNvPicPr>
            <a:picLocks noChangeAspect="1"/>
          </p:cNvPicPr>
          <p:nvPr/>
        </p:nvPicPr>
        <p:blipFill>
          <a:blip r:embed="rId1"/>
          <a:stretch>
            <a:fillRect/>
          </a:stretch>
        </p:blipFill>
        <p:spPr>
          <a:xfrm>
            <a:off x="8686800" y="3108960"/>
            <a:ext cx="274320" cy="274320"/>
          </a:xfrm>
          <a:prstGeom prst="rect">
            <a:avLst/>
          </a:prstGeom>
        </p:spPr>
      </p:pic>
      <p:sp>
        <p:nvSpPr>
          <p:cNvPr id="17" name="Text 14"/>
          <p:cNvSpPr/>
          <p:nvPr/>
        </p:nvSpPr>
        <p:spPr>
          <a:xfrm>
            <a:off x="9144000" y="2880360"/>
            <a:ext cx="2194560" cy="731520"/>
          </a:xfrm>
          <a:prstGeom prst="roundRect">
            <a:avLst>
              <a:gd name="adj" fmla="val 15000"/>
            </a:avLst>
          </a:prstGeom>
          <a:solidFill>
            <a:schemeClr val="accent1"/>
          </a:solidFill>
          <a:ln/>
        </p:spPr>
        <p:txBody>
          <a:bodyPr wrap="square" lIns="0" tIns="0" rIns="0" bIns="0" rtlCol="0" anchor="ctr"/>
          <a:lstStyle/>
          <a:p>
            <a:pPr algn="ctr" indent="0" marL="0">
              <a:buNone/>
            </a:pPr>
            <a:r>
              <a:rPr lang="en-US" sz="1700" b="1" dirty="0">
                <a:solidFill>
                  <a:schemeClr val="bg1"/>
                </a:solidFill>
              </a:rPr>
              <a:t>한 분야의 위신</a:t>
            </a:r>
            <a:endParaRPr lang="en-US" sz="1700" dirty="0"/>
          </a:p>
        </p:txBody>
      </p:sp>
      <p:sp>
        <p:nvSpPr>
          <p:cNvPr id="18" name="Text 15"/>
          <p:cNvSpPr/>
          <p:nvPr/>
        </p:nvSpPr>
        <p:spPr>
          <a:xfrm>
            <a:off x="6400800" y="3931920"/>
            <a:ext cx="2103120" cy="731520"/>
          </a:xfrm>
          <a:prstGeom prst="roundRect">
            <a:avLst>
              <a:gd name="adj" fmla="val 15000"/>
            </a:avLst>
          </a:prstGeom>
          <a:solidFill>
            <a:schemeClr val="bg1"/>
          </a:solidFill>
          <a:ln/>
        </p:spPr>
        <p:txBody>
          <a:bodyPr wrap="square" lIns="0" tIns="0" rIns="0" bIns="0" rtlCol="0" anchor="ctr"/>
          <a:lstStyle/>
          <a:p>
            <a:pPr algn="ctr" indent="0" marL="0">
              <a:buNone/>
            </a:pPr>
            <a:r>
              <a:rPr lang="en-US" sz="1700" b="1" dirty="0">
                <a:solidFill>
                  <a:schemeClr val="tx2"/>
                </a:solidFill>
              </a:rPr>
              <a:t>시계를 판다</a:t>
            </a:r>
            <a:endParaRPr lang="en-US" sz="1700" dirty="0"/>
          </a:p>
        </p:txBody>
      </p:sp>
      <p:pic>
        <p:nvPicPr>
          <p:cNvPr id="19" name="Image 1" descr="preencoded.png">    </p:cNvPr>
          <p:cNvPicPr>
            <a:picLocks noChangeAspect="1"/>
          </p:cNvPicPr>
          <p:nvPr/>
        </p:nvPicPr>
        <p:blipFill>
          <a:blip r:embed="rId2"/>
          <a:stretch>
            <a:fillRect/>
          </a:stretch>
        </p:blipFill>
        <p:spPr>
          <a:xfrm>
            <a:off x="8686800" y="4160520"/>
            <a:ext cx="274320" cy="274320"/>
          </a:xfrm>
          <a:prstGeom prst="rect">
            <a:avLst/>
          </a:prstGeom>
        </p:spPr>
      </p:pic>
      <p:sp>
        <p:nvSpPr>
          <p:cNvPr id="20" name="Text 16"/>
          <p:cNvSpPr/>
          <p:nvPr/>
        </p:nvSpPr>
        <p:spPr>
          <a:xfrm>
            <a:off x="9144000" y="3931920"/>
            <a:ext cx="2194560" cy="731520"/>
          </a:xfrm>
          <a:prstGeom prst="roundRect">
            <a:avLst>
              <a:gd name="adj" fmla="val 15000"/>
            </a:avLst>
          </a:prstGeom>
          <a:solidFill>
            <a:schemeClr val="accent1"/>
          </a:solidFill>
          <a:ln/>
        </p:spPr>
        <p:txBody>
          <a:bodyPr wrap="square" lIns="0" tIns="0" rIns="0" bIns="0" rtlCol="0" anchor="ctr"/>
          <a:lstStyle/>
          <a:p>
            <a:pPr algn="ctr" indent="0" marL="0">
              <a:buNone/>
            </a:pPr>
            <a:r>
              <a:rPr lang="en-US" sz="1700" b="1" dirty="0">
                <a:solidFill>
                  <a:schemeClr val="bg1"/>
                </a:solidFill>
              </a:rPr>
              <a:t>다른 분야에도 영향력</a:t>
            </a:r>
            <a:endParaRPr lang="en-US" sz="1700" dirty="0"/>
          </a:p>
        </p:txBody>
      </p:sp>
      <p:sp>
        <p:nvSpPr>
          <p:cNvPr id="21" name="Text 17"/>
          <p:cNvSpPr txBox="1"/>
          <p:nvPr/>
        </p:nvSpPr>
        <p:spPr>
          <a:xfrm>
            <a:off x="6400800" y="5120640"/>
            <a:ext cx="4937760" cy="640080"/>
          </a:xfrm>
          <a:prstGeom prst="rect">
            <a:avLst/>
          </a:prstGeom>
          <a:noFill/>
          <a:ln/>
        </p:spPr>
        <p:txBody>
          <a:bodyPr wrap="square" lIns="0" tIns="0" rIns="0" bIns="0" rtlCol="0" anchor="ctr"/>
          <a:lstStyle/>
          <a:p>
            <a:pPr indent="0" marL="0">
              <a:buNone/>
            </a:pPr>
            <a:r>
              <a:rPr lang="en-US" sz="1600" b="1" dirty="0">
                <a:solidFill>
                  <a:schemeClr val="accent2"/>
                </a:solidFill>
              </a:rPr>
              <a:t>= 위신을 얻으면 영향력이 원래 분야를 넘어 확장된다</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chemeClr val="bg1"/>
                </a:solidFill>
              </a:rPr>
              <a:t>Part 1  ·  Exercise 1–6</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chemeClr val="bg2"/>
                </a:solidFill>
              </a:rPr>
              <a:t>자존감 · 문해력 · 문화와 주의 · 잠재 수요 · 역사 서사 · 위신(함의)</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00" dirty="0">
                <a:solidFill>
                  <a:srgbClr val="1E2B2A"/>
                </a:solidFill>
              </a:rPr>
              <a:t>There is evidence that low self-esteem people are </a:t>
            </a:r>
            <a:pPr indent="0" marL="0">
              <a:lnSpc>
                <a:spcPct val="115000"/>
              </a:lnSpc>
              <a:buNone/>
            </a:pPr>
            <a:r>
              <a:rPr lang="en-US" sz="1600" b="1" dirty="0">
                <a:solidFill>
                  <a:srgbClr val="EF5B3F"/>
                </a:solidFill>
              </a:rPr>
              <a:t>____________</a:t>
            </a:r>
            <a:pPr indent="0" marL="0">
              <a:lnSpc>
                <a:spcPct val="115000"/>
              </a:lnSpc>
              <a:buNone/>
            </a:pPr>
            <a:r>
              <a:rPr lang="en-US" sz="1600" dirty="0">
                <a:solidFill>
                  <a:srgbClr val="1E2B2A"/>
                </a:solidFill>
              </a:rPr>
              <a:t>.</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When Campbell and Fehr examined how subjects rated themselves on sets of adjectives that were either uniformly positive or uniformly negative, subjects with low self-esteem not only gave ratings that were (on average) less positive or more negative, but their ratings within each set exhibited more individual scatter or greater variance.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High self-esteem subjects strongly and consistently endorsed the positive adjectives and rejected the negative adjectives.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Low self-esteem subjects did not, in contrast, strongly and consistently endorse the negative adjectives and reject the positive adjectives.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Rather, they gave more intermediate ratings and more variable ratings to both types of adjectives.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Therefore, it appears that low and high self-esteem individuals differ not only in the average positivity of their self-views, but also in the extent to which their self-views are evaluatively consistent with one another.</a:t>
            </a:r>
            <a:endParaRPr lang="en-US" sz="1600" dirty="0"/>
          </a:p>
          <a:p>
            <a:pPr algn="r" indent="0" marL="0">
              <a:lnSpc>
                <a:spcPct val="115000"/>
              </a:lnSpc>
              <a:spcBef>
                <a:spcPts val="200"/>
              </a:spcBef>
              <a:buNone/>
            </a:pPr>
            <a:r>
              <a:rPr lang="en-US" sz="1100" i="1" dirty="0">
                <a:solidFill>
                  <a:srgbClr val="6E7F7C"/>
                </a:solidFill>
              </a:rPr>
              <a:t>* variance: 분산   ** endorse: 인정하다</a:t>
            </a:r>
            <a:endParaRPr lang="en-US" sz="1600" dirty="0"/>
          </a:p>
          <a:p>
            <a:pPr indent="0" marL="0">
              <a:lnSpc>
                <a:spcPct val="115000"/>
              </a:lnSpc>
              <a:spcBef>
                <a:spcPts val="1000"/>
              </a:spcBef>
              <a:buNone/>
            </a:pPr>
            <a:r>
              <a:rPr lang="en-US" sz="1600" dirty="0">
                <a:solidFill>
                  <a:srgbClr val="14453D"/>
                </a:solidFill>
              </a:rPr>
              <a:t>①  inherently sensitive to their own interpretations of situations</a:t>
            </a:r>
            <a:endParaRPr lang="en-US" sz="1600" dirty="0"/>
          </a:p>
          <a:p>
            <a:pPr indent="0" marL="0">
              <a:lnSpc>
                <a:spcPct val="115000"/>
              </a:lnSpc>
              <a:spcBef>
                <a:spcPts val="200"/>
              </a:spcBef>
              <a:buNone/>
            </a:pPr>
            <a:r>
              <a:rPr lang="en-US" sz="1600" dirty="0">
                <a:solidFill>
                  <a:srgbClr val="14453D"/>
                </a:solidFill>
              </a:rPr>
              <a:t>②  relatively stable despite changes in interpersonal dynamics</a:t>
            </a:r>
            <a:endParaRPr lang="en-US" sz="1600" dirty="0"/>
          </a:p>
          <a:p>
            <a:pPr indent="0" marL="0">
              <a:lnSpc>
                <a:spcPct val="115000"/>
              </a:lnSpc>
              <a:spcBef>
                <a:spcPts val="200"/>
              </a:spcBef>
              <a:buNone/>
            </a:pPr>
            <a:r>
              <a:rPr lang="en-US" sz="1600" dirty="0">
                <a:solidFill>
                  <a:srgbClr val="14453D"/>
                </a:solidFill>
              </a:rPr>
              <a:t>③  less evaluatively consistent in their self-descriptions</a:t>
            </a:r>
            <a:endParaRPr lang="en-US" sz="1600" dirty="0"/>
          </a:p>
          <a:p>
            <a:pPr indent="0" marL="0">
              <a:lnSpc>
                <a:spcPct val="115000"/>
              </a:lnSpc>
              <a:spcBef>
                <a:spcPts val="200"/>
              </a:spcBef>
              <a:buNone/>
            </a:pPr>
            <a:r>
              <a:rPr lang="en-US" sz="1600" dirty="0">
                <a:solidFill>
                  <a:srgbClr val="14453D"/>
                </a:solidFill>
              </a:rPr>
              <a:t>④  consistently refined in response to evolving self-perceptions</a:t>
            </a:r>
            <a:endParaRPr lang="en-US" sz="1600" dirty="0"/>
          </a:p>
          <a:p>
            <a:pPr indent="0" marL="0">
              <a:lnSpc>
                <a:spcPct val="115000"/>
              </a:lnSpc>
              <a:spcBef>
                <a:spcPts val="200"/>
              </a:spcBef>
              <a:buNone/>
            </a:pPr>
            <a:r>
              <a:rPr lang="en-US" sz="1600" dirty="0">
                <a:solidFill>
                  <a:srgbClr val="14453D"/>
                </a:solidFill>
              </a:rPr>
              <a:t>⑤  solely dependent on validation from peers and significant others</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600" b="1" dirty="0">
                <a:solidFill>
                  <a:srgbClr val="1F7A64"/>
                </a:solidFill>
              </a:rPr>
              <a:t>(1) </a:t>
            </a:r>
            <a:pPr indent="0" marL="0">
              <a:lnSpc>
                <a:spcPct val="120000"/>
              </a:lnSpc>
              <a:buNone/>
            </a:pPr>
            <a:r>
              <a:rPr lang="en-US" sz="1900" dirty="0">
                <a:solidFill>
                  <a:srgbClr val="1E2B2A"/>
                </a:solidFill>
              </a:rPr>
              <a:t>There is evidence that low self-esteem people are </a:t>
            </a:r>
            <a:pPr indent="0" marL="0">
              <a:lnSpc>
                <a:spcPct val="120000"/>
              </a:lnSpc>
              <a:buNone/>
            </a:pPr>
            <a:r>
              <a:rPr lang="en-US" sz="1900" b="1" dirty="0">
                <a:solidFill>
                  <a:srgbClr val="EF5B3F"/>
                </a:solidFill>
              </a:rPr>
              <a:t>____________</a:t>
            </a:r>
            <a:pPr indent="0" marL="0">
              <a:lnSpc>
                <a:spcPct val="120000"/>
              </a:lnSpc>
              <a:buNone/>
            </a:pPr>
            <a:r>
              <a:rPr lang="en-US" sz="1900" dirty="0">
                <a:solidFill>
                  <a:srgbClr val="1E2B2A"/>
                </a:solidFill>
              </a:rPr>
              <a:t>.</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(2) </a:t>
            </a:r>
            <a:pPr indent="0" marL="0">
              <a:lnSpc>
                <a:spcPct val="120000"/>
              </a:lnSpc>
              <a:buNone/>
            </a:pPr>
            <a:r>
              <a:rPr lang="en-US" sz="1900" dirty="0">
                <a:solidFill>
                  <a:srgbClr val="1E2B2A"/>
                </a:solidFill>
                <a:highlight>
                  <a:srgbClr val="FFD45C"/>
                </a:highlight>
              </a:rPr>
              <a:t>When Campbell and Fehr examined </a:t>
            </a:r>
            <a:pPr indent="0" marL="0">
              <a:lnSpc>
                <a:spcPct val="120000"/>
              </a:lnSpc>
              <a:buNone/>
            </a:pPr>
            <a:r>
              <a:rPr lang="en-US" sz="1900" b="1" dirty="0">
                <a:solidFill>
                  <a:srgbClr val="2C7DA0"/>
                </a:solidFill>
                <a:highlight>
                  <a:srgbClr val="FFD45C"/>
                </a:highlight>
              </a:rPr>
              <a:t>how subjects rated themselves</a:t>
            </a:r>
            <a:pPr indent="0" marL="0">
              <a:lnSpc>
                <a:spcPct val="120000"/>
              </a:lnSpc>
              <a:buNone/>
            </a:pPr>
            <a:r>
              <a:rPr lang="en-US" sz="1900" dirty="0">
                <a:solidFill>
                  <a:srgbClr val="1E2B2A"/>
                </a:solidFill>
                <a:highlight>
                  <a:srgbClr val="FFD45C"/>
                </a:highlight>
              </a:rPr>
              <a:t> on sets of adjectives that were </a:t>
            </a:r>
            <a:pPr indent="0" marL="0">
              <a:lnSpc>
                <a:spcPct val="120000"/>
              </a:lnSpc>
              <a:buNone/>
            </a:pPr>
            <a:r>
              <a:rPr lang="en-US" sz="1900" b="1" dirty="0">
                <a:solidFill>
                  <a:srgbClr val="2C7DA0"/>
                </a:solidFill>
                <a:highlight>
                  <a:srgbClr val="FFD45C"/>
                </a:highlight>
              </a:rPr>
              <a:t>either uniformly positive or uniformly negative</a:t>
            </a:r>
            <a:pPr indent="0" marL="0">
              <a:lnSpc>
                <a:spcPct val="120000"/>
              </a:lnSpc>
              <a:buNone/>
            </a:pPr>
            <a:r>
              <a:rPr lang="en-US" sz="1900" dirty="0">
                <a:solidFill>
                  <a:srgbClr val="1E2B2A"/>
                </a:solidFill>
                <a:highlight>
                  <a:srgbClr val="FFD45C"/>
                </a:highlight>
              </a:rPr>
              <a:t>, subjects with low self-esteem not only gave ratings that were (on average) less positive or more negative, but their ratings within each set exhibited more individual scatter or greater variance.</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(3) </a:t>
            </a:r>
            <a:pPr indent="0" marL="0">
              <a:lnSpc>
                <a:spcPct val="120000"/>
              </a:lnSpc>
              <a:buNone/>
            </a:pPr>
            <a:r>
              <a:rPr lang="en-US" sz="1900" dirty="0">
                <a:solidFill>
                  <a:srgbClr val="1E2B2A"/>
                </a:solidFill>
              </a:rPr>
              <a:t>High self-esteem subjects strongly and consistently endorsed the positive adjectives and rejected the negative adjectives.</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(4) </a:t>
            </a:r>
            <a:pPr indent="0" marL="0">
              <a:lnSpc>
                <a:spcPct val="120000"/>
              </a:lnSpc>
              <a:buNone/>
            </a:pPr>
            <a:r>
              <a:rPr lang="en-US" sz="1900" dirty="0">
                <a:solidFill>
                  <a:srgbClr val="1E2B2A"/>
                </a:solidFill>
              </a:rPr>
              <a:t>Low self-esteem subjects did not, in contrast, strongly and consistently endorse the negative adjectives and reject the positive adjectives.</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(5) </a:t>
            </a:r>
            <a:pPr indent="0" marL="0">
              <a:lnSpc>
                <a:spcPct val="120000"/>
              </a:lnSpc>
              <a:buNone/>
            </a:pPr>
            <a:r>
              <a:rPr lang="en-US" sz="1900" dirty="0">
                <a:solidFill>
                  <a:srgbClr val="1E2B2A"/>
                </a:solidFill>
                <a:highlight>
                  <a:srgbClr val="FFD45C"/>
                </a:highlight>
              </a:rPr>
              <a:t>Rather, they gave more intermediate ratings and more variable ratings to both types of adjectives.</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(6) </a:t>
            </a:r>
            <a:pPr indent="0" marL="0">
              <a:lnSpc>
                <a:spcPct val="120000"/>
              </a:lnSpc>
              <a:buNone/>
            </a:pPr>
            <a:r>
              <a:rPr lang="en-US" sz="1900" dirty="0">
                <a:solidFill>
                  <a:srgbClr val="1E2B2A"/>
                </a:solidFill>
                <a:highlight>
                  <a:srgbClr val="FFD45C"/>
                </a:highlight>
              </a:rPr>
              <a:t>Therefore, it appears that low and high self-esteem individuals differ </a:t>
            </a:r>
            <a:pPr indent="0" marL="0">
              <a:lnSpc>
                <a:spcPct val="120000"/>
              </a:lnSpc>
              <a:buNone/>
            </a:pPr>
            <a:r>
              <a:rPr lang="en-US" sz="1900" b="1" dirty="0">
                <a:solidFill>
                  <a:srgbClr val="2C7DA0"/>
                </a:solidFill>
                <a:highlight>
                  <a:srgbClr val="FFD45C"/>
                </a:highlight>
              </a:rPr>
              <a:t>not only in the average positivity of their self-views, but also in</a:t>
            </a:r>
            <a:pPr indent="0" marL="0">
              <a:lnSpc>
                <a:spcPct val="120000"/>
              </a:lnSpc>
              <a:buNone/>
            </a:pPr>
            <a:r>
              <a:rPr lang="en-US" sz="1900" dirty="0">
                <a:solidFill>
                  <a:srgbClr val="1E2B2A"/>
                </a:solidFill>
                <a:highlight>
                  <a:srgbClr val="FFD45C"/>
                </a:highlight>
              </a:rPr>
              <a:t> </a:t>
            </a:r>
            <a:pPr indent="0" marL="0">
              <a:lnSpc>
                <a:spcPct val="120000"/>
              </a:lnSpc>
              <a:buNone/>
            </a:pPr>
            <a:r>
              <a:rPr lang="en-US" sz="1900" b="1" dirty="0">
                <a:solidFill>
                  <a:srgbClr val="2C7DA0"/>
                </a:solidFill>
                <a:highlight>
                  <a:srgbClr val="FFD45C"/>
                </a:highlight>
              </a:rPr>
              <a:t>the extent to which their self-views are</a:t>
            </a:r>
            <a:pPr indent="0" marL="0">
              <a:lnSpc>
                <a:spcPct val="120000"/>
              </a:lnSpc>
              <a:buNone/>
            </a:pPr>
            <a:r>
              <a:rPr lang="en-US" sz="1900" dirty="0">
                <a:solidFill>
                  <a:srgbClr val="1E2B2A"/>
                </a:solidFill>
                <a:highlight>
                  <a:srgbClr val="FFD45C"/>
                </a:highlight>
              </a:rPr>
              <a:t> evaluatively consistent with one another.</a:t>
            </a:r>
            <a:endParaRPr lang="en-US" sz="16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(다음 슬라이드)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EAF3F7"/>
          </a:solidFill>
          <a:ln w="12700">
            <a:solidFill>
              <a:srgbClr val="D3E5EE"/>
            </a:solidFill>
            <a:prstDash val="solid"/>
          </a:ln>
        </p:spPr>
      </p:sp>
      <p:sp>
        <p:nvSpPr>
          <p:cNvPr id="5" name="Text 3"/>
          <p:cNvSpPr txBox="1"/>
          <p:nvPr/>
        </p:nvSpPr>
        <p:spPr>
          <a:xfrm>
            <a:off x="822960" y="1371600"/>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how subjects rated themselves</a:t>
            </a:r>
            <a:endParaRPr lang="en-US" sz="1500" dirty="0"/>
          </a:p>
        </p:txBody>
      </p:sp>
      <p:sp>
        <p:nvSpPr>
          <p:cNvPr id="6" name="Text 4"/>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간접의문문 · 재귀대명사</a:t>
            </a:r>
            <a:endParaRPr lang="en-US" sz="1700" dirty="0"/>
          </a:p>
          <a:p>
            <a:pPr indent="0" marL="0">
              <a:spcAft>
                <a:spcPts val="200"/>
              </a:spcAft>
              <a:buNone/>
            </a:pPr>
            <a:r>
              <a:rPr lang="en-US" sz="1400" dirty="0">
                <a:solidFill>
                  <a:srgbClr val="1E2B2A"/>
                </a:solidFill>
              </a:rPr>
              <a:t>의문사 how + 주어 + 동사 어순. 주어(subjects) = 목적어이므로 재귀대명사 themselves</a:t>
            </a:r>
            <a:endParaRPr lang="en-US" sz="1700" dirty="0"/>
          </a:p>
        </p:txBody>
      </p:sp>
      <p:sp>
        <p:nvSpPr>
          <p:cNvPr id="7" name="Shape 5"/>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8" name="Text 6"/>
          <p:cNvSpPr txBox="1"/>
          <p:nvPr/>
        </p:nvSpPr>
        <p:spPr>
          <a:xfrm>
            <a:off x="822960" y="2532888"/>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either uniformly positive or uniformly negative</a:t>
            </a:r>
            <a:endParaRPr lang="en-US" sz="1500" dirty="0"/>
          </a:p>
        </p:txBody>
      </p:sp>
      <p:sp>
        <p:nvSpPr>
          <p:cNvPr id="9" name="Text 7"/>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either A or B</a:t>
            </a:r>
            <a:endParaRPr lang="en-US" sz="1700" dirty="0"/>
          </a:p>
          <a:p>
            <a:pPr indent="0" marL="0">
              <a:spcAft>
                <a:spcPts val="200"/>
              </a:spcAft>
              <a:buNone/>
            </a:pPr>
            <a:r>
              <a:rPr lang="en-US" sz="1400" dirty="0">
                <a:solidFill>
                  <a:srgbClr val="1E2B2A"/>
                </a:solidFill>
              </a:rPr>
              <a:t>상관접속사: A와 B는 같은 형태(부사+형용사)로 병렬</a:t>
            </a:r>
            <a:endParaRPr lang="en-US" sz="1700" dirty="0"/>
          </a:p>
        </p:txBody>
      </p:sp>
      <p:sp>
        <p:nvSpPr>
          <p:cNvPr id="10" name="Shape 8"/>
          <p:cNvSpPr/>
          <p:nvPr/>
        </p:nvSpPr>
        <p:spPr>
          <a:xfrm>
            <a:off x="548640" y="3602736"/>
            <a:ext cx="11064240" cy="1051560"/>
          </a:xfrm>
          <a:prstGeom prst="roundRect">
            <a:avLst>
              <a:gd name="adj" fmla="val 8696"/>
            </a:avLst>
          </a:prstGeom>
          <a:solidFill>
            <a:srgbClr val="EAF3F7"/>
          </a:solidFill>
          <a:ln w="12700">
            <a:solidFill>
              <a:srgbClr val="D3E5EE"/>
            </a:solidFill>
            <a:prstDash val="solid"/>
          </a:ln>
        </p:spPr>
      </p:sp>
      <p:sp>
        <p:nvSpPr>
          <p:cNvPr id="11" name="Text 9"/>
          <p:cNvSpPr txBox="1"/>
          <p:nvPr/>
        </p:nvSpPr>
        <p:spPr>
          <a:xfrm>
            <a:off x="822960" y="3694176"/>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not only in the average positivity of their self-views, but also in</a:t>
            </a:r>
            <a:endParaRPr lang="en-US" sz="1500" dirty="0"/>
          </a:p>
        </p:txBody>
      </p:sp>
      <p:sp>
        <p:nvSpPr>
          <p:cNvPr id="12" name="Text 10"/>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not only A but also B</a:t>
            </a:r>
            <a:endParaRPr lang="en-US" sz="1700" dirty="0"/>
          </a:p>
          <a:p>
            <a:pPr indent="0" marL="0">
              <a:spcAft>
                <a:spcPts val="200"/>
              </a:spcAft>
              <a:buNone/>
            </a:pPr>
            <a:r>
              <a:rPr lang="en-US" sz="1400" dirty="0">
                <a:solidFill>
                  <a:srgbClr val="1E2B2A"/>
                </a:solidFill>
              </a:rPr>
              <a:t>A·B 모두 'in + 명사'로 병렬 → 어법·서술형 단골</a:t>
            </a:r>
            <a:endParaRPr lang="en-US" sz="1700" dirty="0"/>
          </a:p>
        </p:txBody>
      </p:sp>
      <p:sp>
        <p:nvSpPr>
          <p:cNvPr id="13" name="Shape 11"/>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4" name="Text 12"/>
          <p:cNvSpPr txBox="1"/>
          <p:nvPr/>
        </p:nvSpPr>
        <p:spPr>
          <a:xfrm>
            <a:off x="822960" y="4855464"/>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the extent to which their self-views are</a:t>
            </a:r>
            <a:endParaRPr lang="en-US" sz="1500" dirty="0"/>
          </a:p>
        </p:txBody>
      </p:sp>
      <p:sp>
        <p:nvSpPr>
          <p:cNvPr id="15" name="Text 13"/>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전치사 + 관계대명사</a:t>
            </a:r>
            <a:endParaRPr lang="en-US" sz="1700" dirty="0"/>
          </a:p>
          <a:p>
            <a:pPr indent="0" marL="0">
              <a:spcAft>
                <a:spcPts val="200"/>
              </a:spcAft>
              <a:buNone/>
            </a:pPr>
            <a:r>
              <a:rPr lang="en-US" sz="1400" dirty="0">
                <a:solidFill>
                  <a:srgbClr val="1E2B2A"/>
                </a:solidFill>
              </a:rPr>
              <a:t>to which 뒤에는 완전한 절. (the extent to which ~ = ~하는 정도)</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  </a:t>
            </a:r>
            <a:pPr algn="l" indent="0" marL="0">
              <a:buNone/>
            </a:pPr>
            <a:r>
              <a:rPr lang="en-US" sz="3000" b="1" dirty="0">
                <a:solidFill>
                  <a:schemeClr val="tx2"/>
                </a:solidFill>
              </a:rPr>
              <a:t>자존감 낮은 사람의 자기평가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There is evidence that low self-esteem people are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자존감이 낮은 사람들은 ______하다는 증거가 있다.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자존감 낮은 사람들의 '특징'을 찾자</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…differ not only in the average positivity of their self-views, but also in the extent to which their self-views are evaluatively consistent…</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평균적 긍정성뿐 아니라 자기관이 평가적으로 '일관된 정도'에서도 다르다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주장 (빈칸)</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자존감 낮은 사람들은 ~하다</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실험</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Campbell &amp; Fehr: 긍정 형용사 / 부정 형용사로 자기 평가하게 함</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결과</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높은 자존감 → 긍정 O, 부정 X (일관됨)</a:t>
            </a:r>
            <a:endParaRPr lang="en-US" sz="1400" dirty="0"/>
          </a:p>
          <a:p>
            <a:pPr indent="0" marL="0">
              <a:buNone/>
            </a:pPr>
            <a:r>
              <a:rPr lang="en-US" sz="1400" dirty="0">
                <a:solidFill>
                  <a:schemeClr val="tx1"/>
                </a:solidFill>
              </a:rPr>
              <a:t>낮은 자존감 → 중간 점수, 들쭉날쭉 (일관성 X)</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차이는 '평균'뿐 아니라 '일관성'에도 있다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③</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less evaluatively consistent in their self-descriptions</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자기 묘사의 평가적 일관성이 낮다 = consistent의 재진술</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inherently sensitive to their own interpretations of situations</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상황 해석에 민감 → 글에 없는 내용</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relatively stable despite changes in interpersonal dynamics</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안정적 → 오히려 '들쭉날쭉'이 핵심</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accent6"/>
          </a:solidFill>
          <a:ln w="25400">
            <a:solidFill>
              <a:schemeClr val="accent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less evaluatively consistent in their self-descriptions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자기 묘사의 평가적 일관성이 낮다 = consistent의 재진술</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consistently refined in response to evolving self-perceptions</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'일관되게' 다듬어짐 → 일관성이 낮다는 글과 반대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solely dependent on validation from peers and significant others</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또래·주변인 인정에 의존 → 글에 없음</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2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00" dirty="0">
                <a:solidFill>
                  <a:srgbClr val="1E2B2A"/>
                </a:solidFill>
              </a:rPr>
              <a:t>The power and value of being literate in a literate society are played out every day around the world.</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Many individuals, and in fact whole societies, make considerable sacrifices to become literate just as others take it for granted.</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Societies that do not practice literate behavior are often squalid, undernourished in mind and body, repressive of human rights and dignity, brutal, and harsh.</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Present-day examples are easy to list, but in fact this has always been the case.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As Samuel Johnson observed more than two centuries ago, "The mass of every people must be barbarous where there is no printing."</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We admit that various forms of "barbarity" can be found in all societies, but they are much more prevalent where </a:t>
            </a:r>
            <a:pPr indent="0" marL="0">
              <a:lnSpc>
                <a:spcPct val="115000"/>
              </a:lnSpc>
              <a:buNone/>
            </a:pPr>
            <a:r>
              <a:rPr lang="en-US" sz="1600" b="1" dirty="0">
                <a:solidFill>
                  <a:srgbClr val="EF5B3F"/>
                </a:solidFill>
              </a:rPr>
              <a:t>____________</a:t>
            </a:r>
            <a:pPr indent="0" marL="0">
              <a:lnSpc>
                <a:spcPct val="115000"/>
              </a:lnSpc>
              <a:buNone/>
            </a:pPr>
            <a:r>
              <a:rPr lang="en-US" sz="1600" dirty="0">
                <a:solidFill>
                  <a:srgbClr val="1E2B2A"/>
                </a:solidFill>
              </a:rPr>
              <a:t>.</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Literacy and quality of life go hand in hand.</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With literacy comes the power of belonging to a privileged group and the freedom that derives from that power.</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Frederick Douglass, who struggled as a slave to learn to read, said it best: "Once you learn to read, you will be forever free."</a:t>
            </a:r>
            <a:endParaRPr lang="en-US" sz="1600" dirty="0"/>
          </a:p>
          <a:p>
            <a:pPr algn="r" indent="0" marL="0">
              <a:lnSpc>
                <a:spcPct val="115000"/>
              </a:lnSpc>
              <a:spcBef>
                <a:spcPts val="200"/>
              </a:spcBef>
              <a:buNone/>
            </a:pPr>
            <a:r>
              <a:rPr lang="en-US" sz="1100" i="1" dirty="0">
                <a:solidFill>
                  <a:srgbClr val="6E7F7C"/>
                </a:solidFill>
              </a:rPr>
              <a:t>* squalid: 지저분한</a:t>
            </a:r>
            <a:endParaRPr lang="en-US" sz="1600" dirty="0"/>
          </a:p>
          <a:p>
            <a:pPr indent="0" marL="0">
              <a:lnSpc>
                <a:spcPct val="115000"/>
              </a:lnSpc>
              <a:spcBef>
                <a:spcPts val="1000"/>
              </a:spcBef>
              <a:buNone/>
            </a:pPr>
            <a:r>
              <a:rPr lang="en-US" sz="1600" dirty="0">
                <a:solidFill>
                  <a:srgbClr val="14453D"/>
                </a:solidFill>
              </a:rPr>
              <a:t>①  literacy rates remain constant</a:t>
            </a:r>
            <a:endParaRPr lang="en-US" sz="1600" dirty="0"/>
          </a:p>
          <a:p>
            <a:pPr indent="0" marL="0">
              <a:lnSpc>
                <a:spcPct val="115000"/>
              </a:lnSpc>
              <a:spcBef>
                <a:spcPts val="200"/>
              </a:spcBef>
              <a:buNone/>
            </a:pPr>
            <a:r>
              <a:rPr lang="en-US" sz="1600" dirty="0">
                <a:solidFill>
                  <a:srgbClr val="14453D"/>
                </a:solidFill>
              </a:rPr>
              <a:t>②  moral values are disregarded</a:t>
            </a:r>
            <a:endParaRPr lang="en-US" sz="1600" dirty="0"/>
          </a:p>
          <a:p>
            <a:pPr indent="0" marL="0">
              <a:lnSpc>
                <a:spcPct val="115000"/>
              </a:lnSpc>
              <a:spcBef>
                <a:spcPts val="200"/>
              </a:spcBef>
              <a:buNone/>
            </a:pPr>
            <a:r>
              <a:rPr lang="en-US" sz="1600" dirty="0">
                <a:solidFill>
                  <a:srgbClr val="14453D"/>
                </a:solidFill>
              </a:rPr>
              <a:t>③  economic inequality prevails</a:t>
            </a:r>
            <a:endParaRPr lang="en-US" sz="1600" dirty="0"/>
          </a:p>
          <a:p>
            <a:pPr indent="0" marL="0">
              <a:lnSpc>
                <a:spcPct val="115000"/>
              </a:lnSpc>
              <a:spcBef>
                <a:spcPts val="200"/>
              </a:spcBef>
              <a:buNone/>
            </a:pPr>
            <a:r>
              <a:rPr lang="en-US" sz="1600" dirty="0">
                <a:solidFill>
                  <a:srgbClr val="14453D"/>
                </a:solidFill>
              </a:rPr>
              <a:t>④  literate behavior is absent</a:t>
            </a:r>
            <a:endParaRPr lang="en-US" sz="1600" dirty="0"/>
          </a:p>
          <a:p>
            <a:pPr indent="0" marL="0">
              <a:lnSpc>
                <a:spcPct val="115000"/>
              </a:lnSpc>
              <a:spcBef>
                <a:spcPts val="200"/>
              </a:spcBef>
              <a:buNone/>
            </a:pPr>
            <a:r>
              <a:rPr lang="en-US" sz="1600" dirty="0">
                <a:solidFill>
                  <a:srgbClr val="14453D"/>
                </a:solidFill>
              </a:rPr>
              <a:t>⑤  societal stability is fragile</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2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600" b="1" dirty="0">
                <a:solidFill>
                  <a:srgbClr val="1F7A64"/>
                </a:solidFill>
              </a:rPr>
              <a:t>(1) </a:t>
            </a:r>
            <a:pPr indent="0" marL="0">
              <a:lnSpc>
                <a:spcPct val="120000"/>
              </a:lnSpc>
              <a:buNone/>
            </a:pPr>
            <a:r>
              <a:rPr lang="en-US" sz="1900" b="1" dirty="0">
                <a:solidFill>
                  <a:srgbClr val="2C7DA0"/>
                </a:solidFill>
              </a:rPr>
              <a:t>The power and value of being literate in a literate society are</a:t>
            </a:r>
            <a:pPr indent="0" marL="0">
              <a:lnSpc>
                <a:spcPct val="120000"/>
              </a:lnSpc>
              <a:buNone/>
            </a:pPr>
            <a:r>
              <a:rPr lang="en-US" sz="1900" dirty="0">
                <a:solidFill>
                  <a:srgbClr val="1E2B2A"/>
                </a:solidFill>
              </a:rPr>
              <a:t> played out every day around the world.</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(2) </a:t>
            </a:r>
            <a:pPr indent="0" marL="0">
              <a:lnSpc>
                <a:spcPct val="120000"/>
              </a:lnSpc>
              <a:buNone/>
            </a:pPr>
            <a:r>
              <a:rPr lang="en-US" sz="1900" dirty="0">
                <a:solidFill>
                  <a:srgbClr val="1E2B2A"/>
                </a:solidFill>
              </a:rPr>
              <a:t>Many individuals, and in fact whole societies, make considerable sacrifices to become literate just as others take it for granted.</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(3) </a:t>
            </a:r>
            <a:pPr indent="0" marL="0">
              <a:lnSpc>
                <a:spcPct val="120000"/>
              </a:lnSpc>
              <a:buNone/>
            </a:pPr>
            <a:r>
              <a:rPr lang="en-US" sz="1900" b="1" dirty="0">
                <a:solidFill>
                  <a:srgbClr val="2C7DA0"/>
                </a:solidFill>
                <a:highlight>
                  <a:srgbClr val="FFD45C"/>
                </a:highlight>
              </a:rPr>
              <a:t>Societies that do not practice literate behavior are</a:t>
            </a:r>
            <a:pPr indent="0" marL="0">
              <a:lnSpc>
                <a:spcPct val="120000"/>
              </a:lnSpc>
              <a:buNone/>
            </a:pPr>
            <a:r>
              <a:rPr lang="en-US" sz="1900" dirty="0">
                <a:solidFill>
                  <a:srgbClr val="1E2B2A"/>
                </a:solidFill>
                <a:highlight>
                  <a:srgbClr val="FFD45C"/>
                </a:highlight>
              </a:rPr>
              <a:t> often squalid, undernourished in mind and body, repressive of human rights and dignity, brutal, and harsh.</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(4) </a:t>
            </a:r>
            <a:pPr indent="0" marL="0">
              <a:lnSpc>
                <a:spcPct val="120000"/>
              </a:lnSpc>
              <a:buNone/>
            </a:pPr>
            <a:r>
              <a:rPr lang="en-US" sz="1900" dirty="0">
                <a:solidFill>
                  <a:srgbClr val="1E2B2A"/>
                </a:solidFill>
              </a:rPr>
              <a:t>Present-day examples are easy to list, but in fact this has always been the case.</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(5) </a:t>
            </a:r>
            <a:pPr indent="0" marL="0">
              <a:lnSpc>
                <a:spcPct val="120000"/>
              </a:lnSpc>
              <a:buNone/>
            </a:pPr>
            <a:r>
              <a:rPr lang="en-US" sz="1900" dirty="0">
                <a:solidFill>
                  <a:srgbClr val="1E2B2A"/>
                </a:solidFill>
                <a:highlight>
                  <a:srgbClr val="FFD45C"/>
                </a:highlight>
              </a:rPr>
              <a:t>As Samuel Johnson observed more than two centuries ago, "The mass of every people must be barbarous where there is no printing."</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(6) </a:t>
            </a:r>
            <a:pPr indent="0" marL="0">
              <a:lnSpc>
                <a:spcPct val="120000"/>
              </a:lnSpc>
              <a:buNone/>
            </a:pPr>
            <a:r>
              <a:rPr lang="en-US" sz="1900" dirty="0">
                <a:solidFill>
                  <a:srgbClr val="1E2B2A"/>
                </a:solidFill>
              </a:rPr>
              <a:t>We admit that various forms of "barbarity" can be found in all societies, but they are much more prevalent where </a:t>
            </a:r>
            <a:pPr indent="0" marL="0">
              <a:lnSpc>
                <a:spcPct val="120000"/>
              </a:lnSpc>
              <a:buNone/>
            </a:pPr>
            <a:r>
              <a:rPr lang="en-US" sz="1900" b="1" dirty="0">
                <a:solidFill>
                  <a:srgbClr val="EF5B3F"/>
                </a:solidFill>
              </a:rPr>
              <a:t>____________</a:t>
            </a:r>
            <a:pPr indent="0" marL="0">
              <a:lnSpc>
                <a:spcPct val="120000"/>
              </a:lnSpc>
              <a:buNone/>
            </a:pPr>
            <a:r>
              <a:rPr lang="en-US" sz="1900" dirty="0">
                <a:solidFill>
                  <a:srgbClr val="1E2B2A"/>
                </a:solidFill>
              </a:rPr>
              <a:t>.</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(7) </a:t>
            </a:r>
            <a:pPr indent="0" marL="0">
              <a:lnSpc>
                <a:spcPct val="120000"/>
              </a:lnSpc>
              <a:buNone/>
            </a:pPr>
            <a:r>
              <a:rPr lang="en-US" sz="1900" dirty="0">
                <a:solidFill>
                  <a:srgbClr val="1E2B2A"/>
                </a:solidFill>
                <a:highlight>
                  <a:srgbClr val="FFD45C"/>
                </a:highlight>
              </a:rPr>
              <a:t>Literacy and quality of life go hand in hand.</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(8) </a:t>
            </a:r>
            <a:pPr indent="0" marL="0">
              <a:lnSpc>
                <a:spcPct val="120000"/>
              </a:lnSpc>
              <a:buNone/>
            </a:pPr>
            <a:r>
              <a:rPr lang="en-US" sz="1900" b="1" dirty="0">
                <a:solidFill>
                  <a:srgbClr val="2C7DA0"/>
                </a:solidFill>
              </a:rPr>
              <a:t>With literacy comes</a:t>
            </a:r>
            <a:pPr indent="0" marL="0">
              <a:lnSpc>
                <a:spcPct val="120000"/>
              </a:lnSpc>
              <a:buNone/>
            </a:pPr>
            <a:r>
              <a:rPr lang="en-US" sz="1900" dirty="0">
                <a:solidFill>
                  <a:srgbClr val="1E2B2A"/>
                </a:solidFill>
              </a:rPr>
              <a:t> the power of belonging to a privileged group and the freedom that derives from that power.</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(9) </a:t>
            </a:r>
            <a:pPr indent="0" marL="0">
              <a:lnSpc>
                <a:spcPct val="120000"/>
              </a:lnSpc>
              <a:buNone/>
            </a:pPr>
            <a:r>
              <a:rPr lang="en-US" sz="1900" dirty="0">
                <a:solidFill>
                  <a:srgbClr val="1E2B2A"/>
                </a:solidFill>
              </a:rPr>
              <a:t>Frederick Douglass</a:t>
            </a:r>
            <a:pPr indent="0" marL="0">
              <a:lnSpc>
                <a:spcPct val="120000"/>
              </a:lnSpc>
              <a:buNone/>
            </a:pPr>
            <a:r>
              <a:rPr lang="en-US" sz="1900" b="1" dirty="0">
                <a:solidFill>
                  <a:srgbClr val="2C7DA0"/>
                </a:solidFill>
              </a:rPr>
              <a:t>, who struggled as a slave</a:t>
            </a:r>
            <a:pPr indent="0" marL="0">
              <a:lnSpc>
                <a:spcPct val="120000"/>
              </a:lnSpc>
              <a:buNone/>
            </a:pPr>
            <a:r>
              <a:rPr lang="en-US" sz="1900" dirty="0">
                <a:solidFill>
                  <a:srgbClr val="1E2B2A"/>
                </a:solidFill>
              </a:rPr>
              <a:t> to learn to read, said it best: "Once you learn to read, you will be forever free."</a:t>
            </a:r>
            <a:endParaRPr lang="en-US" sz="16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(다음 슬라이드)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2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EAF3F7"/>
          </a:solidFill>
          <a:ln w="12700">
            <a:solidFill>
              <a:srgbClr val="D3E5EE"/>
            </a:solidFill>
            <a:prstDash val="solid"/>
          </a:ln>
        </p:spPr>
      </p:sp>
      <p:sp>
        <p:nvSpPr>
          <p:cNvPr id="5" name="Text 3"/>
          <p:cNvSpPr txBox="1"/>
          <p:nvPr/>
        </p:nvSpPr>
        <p:spPr>
          <a:xfrm>
            <a:off x="822960" y="1371600"/>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The power and value of being literate in a literate society are</a:t>
            </a:r>
            <a:endParaRPr lang="en-US" sz="1500" dirty="0"/>
          </a:p>
        </p:txBody>
      </p:sp>
      <p:sp>
        <p:nvSpPr>
          <p:cNvPr id="6" name="Text 4"/>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주어-동사 수일치</a:t>
            </a:r>
            <a:endParaRPr lang="en-US" sz="1700" dirty="0"/>
          </a:p>
          <a:p>
            <a:pPr indent="0" marL="0">
              <a:spcAft>
                <a:spcPts val="200"/>
              </a:spcAft>
              <a:buNone/>
            </a:pPr>
            <a:r>
              <a:rPr lang="en-US" sz="1400" dirty="0">
                <a:solidFill>
                  <a:srgbClr val="1E2B2A"/>
                </a:solidFill>
              </a:rPr>
              <a:t>주어 The power and value(복수) → are. 수식어 of ~ society에 속지 말 것</a:t>
            </a:r>
            <a:endParaRPr lang="en-US" sz="1700" dirty="0"/>
          </a:p>
        </p:txBody>
      </p:sp>
      <p:sp>
        <p:nvSpPr>
          <p:cNvPr id="7" name="Shape 5"/>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8" name="Text 6"/>
          <p:cNvSpPr txBox="1"/>
          <p:nvPr/>
        </p:nvSpPr>
        <p:spPr>
          <a:xfrm>
            <a:off x="822960" y="2532888"/>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Societies that do not practice literate behavior are</a:t>
            </a:r>
            <a:endParaRPr lang="en-US" sz="1500" dirty="0"/>
          </a:p>
        </p:txBody>
      </p:sp>
      <p:sp>
        <p:nvSpPr>
          <p:cNvPr id="9" name="Text 7"/>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주격 관계대명사 + 수일치</a:t>
            </a:r>
            <a:endParaRPr lang="en-US" sz="1700" dirty="0"/>
          </a:p>
          <a:p>
            <a:pPr indent="0" marL="0">
              <a:spcAft>
                <a:spcPts val="200"/>
              </a:spcAft>
              <a:buNone/>
            </a:pPr>
            <a:r>
              <a:rPr lang="en-US" sz="1400" dirty="0">
                <a:solidFill>
                  <a:srgbClr val="1E2B2A"/>
                </a:solidFill>
              </a:rPr>
              <a:t>that절이 Societies를 수식, 본동사는 복수 are</a:t>
            </a:r>
            <a:endParaRPr lang="en-US" sz="1700" dirty="0"/>
          </a:p>
        </p:txBody>
      </p:sp>
      <p:sp>
        <p:nvSpPr>
          <p:cNvPr id="10" name="Shape 8"/>
          <p:cNvSpPr/>
          <p:nvPr/>
        </p:nvSpPr>
        <p:spPr>
          <a:xfrm>
            <a:off x="548640" y="3602736"/>
            <a:ext cx="11064240" cy="1051560"/>
          </a:xfrm>
          <a:prstGeom prst="roundRect">
            <a:avLst>
              <a:gd name="adj" fmla="val 8696"/>
            </a:avLst>
          </a:prstGeom>
          <a:solidFill>
            <a:srgbClr val="EAF3F7"/>
          </a:solidFill>
          <a:ln w="12700">
            <a:solidFill>
              <a:srgbClr val="D3E5EE"/>
            </a:solidFill>
            <a:prstDash val="solid"/>
          </a:ln>
        </p:spPr>
      </p:sp>
      <p:sp>
        <p:nvSpPr>
          <p:cNvPr id="11" name="Text 9"/>
          <p:cNvSpPr txBox="1"/>
          <p:nvPr/>
        </p:nvSpPr>
        <p:spPr>
          <a:xfrm>
            <a:off x="822960" y="3694176"/>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With literacy comes</a:t>
            </a:r>
            <a:endParaRPr lang="en-US" sz="1500" dirty="0"/>
          </a:p>
        </p:txBody>
      </p:sp>
      <p:sp>
        <p:nvSpPr>
          <p:cNvPr id="12" name="Text 10"/>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부사구 도치</a:t>
            </a:r>
            <a:endParaRPr lang="en-US" sz="1700" dirty="0"/>
          </a:p>
          <a:p>
            <a:pPr indent="0" marL="0">
              <a:spcAft>
                <a:spcPts val="200"/>
              </a:spcAft>
              <a:buNone/>
            </a:pPr>
            <a:r>
              <a:rPr lang="en-US" sz="1400" dirty="0">
                <a:solidFill>
                  <a:srgbClr val="1E2B2A"/>
                </a:solidFill>
              </a:rPr>
              <a:t>부사구 With literacy + 동사 comes + 주어 the power … (주어가 길어서 도치)</a:t>
            </a:r>
            <a:endParaRPr lang="en-US" sz="1700" dirty="0"/>
          </a:p>
        </p:txBody>
      </p:sp>
      <p:sp>
        <p:nvSpPr>
          <p:cNvPr id="13" name="Shape 11"/>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4" name="Text 12"/>
          <p:cNvSpPr txBox="1"/>
          <p:nvPr/>
        </p:nvSpPr>
        <p:spPr>
          <a:xfrm>
            <a:off x="822960" y="4855464"/>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 who struggled as a slave</a:t>
            </a:r>
            <a:endParaRPr lang="en-US" sz="1500" dirty="0"/>
          </a:p>
        </p:txBody>
      </p:sp>
      <p:sp>
        <p:nvSpPr>
          <p:cNvPr id="15" name="Text 13"/>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계속적 용법 관계대명사</a:t>
            </a:r>
            <a:endParaRPr lang="en-US" sz="1700" dirty="0"/>
          </a:p>
          <a:p>
            <a:pPr indent="0" marL="0">
              <a:spcAft>
                <a:spcPts val="200"/>
              </a:spcAft>
              <a:buNone/>
            </a:pPr>
            <a:r>
              <a:rPr lang="en-US" sz="1400" dirty="0">
                <a:solidFill>
                  <a:srgbClr val="1E2B2A"/>
                </a:solidFill>
              </a:rPr>
              <a:t>콤마 + who: Frederick Douglass에 대한 부연 설명 (that 불가)</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2  </a:t>
            </a:r>
            <a:pPr algn="l" indent="0" marL="0">
              <a:buNone/>
            </a:pPr>
            <a:r>
              <a:rPr lang="en-US" sz="3000" b="1" dirty="0">
                <a:solidFill>
                  <a:schemeClr val="tx2"/>
                </a:solidFill>
              </a:rPr>
              <a:t>문해력과 삶의 질</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…they are much more prevalent where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'야만'은 ______한 곳에서 훨씬 더 흔하다.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'야만'이 흔한 곳 = 어떤 사회?</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Societies that do not practice literate behavior are often squalid, … brutal, and harsh.</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문해 행위를 하지 않는 사회는 흔히 지저분하고 … 잔혹하고 가혹하다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주제</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문해력(읽고 쓰는 능력)은 사회에 큰 힘과 가치를 준다</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근거</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문해 행위가 없는 사회 → 지저분, 억압적, 잔혹함</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인용</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Samuel Johnson: "인쇄가 없는 곳의 대중은 야만적이다"</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문해력과 삶의 질은 함께 간다 (go hand in hand)</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2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④</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literate behavior is absent</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문해 행위가 없는 곳 = do not practice literate behavior</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literacy rates remain constant</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문해율이 일정하다 → '변화' 이야기 아님</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moral values are disregarded</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도덕이 무시된다 → 그럴듯하지만 주제는 '문해력'</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economic inequality prevails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경제적 불평등 → 글에 없음 (교재 오타: previals)</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accent6"/>
          </a:solidFill>
          <a:ln w="25400">
            <a:solidFill>
              <a:schemeClr val="accent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literate behavior is absent</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문해 행위가 없는 곳 = do not practice literate behavior</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societal stability is fragile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사회 안정이 취약하다 → 글의 핵심어 아님</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3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500" dirty="0">
                <a:solidFill>
                  <a:srgbClr val="1E2B2A"/>
                </a:solidFill>
              </a:rPr>
              <a:t>Culturally shared views of the self have been suggested </a:t>
            </a:r>
            <a:pPr indent="0" marL="0">
              <a:lnSpc>
                <a:spcPct val="115000"/>
              </a:lnSpc>
              <a:buNone/>
            </a:pPr>
            <a:r>
              <a:rPr lang="en-US" sz="1500" b="1" dirty="0">
                <a:solidFill>
                  <a:srgbClr val="EF5B3F"/>
                </a:solidFill>
              </a:rPr>
              <a:t>____________</a:t>
            </a:r>
            <a:pPr indent="0" marL="0">
              <a:lnSpc>
                <a:spcPct val="115000"/>
              </a:lnSpc>
              <a:buNone/>
            </a:pPr>
            <a:r>
              <a:rPr lang="en-US" sz="1500" dirty="0">
                <a:solidFill>
                  <a:srgbClr val="1E2B2A"/>
                </a:solidFill>
              </a:rPr>
              <a:t>.</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In Western cultures, individuals are encouraged to discover their internal attributes such as desires and personal goals, and therefore they may be expected to focus their attention on events that are relevant to such desires and goals.</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As a result, their attention may become focused.</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This cognitive style, which is anchored in a focal object in lieu of its context, has been called analytic.</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In contrast, in Eastern cultures individuals are more attuned to various aspects of ever-important social relations and, as a consequence, they may be expected to attend more broadly to a focal object as well as to its surrounding context, drawing inferences about the relationship between the object and its context.</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This mode of cognition has been called holistic.</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These predictions have been borne out.</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For example, when presented with an animated vignette of an underwater scene and subsequently asked to remember what they saw, European Americans were more likely to recall focal objects, whereas Japanese were more likely to refer to contextual information as well as relationships between the focal objects.</a:t>
            </a:r>
            <a:endParaRPr lang="en-US" sz="1500" dirty="0"/>
          </a:p>
          <a:p>
            <a:pPr algn="r" indent="0" marL="0">
              <a:lnSpc>
                <a:spcPct val="115000"/>
              </a:lnSpc>
              <a:spcBef>
                <a:spcPts val="200"/>
              </a:spcBef>
              <a:buNone/>
            </a:pPr>
            <a:r>
              <a:rPr lang="en-US" sz="1100" i="1" dirty="0">
                <a:solidFill>
                  <a:srgbClr val="6E7F7C"/>
                </a:solidFill>
              </a:rPr>
              <a:t>* in lieu of: ~대신에   ** holistic: 총체적인   *** vignette: 짤막한 장면</a:t>
            </a:r>
            <a:endParaRPr lang="en-US" sz="1500" dirty="0"/>
          </a:p>
          <a:p>
            <a:pPr indent="0" marL="0">
              <a:lnSpc>
                <a:spcPct val="115000"/>
              </a:lnSpc>
              <a:spcBef>
                <a:spcPts val="1000"/>
              </a:spcBef>
              <a:buNone/>
            </a:pPr>
            <a:r>
              <a:rPr lang="en-US" sz="1500" dirty="0">
                <a:solidFill>
                  <a:srgbClr val="14453D"/>
                </a:solidFill>
              </a:rPr>
              <a:t>①  to distort cognitive interpretations of social interaction</a:t>
            </a:r>
            <a:endParaRPr lang="en-US" sz="1500" dirty="0"/>
          </a:p>
          <a:p>
            <a:pPr indent="0" marL="0">
              <a:lnSpc>
                <a:spcPct val="115000"/>
              </a:lnSpc>
              <a:spcBef>
                <a:spcPts val="200"/>
              </a:spcBef>
              <a:buNone/>
            </a:pPr>
            <a:r>
              <a:rPr lang="en-US" sz="1500" dirty="0">
                <a:solidFill>
                  <a:srgbClr val="14453D"/>
                </a:solidFill>
              </a:rPr>
              <a:t>②  to address social issues that persist through generations</a:t>
            </a:r>
            <a:endParaRPr lang="en-US" sz="1500" dirty="0"/>
          </a:p>
          <a:p>
            <a:pPr indent="0" marL="0">
              <a:lnSpc>
                <a:spcPct val="115000"/>
              </a:lnSpc>
              <a:spcBef>
                <a:spcPts val="200"/>
              </a:spcBef>
              <a:buNone/>
            </a:pPr>
            <a:r>
              <a:rPr lang="en-US" sz="1500" dirty="0">
                <a:solidFill>
                  <a:srgbClr val="14453D"/>
                </a:solidFill>
              </a:rPr>
              <a:t>③  to have profound influences on basic attention processes</a:t>
            </a:r>
            <a:endParaRPr lang="en-US" sz="1500" dirty="0"/>
          </a:p>
          <a:p>
            <a:pPr indent="0" marL="0">
              <a:lnSpc>
                <a:spcPct val="115000"/>
              </a:lnSpc>
              <a:spcBef>
                <a:spcPts val="200"/>
              </a:spcBef>
              <a:buNone/>
            </a:pPr>
            <a:r>
              <a:rPr lang="en-US" sz="1500" dirty="0">
                <a:solidFill>
                  <a:srgbClr val="14453D"/>
                </a:solidFill>
              </a:rPr>
              <a:t>④  to exert minimal effects on advanced cognitive functions</a:t>
            </a:r>
            <a:endParaRPr lang="en-US" sz="1500" dirty="0"/>
          </a:p>
          <a:p>
            <a:pPr indent="0" marL="0">
              <a:lnSpc>
                <a:spcPct val="115000"/>
              </a:lnSpc>
              <a:spcBef>
                <a:spcPts val="200"/>
              </a:spcBef>
              <a:buNone/>
            </a:pPr>
            <a:r>
              <a:rPr lang="en-US" sz="1500" dirty="0">
                <a:solidFill>
                  <a:srgbClr val="14453D"/>
                </a:solidFill>
              </a:rPr>
              <a:t>⑤  to prompt overall changes in social attitude and behavior</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3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400" b="1" dirty="0">
                <a:solidFill>
                  <a:srgbClr val="1F7A64"/>
                </a:solidFill>
              </a:rPr>
              <a:t>(1) </a:t>
            </a:r>
            <a:pPr indent="0" marL="0">
              <a:lnSpc>
                <a:spcPct val="120000"/>
              </a:lnSpc>
              <a:buNone/>
            </a:pPr>
            <a:r>
              <a:rPr lang="en-US" sz="1700" dirty="0">
                <a:solidFill>
                  <a:srgbClr val="1E2B2A"/>
                </a:solidFill>
              </a:rPr>
              <a:t>Culturally shared views of the self </a:t>
            </a:r>
            <a:pPr indent="0" marL="0">
              <a:lnSpc>
                <a:spcPct val="120000"/>
              </a:lnSpc>
              <a:buNone/>
            </a:pPr>
            <a:r>
              <a:rPr lang="en-US" sz="1700" b="1" dirty="0">
                <a:solidFill>
                  <a:srgbClr val="2C7DA0"/>
                </a:solidFill>
              </a:rPr>
              <a:t>have been suggested</a:t>
            </a:r>
            <a:pPr indent="0" marL="0">
              <a:lnSpc>
                <a:spcPct val="120000"/>
              </a:lnSpc>
              <a:buNone/>
            </a:pPr>
            <a:r>
              <a:rPr lang="en-US" sz="1700" dirty="0">
                <a:solidFill>
                  <a:srgbClr val="1E2B2A"/>
                </a:solidFill>
              </a:rPr>
              <a:t> </a:t>
            </a:r>
            <a:pPr indent="0" marL="0">
              <a:lnSpc>
                <a:spcPct val="120000"/>
              </a:lnSpc>
              <a:buNone/>
            </a:pPr>
            <a:r>
              <a:rPr lang="en-US" sz="1700" b="1" dirty="0">
                <a:solidFill>
                  <a:srgbClr val="EF5B3F"/>
                </a:solidFill>
              </a:rPr>
              <a:t>____________</a:t>
            </a:r>
            <a:pPr indent="0" marL="0">
              <a:lnSpc>
                <a:spcPct val="120000"/>
              </a:lnSpc>
              <a:buNone/>
            </a:pPr>
            <a:r>
              <a:rPr lang="en-US" sz="1700" dirty="0">
                <a:solidFill>
                  <a:srgbClr val="1E2B2A"/>
                </a:solidFill>
              </a:rPr>
              <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(2) </a:t>
            </a:r>
            <a:pPr indent="0" marL="0">
              <a:lnSpc>
                <a:spcPct val="120000"/>
              </a:lnSpc>
              <a:buNone/>
            </a:pPr>
            <a:r>
              <a:rPr lang="en-US" sz="1700" dirty="0">
                <a:solidFill>
                  <a:srgbClr val="1E2B2A"/>
                </a:solidFill>
                <a:highlight>
                  <a:srgbClr val="FFD45C"/>
                </a:highlight>
              </a:rPr>
              <a:t>In Western cultures, individuals </a:t>
            </a:r>
            <a:pPr indent="0" marL="0">
              <a:lnSpc>
                <a:spcPct val="120000"/>
              </a:lnSpc>
              <a:buNone/>
            </a:pPr>
            <a:r>
              <a:rPr lang="en-US" sz="1700" b="1" dirty="0">
                <a:solidFill>
                  <a:srgbClr val="2C7DA0"/>
                </a:solidFill>
                <a:highlight>
                  <a:srgbClr val="FFD45C"/>
                </a:highlight>
              </a:rPr>
              <a:t>are encouraged to discover</a:t>
            </a:r>
            <a:pPr indent="0" marL="0">
              <a:lnSpc>
                <a:spcPct val="120000"/>
              </a:lnSpc>
              <a:buNone/>
            </a:pPr>
            <a:r>
              <a:rPr lang="en-US" sz="1700" dirty="0">
                <a:solidFill>
                  <a:srgbClr val="1E2B2A"/>
                </a:solidFill>
                <a:highlight>
                  <a:srgbClr val="FFD45C"/>
                </a:highlight>
              </a:rPr>
              <a:t> their internal attributes such as desires and personal goals, and therefore they may be expected to focus their attention on events that are relevant to such desires and goals.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(3) </a:t>
            </a:r>
            <a:pPr indent="0" marL="0">
              <a:lnSpc>
                <a:spcPct val="120000"/>
              </a:lnSpc>
              <a:buNone/>
            </a:pPr>
            <a:r>
              <a:rPr lang="en-US" sz="1700" dirty="0">
                <a:solidFill>
                  <a:srgbClr val="1E2B2A"/>
                </a:solidFill>
              </a:rPr>
              <a:t>As a result, their attention may become focused.</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(4) </a:t>
            </a:r>
            <a:pPr indent="0" marL="0">
              <a:lnSpc>
                <a:spcPct val="120000"/>
              </a:lnSpc>
              <a:buNone/>
            </a:pPr>
            <a:r>
              <a:rPr lang="en-US" sz="1700" dirty="0">
                <a:solidFill>
                  <a:srgbClr val="1E2B2A"/>
                </a:solidFill>
              </a:rPr>
              <a:t>This cognitive style</a:t>
            </a:r>
            <a:pPr indent="0" marL="0">
              <a:lnSpc>
                <a:spcPct val="120000"/>
              </a:lnSpc>
              <a:buNone/>
            </a:pPr>
            <a:r>
              <a:rPr lang="en-US" sz="1700" b="1" dirty="0">
                <a:solidFill>
                  <a:srgbClr val="2C7DA0"/>
                </a:solidFill>
              </a:rPr>
              <a:t>, which is anchored in a focal object in lieu of its context,</a:t>
            </a:r>
            <a:pPr indent="0" marL="0">
              <a:lnSpc>
                <a:spcPct val="120000"/>
              </a:lnSpc>
              <a:buNone/>
            </a:pPr>
            <a:r>
              <a:rPr lang="en-US" sz="1700" dirty="0">
                <a:solidFill>
                  <a:srgbClr val="1E2B2A"/>
                </a:solidFill>
              </a:rPr>
              <a:t> </a:t>
            </a:r>
            <a:pPr indent="0" marL="0">
              <a:lnSpc>
                <a:spcPct val="120000"/>
              </a:lnSpc>
              <a:buNone/>
            </a:pPr>
            <a:r>
              <a:rPr lang="en-US" sz="1700" b="1" dirty="0">
                <a:solidFill>
                  <a:srgbClr val="2C7DA0"/>
                </a:solidFill>
              </a:rPr>
              <a:t>has been called analytic</a:t>
            </a:r>
            <a:pPr indent="0" marL="0">
              <a:lnSpc>
                <a:spcPct val="120000"/>
              </a:lnSpc>
              <a:buNone/>
            </a:pPr>
            <a:r>
              <a:rPr lang="en-US" sz="1700" dirty="0">
                <a:solidFill>
                  <a:srgbClr val="1E2B2A"/>
                </a:solidFill>
              </a:rPr>
              <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(5) </a:t>
            </a:r>
            <a:pPr indent="0" marL="0">
              <a:lnSpc>
                <a:spcPct val="120000"/>
              </a:lnSpc>
              <a:buNone/>
            </a:pPr>
            <a:r>
              <a:rPr lang="en-US" sz="1700" dirty="0">
                <a:solidFill>
                  <a:srgbClr val="1E2B2A"/>
                </a:solidFill>
                <a:highlight>
                  <a:srgbClr val="FFD45C"/>
                </a:highlight>
              </a:rPr>
              <a:t>In contrast, in Eastern cultures individuals are more attuned to various aspects of ever-important social relations and, as a consequence, they may be expected to attend more broadly to a focal object as well as to its surrounding context, </a:t>
            </a:r>
            <a:pPr indent="0" marL="0">
              <a:lnSpc>
                <a:spcPct val="120000"/>
              </a:lnSpc>
              <a:buNone/>
            </a:pPr>
            <a:r>
              <a:rPr lang="en-US" sz="1700" b="1" dirty="0">
                <a:solidFill>
                  <a:srgbClr val="2C7DA0"/>
                </a:solidFill>
                <a:highlight>
                  <a:srgbClr val="FFD45C"/>
                </a:highlight>
              </a:rPr>
              <a:t>drawing inferences</a:t>
            </a:r>
            <a:pPr indent="0" marL="0">
              <a:lnSpc>
                <a:spcPct val="120000"/>
              </a:lnSpc>
              <a:buNone/>
            </a:pPr>
            <a:r>
              <a:rPr lang="en-US" sz="1700" dirty="0">
                <a:solidFill>
                  <a:srgbClr val="1E2B2A"/>
                </a:solidFill>
                <a:highlight>
                  <a:srgbClr val="FFD45C"/>
                </a:highlight>
              </a:rPr>
              <a:t> about the relationship between the object and its context.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(6) </a:t>
            </a:r>
            <a:pPr indent="0" marL="0">
              <a:lnSpc>
                <a:spcPct val="120000"/>
              </a:lnSpc>
              <a:buNone/>
            </a:pPr>
            <a:r>
              <a:rPr lang="en-US" sz="1700" dirty="0">
                <a:solidFill>
                  <a:srgbClr val="1E2B2A"/>
                </a:solidFill>
              </a:rPr>
              <a:t>This mode of cognition has been called holistic.</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(7) </a:t>
            </a:r>
            <a:pPr indent="0" marL="0">
              <a:lnSpc>
                <a:spcPct val="120000"/>
              </a:lnSpc>
              <a:buNone/>
            </a:pPr>
            <a:r>
              <a:rPr lang="en-US" sz="1700" dirty="0">
                <a:solidFill>
                  <a:srgbClr val="1E2B2A"/>
                </a:solidFill>
              </a:rPr>
              <a:t>These predictions have been borne out.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(8) </a:t>
            </a:r>
            <a:pPr indent="0" marL="0">
              <a:lnSpc>
                <a:spcPct val="120000"/>
              </a:lnSpc>
              <a:buNone/>
            </a:pPr>
            <a:r>
              <a:rPr lang="en-US" sz="1700" dirty="0">
                <a:solidFill>
                  <a:srgbClr val="1E2B2A"/>
                </a:solidFill>
                <a:highlight>
                  <a:srgbClr val="FFD45C"/>
                </a:highlight>
              </a:rPr>
              <a:t>For example, </a:t>
            </a:r>
            <a:pPr indent="0" marL="0">
              <a:lnSpc>
                <a:spcPct val="120000"/>
              </a:lnSpc>
              <a:buNone/>
            </a:pPr>
            <a:r>
              <a:rPr lang="en-US" sz="1700" b="1" dirty="0">
                <a:solidFill>
                  <a:srgbClr val="2C7DA0"/>
                </a:solidFill>
                <a:highlight>
                  <a:srgbClr val="FFD45C"/>
                </a:highlight>
              </a:rPr>
              <a:t>when presented with</a:t>
            </a:r>
            <a:pPr indent="0" marL="0">
              <a:lnSpc>
                <a:spcPct val="120000"/>
              </a:lnSpc>
              <a:buNone/>
            </a:pPr>
            <a:r>
              <a:rPr lang="en-US" sz="1700" dirty="0">
                <a:solidFill>
                  <a:srgbClr val="1E2B2A"/>
                </a:solidFill>
                <a:highlight>
                  <a:srgbClr val="FFD45C"/>
                </a:highlight>
              </a:rPr>
              <a:t> an animated vignette of an underwater scene and subsequently asked to remember what they saw, European Americans were more likely to recall focal objects, whereas Japanese were more likely to refer to contextual information as well as relationships between the focal objects.</a:t>
            </a:r>
            <a:endParaRPr lang="en-US" sz="14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(다음 슬라이드)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3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EAF3F7"/>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have been suggested</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현재완료 수동태</a:t>
            </a:r>
            <a:endParaRPr lang="en-US" sz="1700" dirty="0"/>
          </a:p>
          <a:p>
            <a:pPr indent="0" marL="0">
              <a:spcAft>
                <a:spcPts val="200"/>
              </a:spcAft>
              <a:buNone/>
            </a:pPr>
            <a:r>
              <a:rPr lang="en-US" sz="1400" dirty="0">
                <a:solidFill>
                  <a:srgbClr val="1E2B2A"/>
                </a:solidFill>
              </a:rPr>
              <a:t>suggest의 대상인 views → have been p.p. (be suggested to V: ~하는 것으로 제시되다)</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are encouraged to discover</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encourage O to V의 수동태</a:t>
            </a:r>
            <a:endParaRPr lang="en-US" sz="1700" dirty="0"/>
          </a:p>
          <a:p>
            <a:pPr indent="0" marL="0">
              <a:spcAft>
                <a:spcPts val="200"/>
              </a:spcAft>
              <a:buNone/>
            </a:pPr>
            <a:r>
              <a:rPr lang="en-US" sz="1400" dirty="0">
                <a:solidFill>
                  <a:srgbClr val="1E2B2A"/>
                </a:solidFill>
              </a:rPr>
              <a:t>능동 encourage individuals to discover → 수동 be encouraged to V</a:t>
            </a:r>
            <a:endParaRPr lang="en-US" sz="1700" dirty="0"/>
          </a:p>
        </p:txBody>
      </p:sp>
      <p:sp>
        <p:nvSpPr>
          <p:cNvPr id="10" name="Shape 8"/>
          <p:cNvSpPr/>
          <p:nvPr/>
        </p:nvSpPr>
        <p:spPr>
          <a:xfrm>
            <a:off x="548640" y="3335731"/>
            <a:ext cx="11064240" cy="918058"/>
          </a:xfrm>
          <a:prstGeom prst="roundRect">
            <a:avLst>
              <a:gd name="adj" fmla="val 9960"/>
            </a:avLst>
          </a:prstGeom>
          <a:solidFill>
            <a:srgbClr val="EAF3F7"/>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 which is anchored in a focal object in lieu of its context,  …  has been called analytic</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삽입절 · 수일치</a:t>
            </a:r>
            <a:endParaRPr lang="en-US" sz="1700" dirty="0"/>
          </a:p>
          <a:p>
            <a:pPr indent="0" marL="0">
              <a:spcAft>
                <a:spcPts val="200"/>
              </a:spcAft>
              <a:buNone/>
            </a:pPr>
            <a:r>
              <a:rPr lang="en-US" sz="1400" dirty="0">
                <a:solidFill>
                  <a:srgbClr val="1E2B2A"/>
                </a:solidFill>
              </a:rPr>
              <a:t>주어 This cognitive style ↔ 동사 has been called (삽입된 which절 건너뛰기). call O C의 수동태</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drawing inferences</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분사구문</a:t>
            </a:r>
            <a:endParaRPr lang="en-US" sz="1700" dirty="0"/>
          </a:p>
          <a:p>
            <a:pPr indent="0" marL="0">
              <a:spcAft>
                <a:spcPts val="200"/>
              </a:spcAft>
              <a:buNone/>
            </a:pPr>
            <a:r>
              <a:rPr lang="en-US" sz="1400" dirty="0">
                <a:solidFill>
                  <a:srgbClr val="1E2B2A"/>
                </a:solidFill>
              </a:rPr>
              <a:t>and they draw inferences의 의미 (동시동작·부대상황)</a:t>
            </a:r>
            <a:endParaRPr lang="en-US" sz="1700" dirty="0"/>
          </a:p>
        </p:txBody>
      </p:sp>
      <p:sp>
        <p:nvSpPr>
          <p:cNvPr id="16" name="Shape 14"/>
          <p:cNvSpPr/>
          <p:nvPr/>
        </p:nvSpPr>
        <p:spPr>
          <a:xfrm>
            <a:off x="548640" y="5391302"/>
            <a:ext cx="11064240" cy="918058"/>
          </a:xfrm>
          <a:prstGeom prst="roundRect">
            <a:avLst>
              <a:gd name="adj" fmla="val 9960"/>
            </a:avLst>
          </a:prstGeom>
          <a:solidFill>
            <a:srgbClr val="EAF3F7"/>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when presented with</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접속사 + 분사구문</a:t>
            </a:r>
            <a:endParaRPr lang="en-US" sz="1700" dirty="0"/>
          </a:p>
          <a:p>
            <a:pPr indent="0" marL="0">
              <a:spcAft>
                <a:spcPts val="200"/>
              </a:spcAft>
              <a:buNone/>
            </a:pPr>
            <a:r>
              <a:rPr lang="en-US" sz="1400" dirty="0">
                <a:solidFill>
                  <a:srgbClr val="1E2B2A"/>
                </a:solidFill>
              </a:rPr>
              <a:t>when (they were) presented with ~ → 접속사를 남긴 수동 분사구문</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3  </a:t>
            </a:r>
            <a:pPr algn="l" indent="0" marL="0">
              <a:buNone/>
            </a:pPr>
            <a:r>
              <a:rPr lang="en-US" sz="3000" b="1" dirty="0">
                <a:solidFill>
                  <a:schemeClr val="tx2"/>
                </a:solidFill>
              </a:rPr>
              <a:t>문화와 주의(attention) 방식</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Culturally shared views of the self have been suggested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문화적으로 공유된 자아관은 ______라고 제안되어 왔다.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문화적 자아관이 '무엇에' 영향을 주나?</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…they may be expected to focus their attention… / …to attend more broadly to a focal object as well as to its surrounding context…</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주의를 집중한다 / 대상과 주변 맥락에 더 넓게 주의를 기울인다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서양</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내적 속성(욕구·목표) 중시 → 주의가 한 대상에 집중 = 분석적(analytic)</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동양</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사회적 관계 중시 → 대상 + 주변 맥락까지 넓게 = 총체적(holistic)</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실험</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수중 장면 영상: 미국인은 중심 사물, 일본인은 맥락·관계를 기억</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문화가 '무엇을 보는가(주의)'까지 바꾼다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3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③</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to have profound influences on basic attention processes</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기본적 주의 과정에 깊은 영향 = attention 반복</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to distort cognitive interpretations of social interaction</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사회적 상호작용 해석을 '왜곡' → 부정적 내용 없음</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to address social issues that persist through generations</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세대에 걸친 사회 문제 → 무관</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accent6"/>
          </a:solidFill>
          <a:ln w="25400">
            <a:solidFill>
              <a:schemeClr val="accent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to have profound influences on basic attention processes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기본적 주의 과정에 깊은 영향 = attention 반복</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to exert minimal effects on advanced cognitive functions</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'최소한의' 영향 → 큰 영향이라는 글과 반대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to prompt overall changes in social attitude and behavior</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사회적 태도·행동 → 글은 '주의(보는 방식)' 이야기</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accent5"/>
          </a:solidFill>
          <a:ln/>
        </p:spPr>
        <p:txBody>
          <a:bodyPr wrap="square" lIns="0" tIns="0" rIns="0" bIns="0" rtlCol="0" anchor="ctr"/>
          <a:lstStyle/>
          <a:p>
            <a:pPr algn="ctr" indent="0" marL="0">
              <a:buNone/>
            </a:pPr>
            <a:r>
              <a:rPr lang="en-US" sz="1200" b="1" dirty="0">
                <a:solidFill>
                  <a:schemeClr val="bg1"/>
                </a:solidFill>
              </a:rPr>
              <a:t>범위 오류</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4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550" dirty="0">
                <a:solidFill>
                  <a:srgbClr val="1E2B2A"/>
                </a:solidFill>
              </a:rPr>
              <a:t>When a patient chooses to buy he or she becomes a part of demand.</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Wanting to buy (drugs, plastic surgery, artificial hip, etc.) but not doing so leaves that potential patient invisible, part of latent demand that does not effectively participate in the market.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That extra demand will be revealed </a:t>
            </a:r>
            <a:pPr indent="0" marL="0">
              <a:lnSpc>
                <a:spcPct val="115000"/>
              </a:lnSpc>
              <a:buNone/>
            </a:pPr>
            <a:r>
              <a:rPr lang="en-US" sz="1550" b="1" dirty="0">
                <a:solidFill>
                  <a:srgbClr val="EF5B3F"/>
                </a:solidFill>
              </a:rPr>
              <a:t>____________</a:t>
            </a:r>
            <a:pPr indent="0" marL="0">
              <a:lnSpc>
                <a:spcPct val="115000"/>
              </a:lnSpc>
              <a:buNone/>
            </a:pPr>
            <a:r>
              <a:rPr lang="en-US" sz="1550" dirty="0">
                <a:solidFill>
                  <a:srgbClr val="1E2B2A"/>
                </a:solidFill>
              </a:rPr>
              <a: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For example, consider the development of an artificial heart.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If each heart costs $1 million, they would only be used in matters of life and death.</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If further development reduced the cost of artificial hearts to $100,000 each, more people would get them.</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The artificial hearts would still be used only for people with serious illnesses, but they might be implanted long before a person's natural heart gave out.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If the cost of making an artificial heart dropped to $100, one would be readily available to anyone who needed it.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Consider what would happen if the cost of an artificial heart dropped to $10 and could be easily implanted during a 15-minute visit to the doctor.</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Some people who had never been ill but were just worried might have new hearts implanted.</a:t>
            </a:r>
            <a:endParaRPr lang="en-US" sz="1550" dirty="0"/>
          </a:p>
          <a:p>
            <a:pPr algn="r" indent="0" marL="0">
              <a:lnSpc>
                <a:spcPct val="115000"/>
              </a:lnSpc>
              <a:spcBef>
                <a:spcPts val="200"/>
              </a:spcBef>
              <a:buNone/>
            </a:pPr>
            <a:r>
              <a:rPr lang="en-US" sz="1100" i="1" dirty="0">
                <a:solidFill>
                  <a:srgbClr val="6E7F7C"/>
                </a:solidFill>
              </a:rPr>
              <a:t>* latent: 잠재하는</a:t>
            </a:r>
            <a:endParaRPr lang="en-US" sz="1550" dirty="0"/>
          </a:p>
          <a:p>
            <a:pPr indent="0" marL="0">
              <a:lnSpc>
                <a:spcPct val="115000"/>
              </a:lnSpc>
              <a:spcBef>
                <a:spcPts val="1000"/>
              </a:spcBef>
              <a:buNone/>
            </a:pPr>
            <a:r>
              <a:rPr lang="en-US" sz="1550" dirty="0">
                <a:solidFill>
                  <a:srgbClr val="14453D"/>
                </a:solidFill>
              </a:rPr>
              <a:t>①  if the price goes low enough</a:t>
            </a:r>
            <a:endParaRPr lang="en-US" sz="1550" dirty="0"/>
          </a:p>
          <a:p>
            <a:pPr indent="0" marL="0">
              <a:lnSpc>
                <a:spcPct val="115000"/>
              </a:lnSpc>
              <a:spcBef>
                <a:spcPts val="200"/>
              </a:spcBef>
              <a:buNone/>
            </a:pPr>
            <a:r>
              <a:rPr lang="en-US" sz="1550" dirty="0">
                <a:solidFill>
                  <a:srgbClr val="14453D"/>
                </a:solidFill>
              </a:rPr>
              <a:t>②  once consumer incomes rise</a:t>
            </a:r>
            <a:endParaRPr lang="en-US" sz="1550" dirty="0"/>
          </a:p>
          <a:p>
            <a:pPr indent="0" marL="0">
              <a:lnSpc>
                <a:spcPct val="115000"/>
              </a:lnSpc>
              <a:spcBef>
                <a:spcPts val="200"/>
              </a:spcBef>
              <a:buNone/>
            </a:pPr>
            <a:r>
              <a:rPr lang="en-US" sz="1550" dirty="0">
                <a:solidFill>
                  <a:srgbClr val="14453D"/>
                </a:solidFill>
              </a:rPr>
              <a:t>③  when society deems it necessary</a:t>
            </a:r>
            <a:endParaRPr lang="en-US" sz="1550" dirty="0"/>
          </a:p>
          <a:p>
            <a:pPr indent="0" marL="0">
              <a:lnSpc>
                <a:spcPct val="115000"/>
              </a:lnSpc>
              <a:spcBef>
                <a:spcPts val="200"/>
              </a:spcBef>
              <a:buNone/>
            </a:pPr>
            <a:r>
              <a:rPr lang="en-US" sz="1550" dirty="0">
                <a:solidFill>
                  <a:srgbClr val="14453D"/>
                </a:solidFill>
              </a:rPr>
              <a:t>④  when the rules are applied correctly</a:t>
            </a:r>
            <a:endParaRPr lang="en-US" sz="1550" dirty="0"/>
          </a:p>
          <a:p>
            <a:pPr indent="0" marL="0">
              <a:lnSpc>
                <a:spcPct val="115000"/>
              </a:lnSpc>
              <a:spcBef>
                <a:spcPts val="200"/>
              </a:spcBef>
              <a:buNone/>
            </a:pPr>
            <a:r>
              <a:rPr lang="en-US" sz="1550" dirty="0">
                <a:solidFill>
                  <a:srgbClr val="14453D"/>
                </a:solidFill>
              </a:rPr>
              <a:t>⑤  if an artificial organ becomes risk-free</a:t>
            </a:r>
            <a:endParaRPr lang="en-US" sz="15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4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rPr>
              <a:t>When a patient chooses to buy he or she becomes a part of demand.</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b="1" dirty="0">
                <a:solidFill>
                  <a:srgbClr val="2C7DA0"/>
                </a:solidFill>
              </a:rPr>
              <a:t>Wanting to buy</a:t>
            </a:r>
            <a:pPr indent="0" marL="0">
              <a:lnSpc>
                <a:spcPct val="120000"/>
              </a:lnSpc>
              <a:buNone/>
            </a:pPr>
            <a:r>
              <a:rPr lang="en-US" sz="1800" dirty="0">
                <a:solidFill>
                  <a:srgbClr val="1E2B2A"/>
                </a:solidFill>
              </a:rPr>
              <a:t> (drugs, plastic surgery, artificial hip, etc.) but not doing so </a:t>
            </a:r>
            <a:pPr indent="0" marL="0">
              <a:lnSpc>
                <a:spcPct val="120000"/>
              </a:lnSpc>
              <a:buNone/>
            </a:pPr>
            <a:r>
              <a:rPr lang="en-US" sz="1800" b="1" dirty="0">
                <a:solidFill>
                  <a:srgbClr val="2C7DA0"/>
                </a:solidFill>
              </a:rPr>
              <a:t>leaves that potential patient invisible</a:t>
            </a:r>
            <a:pPr indent="0" marL="0">
              <a:lnSpc>
                <a:spcPct val="120000"/>
              </a:lnSpc>
              <a:buNone/>
            </a:pPr>
            <a:r>
              <a:rPr lang="en-US" sz="1800" dirty="0">
                <a:solidFill>
                  <a:srgbClr val="1E2B2A"/>
                </a:solidFill>
              </a:rPr>
              <a:t>, part of latent demand </a:t>
            </a:r>
            <a:pPr indent="0" marL="0">
              <a:lnSpc>
                <a:spcPct val="120000"/>
              </a:lnSpc>
              <a:buNone/>
            </a:pPr>
            <a:r>
              <a:rPr lang="en-US" sz="1800" b="1" dirty="0">
                <a:solidFill>
                  <a:srgbClr val="2C7DA0"/>
                </a:solidFill>
              </a:rPr>
              <a:t>that does not effectively participate</a:t>
            </a:r>
            <a:pPr indent="0" marL="0">
              <a:lnSpc>
                <a:spcPct val="120000"/>
              </a:lnSpc>
              <a:buNone/>
            </a:pPr>
            <a:r>
              <a:rPr lang="en-US" sz="1800" dirty="0">
                <a:solidFill>
                  <a:srgbClr val="1E2B2A"/>
                </a:solidFill>
              </a:rPr>
              <a:t> in the market.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rPr>
              <a:t>That extra demand will be revealed </a:t>
            </a:r>
            <a:pPr indent="0" marL="0">
              <a:lnSpc>
                <a:spcPct val="120000"/>
              </a:lnSpc>
              <a:buNone/>
            </a:pPr>
            <a:r>
              <a:rPr lang="en-US" sz="1800" b="1" dirty="0">
                <a:solidFill>
                  <a:srgbClr val="EF5B3F"/>
                </a:solidFill>
              </a:rPr>
              <a:t>____________</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rPr>
              <a:t>For example, consider the development of an artificial heart.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highlight>
                  <a:srgbClr val="FFD45C"/>
                </a:highlight>
              </a:rPr>
              <a:t>If each heart costs $1 million, they would only be used in matters of life and death.</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b="1" dirty="0">
                <a:solidFill>
                  <a:srgbClr val="2C7DA0"/>
                </a:solidFill>
                <a:highlight>
                  <a:srgbClr val="FFD45C"/>
                </a:highlight>
              </a:rPr>
              <a:t>If further development reduced</a:t>
            </a:r>
            <a:pPr indent="0" marL="0">
              <a:lnSpc>
                <a:spcPct val="120000"/>
              </a:lnSpc>
              <a:buNone/>
            </a:pPr>
            <a:r>
              <a:rPr lang="en-US" sz="1800" dirty="0">
                <a:solidFill>
                  <a:srgbClr val="1E2B2A"/>
                </a:solidFill>
                <a:highlight>
                  <a:srgbClr val="FFD45C"/>
                </a:highlight>
              </a:rPr>
              <a:t> the cost of artificial hearts to $100,000 each, </a:t>
            </a:r>
            <a:pPr indent="0" marL="0">
              <a:lnSpc>
                <a:spcPct val="120000"/>
              </a:lnSpc>
              <a:buNone/>
            </a:pPr>
            <a:r>
              <a:rPr lang="en-US" sz="1800" b="1" dirty="0">
                <a:solidFill>
                  <a:srgbClr val="2C7DA0"/>
                </a:solidFill>
                <a:highlight>
                  <a:srgbClr val="FFD45C"/>
                </a:highlight>
              </a:rPr>
              <a:t>more people would get them</a:t>
            </a:r>
            <a:pPr indent="0" marL="0">
              <a:lnSpc>
                <a:spcPct val="120000"/>
              </a:lnSpc>
              <a:buNone/>
            </a:pPr>
            <a:r>
              <a:rPr lang="en-US" sz="1800" dirty="0">
                <a:solidFill>
                  <a:srgbClr val="1E2B2A"/>
                </a:solidFill>
                <a:highlight>
                  <a:srgbClr val="FFD45C"/>
                </a:highlight>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rPr>
              <a:t>The artificial hearts would still be used only for people with serious illnesses, but they might be implanted long before a person's natural heart gave out.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(8) </a:t>
            </a:r>
            <a:pPr indent="0" marL="0">
              <a:lnSpc>
                <a:spcPct val="120000"/>
              </a:lnSpc>
              <a:buNone/>
            </a:pPr>
            <a:r>
              <a:rPr lang="en-US" sz="1800" dirty="0">
                <a:solidFill>
                  <a:srgbClr val="1E2B2A"/>
                </a:solidFill>
                <a:highlight>
                  <a:srgbClr val="FFD45C"/>
                </a:highlight>
              </a:rPr>
              <a:t>If the cost of making an artificial heart dropped to $100, one would be readily available to anyone who needed it.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(9) </a:t>
            </a:r>
            <a:pPr indent="0" marL="0">
              <a:lnSpc>
                <a:spcPct val="120000"/>
              </a:lnSpc>
              <a:buNone/>
            </a:pPr>
            <a:r>
              <a:rPr lang="en-US" sz="1800" dirty="0">
                <a:solidFill>
                  <a:srgbClr val="1E2B2A"/>
                </a:solidFill>
              </a:rPr>
              <a:t>Consider what would happen if the cost of an artificial heart dropped to $10 and could be easily implanted during a 15-minute visit to the doctor.</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(10) </a:t>
            </a:r>
            <a:pPr indent="0" marL="0">
              <a:lnSpc>
                <a:spcPct val="120000"/>
              </a:lnSpc>
              <a:buNone/>
            </a:pPr>
            <a:r>
              <a:rPr lang="en-US" sz="1800" dirty="0">
                <a:solidFill>
                  <a:srgbClr val="1E2B2A"/>
                </a:solidFill>
              </a:rPr>
              <a:t>Some people who had never been ill but were just worried might </a:t>
            </a:r>
            <a:pPr indent="0" marL="0">
              <a:lnSpc>
                <a:spcPct val="120000"/>
              </a:lnSpc>
              <a:buNone/>
            </a:pPr>
            <a:r>
              <a:rPr lang="en-US" sz="1800" b="1" dirty="0">
                <a:solidFill>
                  <a:srgbClr val="2C7DA0"/>
                </a:solidFill>
              </a:rPr>
              <a:t>have new hearts implanted</a:t>
            </a:r>
            <a:pPr indent="0" marL="0">
              <a:lnSpc>
                <a:spcPct val="120000"/>
              </a:lnSpc>
              <a:buNone/>
            </a:pPr>
            <a:r>
              <a:rPr lang="en-US" sz="1800" dirty="0">
                <a:solidFill>
                  <a:srgbClr val="1E2B2A"/>
                </a:solidFill>
              </a:rPr>
              <a:t>.</a:t>
            </a:r>
            <a:endParaRPr lang="en-US" sz="15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(다음 슬라이드)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4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EAF3F7"/>
          </a:solidFill>
          <a:ln w="12700">
            <a:solidFill>
              <a:srgbClr val="D3E5EE"/>
            </a:solidFill>
            <a:prstDash val="solid"/>
          </a:ln>
        </p:spPr>
      </p:sp>
      <p:sp>
        <p:nvSpPr>
          <p:cNvPr id="5" name="Text 3"/>
          <p:cNvSpPr txBox="1"/>
          <p:nvPr/>
        </p:nvSpPr>
        <p:spPr>
          <a:xfrm>
            <a:off x="822960" y="1371600"/>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Wanting to buy  …  leaves that potential patient invisible</a:t>
            </a:r>
            <a:endParaRPr lang="en-US" sz="1500" dirty="0"/>
          </a:p>
        </p:txBody>
      </p:sp>
      <p:sp>
        <p:nvSpPr>
          <p:cNvPr id="6" name="Text 4"/>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동명사 주어 · leave O C</a:t>
            </a:r>
            <a:endParaRPr lang="en-US" sz="1700" dirty="0"/>
          </a:p>
          <a:p>
            <a:pPr indent="0" marL="0">
              <a:spcAft>
                <a:spcPts val="200"/>
              </a:spcAft>
              <a:buNone/>
            </a:pPr>
            <a:r>
              <a:rPr lang="en-US" sz="1400" dirty="0">
                <a:solidFill>
                  <a:srgbClr val="1E2B2A"/>
                </a:solidFill>
              </a:rPr>
              <a:t>동명사 주어는 단수 → leaves. 목적격 보어 자리에 형용사 invisible (부사 X)</a:t>
            </a:r>
            <a:endParaRPr lang="en-US" sz="1700" dirty="0"/>
          </a:p>
        </p:txBody>
      </p:sp>
      <p:sp>
        <p:nvSpPr>
          <p:cNvPr id="7" name="Shape 5"/>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8" name="Text 6"/>
          <p:cNvSpPr txBox="1"/>
          <p:nvPr/>
        </p:nvSpPr>
        <p:spPr>
          <a:xfrm>
            <a:off x="822960" y="2532888"/>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that does not effectively participate</a:t>
            </a:r>
            <a:endParaRPr lang="en-US" sz="1500" dirty="0"/>
          </a:p>
        </p:txBody>
      </p:sp>
      <p:sp>
        <p:nvSpPr>
          <p:cNvPr id="9" name="Text 7"/>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주격 관계대명사 수일치</a:t>
            </a:r>
            <a:endParaRPr lang="en-US" sz="1700" dirty="0"/>
          </a:p>
          <a:p>
            <a:pPr indent="0" marL="0">
              <a:spcAft>
                <a:spcPts val="200"/>
              </a:spcAft>
              <a:buNone/>
            </a:pPr>
            <a:r>
              <a:rPr lang="en-US" sz="1400" dirty="0">
                <a:solidFill>
                  <a:srgbClr val="1E2B2A"/>
                </a:solidFill>
              </a:rPr>
              <a:t>선행사 latent demand(단수) → does</a:t>
            </a:r>
            <a:endParaRPr lang="en-US" sz="1700" dirty="0"/>
          </a:p>
        </p:txBody>
      </p:sp>
      <p:sp>
        <p:nvSpPr>
          <p:cNvPr id="10" name="Shape 8"/>
          <p:cNvSpPr/>
          <p:nvPr/>
        </p:nvSpPr>
        <p:spPr>
          <a:xfrm>
            <a:off x="548640" y="3602736"/>
            <a:ext cx="11064240" cy="1051560"/>
          </a:xfrm>
          <a:prstGeom prst="roundRect">
            <a:avLst>
              <a:gd name="adj" fmla="val 8696"/>
            </a:avLst>
          </a:prstGeom>
          <a:solidFill>
            <a:srgbClr val="EAF3F7"/>
          </a:solidFill>
          <a:ln w="12700">
            <a:solidFill>
              <a:srgbClr val="D3E5EE"/>
            </a:solidFill>
            <a:prstDash val="solid"/>
          </a:ln>
        </p:spPr>
      </p:sp>
      <p:sp>
        <p:nvSpPr>
          <p:cNvPr id="11" name="Text 9"/>
          <p:cNvSpPr txBox="1"/>
          <p:nvPr/>
        </p:nvSpPr>
        <p:spPr>
          <a:xfrm>
            <a:off x="822960" y="3694176"/>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If further development reduced  …  more people would get them</a:t>
            </a:r>
            <a:endParaRPr lang="en-US" sz="1500" dirty="0"/>
          </a:p>
        </p:txBody>
      </p:sp>
      <p:sp>
        <p:nvSpPr>
          <p:cNvPr id="12" name="Text 10"/>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가정법 과거</a:t>
            </a:r>
            <a:endParaRPr lang="en-US" sz="1700" dirty="0"/>
          </a:p>
          <a:p>
            <a:pPr indent="0" marL="0">
              <a:spcAft>
                <a:spcPts val="200"/>
              </a:spcAft>
              <a:buNone/>
            </a:pPr>
            <a:r>
              <a:rPr lang="en-US" sz="1400" dirty="0">
                <a:solidFill>
                  <a:srgbClr val="1E2B2A"/>
                </a:solidFill>
              </a:rPr>
              <a:t>If + S + 과거동사, S + would + 동사원형: 현재 사실의 가정</a:t>
            </a:r>
            <a:endParaRPr lang="en-US" sz="1700" dirty="0"/>
          </a:p>
        </p:txBody>
      </p:sp>
      <p:sp>
        <p:nvSpPr>
          <p:cNvPr id="13" name="Shape 11"/>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4" name="Text 12"/>
          <p:cNvSpPr txBox="1"/>
          <p:nvPr/>
        </p:nvSpPr>
        <p:spPr>
          <a:xfrm>
            <a:off x="822960" y="4855464"/>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have new hearts implanted</a:t>
            </a:r>
            <a:endParaRPr lang="en-US" sz="1500" dirty="0"/>
          </a:p>
        </p:txBody>
      </p:sp>
      <p:sp>
        <p:nvSpPr>
          <p:cNvPr id="15" name="Text 13"/>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사역동사 have O p.p.</a:t>
            </a:r>
            <a:endParaRPr lang="en-US" sz="1700" dirty="0"/>
          </a:p>
          <a:p>
            <a:pPr indent="0" marL="0">
              <a:spcAft>
                <a:spcPts val="200"/>
              </a:spcAft>
              <a:buNone/>
            </a:pPr>
            <a:r>
              <a:rPr lang="en-US" sz="1400" dirty="0">
                <a:solidFill>
                  <a:srgbClr val="1E2B2A"/>
                </a:solidFill>
              </a:rPr>
              <a:t>심장이 '이식되는' 것 → 목적격 보어 과거분사 implanted</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4  </a:t>
            </a:r>
            <a:pPr algn="l" indent="0" marL="0">
              <a:buNone/>
            </a:pPr>
            <a:r>
              <a:rPr lang="en-US" sz="3000" b="1" dirty="0">
                <a:solidFill>
                  <a:schemeClr val="tx2"/>
                </a:solidFill>
              </a:rPr>
              <a:t>잠재 수요와 가격</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That extra demand will be revealed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그 추가 수요는 ______ 드러날 것이다.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숨어 있던 수요가 '언제' 드러나나?</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If further development reduced the cost of artificial hearts to $100,000 each, more people would get them.</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비용이 10만 달러로 줄면 더 많은 사람이 이식받을 것이다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개념</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사고 싶지만 안 사는 사람 = 잠재 수요 (시장에 안 보임)</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예시 ①</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인공심장 100만 달러 → 생사가 걸린 경우에만 사용</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예시 ②</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10만 달러 → 더 많은 사람 / 100달러 → 필요한 누구나</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예시 ③</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10달러 + 15분 시술 → 아프지 않은 사람도 이식</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4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①</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if the price goes low enough</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가격이 충분히 낮아지면 = 예시 전체의 공통점</a:t>
            </a:r>
            <a:endParaRPr lang="en-US" sz="1400" dirty="0"/>
          </a:p>
        </p:txBody>
      </p:sp>
      <p:sp>
        <p:nvSpPr>
          <p:cNvPr id="9" name="Shape 7"/>
          <p:cNvSpPr/>
          <p:nvPr/>
        </p:nvSpPr>
        <p:spPr>
          <a:xfrm>
            <a:off x="4572000" y="1325880"/>
            <a:ext cx="7040880" cy="905256"/>
          </a:xfrm>
          <a:prstGeom prst="roundRect">
            <a:avLst>
              <a:gd name="adj" fmla="val 10101"/>
            </a:avLst>
          </a:prstGeom>
          <a:solidFill>
            <a:schemeClr val="accent6"/>
          </a:solidFill>
          <a:ln w="25400">
            <a:solidFill>
              <a:schemeClr val="accent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if the price goes low enough</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가격이 충분히 낮아지면 = 예시 전체의 공통점</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once consumer incomes rise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소득 증가 → 예시는 '소득'이 아니라 '가격' 변화</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when society deems it necessary</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사회가 필요하다고 여길 때 → 글에 없음</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when the rules are applied correctly</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규칙이 올바르게 적용될 때 → 무관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if an artificial organ becomes risk-free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위험이 없어지면 → 예시는 '안전'이 아니라 '비용'</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5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450" dirty="0">
                <a:solidFill>
                  <a:srgbClr val="1E2B2A"/>
                </a:solidFill>
              </a:rPr>
              <a:t>Historians do more than select and interpret evidence: they also organize the evidence in order to create an understandable (and, they hope, persuasive) narrative.</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Chronological order is generally part of making history plausible, especially when the causes of change are central, although in practice much historical writing must go back and forth in time in order to pick up various threads of a complex story.</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Historians also make events understandable by casting them in a particular light or giving their narrative a particular tone.</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For example, a historian might highlight historical ironies, such as the way President George W. Bush once criticized "nation building," in which the U.S. rebuilds a country's economic and political structure when its government fails; but later, as a consequence of launching a war in Iraq, Bush had to attempt exactly that.</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Historians can also romanticize events, as did those who described John F. Kennedy's term as President as "Camelot," alluding to a Broadway musical about the heroic King Arthur and the Knights of the Round Table.</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Similarly, one historian may view a certain chain of events as improvement, while another may perceive it as a decline.</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These are just a few of the ways </a:t>
            </a:r>
            <a:pPr indent="0" marL="0">
              <a:lnSpc>
                <a:spcPct val="115000"/>
              </a:lnSpc>
              <a:buNone/>
            </a:pPr>
            <a:r>
              <a:rPr lang="en-US" sz="1450" b="1" dirty="0">
                <a:solidFill>
                  <a:srgbClr val="EF5B3F"/>
                </a:solidFill>
              </a:rPr>
              <a:t>____________</a:t>
            </a:r>
            <a:pPr indent="0" marL="0">
              <a:lnSpc>
                <a:spcPct val="115000"/>
              </a:lnSpc>
              <a:buNone/>
            </a:pPr>
            <a:r>
              <a:rPr lang="en-US" sz="1450" dirty="0">
                <a:solidFill>
                  <a:srgbClr val="1E2B2A"/>
                </a:solidFill>
              </a:rPr>
              <a:t>.</a:t>
            </a:r>
            <a:endParaRPr lang="en-US" sz="1450" dirty="0"/>
          </a:p>
          <a:p>
            <a:pPr algn="r" indent="0" marL="0">
              <a:lnSpc>
                <a:spcPct val="115000"/>
              </a:lnSpc>
              <a:spcBef>
                <a:spcPts val="200"/>
              </a:spcBef>
              <a:buNone/>
            </a:pPr>
            <a:r>
              <a:rPr lang="en-US" sz="1100" i="1" dirty="0">
                <a:solidFill>
                  <a:srgbClr val="6E7F7C"/>
                </a:solidFill>
              </a:rPr>
              <a:t>* plausible: 그럴듯한   ** allude to: ~을 넌지시 암시하다</a:t>
            </a:r>
            <a:endParaRPr lang="en-US" sz="1450" dirty="0"/>
          </a:p>
          <a:p>
            <a:pPr indent="0" marL="0">
              <a:lnSpc>
                <a:spcPct val="115000"/>
              </a:lnSpc>
              <a:spcBef>
                <a:spcPts val="1000"/>
              </a:spcBef>
              <a:buNone/>
            </a:pPr>
            <a:r>
              <a:rPr lang="en-US" sz="1450" dirty="0">
                <a:solidFill>
                  <a:srgbClr val="14453D"/>
                </a:solidFill>
              </a:rPr>
              <a:t>①  historians may make narrative sense of history</a:t>
            </a:r>
            <a:endParaRPr lang="en-US" sz="1450" dirty="0"/>
          </a:p>
          <a:p>
            <a:pPr indent="0" marL="0">
              <a:lnSpc>
                <a:spcPct val="115000"/>
              </a:lnSpc>
              <a:spcBef>
                <a:spcPts val="200"/>
              </a:spcBef>
              <a:buNone/>
            </a:pPr>
            <a:r>
              <a:rPr lang="en-US" sz="1450" dirty="0">
                <a:solidFill>
                  <a:srgbClr val="14453D"/>
                </a:solidFill>
              </a:rPr>
              <a:t>②  historical research is driven and communicated</a:t>
            </a:r>
            <a:endParaRPr lang="en-US" sz="1450" dirty="0"/>
          </a:p>
          <a:p>
            <a:pPr indent="0" marL="0">
              <a:lnSpc>
                <a:spcPct val="115000"/>
              </a:lnSpc>
              <a:spcBef>
                <a:spcPts val="200"/>
              </a:spcBef>
              <a:buNone/>
            </a:pPr>
            <a:r>
              <a:rPr lang="en-US" sz="1450" dirty="0">
                <a:solidFill>
                  <a:srgbClr val="14453D"/>
                </a:solidFill>
              </a:rPr>
              <a:t>③  historical approaches enrich and diversify knowledge</a:t>
            </a:r>
            <a:endParaRPr lang="en-US" sz="1450" dirty="0"/>
          </a:p>
          <a:p>
            <a:pPr indent="0" marL="0">
              <a:lnSpc>
                <a:spcPct val="115000"/>
              </a:lnSpc>
              <a:spcBef>
                <a:spcPts val="200"/>
              </a:spcBef>
              <a:buNone/>
            </a:pPr>
            <a:r>
              <a:rPr lang="en-US" sz="1450" dirty="0">
                <a:solidFill>
                  <a:srgbClr val="14453D"/>
                </a:solidFill>
              </a:rPr>
              <a:t>④  historical narratives can be used as an instructive resource</a:t>
            </a:r>
            <a:endParaRPr lang="en-US" sz="1450" dirty="0"/>
          </a:p>
          <a:p>
            <a:pPr indent="0" marL="0">
              <a:lnSpc>
                <a:spcPct val="115000"/>
              </a:lnSpc>
              <a:spcBef>
                <a:spcPts val="200"/>
              </a:spcBef>
              <a:buNone/>
            </a:pPr>
            <a:r>
              <a:rPr lang="en-US" sz="1450" dirty="0">
                <a:solidFill>
                  <a:srgbClr val="14453D"/>
                </a:solidFill>
              </a:rPr>
              <a:t>⑤  historians use fiction to inspire empathy for past generations</a:t>
            </a:r>
            <a:endParaRPr lang="en-US" sz="14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5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400" b="1" dirty="0">
                <a:solidFill>
                  <a:srgbClr val="1F7A64"/>
                </a:solidFill>
              </a:rPr>
              <a:t>(1) </a:t>
            </a:r>
            <a:pPr indent="0" marL="0">
              <a:lnSpc>
                <a:spcPct val="120000"/>
              </a:lnSpc>
              <a:buNone/>
            </a:pPr>
            <a:r>
              <a:rPr lang="en-US" sz="1700" dirty="0">
                <a:solidFill>
                  <a:srgbClr val="1E2B2A"/>
                </a:solidFill>
                <a:highlight>
                  <a:srgbClr val="FFD45C"/>
                </a:highlight>
              </a:rPr>
              <a:t>Historians do more than select and interpret evidence: they also organize the evidence in order to create an understandable (and, they hope, persuasive) narrative.</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(2) </a:t>
            </a:r>
            <a:pPr indent="0" marL="0">
              <a:lnSpc>
                <a:spcPct val="120000"/>
              </a:lnSpc>
              <a:buNone/>
            </a:pPr>
            <a:r>
              <a:rPr lang="en-US" sz="1700" dirty="0">
                <a:solidFill>
                  <a:srgbClr val="1E2B2A"/>
                </a:solidFill>
              </a:rPr>
              <a:t>Chronological order is generally part of making history plausible, especially when the causes of change are central, although in practice much historical writing must go back and forth in time in order to pick up various threads of a complex story.</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(3) </a:t>
            </a:r>
            <a:pPr indent="0" marL="0">
              <a:lnSpc>
                <a:spcPct val="120000"/>
              </a:lnSpc>
              <a:buNone/>
            </a:pPr>
            <a:r>
              <a:rPr lang="en-US" sz="1700" dirty="0">
                <a:solidFill>
                  <a:srgbClr val="1E2B2A"/>
                </a:solidFill>
                <a:highlight>
                  <a:srgbClr val="FFD45C"/>
                </a:highlight>
              </a:rPr>
              <a:t>Historians also make events understandable </a:t>
            </a:r>
            <a:pPr indent="0" marL="0">
              <a:lnSpc>
                <a:spcPct val="120000"/>
              </a:lnSpc>
              <a:buNone/>
            </a:pPr>
            <a:r>
              <a:rPr lang="en-US" sz="1700" b="1" dirty="0">
                <a:solidFill>
                  <a:srgbClr val="2C7DA0"/>
                </a:solidFill>
                <a:highlight>
                  <a:srgbClr val="FFD45C"/>
                </a:highlight>
              </a:rPr>
              <a:t>by casting them in a particular light or giving</a:t>
            </a:r>
            <a:pPr indent="0" marL="0">
              <a:lnSpc>
                <a:spcPct val="120000"/>
              </a:lnSpc>
              <a:buNone/>
            </a:pPr>
            <a:r>
              <a:rPr lang="en-US" sz="1700" dirty="0">
                <a:solidFill>
                  <a:srgbClr val="1E2B2A"/>
                </a:solidFill>
                <a:highlight>
                  <a:srgbClr val="FFD45C"/>
                </a:highlight>
              </a:rPr>
              <a:t> their narrative a particular tone.</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(4) </a:t>
            </a:r>
            <a:pPr indent="0" marL="0">
              <a:lnSpc>
                <a:spcPct val="120000"/>
              </a:lnSpc>
              <a:buNone/>
            </a:pPr>
            <a:r>
              <a:rPr lang="en-US" sz="1700" dirty="0">
                <a:solidFill>
                  <a:srgbClr val="1E2B2A"/>
                </a:solidFill>
              </a:rPr>
              <a:t>For example, a historian might highlight historical ironies, such as the way President George W. Bush once criticized "nation building," </a:t>
            </a:r>
            <a:pPr indent="0" marL="0">
              <a:lnSpc>
                <a:spcPct val="120000"/>
              </a:lnSpc>
              <a:buNone/>
            </a:pPr>
            <a:r>
              <a:rPr lang="en-US" sz="1700" b="1" dirty="0">
                <a:solidFill>
                  <a:srgbClr val="2C7DA0"/>
                </a:solidFill>
              </a:rPr>
              <a:t>in which the U.S. rebuilds</a:t>
            </a:r>
            <a:pPr indent="0" marL="0">
              <a:lnSpc>
                <a:spcPct val="120000"/>
              </a:lnSpc>
              <a:buNone/>
            </a:pPr>
            <a:r>
              <a:rPr lang="en-US" sz="1700" dirty="0">
                <a:solidFill>
                  <a:srgbClr val="1E2B2A"/>
                </a:solidFill>
              </a:rPr>
              <a:t> a country's economic and political structure when its government fails; but later, as a consequence of launching a war in Iraq, Bush had to attempt exactly that.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(5) </a:t>
            </a:r>
            <a:pPr indent="0" marL="0">
              <a:lnSpc>
                <a:spcPct val="120000"/>
              </a:lnSpc>
              <a:buNone/>
            </a:pPr>
            <a:r>
              <a:rPr lang="en-US" sz="1700" dirty="0">
                <a:solidFill>
                  <a:srgbClr val="1E2B2A"/>
                </a:solidFill>
              </a:rPr>
              <a:t>Historians can also romanticize events, </a:t>
            </a:r>
            <a:pPr indent="0" marL="0">
              <a:lnSpc>
                <a:spcPct val="120000"/>
              </a:lnSpc>
              <a:buNone/>
            </a:pPr>
            <a:r>
              <a:rPr lang="en-US" sz="1700" b="1" dirty="0">
                <a:solidFill>
                  <a:srgbClr val="2C7DA0"/>
                </a:solidFill>
              </a:rPr>
              <a:t>as did those who described</a:t>
            </a:r>
            <a:pPr indent="0" marL="0">
              <a:lnSpc>
                <a:spcPct val="120000"/>
              </a:lnSpc>
              <a:buNone/>
            </a:pPr>
            <a:r>
              <a:rPr lang="en-US" sz="1700" dirty="0">
                <a:solidFill>
                  <a:srgbClr val="1E2B2A"/>
                </a:solidFill>
              </a:rPr>
              <a:t> John F. Kennedy's term as President as "Camelot," alluding to a Broadway musical about the heroic King Arthur and the Knights of the Round Table.</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(6) </a:t>
            </a:r>
            <a:pPr indent="0" marL="0">
              <a:lnSpc>
                <a:spcPct val="120000"/>
              </a:lnSpc>
              <a:buNone/>
            </a:pPr>
            <a:r>
              <a:rPr lang="en-US" sz="1700" dirty="0">
                <a:solidFill>
                  <a:srgbClr val="1E2B2A"/>
                </a:solidFill>
              </a:rPr>
              <a:t>Similarly, one historian may </a:t>
            </a:r>
            <a:pPr indent="0" marL="0">
              <a:lnSpc>
                <a:spcPct val="120000"/>
              </a:lnSpc>
              <a:buNone/>
            </a:pPr>
            <a:r>
              <a:rPr lang="en-US" sz="1700" b="1" dirty="0">
                <a:solidFill>
                  <a:srgbClr val="2C7DA0"/>
                </a:solidFill>
              </a:rPr>
              <a:t>view a certain chain of events as</a:t>
            </a:r>
            <a:pPr indent="0" marL="0">
              <a:lnSpc>
                <a:spcPct val="120000"/>
              </a:lnSpc>
              <a:buNone/>
            </a:pPr>
            <a:r>
              <a:rPr lang="en-US" sz="1700" dirty="0">
                <a:solidFill>
                  <a:srgbClr val="1E2B2A"/>
                </a:solidFill>
              </a:rPr>
              <a:t> improvement, while another may </a:t>
            </a:r>
            <a:pPr indent="0" marL="0">
              <a:lnSpc>
                <a:spcPct val="120000"/>
              </a:lnSpc>
              <a:buNone/>
            </a:pPr>
            <a:r>
              <a:rPr lang="en-US" sz="1700" b="1" dirty="0">
                <a:solidFill>
                  <a:srgbClr val="2C7DA0"/>
                </a:solidFill>
              </a:rPr>
              <a:t>perceive it as</a:t>
            </a:r>
            <a:pPr indent="0" marL="0">
              <a:lnSpc>
                <a:spcPct val="120000"/>
              </a:lnSpc>
              <a:buNone/>
            </a:pPr>
            <a:r>
              <a:rPr lang="en-US" sz="1700" dirty="0">
                <a:solidFill>
                  <a:srgbClr val="1E2B2A"/>
                </a:solidFill>
              </a:rPr>
              <a:t> a decline.</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(7) </a:t>
            </a:r>
            <a:pPr indent="0" marL="0">
              <a:lnSpc>
                <a:spcPct val="120000"/>
              </a:lnSpc>
              <a:buNone/>
            </a:pPr>
            <a:r>
              <a:rPr lang="en-US" sz="1700" dirty="0">
                <a:solidFill>
                  <a:srgbClr val="1E2B2A"/>
                </a:solidFill>
              </a:rPr>
              <a:t>These are just a few of the ways </a:t>
            </a:r>
            <a:pPr indent="0" marL="0">
              <a:lnSpc>
                <a:spcPct val="120000"/>
              </a:lnSpc>
              <a:buNone/>
            </a:pPr>
            <a:r>
              <a:rPr lang="en-US" sz="1700" b="1" dirty="0">
                <a:solidFill>
                  <a:srgbClr val="EF5B3F"/>
                </a:solidFill>
              </a:rPr>
              <a:t>____________</a:t>
            </a:r>
            <a:pPr indent="0" marL="0">
              <a:lnSpc>
                <a:spcPct val="120000"/>
              </a:lnSpc>
              <a:buNone/>
            </a:pPr>
            <a:r>
              <a:rPr lang="en-US" sz="1700" dirty="0">
                <a:solidFill>
                  <a:srgbClr val="1E2B2A"/>
                </a:solidFill>
              </a:rPr>
              <a:t>.</a:t>
            </a:r>
            <a:endParaRPr lang="en-US" sz="14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(다음 슬라이드)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5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EAF3F7"/>
          </a:solidFill>
          <a:ln w="12700">
            <a:solidFill>
              <a:srgbClr val="D3E5EE"/>
            </a:solidFill>
            <a:prstDash val="solid"/>
          </a:ln>
        </p:spPr>
      </p:sp>
      <p:sp>
        <p:nvSpPr>
          <p:cNvPr id="5" name="Text 3"/>
          <p:cNvSpPr txBox="1"/>
          <p:nvPr/>
        </p:nvSpPr>
        <p:spPr>
          <a:xfrm>
            <a:off x="822960" y="1371600"/>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by casting them in a particular light or giving</a:t>
            </a:r>
            <a:endParaRPr lang="en-US" sz="1500" dirty="0"/>
          </a:p>
        </p:txBody>
      </p:sp>
      <p:sp>
        <p:nvSpPr>
          <p:cNvPr id="6" name="Text 4"/>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by -ing 병렬</a:t>
            </a:r>
            <a:endParaRPr lang="en-US" sz="1700" dirty="0"/>
          </a:p>
          <a:p>
            <a:pPr indent="0" marL="0">
              <a:spcAft>
                <a:spcPts val="200"/>
              </a:spcAft>
              <a:buNone/>
            </a:pPr>
            <a:r>
              <a:rPr lang="en-US" sz="1400" dirty="0">
                <a:solidFill>
                  <a:srgbClr val="1E2B2A"/>
                </a:solidFill>
              </a:rPr>
              <a:t>by + casting / giving: or로 연결된 동명사 병렬</a:t>
            </a:r>
            <a:endParaRPr lang="en-US" sz="1700" dirty="0"/>
          </a:p>
        </p:txBody>
      </p:sp>
      <p:sp>
        <p:nvSpPr>
          <p:cNvPr id="7" name="Shape 5"/>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8" name="Text 6"/>
          <p:cNvSpPr txBox="1"/>
          <p:nvPr/>
        </p:nvSpPr>
        <p:spPr>
          <a:xfrm>
            <a:off x="822960" y="2532888"/>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in which the U.S. rebuilds</a:t>
            </a:r>
            <a:endParaRPr lang="en-US" sz="1500" dirty="0"/>
          </a:p>
        </p:txBody>
      </p:sp>
      <p:sp>
        <p:nvSpPr>
          <p:cNvPr id="9" name="Text 7"/>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전치사 + 관계대명사</a:t>
            </a:r>
            <a:endParaRPr lang="en-US" sz="1700" dirty="0"/>
          </a:p>
          <a:p>
            <a:pPr indent="0" marL="0">
              <a:spcAft>
                <a:spcPts val="200"/>
              </a:spcAft>
              <a:buNone/>
            </a:pPr>
            <a:r>
              <a:rPr lang="en-US" sz="1400" dirty="0">
                <a:solidFill>
                  <a:srgbClr val="1E2B2A"/>
                </a:solidFill>
              </a:rPr>
              <a:t>in which = where, 뒤에 완전한 절 (선행사 nation building)</a:t>
            </a:r>
            <a:endParaRPr lang="en-US" sz="1700" dirty="0"/>
          </a:p>
        </p:txBody>
      </p:sp>
      <p:sp>
        <p:nvSpPr>
          <p:cNvPr id="10" name="Shape 8"/>
          <p:cNvSpPr/>
          <p:nvPr/>
        </p:nvSpPr>
        <p:spPr>
          <a:xfrm>
            <a:off x="548640" y="3602736"/>
            <a:ext cx="11064240" cy="1051560"/>
          </a:xfrm>
          <a:prstGeom prst="roundRect">
            <a:avLst>
              <a:gd name="adj" fmla="val 8696"/>
            </a:avLst>
          </a:prstGeom>
          <a:solidFill>
            <a:srgbClr val="EAF3F7"/>
          </a:solidFill>
          <a:ln w="12700">
            <a:solidFill>
              <a:srgbClr val="D3E5EE"/>
            </a:solidFill>
            <a:prstDash val="solid"/>
          </a:ln>
        </p:spPr>
      </p:sp>
      <p:sp>
        <p:nvSpPr>
          <p:cNvPr id="11" name="Text 9"/>
          <p:cNvSpPr txBox="1"/>
          <p:nvPr/>
        </p:nvSpPr>
        <p:spPr>
          <a:xfrm>
            <a:off x="822960" y="3694176"/>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as did those who described</a:t>
            </a:r>
            <a:endParaRPr lang="en-US" sz="1500" dirty="0"/>
          </a:p>
        </p:txBody>
      </p:sp>
      <p:sp>
        <p:nvSpPr>
          <p:cNvPr id="12" name="Text 10"/>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as + 대동사 + 주어 도치</a:t>
            </a:r>
            <a:endParaRPr lang="en-US" sz="1700" dirty="0"/>
          </a:p>
          <a:p>
            <a:pPr indent="0" marL="0">
              <a:spcAft>
                <a:spcPts val="200"/>
              </a:spcAft>
              <a:buNone/>
            </a:pPr>
            <a:r>
              <a:rPr lang="en-US" sz="1400" dirty="0">
                <a:solidFill>
                  <a:srgbClr val="1E2B2A"/>
                </a:solidFill>
              </a:rPr>
              <a:t>as did those = as those (romanticized events) did</a:t>
            </a:r>
            <a:endParaRPr lang="en-US" sz="1700" dirty="0"/>
          </a:p>
        </p:txBody>
      </p:sp>
      <p:sp>
        <p:nvSpPr>
          <p:cNvPr id="13" name="Shape 11"/>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4" name="Text 12"/>
          <p:cNvSpPr txBox="1"/>
          <p:nvPr/>
        </p:nvSpPr>
        <p:spPr>
          <a:xfrm>
            <a:off x="822960" y="4855464"/>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view a certain chain of events as  …  perceive it as</a:t>
            </a:r>
            <a:endParaRPr lang="en-US" sz="1500" dirty="0"/>
          </a:p>
        </p:txBody>
      </p:sp>
      <p:sp>
        <p:nvSpPr>
          <p:cNvPr id="15" name="Text 13"/>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view / perceive A as B</a:t>
            </a:r>
            <a:endParaRPr lang="en-US" sz="1700" dirty="0"/>
          </a:p>
          <a:p>
            <a:pPr indent="0" marL="0">
              <a:spcAft>
                <a:spcPts val="200"/>
              </a:spcAft>
              <a:buNone/>
            </a:pPr>
            <a:r>
              <a:rPr lang="en-US" sz="1400" dirty="0">
                <a:solidFill>
                  <a:srgbClr val="1E2B2A"/>
                </a:solidFill>
              </a:rPr>
              <a:t>A를 B로 여기다 (regard A as B 유형) — as 자리 어법 출제</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5  </a:t>
            </a:r>
            <a:pPr algn="l" indent="0" marL="0">
              <a:buNone/>
            </a:pPr>
            <a:r>
              <a:rPr lang="en-US" sz="3000" b="1" dirty="0">
                <a:solidFill>
                  <a:schemeClr val="tx2"/>
                </a:solidFill>
              </a:rPr>
              <a:t>역사가가 서사를 만드는 방법</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These are just a few of the ways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이것들은 ______하는 방식들 중 단지 몇 가지일 뿐이다.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These(앞의 예시들)를 한 마디로 묶으면?</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…they also organize the evidence in order to create an understandable (and, they hope, persuasive) narrative.</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그들은 이해할 수 있는 (그리고 설득력 있는) 서사를 만들기 위해 증거를 조직한다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주제</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역사가는 증거를 조직해 이해 가능한 '서사(이야기)'를 만든다</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방법 ①</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연대순 배열 (시간 순서)</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방법 ②</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특정한 관점·어조 입히기: 아이러니(부시), 낭만화(케네디 '카멜롯')</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방법 ③</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같은 사건도 '발전' 또는 '쇠퇴'로 다르게 볼 수 있음</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5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①</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historians may make narrative sense of history</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역사를 서사적으로 이해되게 만든다 = 첫 문장 재진술</a:t>
            </a:r>
            <a:endParaRPr lang="en-US" sz="1400" dirty="0"/>
          </a:p>
        </p:txBody>
      </p:sp>
      <p:sp>
        <p:nvSpPr>
          <p:cNvPr id="9" name="Shape 7"/>
          <p:cNvSpPr/>
          <p:nvPr/>
        </p:nvSpPr>
        <p:spPr>
          <a:xfrm>
            <a:off x="4572000" y="1325880"/>
            <a:ext cx="7040880" cy="905256"/>
          </a:xfrm>
          <a:prstGeom prst="roundRect">
            <a:avLst>
              <a:gd name="adj" fmla="val 10101"/>
            </a:avLst>
          </a:prstGeom>
          <a:solidFill>
            <a:schemeClr val="accent6"/>
          </a:solidFill>
          <a:ln w="25400">
            <a:solidFill>
              <a:schemeClr val="accent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historians may make narrative sense of history</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역사를 서사적으로 이해되게 만든다 = 첫 문장 재진술</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historical research is driven and communicated</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연구가 추진·전달되는 방식 → 너무 넓고 막연함</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5"/>
          </a:solidFill>
          <a:ln/>
        </p:spPr>
        <p:txBody>
          <a:bodyPr wrap="square" lIns="0" tIns="0" rIns="0" bIns="0" rtlCol="0" anchor="ctr"/>
          <a:lstStyle/>
          <a:p>
            <a:pPr algn="ctr" indent="0" marL="0">
              <a:buNone/>
            </a:pPr>
            <a:r>
              <a:rPr lang="en-US" sz="1200" b="1" dirty="0">
                <a:solidFill>
                  <a:schemeClr val="bg1"/>
                </a:solidFill>
              </a:rPr>
              <a:t>범위 오류</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historical approaches enrich and diversify knowledge</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지식을 풍부하게 → 가치 평가, 글에 없음</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historical narratives can be used as an instructive resource</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교훈적 자료로 사용 → 글에 없음</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historians use fiction to inspire empathy for past generations</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허구 사용·공감 → romanticize ≠ fiction</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6  </a:t>
            </a:r>
            <a:pPr algn="l" indent="0" marL="0">
              <a:buNone/>
            </a:pPr>
            <a:r>
              <a:rPr lang="en-US" sz="2400" b="1" dirty="0">
                <a:solidFill>
                  <a:schemeClr val="tx2"/>
                </a:solidFill>
              </a:rPr>
              <a:t>밑줄 친 부분의 의미로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50" dirty="0">
                <a:solidFill>
                  <a:srgbClr val="1E2B2A"/>
                </a:solidFill>
              </a:rPr>
              <a:t>Prestige is a particular form of status that only humans recognize.</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Most animals observe the advantages of dominance, such as being the most powerful or aggressive individual, and these are also important for humans: fearsome warriors are celebrated universally.</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Prestige is almost the opposite.</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Prestigious individuals are ones worthy of learning from ─ they are experts, older people.</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And if someone has prestige in one field, they become high-status individuals and their influence won't be limited to their field; we are likely to copy all their decisions.</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Indeed, prestige may have evolved as a way to enhance the benefits of cultural transmission.</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Success in one area of life affords someone the status of general opinion leader.</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We want to learn from successful individuals, or even simply be associated with them in some way, so that their reputation rubs off on us.</a:t>
            </a:r>
            <a:pPr indent="0" marL="0">
              <a:lnSpc>
                <a:spcPct val="115000"/>
              </a:lnSpc>
              <a:buNone/>
            </a:pPr>
            <a:r>
              <a:rPr lang="en-US" sz="1650" dirty="0">
                <a:solidFill>
                  <a:srgbClr val="000000"/>
                </a:solidFill>
              </a:rPr>
              <a:t> </a:t>
            </a:r>
            <a:pPr indent="0" marL="0">
              <a:lnSpc>
                <a:spcPct val="115000"/>
              </a:lnSpc>
              <a:buNone/>
            </a:pPr>
            <a:r>
              <a:rPr lang="en-US" sz="1650" b="1" u="sng" dirty="0">
                <a:solidFill>
                  <a:srgbClr val="1E2B2A"/>
                </a:solidFill>
              </a:rPr>
              <a:t>That's why a golfing hero can sell you a watch</a:t>
            </a:r>
            <a:pPr indent="0" marL="0">
              <a:lnSpc>
                <a:spcPct val="115000"/>
              </a:lnSpc>
              <a:buNone/>
            </a:pPr>
            <a:r>
              <a:rPr lang="en-US" sz="1650" dirty="0">
                <a:solidFill>
                  <a:srgbClr val="1E2B2A"/>
                </a:solidFill>
              </a:rPr>
              <a:t>.</a:t>
            </a:r>
            <a:endParaRPr lang="en-US" sz="1650" dirty="0"/>
          </a:p>
          <a:p>
            <a:pPr indent="0" marL="0">
              <a:lnSpc>
                <a:spcPct val="115000"/>
              </a:lnSpc>
              <a:spcBef>
                <a:spcPts val="1000"/>
              </a:spcBef>
              <a:buNone/>
            </a:pPr>
            <a:r>
              <a:rPr lang="en-US" sz="1650" dirty="0">
                <a:solidFill>
                  <a:srgbClr val="14453D"/>
                </a:solidFill>
              </a:rPr>
              <a:t>①  Making big money to gain influence is at the heart of prestige.</a:t>
            </a:r>
            <a:endParaRPr lang="en-US" sz="1650" dirty="0"/>
          </a:p>
          <a:p>
            <a:pPr indent="0" marL="0">
              <a:lnSpc>
                <a:spcPct val="115000"/>
              </a:lnSpc>
              <a:spcBef>
                <a:spcPts val="200"/>
              </a:spcBef>
              <a:buNone/>
            </a:pPr>
            <a:r>
              <a:rPr lang="en-US" sz="1650" dirty="0">
                <a:solidFill>
                  <a:srgbClr val="14453D"/>
                </a:solidFill>
              </a:rPr>
              <a:t>②  Prestige can open unexpected career paths after a main career ends.</a:t>
            </a:r>
            <a:endParaRPr lang="en-US" sz="1650" dirty="0"/>
          </a:p>
          <a:p>
            <a:pPr indent="0" marL="0">
              <a:lnSpc>
                <a:spcPct val="115000"/>
              </a:lnSpc>
              <a:spcBef>
                <a:spcPts val="200"/>
              </a:spcBef>
              <a:buNone/>
            </a:pPr>
            <a:r>
              <a:rPr lang="en-US" sz="1650" dirty="0">
                <a:solidFill>
                  <a:srgbClr val="14453D"/>
                </a:solidFill>
              </a:rPr>
              <a:t>③  People may purchase things for instant gratification to earn prestige.</a:t>
            </a:r>
            <a:endParaRPr lang="en-US" sz="1650" dirty="0"/>
          </a:p>
          <a:p>
            <a:pPr indent="0" marL="0">
              <a:lnSpc>
                <a:spcPct val="115000"/>
              </a:lnSpc>
              <a:spcBef>
                <a:spcPts val="200"/>
              </a:spcBef>
              <a:buNone/>
            </a:pPr>
            <a:r>
              <a:rPr lang="en-US" sz="1650" dirty="0">
                <a:solidFill>
                  <a:srgbClr val="14453D"/>
                </a:solidFill>
              </a:rPr>
              <a:t>④  Influence often extends beyond its original field when one gains prestige.</a:t>
            </a:r>
            <a:endParaRPr lang="en-US" sz="1650" dirty="0"/>
          </a:p>
          <a:p>
            <a:pPr indent="0" marL="0">
              <a:lnSpc>
                <a:spcPct val="115000"/>
              </a:lnSpc>
              <a:spcBef>
                <a:spcPts val="200"/>
              </a:spcBef>
              <a:buNone/>
            </a:pPr>
            <a:r>
              <a:rPr lang="en-US" sz="1650" dirty="0">
                <a:solidFill>
                  <a:srgbClr val="14453D"/>
                </a:solidFill>
              </a:rPr>
              <a:t>⑤  Prestige is sometimes inherited rather than earned through skill or knowledge.</a:t>
            </a:r>
            <a:endParaRPr lang="en-US" sz="16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6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600" b="1" dirty="0">
                <a:solidFill>
                  <a:srgbClr val="1F7A64"/>
                </a:solidFill>
              </a:rPr>
              <a:t>(1) </a:t>
            </a:r>
            <a:pPr indent="0" marL="0">
              <a:lnSpc>
                <a:spcPct val="120000"/>
              </a:lnSpc>
              <a:buNone/>
            </a:pPr>
            <a:r>
              <a:rPr lang="en-US" sz="1900" dirty="0">
                <a:solidFill>
                  <a:srgbClr val="1E2B2A"/>
                </a:solidFill>
              </a:rPr>
              <a:t>Prestige is a particular form of status </a:t>
            </a:r>
            <a:pPr indent="0" marL="0">
              <a:lnSpc>
                <a:spcPct val="120000"/>
              </a:lnSpc>
              <a:buNone/>
            </a:pPr>
            <a:r>
              <a:rPr lang="en-US" sz="1900" b="1" dirty="0">
                <a:solidFill>
                  <a:srgbClr val="2C7DA0"/>
                </a:solidFill>
              </a:rPr>
              <a:t>that only humans recognize</a:t>
            </a:r>
            <a:pPr indent="0" marL="0">
              <a:lnSpc>
                <a:spcPct val="120000"/>
              </a:lnSpc>
              <a:buNone/>
            </a:pPr>
            <a:r>
              <a:rPr lang="en-US" sz="1900" dirty="0">
                <a:solidFill>
                  <a:srgbClr val="1E2B2A"/>
                </a:solidFill>
              </a:rPr>
              <a:t>.</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(2) </a:t>
            </a:r>
            <a:pPr indent="0" marL="0">
              <a:lnSpc>
                <a:spcPct val="120000"/>
              </a:lnSpc>
              <a:buNone/>
            </a:pPr>
            <a:r>
              <a:rPr lang="en-US" sz="1900" dirty="0">
                <a:solidFill>
                  <a:srgbClr val="1E2B2A"/>
                </a:solidFill>
              </a:rPr>
              <a:t>Most animals observe the advantages of dominance, such as being the most powerful or aggressive individual, and these are also important for humans: fearsome warriors are celebrated universally.</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(3) </a:t>
            </a:r>
            <a:pPr indent="0" marL="0">
              <a:lnSpc>
                <a:spcPct val="120000"/>
              </a:lnSpc>
              <a:buNone/>
            </a:pPr>
            <a:r>
              <a:rPr lang="en-US" sz="1900" dirty="0">
                <a:solidFill>
                  <a:srgbClr val="1E2B2A"/>
                </a:solidFill>
              </a:rPr>
              <a:t>Prestige is almost the opposite.</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(4) </a:t>
            </a:r>
            <a:pPr indent="0" marL="0">
              <a:lnSpc>
                <a:spcPct val="120000"/>
              </a:lnSpc>
              <a:buNone/>
            </a:pPr>
            <a:r>
              <a:rPr lang="en-US" sz="1900" dirty="0">
                <a:solidFill>
                  <a:srgbClr val="1E2B2A"/>
                </a:solidFill>
              </a:rPr>
              <a:t>Prestigious individuals are </a:t>
            </a:r>
            <a:pPr indent="0" marL="0">
              <a:lnSpc>
                <a:spcPct val="120000"/>
              </a:lnSpc>
              <a:buNone/>
            </a:pPr>
            <a:r>
              <a:rPr lang="en-US" sz="1900" b="1" dirty="0">
                <a:solidFill>
                  <a:srgbClr val="2C7DA0"/>
                </a:solidFill>
              </a:rPr>
              <a:t>ones worthy of learning from</a:t>
            </a:r>
            <a:pPr indent="0" marL="0">
              <a:lnSpc>
                <a:spcPct val="120000"/>
              </a:lnSpc>
              <a:buNone/>
            </a:pPr>
            <a:r>
              <a:rPr lang="en-US" sz="1900" dirty="0">
                <a:solidFill>
                  <a:srgbClr val="1E2B2A"/>
                </a:solidFill>
              </a:rPr>
              <a:t> ─ they are experts, older people.</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(5) </a:t>
            </a:r>
            <a:pPr indent="0" marL="0">
              <a:lnSpc>
                <a:spcPct val="120000"/>
              </a:lnSpc>
              <a:buNone/>
            </a:pPr>
            <a:r>
              <a:rPr lang="en-US" sz="1900" dirty="0">
                <a:solidFill>
                  <a:srgbClr val="1E2B2A"/>
                </a:solidFill>
                <a:highlight>
                  <a:srgbClr val="FFD45C"/>
                </a:highlight>
              </a:rPr>
              <a:t>And if someone has prestige in one field, they become high-status individuals and their influence won't be limited to their field; we are likely to copy all their decisions.</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(6) </a:t>
            </a:r>
            <a:pPr indent="0" marL="0">
              <a:lnSpc>
                <a:spcPct val="120000"/>
              </a:lnSpc>
              <a:buNone/>
            </a:pPr>
            <a:r>
              <a:rPr lang="en-US" sz="1900" dirty="0">
                <a:solidFill>
                  <a:srgbClr val="1E2B2A"/>
                </a:solidFill>
              </a:rPr>
              <a:t>Indeed, prestige may have evolved as a way to enhance the benefits of cultural transmission.</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(7) </a:t>
            </a:r>
            <a:pPr indent="0" marL="0">
              <a:lnSpc>
                <a:spcPct val="120000"/>
              </a:lnSpc>
              <a:buNone/>
            </a:pPr>
            <a:r>
              <a:rPr lang="en-US" sz="1900" dirty="0">
                <a:solidFill>
                  <a:srgbClr val="1E2B2A"/>
                </a:solidFill>
                <a:highlight>
                  <a:srgbClr val="FFD45C"/>
                </a:highlight>
              </a:rPr>
              <a:t>Success in one area of life </a:t>
            </a:r>
            <a:pPr indent="0" marL="0">
              <a:lnSpc>
                <a:spcPct val="120000"/>
              </a:lnSpc>
              <a:buNone/>
            </a:pPr>
            <a:r>
              <a:rPr lang="en-US" sz="1900" b="1" dirty="0">
                <a:solidFill>
                  <a:srgbClr val="2C7DA0"/>
                </a:solidFill>
                <a:highlight>
                  <a:srgbClr val="FFD45C"/>
                </a:highlight>
              </a:rPr>
              <a:t>affords someone the status of general opinion leader</a:t>
            </a:r>
            <a:pPr indent="0" marL="0">
              <a:lnSpc>
                <a:spcPct val="120000"/>
              </a:lnSpc>
              <a:buNone/>
            </a:pPr>
            <a:r>
              <a:rPr lang="en-US" sz="1900" dirty="0">
                <a:solidFill>
                  <a:srgbClr val="1E2B2A"/>
                </a:solidFill>
                <a:highlight>
                  <a:srgbClr val="FFD45C"/>
                </a:highlight>
              </a:rPr>
              <a:t>.</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(8) </a:t>
            </a:r>
            <a:pPr indent="0" marL="0">
              <a:lnSpc>
                <a:spcPct val="120000"/>
              </a:lnSpc>
              <a:buNone/>
            </a:pPr>
            <a:r>
              <a:rPr lang="en-US" sz="1900" dirty="0">
                <a:solidFill>
                  <a:srgbClr val="1E2B2A"/>
                </a:solidFill>
              </a:rPr>
              <a:t>We want to learn from successful individuals, or even simply be associated with them in some way, </a:t>
            </a:r>
            <a:pPr indent="0" marL="0">
              <a:lnSpc>
                <a:spcPct val="120000"/>
              </a:lnSpc>
              <a:buNone/>
            </a:pPr>
            <a:r>
              <a:rPr lang="en-US" sz="1900" b="1" dirty="0">
                <a:solidFill>
                  <a:srgbClr val="2C7DA0"/>
                </a:solidFill>
              </a:rPr>
              <a:t>so that their reputation rubs off on us</a:t>
            </a:r>
            <a:pPr indent="0" marL="0">
              <a:lnSpc>
                <a:spcPct val="120000"/>
              </a:lnSpc>
              <a:buNone/>
            </a:pPr>
            <a:r>
              <a:rPr lang="en-US" sz="1900" dirty="0">
                <a:solidFill>
                  <a:srgbClr val="1E2B2A"/>
                </a:solidFill>
              </a:rPr>
              <a:t>.</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(9) </a:t>
            </a:r>
            <a:pPr indent="0" marL="0">
              <a:lnSpc>
                <a:spcPct val="120000"/>
              </a:lnSpc>
              <a:buNone/>
            </a:pPr>
            <a:r>
              <a:rPr lang="en-US" sz="1900" b="1" u="sng" dirty="0">
                <a:solidFill>
                  <a:srgbClr val="1E2B2A"/>
                </a:solidFill>
              </a:rPr>
              <a:t>That's why a golfing hero can sell you a watch</a:t>
            </a:r>
            <a:pPr indent="0" marL="0">
              <a:lnSpc>
                <a:spcPct val="120000"/>
              </a:lnSpc>
              <a:buNone/>
            </a:pPr>
            <a:r>
              <a:rPr lang="en-US" sz="1900" dirty="0">
                <a:solidFill>
                  <a:srgbClr val="1E2B2A"/>
                </a:solidFill>
              </a:rPr>
              <a:t>.</a:t>
            </a:r>
            <a:endParaRPr lang="en-US" sz="16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(다음 슬라이드)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6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EAF3F7"/>
          </a:solidFill>
          <a:ln w="12700">
            <a:solidFill>
              <a:srgbClr val="D3E5EE"/>
            </a:solidFill>
            <a:prstDash val="solid"/>
          </a:ln>
        </p:spPr>
      </p:sp>
      <p:sp>
        <p:nvSpPr>
          <p:cNvPr id="5" name="Text 3"/>
          <p:cNvSpPr txBox="1"/>
          <p:nvPr/>
        </p:nvSpPr>
        <p:spPr>
          <a:xfrm>
            <a:off x="822960" y="1371600"/>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that only humans recognize</a:t>
            </a:r>
            <a:endParaRPr lang="en-US" sz="1500" dirty="0"/>
          </a:p>
        </p:txBody>
      </p:sp>
      <p:sp>
        <p:nvSpPr>
          <p:cNvPr id="6" name="Text 4"/>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목적격 관계대명사</a:t>
            </a:r>
            <a:endParaRPr lang="en-US" sz="1700" dirty="0"/>
          </a:p>
          <a:p>
            <a:pPr indent="0" marL="0">
              <a:spcAft>
                <a:spcPts val="200"/>
              </a:spcAft>
              <a:buNone/>
            </a:pPr>
            <a:r>
              <a:rPr lang="en-US" sz="1400" dirty="0">
                <a:solidFill>
                  <a:srgbClr val="1E2B2A"/>
                </a:solidFill>
              </a:rPr>
              <a:t>recognize의 목적어가 빠진 불완전한 절 → that/which</a:t>
            </a:r>
            <a:endParaRPr lang="en-US" sz="1700" dirty="0"/>
          </a:p>
        </p:txBody>
      </p:sp>
      <p:sp>
        <p:nvSpPr>
          <p:cNvPr id="7" name="Shape 5"/>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8" name="Text 6"/>
          <p:cNvSpPr txBox="1"/>
          <p:nvPr/>
        </p:nvSpPr>
        <p:spPr>
          <a:xfrm>
            <a:off x="822960" y="2532888"/>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ones worthy of learning from</a:t>
            </a:r>
            <a:endParaRPr lang="en-US" sz="1500" dirty="0"/>
          </a:p>
        </p:txBody>
      </p:sp>
      <p:sp>
        <p:nvSpPr>
          <p:cNvPr id="9" name="Text 7"/>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worthy of -ing · 전치사 잔류</a:t>
            </a:r>
            <a:endParaRPr lang="en-US" sz="1700" dirty="0"/>
          </a:p>
          <a:p>
            <a:pPr indent="0" marL="0">
              <a:spcAft>
                <a:spcPts val="200"/>
              </a:spcAft>
              <a:buNone/>
            </a:pPr>
            <a:r>
              <a:rPr lang="en-US" sz="1400" dirty="0">
                <a:solidFill>
                  <a:srgbClr val="1E2B2A"/>
                </a:solidFill>
              </a:rPr>
              <a:t>ones = individuals. learn from them → learning from (전치사 from 남음)</a:t>
            </a:r>
            <a:endParaRPr lang="en-US" sz="1700" dirty="0"/>
          </a:p>
        </p:txBody>
      </p:sp>
      <p:sp>
        <p:nvSpPr>
          <p:cNvPr id="10" name="Shape 8"/>
          <p:cNvSpPr/>
          <p:nvPr/>
        </p:nvSpPr>
        <p:spPr>
          <a:xfrm>
            <a:off x="548640" y="3602736"/>
            <a:ext cx="11064240" cy="1051560"/>
          </a:xfrm>
          <a:prstGeom prst="roundRect">
            <a:avLst>
              <a:gd name="adj" fmla="val 8696"/>
            </a:avLst>
          </a:prstGeom>
          <a:solidFill>
            <a:srgbClr val="EAF3F7"/>
          </a:solidFill>
          <a:ln w="12700">
            <a:solidFill>
              <a:srgbClr val="D3E5EE"/>
            </a:solidFill>
            <a:prstDash val="solid"/>
          </a:ln>
        </p:spPr>
      </p:sp>
      <p:sp>
        <p:nvSpPr>
          <p:cNvPr id="11" name="Text 9"/>
          <p:cNvSpPr txBox="1"/>
          <p:nvPr/>
        </p:nvSpPr>
        <p:spPr>
          <a:xfrm>
            <a:off x="822960" y="3694176"/>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affords someone the status of general opinion leader</a:t>
            </a:r>
            <a:endParaRPr lang="en-US" sz="1500" dirty="0"/>
          </a:p>
        </p:txBody>
      </p:sp>
      <p:sp>
        <p:nvSpPr>
          <p:cNvPr id="12" name="Text 10"/>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4형식 afford IO DO</a:t>
            </a:r>
            <a:endParaRPr lang="en-US" sz="1700" dirty="0"/>
          </a:p>
          <a:p>
            <a:pPr indent="0" marL="0">
              <a:spcAft>
                <a:spcPts val="200"/>
              </a:spcAft>
              <a:buNone/>
            </a:pPr>
            <a:r>
              <a:rPr lang="en-US" sz="1400" dirty="0">
                <a:solidFill>
                  <a:srgbClr val="1E2B2A"/>
                </a:solidFill>
              </a:rPr>
              <a:t>afford + 사람 + 사물: ~에게 …을 주다</a:t>
            </a:r>
            <a:endParaRPr lang="en-US" sz="1700" dirty="0"/>
          </a:p>
        </p:txBody>
      </p:sp>
      <p:sp>
        <p:nvSpPr>
          <p:cNvPr id="13" name="Shape 11"/>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4" name="Text 12"/>
          <p:cNvSpPr txBox="1"/>
          <p:nvPr/>
        </p:nvSpPr>
        <p:spPr>
          <a:xfrm>
            <a:off x="822960" y="4855464"/>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so that their reputation rubs off on us</a:t>
            </a:r>
            <a:endParaRPr lang="en-US" sz="1500" dirty="0"/>
          </a:p>
        </p:txBody>
      </p:sp>
      <p:sp>
        <p:nvSpPr>
          <p:cNvPr id="15" name="Text 13"/>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so that (목적)</a:t>
            </a:r>
            <a:endParaRPr lang="en-US" sz="1700" dirty="0"/>
          </a:p>
          <a:p>
            <a:pPr indent="0" marL="0">
              <a:spcAft>
                <a:spcPts val="200"/>
              </a:spcAft>
              <a:buNone/>
            </a:pPr>
            <a:r>
              <a:rPr lang="en-US" sz="1400" dirty="0">
                <a:solidFill>
                  <a:srgbClr val="1E2B2A"/>
                </a:solidFill>
              </a:rPr>
              <a:t>so that + S + V: ~하도록. rub off on: ~에게 옮아가다</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6  </a:t>
            </a:r>
            <a:pPr algn="l" indent="0" marL="0">
              <a:buNone/>
            </a:pPr>
            <a:r>
              <a:rPr lang="en-US" sz="3000" b="1" dirty="0">
                <a:solidFill>
                  <a:schemeClr val="tx2"/>
                </a:solidFill>
              </a:rPr>
              <a:t>위신(prestige)의 확장력</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밑줄 문장</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That's why a golfing hero can sell you a watch.</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그래서 골프 영웅이 당신에게 시계를 팔 수 있는 것이다.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골프(분야 A) → 시계(분야 B) = 무슨 뜻?</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…if someone has prestige in one field, … their influence won't be limited to their field…</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한 분야에서 위신을 가지면 … 그들의 영향력은 그 분야에 한정되지 않는다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정의</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위신(prestige) = 인간만 인식하는 지위, '배울 만한 사람'</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핵심</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한 분야에서 위신을 얻으면 영향력이 그 분야에 한정되지 않음</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이유</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성공한 사람에게 배우고, 연결되고 싶어서 (평판이 묻어나길 바람)</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밑줄</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골프 선수(골프 분야) → 시계 광고(다른 분야)까지 영향</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6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④</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Influence often extends beyond its original field when one gains prestige.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위신을 얻으면 영향력이 원래 분야를 넘어 확장</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Making big money to gain influence is at the heart of prestige.</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돈을 많이 버는 것 → 글에 없음</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Prestige can open unexpected career paths after a main career ends.</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은퇴 후 진로 → 글은 '영향력 확장'</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People may purchase things for instant gratification to earn prestige.</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즉각적 만족을 위한 구매 → 글에 없음</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accent6"/>
          </a:solidFill>
          <a:ln w="25400">
            <a:solidFill>
              <a:schemeClr val="accent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Influence often extends beyond its original field when one gains prestige.</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위신을 얻으면 영향력이 원래 분야를 넘어 확장</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Prestige is sometimes inherited rather than earned through skill or knowledge.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위신의 상속 → 글은 실력·성공으로 얻음</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chemeClr val="bg1"/>
                </a:solidFill>
              </a:rPr>
              <a:t>Part 2  ·  Exercise 7–12</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chemeClr val="bg2"/>
                </a:solidFill>
              </a:rPr>
              <a:t>감정과 느낌 · 메소포타미아 · 문명과 문화 · 대표성 · 열대 토양 · 신뢰(함의)</a:t>
            </a:r>
            <a:endParaRPr lang="en-US" sz="2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7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550" dirty="0">
                <a:solidFill>
                  <a:srgbClr val="1E2B2A"/>
                </a:solidFill>
              </a:rPr>
              <a:t>Emotions can be used to refer to the unconscious, neurobiological response, while feelings are the cognitive assignments we make to those emotions.</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This is undoubtedly a much more complicated dynamic and there is a great degree of highly detailed information explaining the interworking of these two.</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However, the most noteworthy application of the distinction between emotion and feeling is that human beings have some ability to cognitively assign, that is, to think about and make a decision about, just </a:t>
            </a:r>
            <a:pPr indent="0" marL="0">
              <a:lnSpc>
                <a:spcPct val="115000"/>
              </a:lnSpc>
              <a:buNone/>
            </a:pPr>
            <a:r>
              <a:rPr lang="en-US" sz="1550" b="1" dirty="0">
                <a:solidFill>
                  <a:srgbClr val="EF5B3F"/>
                </a:solidFill>
              </a:rPr>
              <a:t>____________</a:t>
            </a:r>
            <a:pPr indent="0" marL="0">
              <a:lnSpc>
                <a:spcPct val="115000"/>
              </a:lnSpc>
              <a:buNone/>
            </a:pPr>
            <a:r>
              <a:rPr lang="en-US" sz="1550" dirty="0">
                <a:solidFill>
                  <a:srgbClr val="1E2B2A"/>
                </a:solidFill>
              </a:rPr>
              <a: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This can be more easily grasped when thinking about a more concrete exemplar ─ ancient war drums.</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Most would agree that hearing a beating war drum does not lead one to pick a side in a given conflict.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A beating war drum merely helps one march more energetically on whichever side was chosen to begin with.</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The neurobiological experience set off by the auditory sensation of the drums causes one to "feel" more energy toward a given end and step more quickly.</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Perhaps Shakespeare knew something of this when he wrote Timon's words, "follow thy drum ...".</a:t>
            </a:r>
            <a:endParaRPr lang="en-US" sz="1550" dirty="0"/>
          </a:p>
          <a:p>
            <a:pPr algn="r" indent="0" marL="0">
              <a:lnSpc>
                <a:spcPct val="115000"/>
              </a:lnSpc>
              <a:spcBef>
                <a:spcPts val="200"/>
              </a:spcBef>
              <a:buNone/>
            </a:pPr>
            <a:r>
              <a:rPr lang="en-US" sz="1100" i="1" dirty="0">
                <a:solidFill>
                  <a:srgbClr val="6E7F7C"/>
                </a:solidFill>
              </a:rPr>
              <a:t>* exemplar: 전형적인 예   ** thy: (고어) 당신의</a:t>
            </a:r>
            <a:endParaRPr lang="en-US" sz="1550" dirty="0"/>
          </a:p>
          <a:p>
            <a:pPr indent="0" marL="0">
              <a:lnSpc>
                <a:spcPct val="115000"/>
              </a:lnSpc>
              <a:spcBef>
                <a:spcPts val="1000"/>
              </a:spcBef>
              <a:buNone/>
            </a:pPr>
            <a:r>
              <a:rPr lang="en-US" sz="1550" dirty="0">
                <a:solidFill>
                  <a:srgbClr val="14453D"/>
                </a:solidFill>
              </a:rPr>
              <a:t>①  what a given emotion we experience might mean</a:t>
            </a:r>
            <a:endParaRPr lang="en-US" sz="1550" dirty="0"/>
          </a:p>
          <a:p>
            <a:pPr indent="0" marL="0">
              <a:lnSpc>
                <a:spcPct val="115000"/>
              </a:lnSpc>
              <a:spcBef>
                <a:spcPts val="200"/>
              </a:spcBef>
              <a:buNone/>
            </a:pPr>
            <a:r>
              <a:rPr lang="en-US" sz="1550" dirty="0">
                <a:solidFill>
                  <a:srgbClr val="14453D"/>
                </a:solidFill>
              </a:rPr>
              <a:t>②  why music was once used as a psychological weapon</a:t>
            </a:r>
            <a:endParaRPr lang="en-US" sz="1550" dirty="0"/>
          </a:p>
          <a:p>
            <a:pPr indent="0" marL="0">
              <a:lnSpc>
                <a:spcPct val="115000"/>
              </a:lnSpc>
              <a:spcBef>
                <a:spcPts val="200"/>
              </a:spcBef>
              <a:buNone/>
            </a:pPr>
            <a:r>
              <a:rPr lang="en-US" sz="1550" dirty="0">
                <a:solidFill>
                  <a:srgbClr val="14453D"/>
                </a:solidFill>
              </a:rPr>
              <a:t>③  how unconscious reactions shape our instinctive behavior</a:t>
            </a:r>
            <a:endParaRPr lang="en-US" sz="1550" dirty="0"/>
          </a:p>
          <a:p>
            <a:pPr indent="0" marL="0">
              <a:lnSpc>
                <a:spcPct val="115000"/>
              </a:lnSpc>
              <a:spcBef>
                <a:spcPts val="200"/>
              </a:spcBef>
              <a:buNone/>
            </a:pPr>
            <a:r>
              <a:rPr lang="en-US" sz="1550" dirty="0">
                <a:solidFill>
                  <a:srgbClr val="14453D"/>
                </a:solidFill>
              </a:rPr>
              <a:t>④  how rhythm affects neural development in the long term</a:t>
            </a:r>
            <a:endParaRPr lang="en-US" sz="1550" dirty="0"/>
          </a:p>
          <a:p>
            <a:pPr indent="0" marL="0">
              <a:lnSpc>
                <a:spcPct val="115000"/>
              </a:lnSpc>
              <a:spcBef>
                <a:spcPts val="200"/>
              </a:spcBef>
              <a:buNone/>
            </a:pPr>
            <a:r>
              <a:rPr lang="en-US" sz="1550" dirty="0">
                <a:solidFill>
                  <a:srgbClr val="14453D"/>
                </a:solidFill>
              </a:rPr>
              <a:t>⑤  what external signals can trigger emotion and memory</a:t>
            </a:r>
            <a:endParaRPr lang="en-US" sz="15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7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highlight>
                  <a:srgbClr val="FFD45C"/>
                </a:highlight>
              </a:rPr>
              <a:t>Emotions can be used to refer to the unconscious, neurobiological response, while feelings are </a:t>
            </a:r>
            <a:pPr indent="0" marL="0">
              <a:lnSpc>
                <a:spcPct val="120000"/>
              </a:lnSpc>
              <a:buNone/>
            </a:pPr>
            <a:r>
              <a:rPr lang="en-US" sz="1800" b="1" dirty="0">
                <a:solidFill>
                  <a:srgbClr val="2C7DA0"/>
                </a:solidFill>
                <a:highlight>
                  <a:srgbClr val="FFD45C"/>
                </a:highlight>
              </a:rPr>
              <a:t>the cognitive assignments we make to those emotions</a:t>
            </a:r>
            <a:pPr indent="0" marL="0">
              <a:lnSpc>
                <a:spcPct val="120000"/>
              </a:lnSpc>
              <a:buNone/>
            </a:pPr>
            <a:r>
              <a:rPr lang="en-US" sz="1800" dirty="0">
                <a:solidFill>
                  <a:srgbClr val="1E2B2A"/>
                </a:solidFill>
                <a:highlight>
                  <a:srgbClr val="FFD45C"/>
                </a:highlight>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rPr>
              <a:t>This is undoubtedly a much more complicated dynamic and there is a great degree of highly detailed information explaining the interworking of these two.</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rPr>
              <a:t>However, the most noteworthy application of the distinction between emotion and feeling </a:t>
            </a:r>
            <a:pPr indent="0" marL="0">
              <a:lnSpc>
                <a:spcPct val="120000"/>
              </a:lnSpc>
              <a:buNone/>
            </a:pPr>
            <a:r>
              <a:rPr lang="en-US" sz="1800" b="1" dirty="0">
                <a:solidFill>
                  <a:srgbClr val="2C7DA0"/>
                </a:solidFill>
              </a:rPr>
              <a:t>is that human beings have</a:t>
            </a:r>
            <a:pPr indent="0" marL="0">
              <a:lnSpc>
                <a:spcPct val="120000"/>
              </a:lnSpc>
              <a:buNone/>
            </a:pPr>
            <a:r>
              <a:rPr lang="en-US" sz="1800" dirty="0">
                <a:solidFill>
                  <a:srgbClr val="1E2B2A"/>
                </a:solidFill>
              </a:rPr>
              <a:t> some ability to cognitively assign, that is, to think about and make a decision about, just </a:t>
            </a:r>
            <a:pPr indent="0" marL="0">
              <a:lnSpc>
                <a:spcPct val="120000"/>
              </a:lnSpc>
              <a:buNone/>
            </a:pPr>
            <a:r>
              <a:rPr lang="en-US" sz="1800" b="1" dirty="0">
                <a:solidFill>
                  <a:srgbClr val="EF5B3F"/>
                </a:solidFill>
              </a:rPr>
              <a:t>____________</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rPr>
              <a:t>This can be more easily grasped when thinking about a more concrete exemplar ─ ancient war drums.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highlight>
                  <a:srgbClr val="FFD45C"/>
                </a:highlight>
              </a:rPr>
              <a:t>Most would agree that hearing a beating war drum </a:t>
            </a:r>
            <a:pPr indent="0" marL="0">
              <a:lnSpc>
                <a:spcPct val="120000"/>
              </a:lnSpc>
              <a:buNone/>
            </a:pPr>
            <a:r>
              <a:rPr lang="en-US" sz="1800" b="1" dirty="0">
                <a:solidFill>
                  <a:srgbClr val="2C7DA0"/>
                </a:solidFill>
                <a:highlight>
                  <a:srgbClr val="FFD45C"/>
                </a:highlight>
              </a:rPr>
              <a:t>does not lead one to pick</a:t>
            </a:r>
            <a:pPr indent="0" marL="0">
              <a:lnSpc>
                <a:spcPct val="120000"/>
              </a:lnSpc>
              <a:buNone/>
            </a:pPr>
            <a:r>
              <a:rPr lang="en-US" sz="1800" dirty="0">
                <a:solidFill>
                  <a:srgbClr val="1E2B2A"/>
                </a:solidFill>
                <a:highlight>
                  <a:srgbClr val="FFD45C"/>
                </a:highlight>
              </a:rPr>
              <a:t> a side in a given conflict.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dirty="0">
                <a:solidFill>
                  <a:srgbClr val="1E2B2A"/>
                </a:solidFill>
                <a:highlight>
                  <a:srgbClr val="FFD45C"/>
                </a:highlight>
              </a:rPr>
              <a:t>A beating war drum merely helps one march more energetically on </a:t>
            </a:r>
            <a:pPr indent="0" marL="0">
              <a:lnSpc>
                <a:spcPct val="120000"/>
              </a:lnSpc>
              <a:buNone/>
            </a:pPr>
            <a:r>
              <a:rPr lang="en-US" sz="1800" b="1" dirty="0">
                <a:solidFill>
                  <a:srgbClr val="2C7DA0"/>
                </a:solidFill>
                <a:highlight>
                  <a:srgbClr val="FFD45C"/>
                </a:highlight>
              </a:rPr>
              <a:t>whichever side was chosen</a:t>
            </a:r>
            <a:pPr indent="0" marL="0">
              <a:lnSpc>
                <a:spcPct val="120000"/>
              </a:lnSpc>
              <a:buNone/>
            </a:pPr>
            <a:r>
              <a:rPr lang="en-US" sz="1800" dirty="0">
                <a:solidFill>
                  <a:srgbClr val="1E2B2A"/>
                </a:solidFill>
                <a:highlight>
                  <a:srgbClr val="FFD45C"/>
                </a:highlight>
              </a:rPr>
              <a:t> to begin with.</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rPr>
              <a:t>The neurobiological experience </a:t>
            </a:r>
            <a:pPr indent="0" marL="0">
              <a:lnSpc>
                <a:spcPct val="120000"/>
              </a:lnSpc>
              <a:buNone/>
            </a:pPr>
            <a:r>
              <a:rPr lang="en-US" sz="1800" b="1" dirty="0">
                <a:solidFill>
                  <a:srgbClr val="2C7DA0"/>
                </a:solidFill>
              </a:rPr>
              <a:t>set off by the auditory sensation</a:t>
            </a:r>
            <a:pPr indent="0" marL="0">
              <a:lnSpc>
                <a:spcPct val="120000"/>
              </a:lnSpc>
              <a:buNone/>
            </a:pPr>
            <a:r>
              <a:rPr lang="en-US" sz="1800" dirty="0">
                <a:solidFill>
                  <a:srgbClr val="1E2B2A"/>
                </a:solidFill>
              </a:rPr>
              <a:t> of the drums </a:t>
            </a:r>
            <a:pPr indent="0" marL="0">
              <a:lnSpc>
                <a:spcPct val="120000"/>
              </a:lnSpc>
              <a:buNone/>
            </a:pPr>
            <a:r>
              <a:rPr lang="en-US" sz="1800" b="1" dirty="0">
                <a:solidFill>
                  <a:srgbClr val="2C7DA0"/>
                </a:solidFill>
              </a:rPr>
              <a:t>causes one to</a:t>
            </a:r>
            <a:pPr indent="0" marL="0">
              <a:lnSpc>
                <a:spcPct val="120000"/>
              </a:lnSpc>
              <a:buNone/>
            </a:pPr>
            <a:r>
              <a:rPr lang="en-US" sz="1800" dirty="0">
                <a:solidFill>
                  <a:srgbClr val="1E2B2A"/>
                </a:solidFill>
              </a:rPr>
              <a:t> "feel" more energy toward a given end and step more quickly.</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(8) </a:t>
            </a:r>
            <a:pPr indent="0" marL="0">
              <a:lnSpc>
                <a:spcPct val="120000"/>
              </a:lnSpc>
              <a:buNone/>
            </a:pPr>
            <a:r>
              <a:rPr lang="en-US" sz="1800" dirty="0">
                <a:solidFill>
                  <a:srgbClr val="1E2B2A"/>
                </a:solidFill>
              </a:rPr>
              <a:t>Perhaps Shakespeare knew something of this when he wrote Timon's words, "follow thy drum ...".</a:t>
            </a:r>
            <a:endParaRPr lang="en-US" sz="15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(다음 슬라이드)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7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EAF3F7"/>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the cognitive assignments we make to those emotions</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목적격 관계대명사 생략</a:t>
            </a:r>
            <a:endParaRPr lang="en-US" sz="1700" dirty="0"/>
          </a:p>
          <a:p>
            <a:pPr indent="0" marL="0">
              <a:spcAft>
                <a:spcPts val="200"/>
              </a:spcAft>
              <a:buNone/>
            </a:pPr>
            <a:r>
              <a:rPr lang="en-US" sz="1400" dirty="0">
                <a:solidFill>
                  <a:srgbClr val="1E2B2A"/>
                </a:solidFill>
              </a:rPr>
              <a:t>assignments (that) we make ~: make의 목적어가 빠진 절</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is that human beings have</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명사절 that (보어)</a:t>
            </a:r>
            <a:endParaRPr lang="en-US" sz="1700" dirty="0"/>
          </a:p>
          <a:p>
            <a:pPr indent="0" marL="0">
              <a:spcAft>
                <a:spcPts val="200"/>
              </a:spcAft>
              <a:buNone/>
            </a:pPr>
            <a:r>
              <a:rPr lang="en-US" sz="1400" dirty="0">
                <a:solidFill>
                  <a:srgbClr val="1E2B2A"/>
                </a:solidFill>
              </a:rPr>
              <a:t>the most noteworthy application … is that ~: that절이 보어</a:t>
            </a:r>
            <a:endParaRPr lang="en-US" sz="1700" dirty="0"/>
          </a:p>
        </p:txBody>
      </p:sp>
      <p:sp>
        <p:nvSpPr>
          <p:cNvPr id="10" name="Shape 8"/>
          <p:cNvSpPr/>
          <p:nvPr/>
        </p:nvSpPr>
        <p:spPr>
          <a:xfrm>
            <a:off x="548640" y="3335731"/>
            <a:ext cx="11064240" cy="918058"/>
          </a:xfrm>
          <a:prstGeom prst="roundRect">
            <a:avLst>
              <a:gd name="adj" fmla="val 9960"/>
            </a:avLst>
          </a:prstGeom>
          <a:solidFill>
            <a:srgbClr val="EAF3F7"/>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does not lead one to pick</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lead O to V</a:t>
            </a:r>
            <a:endParaRPr lang="en-US" sz="1700" dirty="0"/>
          </a:p>
          <a:p>
            <a:pPr indent="0" marL="0">
              <a:spcAft>
                <a:spcPts val="200"/>
              </a:spcAft>
              <a:buNone/>
            </a:pPr>
            <a:r>
              <a:rPr lang="en-US" sz="1400" dirty="0">
                <a:solidFill>
                  <a:srgbClr val="1E2B2A"/>
                </a:solidFill>
              </a:rPr>
              <a:t>목적격 보어 자리에 to부정사 (lead/cause/allow O to V)</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whichever side was chosen</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복합관계형용사</a:t>
            </a:r>
            <a:endParaRPr lang="en-US" sz="1700" dirty="0"/>
          </a:p>
          <a:p>
            <a:pPr indent="0" marL="0">
              <a:spcAft>
                <a:spcPts val="200"/>
              </a:spcAft>
              <a:buNone/>
            </a:pPr>
            <a:r>
              <a:rPr lang="en-US" sz="1400" dirty="0">
                <a:solidFill>
                  <a:srgbClr val="1E2B2A"/>
                </a:solidFill>
              </a:rPr>
              <a:t>whichever + 명사: 어느 쪽 ~이든</a:t>
            </a:r>
            <a:endParaRPr lang="en-US" sz="1700" dirty="0"/>
          </a:p>
        </p:txBody>
      </p:sp>
      <p:sp>
        <p:nvSpPr>
          <p:cNvPr id="16" name="Shape 14"/>
          <p:cNvSpPr/>
          <p:nvPr/>
        </p:nvSpPr>
        <p:spPr>
          <a:xfrm>
            <a:off x="548640" y="5391302"/>
            <a:ext cx="11064240" cy="918058"/>
          </a:xfrm>
          <a:prstGeom prst="roundRect">
            <a:avLst>
              <a:gd name="adj" fmla="val 9960"/>
            </a:avLst>
          </a:prstGeom>
          <a:solidFill>
            <a:srgbClr val="EAF3F7"/>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set off by the auditory sensation  …  causes one to</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과거분사 수식 · cause O to V</a:t>
            </a:r>
            <a:endParaRPr lang="en-US" sz="1700" dirty="0"/>
          </a:p>
          <a:p>
            <a:pPr indent="0" marL="0">
              <a:spcAft>
                <a:spcPts val="200"/>
              </a:spcAft>
              <a:buNone/>
            </a:pPr>
            <a:r>
              <a:rPr lang="en-US" sz="1400" dirty="0">
                <a:solidFill>
                  <a:srgbClr val="1E2B2A"/>
                </a:solidFill>
              </a:rPr>
              <a:t>experience (which was) set off by ~ / 주어 experience → 단수 causes</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7  </a:t>
            </a:r>
            <a:pPr algn="l" indent="0" marL="0">
              <a:buNone/>
            </a:pPr>
            <a:r>
              <a:rPr lang="en-US" sz="3000" b="1" dirty="0">
                <a:solidFill>
                  <a:schemeClr val="tx2"/>
                </a:solidFill>
              </a:rPr>
              <a:t>감정 vs 느낌</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…human beings have some ability to cognitively assign … just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인간은 바로 ______을 인지적으로 부여할(생각하고 결정할) 능력이 있다.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우리가 '생각해서 결정'할 수 있는 것은?</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…feelings are the cognitive assignments we make to those emotions.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느낌은 우리가 그 감정들에 부여하는 인지적 의미(배정)이다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정의</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emotion = 무의식적 신경생물학 반응 / feeling = 그 감정에 붙이는 인지적 의미</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주장</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인간은 감정의 '의미'를 스스로 생각하고 정할 수 있다</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예시</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전쟁 북소리: 어느 편에 설지 정해 주진 않음</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예시</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이미 고른 편으로 더 힘차게 행진하게 할 뿐 (에너지만 줌)</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7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①</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what a given emotion we experience might mean</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우리가 경험하는 감정이 무엇을 의미할지 = feeling의 정의</a:t>
            </a:r>
            <a:endParaRPr lang="en-US" sz="1400" dirty="0"/>
          </a:p>
        </p:txBody>
      </p:sp>
      <p:sp>
        <p:nvSpPr>
          <p:cNvPr id="9" name="Shape 7"/>
          <p:cNvSpPr/>
          <p:nvPr/>
        </p:nvSpPr>
        <p:spPr>
          <a:xfrm>
            <a:off x="4572000" y="1325880"/>
            <a:ext cx="7040880" cy="905256"/>
          </a:xfrm>
          <a:prstGeom prst="roundRect">
            <a:avLst>
              <a:gd name="adj" fmla="val 10101"/>
            </a:avLst>
          </a:prstGeom>
          <a:solidFill>
            <a:schemeClr val="accent6"/>
          </a:solidFill>
          <a:ln w="25400">
            <a:solidFill>
              <a:schemeClr val="accent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what a given emotion we experience might mean</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우리가 경험하는 감정이 무엇을 의미할지 = feeling의 정의</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why music was once used as a psychological weapon</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음악 = 심리 무기 → 북소리 '소재'만 빌린 함정</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how unconscious reactions shape our instinctive behavior</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무의식이 본능적 행동을 형성 → 글은 '인지적' 선택 강조</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how rhythm affects neural development in the long term</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리듬과 신경 발달 → 글에 없음</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what external signals can trigger emotion and memory</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외부 신호가 감정·기억 유발 → 핵심 아님</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8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00" dirty="0">
                <a:solidFill>
                  <a:srgbClr val="1E2B2A"/>
                </a:solidFill>
              </a:rPr>
              <a:t>The key to unlocking the agricultural potential of Mesopotamia lay in irrigation.</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Early Mesopotamians, particularly the Sumerians, were pioneers in developing sophisticated irrigation techniques.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They constructed canals, dikes, and reservoirs to control the flow of the rivers, diverting water to their fields during dry periods and protecting their settlements from floods.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This monumental effort required cooperation and organization on a scale previously unseen, leading to the development of complex social structures and the rise of powerful city-states.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Early irrigation was relatively small-scale, involving the digging of simple channels to divert water to nearby fields.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Over time, these systems became more elaborate, with complex networks of canals spanning vast distances.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The construction and maintenance of these systems required a significant labor force, which was often organized and directed by temple priests or powerful leaders.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This centralized control over water resources provided </a:t>
            </a:r>
            <a:pPr indent="0" marL="0">
              <a:lnSpc>
                <a:spcPct val="115000"/>
              </a:lnSpc>
              <a:buNone/>
            </a:pPr>
            <a:r>
              <a:rPr lang="en-US" sz="1600" b="1" dirty="0">
                <a:solidFill>
                  <a:srgbClr val="EF5B3F"/>
                </a:solidFill>
              </a:rPr>
              <a:t>____________</a:t>
            </a:r>
            <a:pPr indent="0" marL="0">
              <a:lnSpc>
                <a:spcPct val="115000"/>
              </a:lnSpc>
              <a:buNone/>
            </a:pPr>
            <a:r>
              <a:rPr lang="en-US" sz="1600" dirty="0">
                <a:solidFill>
                  <a:srgbClr val="1E2B2A"/>
                </a:solidFill>
              </a:rPr>
              <a:t>.</a:t>
            </a:r>
            <a:endParaRPr lang="en-US" sz="1600" dirty="0"/>
          </a:p>
          <a:p>
            <a:pPr algn="r" indent="0" marL="0">
              <a:lnSpc>
                <a:spcPct val="115000"/>
              </a:lnSpc>
              <a:spcBef>
                <a:spcPts val="200"/>
              </a:spcBef>
              <a:buNone/>
            </a:pPr>
            <a:r>
              <a:rPr lang="en-US" sz="1100" i="1" dirty="0">
                <a:solidFill>
                  <a:srgbClr val="6E7F7C"/>
                </a:solidFill>
              </a:rPr>
              <a:t>* dike: 제방   ** reservoir: 저수지</a:t>
            </a:r>
            <a:endParaRPr lang="en-US" sz="1600" dirty="0"/>
          </a:p>
          <a:p>
            <a:pPr indent="0" marL="0">
              <a:lnSpc>
                <a:spcPct val="115000"/>
              </a:lnSpc>
              <a:spcBef>
                <a:spcPts val="1000"/>
              </a:spcBef>
              <a:buNone/>
            </a:pPr>
            <a:r>
              <a:rPr lang="en-US" sz="1600" dirty="0">
                <a:solidFill>
                  <a:srgbClr val="14453D"/>
                </a:solidFill>
              </a:rPr>
              <a:t>①  a reduction in the need for organized labor groups</a:t>
            </a:r>
            <a:endParaRPr lang="en-US" sz="1600" dirty="0"/>
          </a:p>
          <a:p>
            <a:pPr indent="0" marL="0">
              <a:lnSpc>
                <a:spcPct val="115000"/>
              </a:lnSpc>
              <a:spcBef>
                <a:spcPts val="200"/>
              </a:spcBef>
              <a:buNone/>
            </a:pPr>
            <a:r>
              <a:rPr lang="en-US" sz="1600" dirty="0">
                <a:solidFill>
                  <a:srgbClr val="14453D"/>
                </a:solidFill>
              </a:rPr>
              <a:t>②  a guarantee of equal access to water for everyone</a:t>
            </a:r>
            <a:endParaRPr lang="en-US" sz="1600" dirty="0"/>
          </a:p>
          <a:p>
            <a:pPr indent="0" marL="0">
              <a:lnSpc>
                <a:spcPct val="115000"/>
              </a:lnSpc>
              <a:spcBef>
                <a:spcPts val="200"/>
              </a:spcBef>
              <a:buNone/>
            </a:pPr>
            <a:r>
              <a:rPr lang="en-US" sz="1600" dirty="0">
                <a:solidFill>
                  <a:srgbClr val="14453D"/>
                </a:solidFill>
              </a:rPr>
              <a:t>③  a solution to eliminating social classes altogether</a:t>
            </a:r>
            <a:endParaRPr lang="en-US" sz="1600" dirty="0"/>
          </a:p>
          <a:p>
            <a:pPr indent="0" marL="0">
              <a:lnSpc>
                <a:spcPct val="115000"/>
              </a:lnSpc>
              <a:spcBef>
                <a:spcPts val="200"/>
              </a:spcBef>
              <a:buNone/>
            </a:pPr>
            <a:r>
              <a:rPr lang="en-US" sz="1600" dirty="0">
                <a:solidFill>
                  <a:srgbClr val="14453D"/>
                </a:solidFill>
              </a:rPr>
              <a:t>④  a basis for political power and social hierarchy</a:t>
            </a:r>
            <a:endParaRPr lang="en-US" sz="1600" dirty="0"/>
          </a:p>
          <a:p>
            <a:pPr indent="0" marL="0">
              <a:lnSpc>
                <a:spcPct val="115000"/>
              </a:lnSpc>
              <a:spcBef>
                <a:spcPts val="200"/>
              </a:spcBef>
              <a:buNone/>
            </a:pPr>
            <a:r>
              <a:rPr lang="en-US" sz="1600" dirty="0">
                <a:solidFill>
                  <a:srgbClr val="14453D"/>
                </a:solidFill>
              </a:rPr>
              <a:t>⑤  a rise in individual farming independence</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8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b="1" dirty="0">
                <a:solidFill>
                  <a:srgbClr val="2C7DA0"/>
                </a:solidFill>
              </a:rPr>
              <a:t>The key to unlocking</a:t>
            </a:r>
            <a:pPr indent="0" marL="0">
              <a:lnSpc>
                <a:spcPct val="120000"/>
              </a:lnSpc>
              <a:buNone/>
            </a:pPr>
            <a:r>
              <a:rPr lang="en-US" sz="1800" dirty="0">
                <a:solidFill>
                  <a:srgbClr val="1E2B2A"/>
                </a:solidFill>
              </a:rPr>
              <a:t> the agricultural potential of Mesopotamia lay in irrigation.</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rPr>
              <a:t>Early Mesopotamians, particularly the Sumerians, were pioneers in developing sophisticated irrigation techniques.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rPr>
              <a:t>They constructed canals, dikes, and reservoirs to control the flow of the rivers, </a:t>
            </a:r>
            <a:pPr indent="0" marL="0">
              <a:lnSpc>
                <a:spcPct val="120000"/>
              </a:lnSpc>
              <a:buNone/>
            </a:pPr>
            <a:r>
              <a:rPr lang="en-US" sz="1800" b="1" dirty="0">
                <a:solidFill>
                  <a:srgbClr val="2C7DA0"/>
                </a:solidFill>
              </a:rPr>
              <a:t>diverting water</a:t>
            </a:r>
            <a:pPr indent="0" marL="0">
              <a:lnSpc>
                <a:spcPct val="120000"/>
              </a:lnSpc>
              <a:buNone/>
            </a:pPr>
            <a:r>
              <a:rPr lang="en-US" sz="1800" dirty="0">
                <a:solidFill>
                  <a:srgbClr val="1E2B2A"/>
                </a:solidFill>
              </a:rPr>
              <a:t> to their fields during dry periods and </a:t>
            </a:r>
            <a:pPr indent="0" marL="0">
              <a:lnSpc>
                <a:spcPct val="120000"/>
              </a:lnSpc>
              <a:buNone/>
            </a:pPr>
            <a:r>
              <a:rPr lang="en-US" sz="1800" b="1" dirty="0">
                <a:solidFill>
                  <a:srgbClr val="2C7DA0"/>
                </a:solidFill>
              </a:rPr>
              <a:t>protecting their settlements</a:t>
            </a:r>
            <a:pPr indent="0" marL="0">
              <a:lnSpc>
                <a:spcPct val="120000"/>
              </a:lnSpc>
              <a:buNone/>
            </a:pPr>
            <a:r>
              <a:rPr lang="en-US" sz="1800" dirty="0">
                <a:solidFill>
                  <a:srgbClr val="1E2B2A"/>
                </a:solidFill>
              </a:rPr>
              <a:t> from floods.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highlight>
                  <a:srgbClr val="FFD45C"/>
                </a:highlight>
              </a:rPr>
              <a:t>This monumental effort required cooperation and organization on a scale previously unseen, </a:t>
            </a:r>
            <a:pPr indent="0" marL="0">
              <a:lnSpc>
                <a:spcPct val="120000"/>
              </a:lnSpc>
              <a:buNone/>
            </a:pPr>
            <a:r>
              <a:rPr lang="en-US" sz="1800" b="1" dirty="0">
                <a:solidFill>
                  <a:srgbClr val="2C7DA0"/>
                </a:solidFill>
                <a:highlight>
                  <a:srgbClr val="FFD45C"/>
                </a:highlight>
              </a:rPr>
              <a:t>leading to the development</a:t>
            </a:r>
            <a:pPr indent="0" marL="0">
              <a:lnSpc>
                <a:spcPct val="120000"/>
              </a:lnSpc>
              <a:buNone/>
            </a:pPr>
            <a:r>
              <a:rPr lang="en-US" sz="1800" dirty="0">
                <a:solidFill>
                  <a:srgbClr val="1E2B2A"/>
                </a:solidFill>
                <a:highlight>
                  <a:srgbClr val="FFD45C"/>
                </a:highlight>
              </a:rPr>
              <a:t> of complex social structures and the rise of powerful city-states.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rPr>
              <a:t>Early irrigation was relatively small-scale, involving the digging of simple channels to divert water to nearby fields.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dirty="0">
                <a:solidFill>
                  <a:srgbClr val="1E2B2A"/>
                </a:solidFill>
              </a:rPr>
              <a:t>Over time, these systems became more elaborate, with complex networks of canals spanning vast distances.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highlight>
                  <a:srgbClr val="FFD45C"/>
                </a:highlight>
              </a:rPr>
              <a:t>The construction and maintenance of these systems required a significant labor force</a:t>
            </a:r>
            <a:pPr indent="0" marL="0">
              <a:lnSpc>
                <a:spcPct val="120000"/>
              </a:lnSpc>
              <a:buNone/>
            </a:pPr>
            <a:r>
              <a:rPr lang="en-US" sz="1800" b="1" dirty="0">
                <a:solidFill>
                  <a:srgbClr val="2C7DA0"/>
                </a:solidFill>
                <a:highlight>
                  <a:srgbClr val="FFD45C"/>
                </a:highlight>
              </a:rPr>
              <a:t>, which was often organized and directed</a:t>
            </a:r>
            <a:pPr indent="0" marL="0">
              <a:lnSpc>
                <a:spcPct val="120000"/>
              </a:lnSpc>
              <a:buNone/>
            </a:pPr>
            <a:r>
              <a:rPr lang="en-US" sz="1800" dirty="0">
                <a:solidFill>
                  <a:srgbClr val="1E2B2A"/>
                </a:solidFill>
                <a:highlight>
                  <a:srgbClr val="FFD45C"/>
                </a:highlight>
              </a:rPr>
              <a:t> by temple priests or powerful leaders.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(8) </a:t>
            </a:r>
            <a:pPr indent="0" marL="0">
              <a:lnSpc>
                <a:spcPct val="120000"/>
              </a:lnSpc>
              <a:buNone/>
            </a:pPr>
            <a:r>
              <a:rPr lang="en-US" sz="1800" dirty="0">
                <a:solidFill>
                  <a:srgbClr val="1E2B2A"/>
                </a:solidFill>
              </a:rPr>
              <a:t>This centralized control over water resources provided </a:t>
            </a:r>
            <a:pPr indent="0" marL="0">
              <a:lnSpc>
                <a:spcPct val="120000"/>
              </a:lnSpc>
              <a:buNone/>
            </a:pPr>
            <a:r>
              <a:rPr lang="en-US" sz="1800" b="1" dirty="0">
                <a:solidFill>
                  <a:srgbClr val="EF5B3F"/>
                </a:solidFill>
              </a:rPr>
              <a:t>____________</a:t>
            </a:r>
            <a:pPr indent="0" marL="0">
              <a:lnSpc>
                <a:spcPct val="120000"/>
              </a:lnSpc>
              <a:buNone/>
            </a:pPr>
            <a:r>
              <a:rPr lang="en-US" sz="1800" dirty="0">
                <a:solidFill>
                  <a:srgbClr val="1E2B2A"/>
                </a:solidFill>
              </a:rPr>
              <a:t>.</a:t>
            </a:r>
            <a:endParaRPr lang="en-US" sz="15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(다음 슬라이드)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8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EAF3F7"/>
          </a:solidFill>
          <a:ln w="12700">
            <a:solidFill>
              <a:srgbClr val="D3E5EE"/>
            </a:solidFill>
            <a:prstDash val="solid"/>
          </a:ln>
        </p:spPr>
      </p:sp>
      <p:sp>
        <p:nvSpPr>
          <p:cNvPr id="5" name="Text 3"/>
          <p:cNvSpPr txBox="1"/>
          <p:nvPr/>
        </p:nvSpPr>
        <p:spPr>
          <a:xfrm>
            <a:off x="822960" y="1371600"/>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The key to unlocking</a:t>
            </a:r>
            <a:endParaRPr lang="en-US" sz="1500" dirty="0"/>
          </a:p>
        </p:txBody>
      </p:sp>
      <p:sp>
        <p:nvSpPr>
          <p:cNvPr id="6" name="Text 4"/>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전치사 to + 동명사</a:t>
            </a:r>
            <a:endParaRPr lang="en-US" sz="1700" dirty="0"/>
          </a:p>
          <a:p>
            <a:pPr indent="0" marL="0">
              <a:spcAft>
                <a:spcPts val="200"/>
              </a:spcAft>
              <a:buNone/>
            </a:pPr>
            <a:r>
              <a:rPr lang="en-US" sz="1400" dirty="0">
                <a:solidFill>
                  <a:srgbClr val="1E2B2A"/>
                </a:solidFill>
              </a:rPr>
              <a:t>the key to -ing (~의 열쇠). to부정사로 착각 금지</a:t>
            </a:r>
            <a:endParaRPr lang="en-US" sz="1700" dirty="0"/>
          </a:p>
        </p:txBody>
      </p:sp>
      <p:sp>
        <p:nvSpPr>
          <p:cNvPr id="7" name="Shape 5"/>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8" name="Text 6"/>
          <p:cNvSpPr txBox="1"/>
          <p:nvPr/>
        </p:nvSpPr>
        <p:spPr>
          <a:xfrm>
            <a:off x="822960" y="2532888"/>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diverting water  …  protecting their settlements</a:t>
            </a:r>
            <a:endParaRPr lang="en-US" sz="1500" dirty="0"/>
          </a:p>
        </p:txBody>
      </p:sp>
      <p:sp>
        <p:nvSpPr>
          <p:cNvPr id="9" name="Text 7"/>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분사구문 병렬</a:t>
            </a:r>
            <a:endParaRPr lang="en-US" sz="1700" dirty="0"/>
          </a:p>
          <a:p>
            <a:pPr indent="0" marL="0">
              <a:spcAft>
                <a:spcPts val="200"/>
              </a:spcAft>
              <a:buNone/>
            </a:pPr>
            <a:r>
              <a:rPr lang="en-US" sz="1400" dirty="0">
                <a:solidFill>
                  <a:srgbClr val="1E2B2A"/>
                </a:solidFill>
              </a:rPr>
              <a:t>diverting … and protecting …: 주절의 결과·부연 (and로 병렬)</a:t>
            </a:r>
            <a:endParaRPr lang="en-US" sz="1700" dirty="0"/>
          </a:p>
        </p:txBody>
      </p:sp>
      <p:sp>
        <p:nvSpPr>
          <p:cNvPr id="10" name="Shape 8"/>
          <p:cNvSpPr/>
          <p:nvPr/>
        </p:nvSpPr>
        <p:spPr>
          <a:xfrm>
            <a:off x="548640" y="3602736"/>
            <a:ext cx="11064240" cy="1051560"/>
          </a:xfrm>
          <a:prstGeom prst="roundRect">
            <a:avLst>
              <a:gd name="adj" fmla="val 8696"/>
            </a:avLst>
          </a:prstGeom>
          <a:solidFill>
            <a:srgbClr val="EAF3F7"/>
          </a:solidFill>
          <a:ln w="12700">
            <a:solidFill>
              <a:srgbClr val="D3E5EE"/>
            </a:solidFill>
            <a:prstDash val="solid"/>
          </a:ln>
        </p:spPr>
      </p:sp>
      <p:sp>
        <p:nvSpPr>
          <p:cNvPr id="11" name="Text 9"/>
          <p:cNvSpPr txBox="1"/>
          <p:nvPr/>
        </p:nvSpPr>
        <p:spPr>
          <a:xfrm>
            <a:off x="822960" y="3694176"/>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leading to the development</a:t>
            </a:r>
            <a:endParaRPr lang="en-US" sz="1500" dirty="0"/>
          </a:p>
        </p:txBody>
      </p:sp>
      <p:sp>
        <p:nvSpPr>
          <p:cNvPr id="12" name="Text 10"/>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결과의 분사구문</a:t>
            </a:r>
            <a:endParaRPr lang="en-US" sz="1700" dirty="0"/>
          </a:p>
          <a:p>
            <a:pPr indent="0" marL="0">
              <a:spcAft>
                <a:spcPts val="200"/>
              </a:spcAft>
              <a:buNone/>
            </a:pPr>
            <a:r>
              <a:rPr lang="en-US" sz="1400" dirty="0">
                <a:solidFill>
                  <a:srgbClr val="1E2B2A"/>
                </a:solidFill>
              </a:rPr>
              <a:t>, leading to ~ = and it led to ~ (lead to + 명사)</a:t>
            </a:r>
            <a:endParaRPr lang="en-US" sz="1700" dirty="0"/>
          </a:p>
        </p:txBody>
      </p:sp>
      <p:sp>
        <p:nvSpPr>
          <p:cNvPr id="13" name="Shape 11"/>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4" name="Text 12"/>
          <p:cNvSpPr txBox="1"/>
          <p:nvPr/>
        </p:nvSpPr>
        <p:spPr>
          <a:xfrm>
            <a:off x="822960" y="4855464"/>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 which was often organized and directed</a:t>
            </a:r>
            <a:endParaRPr lang="en-US" sz="1500" dirty="0"/>
          </a:p>
        </p:txBody>
      </p:sp>
      <p:sp>
        <p:nvSpPr>
          <p:cNvPr id="15" name="Text 13"/>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계속적 용법 which + 수동</a:t>
            </a:r>
            <a:endParaRPr lang="en-US" sz="1700" dirty="0"/>
          </a:p>
          <a:p>
            <a:pPr indent="0" marL="0">
              <a:spcAft>
                <a:spcPts val="200"/>
              </a:spcAft>
              <a:buNone/>
            </a:pPr>
            <a:r>
              <a:rPr lang="en-US" sz="1400" dirty="0">
                <a:solidFill>
                  <a:srgbClr val="1E2B2A"/>
                </a:solidFill>
              </a:rPr>
              <a:t>선행사 a significant labor force(단수) → was, 조직'되는' 것이라 수동태</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8  </a:t>
            </a:r>
            <a:pPr algn="l" indent="0" marL="0">
              <a:buNone/>
            </a:pPr>
            <a:r>
              <a:rPr lang="en-US" sz="3000" b="1" dirty="0">
                <a:solidFill>
                  <a:schemeClr val="tx2"/>
                </a:solidFill>
              </a:rPr>
              <a:t>메소포타미아의 관개와 권력</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This centralized control over water resources provided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물 자원에 대한 이 중앙집권적 통제는 ______을 제공했다.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물을 '중앙에서 통제'하면 무엇이 생기나?</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…leading to the development of complex social structures and the rise of powerful city-states.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복잡한 사회 구조의 발달과 강력한 도시국가의 부상으로 이어졌다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주제</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메소포타미아 농업의 열쇠 = 관개(irrigation)</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과정</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운하·제방·저수지 건설 → 대규모 협력·조직 필요</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결과</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복잡한 사회 구조 + 강력한 도시국가 등장</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핵심</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사제·지도자가 노동력을 조직·지휘 → 중앙집권적 통제</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8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④</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a basis for political power and social hierarchy</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정치 권력과 사회 위계의 기반</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a reduction in the need for organized labor groups</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조직 노동의 필요 감소 → 오히려 대규모 노동 필요</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a guarantee of equal access to water for everyone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모두에게 평등한 접근 → '중앙 통제'와 반대</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a solution to eliminating social classes altogether</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사회 계급 제거 → 오히려 계급 형성</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accent6"/>
          </a:solidFill>
          <a:ln w="25400">
            <a:solidFill>
              <a:schemeClr val="accent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a basis for political power and social hierarchy</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정치 권력과 사회 위계의 기반</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a rise in individual farming independence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개인 농업의 독립성 → 중앙 통제와 반대</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9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00" dirty="0">
                <a:solidFill>
                  <a:srgbClr val="1E2B2A"/>
                </a:solidFill>
              </a:rPr>
              <a:t>If culture finds its metaphorical basis in agriculture, civilization finds it in exchange.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When our society is connected to other societies, we are connected to other people, and we can suddenly compare things and judge them in relation to each other.</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As a result, we have a choice between better and cheaper options; we can pick the new and the never-before-tried.</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Such choices broaden our horizons and improve our lives.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This is why civilization depends on the unencumbered circulation of goods, people, ideas, faiths, and ways of life.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The consequences of such interaction may be unsettling, but they can also be liberating.</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We no longer have to be confined to, and carry the burden of, our culture, and we no longer have to be who we are.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Civilization provides us with a means of escape.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Or, differently put, exchange is the enemy of culture.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When presented with alternatives, we give up our old ways.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We no longer do the things we used to do and we are no longer quite the same people as before.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This is how </a:t>
            </a:r>
            <a:pPr indent="0" marL="0">
              <a:lnSpc>
                <a:spcPct val="115000"/>
              </a:lnSpc>
              <a:buNone/>
            </a:pPr>
            <a:r>
              <a:rPr lang="en-US" sz="1600" b="1" dirty="0">
                <a:solidFill>
                  <a:srgbClr val="EF5B3F"/>
                </a:solidFill>
              </a:rPr>
              <a:t>____________</a:t>
            </a:r>
            <a:pPr indent="0" marL="0">
              <a:lnSpc>
                <a:spcPct val="115000"/>
              </a:lnSpc>
              <a:buNone/>
            </a:pPr>
            <a:r>
              <a:rPr lang="en-US" sz="1600" dirty="0">
                <a:solidFill>
                  <a:srgbClr val="1E2B2A"/>
                </a:solidFill>
              </a:rPr>
              <a:t>.</a:t>
            </a:r>
            <a:endParaRPr lang="en-US" sz="1600" dirty="0"/>
          </a:p>
          <a:p>
            <a:pPr algn="r" indent="0" marL="0">
              <a:lnSpc>
                <a:spcPct val="115000"/>
              </a:lnSpc>
              <a:spcBef>
                <a:spcPts val="200"/>
              </a:spcBef>
              <a:buNone/>
            </a:pPr>
            <a:r>
              <a:rPr lang="en-US" sz="1100" i="1" dirty="0">
                <a:solidFill>
                  <a:srgbClr val="6E7F7C"/>
                </a:solidFill>
              </a:rPr>
              <a:t>※ 교재 각주(endowment, exacerbate)는 이 지문에 나오지 않는 단어 → 무시</a:t>
            </a:r>
            <a:endParaRPr lang="en-US" sz="1600" dirty="0"/>
          </a:p>
          <a:p>
            <a:pPr indent="0" marL="0">
              <a:lnSpc>
                <a:spcPct val="115000"/>
              </a:lnSpc>
              <a:spcBef>
                <a:spcPts val="1000"/>
              </a:spcBef>
              <a:buNone/>
            </a:pPr>
            <a:r>
              <a:rPr lang="en-US" sz="1600" dirty="0">
                <a:solidFill>
                  <a:srgbClr val="14453D"/>
                </a:solidFill>
              </a:rPr>
              <a:t>①  strong cultural boundaries emerge globally</a:t>
            </a:r>
            <a:endParaRPr lang="en-US" sz="1600" dirty="0"/>
          </a:p>
          <a:p>
            <a:pPr indent="0" marL="0">
              <a:lnSpc>
                <a:spcPct val="115000"/>
              </a:lnSpc>
              <a:spcBef>
                <a:spcPts val="200"/>
              </a:spcBef>
              <a:buNone/>
            </a:pPr>
            <a:r>
              <a:rPr lang="en-US" sz="1600" dirty="0">
                <a:solidFill>
                  <a:srgbClr val="14453D"/>
                </a:solidFill>
              </a:rPr>
              <a:t>②  civilization undermines and destroys culture</a:t>
            </a:r>
            <a:endParaRPr lang="en-US" sz="1600" dirty="0"/>
          </a:p>
          <a:p>
            <a:pPr indent="0" marL="0">
              <a:lnSpc>
                <a:spcPct val="115000"/>
              </a:lnSpc>
              <a:spcBef>
                <a:spcPts val="200"/>
              </a:spcBef>
              <a:buNone/>
            </a:pPr>
            <a:r>
              <a:rPr lang="en-US" sz="1600" dirty="0">
                <a:solidFill>
                  <a:srgbClr val="14453D"/>
                </a:solidFill>
              </a:rPr>
              <a:t>③  cultural exchange encourages local uniqueness</a:t>
            </a:r>
            <a:endParaRPr lang="en-US" sz="1600" dirty="0"/>
          </a:p>
          <a:p>
            <a:pPr indent="0" marL="0">
              <a:lnSpc>
                <a:spcPct val="115000"/>
              </a:lnSpc>
              <a:spcBef>
                <a:spcPts val="200"/>
              </a:spcBef>
              <a:buNone/>
            </a:pPr>
            <a:r>
              <a:rPr lang="en-US" sz="1600" dirty="0">
                <a:solidFill>
                  <a:srgbClr val="14453D"/>
                </a:solidFill>
              </a:rPr>
              <a:t>④  civilization spreads culture without altering its core values</a:t>
            </a:r>
            <a:endParaRPr lang="en-US" sz="1600" dirty="0"/>
          </a:p>
          <a:p>
            <a:pPr indent="0" marL="0">
              <a:lnSpc>
                <a:spcPct val="115000"/>
              </a:lnSpc>
              <a:spcBef>
                <a:spcPts val="200"/>
              </a:spcBef>
              <a:buNone/>
            </a:pPr>
            <a:r>
              <a:rPr lang="en-US" sz="1600" dirty="0">
                <a:solidFill>
                  <a:srgbClr val="14453D"/>
                </a:solidFill>
              </a:rPr>
              <a:t>⑤  cultural identity strengthens through interaction with others</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9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highlight>
                  <a:srgbClr val="FFD45C"/>
                </a:highlight>
              </a:rPr>
              <a:t>If culture finds its metaphorical basis in agriculture, civilization </a:t>
            </a:r>
            <a:pPr indent="0" marL="0">
              <a:lnSpc>
                <a:spcPct val="120000"/>
              </a:lnSpc>
              <a:buNone/>
            </a:pPr>
            <a:r>
              <a:rPr lang="en-US" sz="1800" b="1" dirty="0">
                <a:solidFill>
                  <a:srgbClr val="2C7DA0"/>
                </a:solidFill>
                <a:highlight>
                  <a:srgbClr val="FFD45C"/>
                </a:highlight>
              </a:rPr>
              <a:t>finds it in exchange</a:t>
            </a:r>
            <a:pPr indent="0" marL="0">
              <a:lnSpc>
                <a:spcPct val="120000"/>
              </a:lnSpc>
              <a:buNone/>
            </a:pPr>
            <a:r>
              <a:rPr lang="en-US" sz="1800" dirty="0">
                <a:solidFill>
                  <a:srgbClr val="1E2B2A"/>
                </a:solidFill>
                <a:highlight>
                  <a:srgbClr val="FFD45C"/>
                </a:highlight>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rPr>
              <a:t>When our society is connected to other societies, we are connected to other people, and we can suddenly compare things and judge them in relation to each other.</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rPr>
              <a:t>As a result, we have a choice between better and cheaper options; we can pick the new and the never-before-tried.</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rPr>
              <a:t>Such choices broaden our horizons and improve our lives.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b="1" dirty="0">
                <a:solidFill>
                  <a:srgbClr val="2C7DA0"/>
                </a:solidFill>
              </a:rPr>
              <a:t>This is why</a:t>
            </a:r>
            <a:pPr indent="0" marL="0">
              <a:lnSpc>
                <a:spcPct val="120000"/>
              </a:lnSpc>
              <a:buNone/>
            </a:pPr>
            <a:r>
              <a:rPr lang="en-US" sz="1800" dirty="0">
                <a:solidFill>
                  <a:srgbClr val="1E2B2A"/>
                </a:solidFill>
              </a:rPr>
              <a:t> civilization depends on the unencumbered circulation of goods, people, ideas, faiths, and ways of life.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dirty="0">
                <a:solidFill>
                  <a:srgbClr val="1E2B2A"/>
                </a:solidFill>
              </a:rPr>
              <a:t>The consequences of such interaction may be unsettling, but they can also be liberating.</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rPr>
              <a:t>We no longer have to </a:t>
            </a:r>
            <a:pPr indent="0" marL="0">
              <a:lnSpc>
                <a:spcPct val="120000"/>
              </a:lnSpc>
              <a:buNone/>
            </a:pPr>
            <a:r>
              <a:rPr lang="en-US" sz="1800" b="1" dirty="0">
                <a:solidFill>
                  <a:srgbClr val="2C7DA0"/>
                </a:solidFill>
              </a:rPr>
              <a:t>be confined to, and carry the burden of, our culture</a:t>
            </a:r>
            <a:pPr indent="0" marL="0">
              <a:lnSpc>
                <a:spcPct val="120000"/>
              </a:lnSpc>
              <a:buNone/>
            </a:pPr>
            <a:r>
              <a:rPr lang="en-US" sz="1800" dirty="0">
                <a:solidFill>
                  <a:srgbClr val="1E2B2A"/>
                </a:solidFill>
              </a:rPr>
              <a:t>, and we no longer have to be who we are.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(8) </a:t>
            </a:r>
            <a:pPr indent="0" marL="0">
              <a:lnSpc>
                <a:spcPct val="120000"/>
              </a:lnSpc>
              <a:buNone/>
            </a:pPr>
            <a:r>
              <a:rPr lang="en-US" sz="1800" dirty="0">
                <a:solidFill>
                  <a:srgbClr val="1E2B2A"/>
                </a:solidFill>
              </a:rPr>
              <a:t>Civilization provides us with a means of escape.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(9) </a:t>
            </a:r>
            <a:pPr indent="0" marL="0">
              <a:lnSpc>
                <a:spcPct val="120000"/>
              </a:lnSpc>
              <a:buNone/>
            </a:pPr>
            <a:r>
              <a:rPr lang="en-US" sz="1800" dirty="0">
                <a:solidFill>
                  <a:srgbClr val="1E2B2A"/>
                </a:solidFill>
                <a:highlight>
                  <a:srgbClr val="FFD45C"/>
                </a:highlight>
              </a:rPr>
              <a:t>Or, differently put, exchange is the enemy of culture.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(10) </a:t>
            </a:r>
            <a:pPr indent="0" marL="0">
              <a:lnSpc>
                <a:spcPct val="120000"/>
              </a:lnSpc>
              <a:buNone/>
            </a:pPr>
            <a:r>
              <a:rPr lang="en-US" sz="1800" b="1" dirty="0">
                <a:solidFill>
                  <a:srgbClr val="2C7DA0"/>
                </a:solidFill>
                <a:highlight>
                  <a:srgbClr val="FFD45C"/>
                </a:highlight>
              </a:rPr>
              <a:t>When presented with alternatives</a:t>
            </a:r>
            <a:pPr indent="0" marL="0">
              <a:lnSpc>
                <a:spcPct val="120000"/>
              </a:lnSpc>
              <a:buNone/>
            </a:pPr>
            <a:r>
              <a:rPr lang="en-US" sz="1800" dirty="0">
                <a:solidFill>
                  <a:srgbClr val="1E2B2A"/>
                </a:solidFill>
                <a:highlight>
                  <a:srgbClr val="FFD45C"/>
                </a:highlight>
              </a:rPr>
              <a:t>, we give up our old ways.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(11) </a:t>
            </a:r>
            <a:pPr indent="0" marL="0">
              <a:lnSpc>
                <a:spcPct val="120000"/>
              </a:lnSpc>
              <a:buNone/>
            </a:pPr>
            <a:r>
              <a:rPr lang="en-US" sz="1800" dirty="0">
                <a:solidFill>
                  <a:srgbClr val="1E2B2A"/>
                </a:solidFill>
              </a:rPr>
              <a:t>We no longer do </a:t>
            </a:r>
            <a:pPr indent="0" marL="0">
              <a:lnSpc>
                <a:spcPct val="120000"/>
              </a:lnSpc>
              <a:buNone/>
            </a:pPr>
            <a:r>
              <a:rPr lang="en-US" sz="1800" b="1" dirty="0">
                <a:solidFill>
                  <a:srgbClr val="2C7DA0"/>
                </a:solidFill>
              </a:rPr>
              <a:t>the things we used to do</a:t>
            </a:r>
            <a:pPr indent="0" marL="0">
              <a:lnSpc>
                <a:spcPct val="120000"/>
              </a:lnSpc>
              <a:buNone/>
            </a:pPr>
            <a:r>
              <a:rPr lang="en-US" sz="1800" dirty="0">
                <a:solidFill>
                  <a:srgbClr val="1E2B2A"/>
                </a:solidFill>
              </a:rPr>
              <a:t> and we are no longer quite the same people as before.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(12) </a:t>
            </a:r>
            <a:pPr indent="0" marL="0">
              <a:lnSpc>
                <a:spcPct val="120000"/>
              </a:lnSpc>
              <a:buNone/>
            </a:pPr>
            <a:r>
              <a:rPr lang="en-US" sz="1800" dirty="0">
                <a:solidFill>
                  <a:srgbClr val="1E2B2A"/>
                </a:solidFill>
              </a:rPr>
              <a:t>This is how </a:t>
            </a:r>
            <a:pPr indent="0" marL="0">
              <a:lnSpc>
                <a:spcPct val="120000"/>
              </a:lnSpc>
              <a:buNone/>
            </a:pPr>
            <a:r>
              <a:rPr lang="en-US" sz="1800" b="1" dirty="0">
                <a:solidFill>
                  <a:srgbClr val="EF5B3F"/>
                </a:solidFill>
              </a:rPr>
              <a:t>____________</a:t>
            </a:r>
            <a:pPr indent="0" marL="0">
              <a:lnSpc>
                <a:spcPct val="120000"/>
              </a:lnSpc>
              <a:buNone/>
            </a:pPr>
            <a:r>
              <a:rPr lang="en-US" sz="1800" dirty="0">
                <a:solidFill>
                  <a:srgbClr val="1E2B2A"/>
                </a:solidFill>
              </a:rPr>
              <a:t>.</a:t>
            </a:r>
            <a:endParaRPr lang="en-US" sz="15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(다음 슬라이드)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9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EAF3F7"/>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finds it in exchange</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대명사 it</a:t>
            </a:r>
            <a:endParaRPr lang="en-US" sz="1700" dirty="0"/>
          </a:p>
          <a:p>
            <a:pPr indent="0" marL="0">
              <a:spcAft>
                <a:spcPts val="200"/>
              </a:spcAft>
              <a:buNone/>
            </a:pPr>
            <a:r>
              <a:rPr lang="en-US" sz="1400" dirty="0">
                <a:solidFill>
                  <a:srgbClr val="1E2B2A"/>
                </a:solidFill>
              </a:rPr>
              <a:t>it = its metaphorical basis (앞 절과 대구 구조)</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This is why</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This is why + 결과</a:t>
            </a:r>
            <a:endParaRPr lang="en-US" sz="1700" dirty="0"/>
          </a:p>
          <a:p>
            <a:pPr indent="0" marL="0">
              <a:spcAft>
                <a:spcPts val="200"/>
              </a:spcAft>
              <a:buNone/>
            </a:pPr>
            <a:r>
              <a:rPr lang="en-US" sz="1400" dirty="0">
                <a:solidFill>
                  <a:srgbClr val="1E2B2A"/>
                </a:solidFill>
              </a:rPr>
              <a:t>앞 내용이 원인, 뒤가 결과 (This is because와 구별)</a:t>
            </a:r>
            <a:endParaRPr lang="en-US" sz="1700" dirty="0"/>
          </a:p>
        </p:txBody>
      </p:sp>
      <p:sp>
        <p:nvSpPr>
          <p:cNvPr id="10" name="Shape 8"/>
          <p:cNvSpPr/>
          <p:nvPr/>
        </p:nvSpPr>
        <p:spPr>
          <a:xfrm>
            <a:off x="548640" y="3335731"/>
            <a:ext cx="11064240" cy="918058"/>
          </a:xfrm>
          <a:prstGeom prst="roundRect">
            <a:avLst>
              <a:gd name="adj" fmla="val 9960"/>
            </a:avLst>
          </a:prstGeom>
          <a:solidFill>
            <a:srgbClr val="EAF3F7"/>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be confined to, and carry the burden of, our culture</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공통관계</a:t>
            </a:r>
            <a:endParaRPr lang="en-US" sz="1700" dirty="0"/>
          </a:p>
          <a:p>
            <a:pPr indent="0" marL="0">
              <a:spcAft>
                <a:spcPts val="200"/>
              </a:spcAft>
              <a:buNone/>
            </a:pPr>
            <a:r>
              <a:rPr lang="en-US" sz="1400" dirty="0">
                <a:solidFill>
                  <a:srgbClr val="1E2B2A"/>
                </a:solidFill>
              </a:rPr>
              <a:t>to와 of가 our culture를 공통 목적어로 공유</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When presented with alternatives</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접속사 + 분사구문</a:t>
            </a:r>
            <a:endParaRPr lang="en-US" sz="1700" dirty="0"/>
          </a:p>
          <a:p>
            <a:pPr indent="0" marL="0">
              <a:spcAft>
                <a:spcPts val="200"/>
              </a:spcAft>
              <a:buNone/>
            </a:pPr>
            <a:r>
              <a:rPr lang="en-US" sz="1400" dirty="0">
                <a:solidFill>
                  <a:srgbClr val="1E2B2A"/>
                </a:solidFill>
              </a:rPr>
              <a:t>When (we are) presented with ~: 수동 분사구문</a:t>
            </a:r>
            <a:endParaRPr lang="en-US" sz="1700" dirty="0"/>
          </a:p>
        </p:txBody>
      </p:sp>
      <p:sp>
        <p:nvSpPr>
          <p:cNvPr id="16" name="Shape 14"/>
          <p:cNvSpPr/>
          <p:nvPr/>
        </p:nvSpPr>
        <p:spPr>
          <a:xfrm>
            <a:off x="548640" y="5391302"/>
            <a:ext cx="11064240" cy="918058"/>
          </a:xfrm>
          <a:prstGeom prst="roundRect">
            <a:avLst>
              <a:gd name="adj" fmla="val 9960"/>
            </a:avLst>
          </a:prstGeom>
          <a:solidFill>
            <a:srgbClr val="EAF3F7"/>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the things we used to do</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used to V</a:t>
            </a:r>
            <a:endParaRPr lang="en-US" sz="1700" dirty="0"/>
          </a:p>
          <a:p>
            <a:pPr indent="0" marL="0">
              <a:spcAft>
                <a:spcPts val="200"/>
              </a:spcAft>
              <a:buNone/>
            </a:pPr>
            <a:r>
              <a:rPr lang="en-US" sz="1400" dirty="0">
                <a:solidFill>
                  <a:srgbClr val="1E2B2A"/>
                </a:solidFill>
              </a:rPr>
              <a:t>~하곤 했다 (be used to -ing: ~에 익숙하다와 구별)</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9  </a:t>
            </a:r>
            <a:pPr algn="l" indent="0" marL="0">
              <a:buNone/>
            </a:pPr>
            <a:r>
              <a:rPr lang="en-US" sz="3000" b="1" dirty="0">
                <a:solidFill>
                  <a:schemeClr val="tx2"/>
                </a:solidFill>
              </a:rPr>
              <a:t>문명은 문화의 적?</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This is how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이것이 바로 ______하는 방식이다.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앞 내용(옛 방식을 버림)을 한 문장으로 요약</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Or, differently put, exchange is the enemy of culture. When presented with alternatives, we give up our old ways.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다시 말해, 교환은 문화의 적이다. 대안이 주어지면 우리는 옛 방식을 버린다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대비</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문화(culture) = 농업(뿌리) / 문명(civilization) = 교환</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과정</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교환 → 비교 → 더 나은 선택 → 시야 확장</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핵심</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Exchange is the enemy of culture (교환은 문화의 적)</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결과</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대안이 생기면 옛 방식을 버리고, 예전의 우리가 아니게 됨</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9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②</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civilization undermines and destroys culture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문명이 문화를 약화·파괴 = enemy of culture</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strong cultural boundaries emerge globally</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강한 문화적 경계 → 경계가 무너지는 글</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accent6"/>
          </a:solidFill>
          <a:ln w="25400">
            <a:solidFill>
              <a:schemeClr val="accent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civilization undermines and destroys culture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문명이 문화를 약화·파괴 = enemy of culture</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cultural exchange encourages local uniqueness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지역 고유성 장려 → 반대</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civilization spreads culture without altering its core values</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핵심 가치 변화 없음 → '예전의 우리가 아님'과 반대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cultural identity strengthens through interaction with others</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정체성 강화 → 반대</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10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50" dirty="0">
                <a:solidFill>
                  <a:srgbClr val="1E2B2A"/>
                </a:solidFill>
              </a:rPr>
              <a:t>Science and democracy share important principles and ideals that oppose illegitimate claims for knowledge and power.</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The authority of both scientific knowledge and democratic governance is legitimated by representation.</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It is only when this representation is accepted as legitimate that it can support the authority of the knowledge claims made, or the authority of particular forms of governance.</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Representation is, however, </a:t>
            </a:r>
            <a:pPr indent="0" marL="0">
              <a:lnSpc>
                <a:spcPct val="115000"/>
              </a:lnSpc>
              <a:buNone/>
            </a:pPr>
            <a:r>
              <a:rPr lang="en-US" sz="1650" b="1" dirty="0">
                <a:solidFill>
                  <a:srgbClr val="EF5B3F"/>
                </a:solidFill>
              </a:rPr>
              <a:t>____________</a:t>
            </a:r>
            <a:pPr indent="0" marL="0">
              <a:lnSpc>
                <a:spcPct val="115000"/>
              </a:lnSpc>
              <a:buNone/>
            </a:pPr>
            <a:r>
              <a:rPr lang="en-US" sz="1650" dirty="0">
                <a:solidFill>
                  <a:srgbClr val="1E2B2A"/>
                </a:solidFill>
              </a:rPr>
              <a:t>.</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Since both scientific practices and democratic governance, in principle, admit potential alternative representations, continuous struggles over what is represented and what is not can be foreseen.</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To represent means to simplify, which implies the existence of alternatives ─ alternative ways of simplifying complicated issues.</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This further means that both science and democracy have inbuilt mechanisms for improvement, which are based on critical assessments of existing representations.</a:t>
            </a:r>
            <a:endParaRPr lang="en-US" sz="1650" dirty="0"/>
          </a:p>
          <a:p>
            <a:pPr algn="r" indent="0" marL="0">
              <a:lnSpc>
                <a:spcPct val="115000"/>
              </a:lnSpc>
              <a:spcBef>
                <a:spcPts val="200"/>
              </a:spcBef>
              <a:buNone/>
            </a:pPr>
            <a:r>
              <a:rPr lang="en-US" sz="1100" i="1" dirty="0">
                <a:solidFill>
                  <a:srgbClr val="6E7F7C"/>
                </a:solidFill>
              </a:rPr>
              <a:t>* governance: 통치, 관리</a:t>
            </a:r>
            <a:endParaRPr lang="en-US" sz="1650" dirty="0"/>
          </a:p>
          <a:p>
            <a:pPr indent="0" marL="0">
              <a:lnSpc>
                <a:spcPct val="115000"/>
              </a:lnSpc>
              <a:spcBef>
                <a:spcPts val="1000"/>
              </a:spcBef>
              <a:buNone/>
            </a:pPr>
            <a:r>
              <a:rPr lang="en-US" sz="1650" dirty="0">
                <a:solidFill>
                  <a:srgbClr val="14453D"/>
                </a:solidFill>
              </a:rPr>
              <a:t>①  free from controversy</a:t>
            </a:r>
            <a:endParaRPr lang="en-US" sz="1650" dirty="0"/>
          </a:p>
          <a:p>
            <a:pPr indent="0" marL="0">
              <a:lnSpc>
                <a:spcPct val="115000"/>
              </a:lnSpc>
              <a:spcBef>
                <a:spcPts val="200"/>
              </a:spcBef>
              <a:buNone/>
            </a:pPr>
            <a:r>
              <a:rPr lang="en-US" sz="1650" dirty="0">
                <a:solidFill>
                  <a:srgbClr val="14453D"/>
                </a:solidFill>
              </a:rPr>
              <a:t>②  never perfect or complete</a:t>
            </a:r>
            <a:endParaRPr lang="en-US" sz="1650" dirty="0"/>
          </a:p>
          <a:p>
            <a:pPr indent="0" marL="0">
              <a:lnSpc>
                <a:spcPct val="115000"/>
              </a:lnSpc>
              <a:spcBef>
                <a:spcPts val="200"/>
              </a:spcBef>
              <a:buNone/>
            </a:pPr>
            <a:r>
              <a:rPr lang="en-US" sz="1650" dirty="0">
                <a:solidFill>
                  <a:srgbClr val="14453D"/>
                </a:solidFill>
              </a:rPr>
              <a:t>③  valid only in scientific contexts</a:t>
            </a:r>
            <a:endParaRPr lang="en-US" sz="1650" dirty="0"/>
          </a:p>
          <a:p>
            <a:pPr indent="0" marL="0">
              <a:lnSpc>
                <a:spcPct val="115000"/>
              </a:lnSpc>
              <a:spcBef>
                <a:spcPts val="200"/>
              </a:spcBef>
              <a:buNone/>
            </a:pPr>
            <a:r>
              <a:rPr lang="en-US" sz="1650" dirty="0">
                <a:solidFill>
                  <a:srgbClr val="14453D"/>
                </a:solidFill>
              </a:rPr>
              <a:t>④  fixed and then resistant to change</a:t>
            </a:r>
            <a:endParaRPr lang="en-US" sz="1650" dirty="0"/>
          </a:p>
          <a:p>
            <a:pPr indent="0" marL="0">
              <a:lnSpc>
                <a:spcPct val="115000"/>
              </a:lnSpc>
              <a:spcBef>
                <a:spcPts val="200"/>
              </a:spcBef>
              <a:buNone/>
            </a:pPr>
            <a:r>
              <a:rPr lang="en-US" sz="1650" dirty="0">
                <a:solidFill>
                  <a:srgbClr val="14453D"/>
                </a:solidFill>
              </a:rPr>
              <a:t>⑤  not subjective nor universally rejected</a:t>
            </a:r>
            <a:endParaRPr lang="en-US" sz="16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10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600" b="1" dirty="0">
                <a:solidFill>
                  <a:srgbClr val="1F7A64"/>
                </a:solidFill>
              </a:rPr>
              <a:t>(1) </a:t>
            </a:r>
            <a:pPr indent="0" marL="0">
              <a:lnSpc>
                <a:spcPct val="120000"/>
              </a:lnSpc>
              <a:buNone/>
            </a:pPr>
            <a:r>
              <a:rPr lang="en-US" sz="1900" dirty="0">
                <a:solidFill>
                  <a:srgbClr val="1E2B2A"/>
                </a:solidFill>
              </a:rPr>
              <a:t>Science and democracy share important principles and ideals </a:t>
            </a:r>
            <a:pPr indent="0" marL="0">
              <a:lnSpc>
                <a:spcPct val="120000"/>
              </a:lnSpc>
              <a:buNone/>
            </a:pPr>
            <a:r>
              <a:rPr lang="en-US" sz="1900" b="1" dirty="0">
                <a:solidFill>
                  <a:srgbClr val="2C7DA0"/>
                </a:solidFill>
              </a:rPr>
              <a:t>that oppose illegitimate claims</a:t>
            </a:r>
            <a:pPr indent="0" marL="0">
              <a:lnSpc>
                <a:spcPct val="120000"/>
              </a:lnSpc>
              <a:buNone/>
            </a:pPr>
            <a:r>
              <a:rPr lang="en-US" sz="1900" dirty="0">
                <a:solidFill>
                  <a:srgbClr val="1E2B2A"/>
                </a:solidFill>
              </a:rPr>
              <a:t> for knowledge and power.</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(2) </a:t>
            </a:r>
            <a:pPr indent="0" marL="0">
              <a:lnSpc>
                <a:spcPct val="120000"/>
              </a:lnSpc>
              <a:buNone/>
            </a:pPr>
            <a:r>
              <a:rPr lang="en-US" sz="1900" dirty="0">
                <a:solidFill>
                  <a:srgbClr val="1E2B2A"/>
                </a:solidFill>
              </a:rPr>
              <a:t>The authority of both scientific knowledge and democratic governance is legitimated by representation.</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(3) </a:t>
            </a:r>
            <a:pPr indent="0" marL="0">
              <a:lnSpc>
                <a:spcPct val="120000"/>
              </a:lnSpc>
              <a:buNone/>
            </a:pPr>
            <a:r>
              <a:rPr lang="en-US" sz="1900" b="1" dirty="0">
                <a:solidFill>
                  <a:srgbClr val="2C7DA0"/>
                </a:solidFill>
              </a:rPr>
              <a:t>It is only when this representation is accepted as legitimate that</a:t>
            </a:r>
            <a:pPr indent="0" marL="0">
              <a:lnSpc>
                <a:spcPct val="120000"/>
              </a:lnSpc>
              <a:buNone/>
            </a:pPr>
            <a:r>
              <a:rPr lang="en-US" sz="1900" dirty="0">
                <a:solidFill>
                  <a:srgbClr val="1E2B2A"/>
                </a:solidFill>
              </a:rPr>
              <a:t> it can support the authority of the knowledge claims made, or the authority of particular forms of governance.</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(4) </a:t>
            </a:r>
            <a:pPr indent="0" marL="0">
              <a:lnSpc>
                <a:spcPct val="120000"/>
              </a:lnSpc>
              <a:buNone/>
            </a:pPr>
            <a:r>
              <a:rPr lang="en-US" sz="1900" dirty="0">
                <a:solidFill>
                  <a:srgbClr val="1E2B2A"/>
                </a:solidFill>
              </a:rPr>
              <a:t>Representation is, however, </a:t>
            </a:r>
            <a:pPr indent="0" marL="0">
              <a:lnSpc>
                <a:spcPct val="120000"/>
              </a:lnSpc>
              <a:buNone/>
            </a:pPr>
            <a:r>
              <a:rPr lang="en-US" sz="1900" b="1" dirty="0">
                <a:solidFill>
                  <a:srgbClr val="EF5B3F"/>
                </a:solidFill>
              </a:rPr>
              <a:t>____________</a:t>
            </a:r>
            <a:pPr indent="0" marL="0">
              <a:lnSpc>
                <a:spcPct val="120000"/>
              </a:lnSpc>
              <a:buNone/>
            </a:pPr>
            <a:r>
              <a:rPr lang="en-US" sz="1900" dirty="0">
                <a:solidFill>
                  <a:srgbClr val="1E2B2A"/>
                </a:solidFill>
              </a:rPr>
              <a:t>.</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(5) </a:t>
            </a:r>
            <a:pPr indent="0" marL="0">
              <a:lnSpc>
                <a:spcPct val="120000"/>
              </a:lnSpc>
              <a:buNone/>
            </a:pPr>
            <a:r>
              <a:rPr lang="en-US" sz="1900" b="1" dirty="0">
                <a:solidFill>
                  <a:srgbClr val="2C7DA0"/>
                </a:solidFill>
                <a:highlight>
                  <a:srgbClr val="FFD45C"/>
                </a:highlight>
              </a:rPr>
              <a:t>Since both scientific practices and democratic governance, in principle, admit</a:t>
            </a:r>
            <a:pPr indent="0" marL="0">
              <a:lnSpc>
                <a:spcPct val="120000"/>
              </a:lnSpc>
              <a:buNone/>
            </a:pPr>
            <a:r>
              <a:rPr lang="en-US" sz="1900" dirty="0">
                <a:solidFill>
                  <a:srgbClr val="1E2B2A"/>
                </a:solidFill>
                <a:highlight>
                  <a:srgbClr val="FFD45C"/>
                </a:highlight>
              </a:rPr>
              <a:t> potential alternative representations, continuous struggles over what is represented and what is not can be foreseen.</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(6) </a:t>
            </a:r>
            <a:pPr indent="0" marL="0">
              <a:lnSpc>
                <a:spcPct val="120000"/>
              </a:lnSpc>
              <a:buNone/>
            </a:pPr>
            <a:r>
              <a:rPr lang="en-US" sz="1900" dirty="0">
                <a:solidFill>
                  <a:srgbClr val="1E2B2A"/>
                </a:solidFill>
                <a:highlight>
                  <a:srgbClr val="FFD45C"/>
                </a:highlight>
              </a:rPr>
              <a:t>To represent means to simplify, </a:t>
            </a:r>
            <a:pPr indent="0" marL="0">
              <a:lnSpc>
                <a:spcPct val="120000"/>
              </a:lnSpc>
              <a:buNone/>
            </a:pPr>
            <a:r>
              <a:rPr lang="en-US" sz="1900" b="1" dirty="0">
                <a:solidFill>
                  <a:srgbClr val="2C7DA0"/>
                </a:solidFill>
                <a:highlight>
                  <a:srgbClr val="FFD45C"/>
                </a:highlight>
              </a:rPr>
              <a:t>which implies the existence of alternatives</a:t>
            </a:r>
            <a:pPr indent="0" marL="0">
              <a:lnSpc>
                <a:spcPct val="120000"/>
              </a:lnSpc>
              <a:buNone/>
            </a:pPr>
            <a:r>
              <a:rPr lang="en-US" sz="1900" dirty="0">
                <a:solidFill>
                  <a:srgbClr val="1E2B2A"/>
                </a:solidFill>
                <a:highlight>
                  <a:srgbClr val="FFD45C"/>
                </a:highlight>
              </a:rPr>
              <a:t> ─ alternative ways of simplifying complicated issues.</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(7) </a:t>
            </a:r>
            <a:pPr indent="0" marL="0">
              <a:lnSpc>
                <a:spcPct val="120000"/>
              </a:lnSpc>
              <a:buNone/>
            </a:pPr>
            <a:r>
              <a:rPr lang="en-US" sz="1900" dirty="0">
                <a:solidFill>
                  <a:srgbClr val="1E2B2A"/>
                </a:solidFill>
                <a:highlight>
                  <a:srgbClr val="FFD45C"/>
                </a:highlight>
              </a:rPr>
              <a:t>This further means that both science and democracy have inbuilt mechanisms for improvement, which are based on critical assessments of existing representations.</a:t>
            </a:r>
            <a:endParaRPr lang="en-US" sz="16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(다음 슬라이드)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10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EAF3F7"/>
          </a:solidFill>
          <a:ln w="12700">
            <a:solidFill>
              <a:srgbClr val="D3E5EE"/>
            </a:solidFill>
            <a:prstDash val="solid"/>
          </a:ln>
        </p:spPr>
      </p:sp>
      <p:sp>
        <p:nvSpPr>
          <p:cNvPr id="5" name="Text 3"/>
          <p:cNvSpPr txBox="1"/>
          <p:nvPr/>
        </p:nvSpPr>
        <p:spPr>
          <a:xfrm>
            <a:off x="822960" y="1371600"/>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that oppose illegitimate claims</a:t>
            </a:r>
            <a:endParaRPr lang="en-US" sz="1500" dirty="0"/>
          </a:p>
        </p:txBody>
      </p:sp>
      <p:sp>
        <p:nvSpPr>
          <p:cNvPr id="6" name="Text 4"/>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주격 관계대명사 수일치</a:t>
            </a:r>
            <a:endParaRPr lang="en-US" sz="1700" dirty="0"/>
          </a:p>
          <a:p>
            <a:pPr indent="0" marL="0">
              <a:spcAft>
                <a:spcPts val="200"/>
              </a:spcAft>
              <a:buNone/>
            </a:pPr>
            <a:r>
              <a:rPr lang="en-US" sz="1400" dirty="0">
                <a:solidFill>
                  <a:srgbClr val="1E2B2A"/>
                </a:solidFill>
              </a:rPr>
              <a:t>선행사 principles and ideals(복수) → oppose</a:t>
            </a:r>
            <a:endParaRPr lang="en-US" sz="1700" dirty="0"/>
          </a:p>
        </p:txBody>
      </p:sp>
      <p:sp>
        <p:nvSpPr>
          <p:cNvPr id="7" name="Shape 5"/>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8" name="Text 6"/>
          <p:cNvSpPr txBox="1"/>
          <p:nvPr/>
        </p:nvSpPr>
        <p:spPr>
          <a:xfrm>
            <a:off x="822960" y="2532888"/>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It is only when this representation is accepted as legitimate that</a:t>
            </a:r>
            <a:endParaRPr lang="en-US" sz="1500" dirty="0"/>
          </a:p>
        </p:txBody>
      </p:sp>
      <p:sp>
        <p:nvSpPr>
          <p:cNvPr id="9" name="Text 7"/>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It is ~ that 강조구문</a:t>
            </a:r>
            <a:endParaRPr lang="en-US" sz="1700" dirty="0"/>
          </a:p>
          <a:p>
            <a:pPr indent="0" marL="0">
              <a:spcAft>
                <a:spcPts val="200"/>
              </a:spcAft>
              <a:buNone/>
            </a:pPr>
            <a:r>
              <a:rPr lang="en-US" sz="1400" dirty="0">
                <a:solidFill>
                  <a:srgbClr val="1E2B2A"/>
                </a:solidFill>
              </a:rPr>
              <a:t>only when ~ 부사절을 강조. that 뒤는 완전한 절</a:t>
            </a:r>
            <a:endParaRPr lang="en-US" sz="1700" dirty="0"/>
          </a:p>
        </p:txBody>
      </p:sp>
      <p:sp>
        <p:nvSpPr>
          <p:cNvPr id="10" name="Shape 8"/>
          <p:cNvSpPr/>
          <p:nvPr/>
        </p:nvSpPr>
        <p:spPr>
          <a:xfrm>
            <a:off x="548640" y="3602736"/>
            <a:ext cx="11064240" cy="1051560"/>
          </a:xfrm>
          <a:prstGeom prst="roundRect">
            <a:avLst>
              <a:gd name="adj" fmla="val 8696"/>
            </a:avLst>
          </a:prstGeom>
          <a:solidFill>
            <a:srgbClr val="EAF3F7"/>
          </a:solidFill>
          <a:ln w="12700">
            <a:solidFill>
              <a:srgbClr val="D3E5EE"/>
            </a:solidFill>
            <a:prstDash val="solid"/>
          </a:ln>
        </p:spPr>
      </p:sp>
      <p:sp>
        <p:nvSpPr>
          <p:cNvPr id="11" name="Text 9"/>
          <p:cNvSpPr txBox="1"/>
          <p:nvPr/>
        </p:nvSpPr>
        <p:spPr>
          <a:xfrm>
            <a:off x="822960" y="3694176"/>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Since both scientific practices and democratic governance, in principle, admit</a:t>
            </a:r>
            <a:endParaRPr lang="en-US" sz="1500" dirty="0"/>
          </a:p>
        </p:txBody>
      </p:sp>
      <p:sp>
        <p:nvSpPr>
          <p:cNvPr id="12" name="Text 10"/>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since(이유) · both A and B</a:t>
            </a:r>
            <a:endParaRPr lang="en-US" sz="1700" dirty="0"/>
          </a:p>
          <a:p>
            <a:pPr indent="0" marL="0">
              <a:spcAft>
                <a:spcPts val="200"/>
              </a:spcAft>
              <a:buNone/>
            </a:pPr>
            <a:r>
              <a:rPr lang="en-US" sz="1400" dirty="0">
                <a:solidFill>
                  <a:srgbClr val="1E2B2A"/>
                </a:solidFill>
              </a:rPr>
              <a:t>both A and B는 복수 → admit. 삽입구 in principle 건너뛰기</a:t>
            </a:r>
            <a:endParaRPr lang="en-US" sz="1700" dirty="0"/>
          </a:p>
        </p:txBody>
      </p:sp>
      <p:sp>
        <p:nvSpPr>
          <p:cNvPr id="13" name="Shape 11"/>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4" name="Text 12"/>
          <p:cNvSpPr txBox="1"/>
          <p:nvPr/>
        </p:nvSpPr>
        <p:spPr>
          <a:xfrm>
            <a:off x="822960" y="4855464"/>
            <a:ext cx="5303520" cy="868680"/>
          </a:xfrm>
          <a:prstGeom prst="rect">
            <a:avLst/>
          </a:prstGeom>
          <a:noFill/>
          <a:ln/>
        </p:spPr>
        <p:txBody>
          <a:bodyPr wrap="square" lIns="0" tIns="0" rIns="0" bIns="0" rtlCol="0" anchor="ctr"/>
          <a:lstStyle/>
          <a:p>
            <a:pPr indent="0" marL="0">
              <a:buNone/>
            </a:pPr>
            <a:r>
              <a:rPr lang="en-US" sz="1500" b="1" i="1" dirty="0">
                <a:solidFill>
                  <a:schemeClr val="accent5"/>
                </a:solidFill>
              </a:rPr>
              <a:t>which implies the existence of alternatives</a:t>
            </a:r>
            <a:endParaRPr lang="en-US" sz="1500" dirty="0"/>
          </a:p>
        </p:txBody>
      </p:sp>
      <p:sp>
        <p:nvSpPr>
          <p:cNvPr id="15" name="Text 13"/>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계속적 용법 which</a:t>
            </a:r>
            <a:endParaRPr lang="en-US" sz="1700" dirty="0"/>
          </a:p>
          <a:p>
            <a:pPr indent="0" marL="0">
              <a:spcAft>
                <a:spcPts val="200"/>
              </a:spcAft>
              <a:buNone/>
            </a:pPr>
            <a:r>
              <a:rPr lang="en-US" sz="1400" dirty="0">
                <a:solidFill>
                  <a:srgbClr val="1E2B2A"/>
                </a:solidFill>
              </a:rPr>
              <a:t>앞 절 전체(To represent means to simplify)를 받음 → 단수 implies</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10  </a:t>
            </a:r>
            <a:pPr algn="l" indent="0" marL="0">
              <a:buNone/>
            </a:pPr>
            <a:r>
              <a:rPr lang="en-US" sz="3000" b="1" dirty="0">
                <a:solidFill>
                  <a:schemeClr val="tx2"/>
                </a:solidFill>
              </a:rPr>
              <a:t>과학과 민주주의의 '대표성'</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Representation is, however,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그러나 대표(표현)는 ______하다.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However 뒤 → 앞(정당성)과 반대되는 '한계'</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To represent means to simplify, which implies the existence of alternatives…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대표한다는 것은 단순화를 의미하며, 이는 대안의 존재를 암시한다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공통점</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과학과 민주주의는 '대표(representation)'로 권위를 정당화</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반전</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However → 대표에는 한계가 있다 (빈칸)</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근거</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대표한다 = 단순화한다 → 다른 단순화(대안)가 항상 존재</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그래서 둘 다 비판을 통한 개선 장치를 내장하고 있다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10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②</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never perfect or complete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결코 완벽·완전하지 않다 = 단순화, 대안, 개선 필요</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free from controversy</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논쟁이 없다 → continuous struggles와 반대</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accent6"/>
          </a:solidFill>
          <a:ln w="25400">
            <a:solidFill>
              <a:schemeClr val="accent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never perfect or complete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결코 완벽·완전하지 않다 = 단순화, 대안, 개선 필요</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valid only in scientific contexts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과학에서만 유효 → 민주주의도 해당</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accent5"/>
          </a:solidFill>
          <a:ln/>
        </p:spPr>
        <p:txBody>
          <a:bodyPr wrap="square" lIns="0" tIns="0" rIns="0" bIns="0" rtlCol="0" anchor="ctr"/>
          <a:lstStyle/>
          <a:p>
            <a:pPr algn="ctr" indent="0" marL="0">
              <a:buNone/>
            </a:pPr>
            <a:r>
              <a:rPr lang="en-US" sz="1200" b="1" dirty="0">
                <a:solidFill>
                  <a:schemeClr val="bg1"/>
                </a:solidFill>
              </a:rPr>
              <a:t>범위 오류</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fixed and then resistant to change</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고정·변화 저항 → 개선 메커니즘과 반대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not subjective nor universally rejected</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주관적이지도 거부되지도 않음 → 무관</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11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700" dirty="0">
                <a:solidFill>
                  <a:srgbClr val="1E2B2A"/>
                </a:solidFill>
              </a:rPr>
              <a:t>Differences in geology and climate make soils in different regions more or less capable of sustained agriculture.</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In particular, the abundant rainfall and high weathering rates on the gentle slopes of many tropical landscapes mean that after enough time, rainfall seeping into the ground leaches out almost all of the nutrients from both the soil and the weathered rocks beneath the soil.</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Once this happens, the lush vegetation essentially feeds on itself, retaining and recycling nutrients inherited from rocks weathered long ago.</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As most of the nutrients in these areas reside not in the soil but in the plants themselves, once the native vegetation disappears, so does the productive capacity of the soil.</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Often too few nutrients remain to support either crops or livestock within decades of deforestation.</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Nutrient-poor tropical soils illustrate the general rule that </a:t>
            </a:r>
            <a:pPr indent="0" marL="0">
              <a:lnSpc>
                <a:spcPct val="115000"/>
              </a:lnSpc>
              <a:buNone/>
            </a:pPr>
            <a:r>
              <a:rPr lang="en-US" sz="1700" b="1" dirty="0">
                <a:solidFill>
                  <a:srgbClr val="EF5B3F"/>
                </a:solidFill>
              </a:rPr>
              <a:t>____________</a:t>
            </a:r>
            <a:pPr indent="0" marL="0">
              <a:lnSpc>
                <a:spcPct val="115000"/>
              </a:lnSpc>
              <a:buNone/>
            </a:pPr>
            <a:r>
              <a:rPr lang="en-US" sz="1700" dirty="0">
                <a:solidFill>
                  <a:srgbClr val="1E2B2A"/>
                </a:solidFill>
              </a:rPr>
              <a:t>.</a:t>
            </a:r>
            <a:endParaRPr lang="en-US" sz="1700" dirty="0"/>
          </a:p>
          <a:p>
            <a:pPr algn="r" indent="0" marL="0">
              <a:lnSpc>
                <a:spcPct val="115000"/>
              </a:lnSpc>
              <a:spcBef>
                <a:spcPts val="200"/>
              </a:spcBef>
              <a:buNone/>
            </a:pPr>
            <a:r>
              <a:rPr lang="en-US" sz="1100" i="1" dirty="0">
                <a:solidFill>
                  <a:srgbClr val="6E7F7C"/>
                </a:solidFill>
              </a:rPr>
              <a:t>* seep: 스며들다   ** leach out: ~을 스며나오게 하다   *** lush: 울창한</a:t>
            </a:r>
            <a:endParaRPr lang="en-US" sz="1700" dirty="0"/>
          </a:p>
          <a:p>
            <a:pPr indent="0" marL="0">
              <a:lnSpc>
                <a:spcPct val="115000"/>
              </a:lnSpc>
              <a:spcBef>
                <a:spcPts val="1000"/>
              </a:spcBef>
              <a:buNone/>
            </a:pPr>
            <a:r>
              <a:rPr lang="en-US" sz="1700" dirty="0">
                <a:solidFill>
                  <a:srgbClr val="14453D"/>
                </a:solidFill>
              </a:rPr>
              <a:t>①  not all growth leads to change</a:t>
            </a:r>
            <a:endParaRPr lang="en-US" sz="1700" dirty="0"/>
          </a:p>
          <a:p>
            <a:pPr indent="0" marL="0">
              <a:lnSpc>
                <a:spcPct val="115000"/>
              </a:lnSpc>
              <a:spcBef>
                <a:spcPts val="200"/>
              </a:spcBef>
              <a:buNone/>
            </a:pPr>
            <a:r>
              <a:rPr lang="en-US" sz="1700" dirty="0">
                <a:solidFill>
                  <a:srgbClr val="14453D"/>
                </a:solidFill>
              </a:rPr>
              <a:t>②  life depends on recycling past life</a:t>
            </a:r>
            <a:endParaRPr lang="en-US" sz="1700" dirty="0"/>
          </a:p>
          <a:p>
            <a:pPr indent="0" marL="0">
              <a:lnSpc>
                <a:spcPct val="115000"/>
              </a:lnSpc>
              <a:spcBef>
                <a:spcPts val="200"/>
              </a:spcBef>
              <a:buNone/>
            </a:pPr>
            <a:r>
              <a:rPr lang="en-US" sz="1700" dirty="0">
                <a:solidFill>
                  <a:srgbClr val="14453D"/>
                </a:solidFill>
              </a:rPr>
              <a:t>③  farming flourishes where roots run deep</a:t>
            </a:r>
            <a:endParaRPr lang="en-US" sz="1700" dirty="0"/>
          </a:p>
          <a:p>
            <a:pPr indent="0" marL="0">
              <a:lnSpc>
                <a:spcPct val="115000"/>
              </a:lnSpc>
              <a:spcBef>
                <a:spcPts val="200"/>
              </a:spcBef>
              <a:buNone/>
            </a:pPr>
            <a:r>
              <a:rPr lang="en-US" sz="1700" dirty="0">
                <a:solidFill>
                  <a:srgbClr val="14453D"/>
                </a:solidFill>
              </a:rPr>
              <a:t>④  rich vegetation always indicates fertile soil</a:t>
            </a:r>
            <a:endParaRPr lang="en-US" sz="1700" dirty="0"/>
          </a:p>
          <a:p>
            <a:pPr indent="0" marL="0">
              <a:lnSpc>
                <a:spcPct val="115000"/>
              </a:lnSpc>
              <a:spcBef>
                <a:spcPts val="200"/>
              </a:spcBef>
              <a:buNone/>
            </a:pPr>
            <a:r>
              <a:rPr lang="en-US" sz="1700" dirty="0">
                <a:solidFill>
                  <a:srgbClr val="14453D"/>
                </a:solidFill>
              </a:rPr>
              <a:t>⑤  soil always holds enough nutrients for farming</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11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700" b="1" dirty="0">
                <a:solidFill>
                  <a:srgbClr val="1F7A64"/>
                </a:solidFill>
              </a:rPr>
              <a:t>(1) </a:t>
            </a:r>
            <a:pPr indent="0" marL="0">
              <a:lnSpc>
                <a:spcPct val="120000"/>
              </a:lnSpc>
              <a:buNone/>
            </a:pPr>
            <a:r>
              <a:rPr lang="en-US" sz="2000" dirty="0">
                <a:solidFill>
                  <a:srgbClr val="1E2B2A"/>
                </a:solidFill>
              </a:rPr>
              <a:t>Differences in geology and climate </a:t>
            </a:r>
            <a:pPr indent="0" marL="0">
              <a:lnSpc>
                <a:spcPct val="120000"/>
              </a:lnSpc>
              <a:buNone/>
            </a:pPr>
            <a:r>
              <a:rPr lang="en-US" sz="2000" b="1" dirty="0">
                <a:solidFill>
                  <a:srgbClr val="2C7DA0"/>
                </a:solidFill>
              </a:rPr>
              <a:t>make soils in different regions more or less capable of</a:t>
            </a:r>
            <a:pPr indent="0" marL="0">
              <a:lnSpc>
                <a:spcPct val="120000"/>
              </a:lnSpc>
              <a:buNone/>
            </a:pPr>
            <a:r>
              <a:rPr lang="en-US" sz="2000" dirty="0">
                <a:solidFill>
                  <a:srgbClr val="1E2B2A"/>
                </a:solidFill>
              </a:rPr>
              <a:t> sustained agriculture.</a:t>
            </a:r>
            <a:pPr indent="0" marL="0">
              <a:lnSpc>
                <a:spcPct val="120000"/>
              </a:lnSpc>
              <a:buNone/>
            </a:pPr>
            <a:r>
              <a:rPr lang="en-US" sz="2000" dirty="0">
                <a:solidFill>
                  <a:srgbClr val="000000"/>
                </a:solidFill>
              </a:rPr>
              <a:t> </a:t>
            </a:r>
            <a:pPr indent="0" marL="0">
              <a:lnSpc>
                <a:spcPct val="120000"/>
              </a:lnSpc>
              <a:buNone/>
            </a:pPr>
            <a:r>
              <a:rPr lang="en-US" sz="1700" b="1" dirty="0">
                <a:solidFill>
                  <a:srgbClr val="1F7A64"/>
                </a:solidFill>
              </a:rPr>
              <a:t>(2) </a:t>
            </a:r>
            <a:pPr indent="0" marL="0">
              <a:lnSpc>
                <a:spcPct val="120000"/>
              </a:lnSpc>
              <a:buNone/>
            </a:pPr>
            <a:r>
              <a:rPr lang="en-US" sz="2000" dirty="0">
                <a:solidFill>
                  <a:srgbClr val="1E2B2A"/>
                </a:solidFill>
              </a:rPr>
              <a:t>In particular, the abundant rainfall and high weathering rates on the gentle slopes of many tropical landscapes mean that after enough time, </a:t>
            </a:r>
            <a:pPr indent="0" marL="0">
              <a:lnSpc>
                <a:spcPct val="120000"/>
              </a:lnSpc>
              <a:buNone/>
            </a:pPr>
            <a:r>
              <a:rPr lang="en-US" sz="2000" b="1" dirty="0">
                <a:solidFill>
                  <a:srgbClr val="2C7DA0"/>
                </a:solidFill>
              </a:rPr>
              <a:t>rainfall seeping into the ground leaches out</a:t>
            </a:r>
            <a:pPr indent="0" marL="0">
              <a:lnSpc>
                <a:spcPct val="120000"/>
              </a:lnSpc>
              <a:buNone/>
            </a:pPr>
            <a:r>
              <a:rPr lang="en-US" sz="2000" dirty="0">
                <a:solidFill>
                  <a:srgbClr val="1E2B2A"/>
                </a:solidFill>
              </a:rPr>
              <a:t> almost all of the nutrients from both the soil and the weathered rocks beneath the soil.</a:t>
            </a:r>
            <a:pPr indent="0" marL="0">
              <a:lnSpc>
                <a:spcPct val="120000"/>
              </a:lnSpc>
              <a:buNone/>
            </a:pPr>
            <a:r>
              <a:rPr lang="en-US" sz="2000" dirty="0">
                <a:solidFill>
                  <a:srgbClr val="000000"/>
                </a:solidFill>
              </a:rPr>
              <a:t> </a:t>
            </a:r>
            <a:pPr indent="0" marL="0">
              <a:lnSpc>
                <a:spcPct val="120000"/>
              </a:lnSpc>
              <a:buNone/>
            </a:pPr>
            <a:r>
              <a:rPr lang="en-US" sz="1700" b="1" dirty="0">
                <a:solidFill>
                  <a:srgbClr val="1F7A64"/>
                </a:solidFill>
              </a:rPr>
              <a:t>(3) </a:t>
            </a:r>
            <a:pPr indent="0" marL="0">
              <a:lnSpc>
                <a:spcPct val="120000"/>
              </a:lnSpc>
              <a:buNone/>
            </a:pPr>
            <a:r>
              <a:rPr lang="en-US" sz="2000" dirty="0">
                <a:solidFill>
                  <a:srgbClr val="1E2B2A"/>
                </a:solidFill>
                <a:highlight>
                  <a:srgbClr val="FFD45C"/>
                </a:highlight>
              </a:rPr>
              <a:t>Once this happens, the lush vegetation essentially feeds on itself, </a:t>
            </a:r>
            <a:pPr indent="0" marL="0">
              <a:lnSpc>
                <a:spcPct val="120000"/>
              </a:lnSpc>
              <a:buNone/>
            </a:pPr>
            <a:r>
              <a:rPr lang="en-US" sz="2000" b="1" dirty="0">
                <a:solidFill>
                  <a:srgbClr val="2C7DA0"/>
                </a:solidFill>
                <a:highlight>
                  <a:srgbClr val="FFD45C"/>
                </a:highlight>
              </a:rPr>
              <a:t>retaining and recycling nutrients inherited from</a:t>
            </a:r>
            <a:pPr indent="0" marL="0">
              <a:lnSpc>
                <a:spcPct val="120000"/>
              </a:lnSpc>
              <a:buNone/>
            </a:pPr>
            <a:r>
              <a:rPr lang="en-US" sz="2000" dirty="0">
                <a:solidFill>
                  <a:srgbClr val="1E2B2A"/>
                </a:solidFill>
                <a:highlight>
                  <a:srgbClr val="FFD45C"/>
                </a:highlight>
              </a:rPr>
              <a:t> rocks weathered long ago.</a:t>
            </a:r>
            <a:pPr indent="0" marL="0">
              <a:lnSpc>
                <a:spcPct val="120000"/>
              </a:lnSpc>
              <a:buNone/>
            </a:pPr>
            <a:r>
              <a:rPr lang="en-US" sz="2000" dirty="0">
                <a:solidFill>
                  <a:srgbClr val="000000"/>
                </a:solidFill>
              </a:rPr>
              <a:t> </a:t>
            </a:r>
            <a:pPr indent="0" marL="0">
              <a:lnSpc>
                <a:spcPct val="120000"/>
              </a:lnSpc>
              <a:buNone/>
            </a:pPr>
            <a:r>
              <a:rPr lang="en-US" sz="1700" b="1" dirty="0">
                <a:solidFill>
                  <a:srgbClr val="1F7A64"/>
                </a:solidFill>
              </a:rPr>
              <a:t>(4) </a:t>
            </a:r>
            <a:pPr indent="0" marL="0">
              <a:lnSpc>
                <a:spcPct val="120000"/>
              </a:lnSpc>
              <a:buNone/>
            </a:pPr>
            <a:r>
              <a:rPr lang="en-US" sz="2000" dirty="0">
                <a:solidFill>
                  <a:srgbClr val="1E2B2A"/>
                </a:solidFill>
                <a:highlight>
                  <a:srgbClr val="FFD45C"/>
                </a:highlight>
              </a:rPr>
              <a:t>As most of the nutrients in these areas </a:t>
            </a:r>
            <a:pPr indent="0" marL="0">
              <a:lnSpc>
                <a:spcPct val="120000"/>
              </a:lnSpc>
              <a:buNone/>
            </a:pPr>
            <a:r>
              <a:rPr lang="en-US" sz="2000" b="1" dirty="0">
                <a:solidFill>
                  <a:srgbClr val="2C7DA0"/>
                </a:solidFill>
                <a:highlight>
                  <a:srgbClr val="FFD45C"/>
                </a:highlight>
              </a:rPr>
              <a:t>reside not in the soil but in the plants</a:t>
            </a:r>
            <a:pPr indent="0" marL="0">
              <a:lnSpc>
                <a:spcPct val="120000"/>
              </a:lnSpc>
              <a:buNone/>
            </a:pPr>
            <a:r>
              <a:rPr lang="en-US" sz="2000" dirty="0">
                <a:solidFill>
                  <a:srgbClr val="1E2B2A"/>
                </a:solidFill>
                <a:highlight>
                  <a:srgbClr val="FFD45C"/>
                </a:highlight>
              </a:rPr>
              <a:t> themselves, once the native vegetation disappears, </a:t>
            </a:r>
            <a:pPr indent="0" marL="0">
              <a:lnSpc>
                <a:spcPct val="120000"/>
              </a:lnSpc>
              <a:buNone/>
            </a:pPr>
            <a:r>
              <a:rPr lang="en-US" sz="2000" b="1" dirty="0">
                <a:solidFill>
                  <a:srgbClr val="2C7DA0"/>
                </a:solidFill>
                <a:highlight>
                  <a:srgbClr val="FFD45C"/>
                </a:highlight>
              </a:rPr>
              <a:t>so does the productive capacity of the soil</a:t>
            </a:r>
            <a:pPr indent="0" marL="0">
              <a:lnSpc>
                <a:spcPct val="120000"/>
              </a:lnSpc>
              <a:buNone/>
            </a:pPr>
            <a:r>
              <a:rPr lang="en-US" sz="2000" dirty="0">
                <a:solidFill>
                  <a:srgbClr val="1E2B2A"/>
                </a:solidFill>
                <a:highlight>
                  <a:srgbClr val="FFD45C"/>
                </a:highlight>
              </a:rPr>
              <a:t>.</a:t>
            </a:r>
            <a:pPr indent="0" marL="0">
              <a:lnSpc>
                <a:spcPct val="120000"/>
              </a:lnSpc>
              <a:buNone/>
            </a:pPr>
            <a:r>
              <a:rPr lang="en-US" sz="2000" dirty="0">
                <a:solidFill>
                  <a:srgbClr val="000000"/>
                </a:solidFill>
              </a:rPr>
              <a:t> </a:t>
            </a:r>
            <a:pPr indent="0" marL="0">
              <a:lnSpc>
                <a:spcPct val="120000"/>
              </a:lnSpc>
              <a:buNone/>
            </a:pPr>
            <a:r>
              <a:rPr lang="en-US" sz="1700" b="1" dirty="0">
                <a:solidFill>
                  <a:srgbClr val="1F7A64"/>
                </a:solidFill>
              </a:rPr>
              <a:t>(5) </a:t>
            </a:r>
            <a:pPr indent="0" marL="0">
              <a:lnSpc>
                <a:spcPct val="120000"/>
              </a:lnSpc>
              <a:buNone/>
            </a:pPr>
            <a:r>
              <a:rPr lang="en-US" sz="2000" dirty="0">
                <a:solidFill>
                  <a:srgbClr val="1E2B2A"/>
                </a:solidFill>
              </a:rPr>
              <a:t>Often too few nutrients remain to support either crops or livestock within decades of deforestation.</a:t>
            </a:r>
            <a:pPr indent="0" marL="0">
              <a:lnSpc>
                <a:spcPct val="120000"/>
              </a:lnSpc>
              <a:buNone/>
            </a:pPr>
            <a:r>
              <a:rPr lang="en-US" sz="2000" dirty="0">
                <a:solidFill>
                  <a:srgbClr val="000000"/>
                </a:solidFill>
              </a:rPr>
              <a:t> </a:t>
            </a:r>
            <a:pPr indent="0" marL="0">
              <a:lnSpc>
                <a:spcPct val="120000"/>
              </a:lnSpc>
              <a:buNone/>
            </a:pPr>
            <a:r>
              <a:rPr lang="en-US" sz="1700" b="1" dirty="0">
                <a:solidFill>
                  <a:srgbClr val="1F7A64"/>
                </a:solidFill>
              </a:rPr>
              <a:t>(6) </a:t>
            </a:r>
            <a:pPr indent="0" marL="0">
              <a:lnSpc>
                <a:spcPct val="120000"/>
              </a:lnSpc>
              <a:buNone/>
            </a:pPr>
            <a:r>
              <a:rPr lang="en-US" sz="2000" dirty="0">
                <a:solidFill>
                  <a:srgbClr val="1E2B2A"/>
                </a:solidFill>
              </a:rPr>
              <a:t>Nutrient-poor tropical soils illustrate the general rule that </a:t>
            </a:r>
            <a:pPr indent="0" marL="0">
              <a:lnSpc>
                <a:spcPct val="120000"/>
              </a:lnSpc>
              <a:buNone/>
            </a:pPr>
            <a:r>
              <a:rPr lang="en-US" sz="2000" b="1" dirty="0">
                <a:solidFill>
                  <a:srgbClr val="EF5B3F"/>
                </a:solidFill>
              </a:rPr>
              <a:t>____________</a:t>
            </a:r>
            <a:pPr indent="0" marL="0">
              <a:lnSpc>
                <a:spcPct val="120000"/>
              </a:lnSpc>
              <a:buNone/>
            </a:pPr>
            <a:r>
              <a:rPr lang="en-US" sz="2000" dirty="0">
                <a:solidFill>
                  <a:srgbClr val="1E2B2A"/>
                </a:solidFill>
              </a:rPr>
              <a:t>.</a:t>
            </a:r>
            <a:endParaRPr lang="en-US" sz="17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(다음 슬라이드)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11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EAF3F7"/>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make soils in different regions more or less capable of</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5형식 make O C</a:t>
            </a:r>
            <a:endParaRPr lang="en-US" sz="1700" dirty="0"/>
          </a:p>
          <a:p>
            <a:pPr indent="0" marL="0">
              <a:spcAft>
                <a:spcPts val="200"/>
              </a:spcAft>
              <a:buNone/>
            </a:pPr>
            <a:r>
              <a:rPr lang="en-US" sz="1400" dirty="0">
                <a:solidFill>
                  <a:srgbClr val="1E2B2A"/>
                </a:solidFill>
              </a:rPr>
              <a:t>목적격 보어 자리에 형용사 capable (부사 X)</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rainfall seeping into the ground leaches out</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현재분사 수식 · 수일치</a:t>
            </a:r>
            <a:endParaRPr lang="en-US" sz="1700" dirty="0"/>
          </a:p>
          <a:p>
            <a:pPr indent="0" marL="0">
              <a:spcAft>
                <a:spcPts val="200"/>
              </a:spcAft>
              <a:buNone/>
            </a:pPr>
            <a:r>
              <a:rPr lang="en-US" sz="1400" dirty="0">
                <a:solidFill>
                  <a:srgbClr val="1E2B2A"/>
                </a:solidFill>
              </a:rPr>
              <a:t>rainfall (which is) seeping ~ → 주어 rainfall(단수) → leaches</a:t>
            </a:r>
            <a:endParaRPr lang="en-US" sz="1700" dirty="0"/>
          </a:p>
        </p:txBody>
      </p:sp>
      <p:sp>
        <p:nvSpPr>
          <p:cNvPr id="10" name="Shape 8"/>
          <p:cNvSpPr/>
          <p:nvPr/>
        </p:nvSpPr>
        <p:spPr>
          <a:xfrm>
            <a:off x="548640" y="3335731"/>
            <a:ext cx="11064240" cy="918058"/>
          </a:xfrm>
          <a:prstGeom prst="roundRect">
            <a:avLst>
              <a:gd name="adj" fmla="val 9960"/>
            </a:avLst>
          </a:prstGeom>
          <a:solidFill>
            <a:srgbClr val="EAF3F7"/>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retaining and recycling nutrients inherited from</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분사구문 · 과거분사 수식</a:t>
            </a:r>
            <a:endParaRPr lang="en-US" sz="1700" dirty="0"/>
          </a:p>
          <a:p>
            <a:pPr indent="0" marL="0">
              <a:spcAft>
                <a:spcPts val="200"/>
              </a:spcAft>
              <a:buNone/>
            </a:pPr>
            <a:r>
              <a:rPr lang="en-US" sz="1400" dirty="0">
                <a:solidFill>
                  <a:srgbClr val="1E2B2A"/>
                </a:solidFill>
              </a:rPr>
              <a:t>retaining and recycling: 분사구문 병렬 / nutrients (which were) inherited</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reside not in the soil but in the plants</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not A but B</a:t>
            </a:r>
            <a:endParaRPr lang="en-US" sz="1700" dirty="0"/>
          </a:p>
          <a:p>
            <a:pPr indent="0" marL="0">
              <a:spcAft>
                <a:spcPts val="200"/>
              </a:spcAft>
              <a:buNone/>
            </a:pPr>
            <a:r>
              <a:rPr lang="en-US" sz="1400" dirty="0">
                <a:solidFill>
                  <a:srgbClr val="1E2B2A"/>
                </a:solidFill>
              </a:rPr>
              <a:t>A가 아니라 B: in the soil / in the plants 병렬</a:t>
            </a:r>
            <a:endParaRPr lang="en-US" sz="1700" dirty="0"/>
          </a:p>
        </p:txBody>
      </p:sp>
      <p:sp>
        <p:nvSpPr>
          <p:cNvPr id="16" name="Shape 14"/>
          <p:cNvSpPr/>
          <p:nvPr/>
        </p:nvSpPr>
        <p:spPr>
          <a:xfrm>
            <a:off x="548640" y="5391302"/>
            <a:ext cx="11064240" cy="918058"/>
          </a:xfrm>
          <a:prstGeom prst="roundRect">
            <a:avLst>
              <a:gd name="adj" fmla="val 9960"/>
            </a:avLst>
          </a:prstGeom>
          <a:solidFill>
            <a:srgbClr val="EAF3F7"/>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so does the productive capacity of the soil</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so + V + S 도치</a:t>
            </a:r>
            <a:endParaRPr lang="en-US" sz="1700" dirty="0"/>
          </a:p>
          <a:p>
            <a:pPr indent="0" marL="0">
              <a:spcAft>
                <a:spcPts val="200"/>
              </a:spcAft>
              <a:buNone/>
            </a:pPr>
            <a:r>
              <a:rPr lang="en-US" sz="1400" dirty="0">
                <a:solidFill>
                  <a:srgbClr val="1E2B2A"/>
                </a:solidFill>
              </a:rPr>
              <a:t>~도 그렇다: so does + 주어 (앞 동사 disappears를 대신)</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11  </a:t>
            </a:r>
            <a:pPr algn="l" indent="0" marL="0">
              <a:buNone/>
            </a:pPr>
            <a:r>
              <a:rPr lang="en-US" sz="3000" b="1" dirty="0">
                <a:solidFill>
                  <a:schemeClr val="tx2"/>
                </a:solidFill>
              </a:rPr>
              <a:t>열대 토양과 영양분 순환</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Nutrient-poor tropical soils illustrate the general rule that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영양분이 부족한 열대 토양은 ______라는 일반 법칙을 보여 준다.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열대 토양 사례 → '일반 법칙'으로 바꾸기</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…the lush vegetation essentially feeds on itself, retaining and recycling nutrients inherited from rocks weathered long ago.</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울창한 식생은 본질적으로 스스로를 먹고 살며, 오래전 풍화된 암석에서 물려받은 영양분을 보유·재활용한다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원인</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열대: 많은 비 + 빠른 풍화 → 영양분이 땅에서 씻겨 나감</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현상</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울창한 숲이 스스로를 먹고 삶 (옛 영양분을 재활용)</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핵심</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영양분은 흙이 아니라 '식물 자체'에 있음</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결과</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숲이 사라지면 → 땅의 생산력도 사라짐 (수십 년 내)</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11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②</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life depends on recycling past life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생명은 과거 생명의 재활용에 의존 = recycling</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not all growth leads to change</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모든 성장이 변화로 이어지진 않음 → 무관</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accent6"/>
          </a:solidFill>
          <a:ln w="25400">
            <a:solidFill>
              <a:schemeClr val="accent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life depends on recycling past life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생명은 과거 생명의 재활용에 의존 = recycling</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farming flourishes where roots run deep</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뿌리 깊은 곳에서 농업 번성 → 글에 없음</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rich vegetation always indicates fertile soil</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울창한 숲 = 비옥한 땅? → 열대는 정반대!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soil always holds enough nutrients for farming</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토양은 항상 충분 → 반대</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12  </a:t>
            </a:r>
            <a:pPr algn="l" indent="0" marL="0">
              <a:buNone/>
            </a:pPr>
            <a:r>
              <a:rPr lang="en-US" sz="2400" b="1" dirty="0">
                <a:solidFill>
                  <a:schemeClr val="tx2"/>
                </a:solidFill>
              </a:rPr>
              <a:t>밑줄 친 부분의 의미로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00" dirty="0">
                <a:solidFill>
                  <a:srgbClr val="1E2B2A"/>
                </a:solidFill>
              </a:rPr>
              <a:t>Knowledge is power.</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And one way to measure the amount of trust on a team is by looking at how much information people keep to themselves (low trust) or share openly (high trust).</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Team leaders signal that they trust their team when they share privileged information with them.</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This could be sharing the team's finances, or the budget handed down from higher-ups, so that the whole team knows what they're working with and where the priorities are.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It could also be competitive data or customer trends that are widely available but rarely shared.</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It could even be passing on information shared by another team.</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In a meeting, any time someone says, "</a:t>
            </a:r>
            <a:pPr indent="0" marL="0">
              <a:lnSpc>
                <a:spcPct val="115000"/>
              </a:lnSpc>
              <a:buNone/>
            </a:pPr>
            <a:r>
              <a:rPr lang="en-US" sz="1600" b="1" u="sng" dirty="0">
                <a:solidFill>
                  <a:srgbClr val="1E2B2A"/>
                </a:solidFill>
              </a:rPr>
              <a:t>This stays here</a:t>
            </a:r>
            <a:pPr indent="0" marL="0">
              <a:lnSpc>
                <a:spcPct val="115000"/>
              </a:lnSpc>
              <a:buNone/>
            </a:pPr>
            <a:r>
              <a:rPr lang="en-US" sz="1600" dirty="0">
                <a:solidFill>
                  <a:srgbClr val="1E2B2A"/>
                </a:solidFill>
              </a:rPr>
              <a:t>," the atmosphere changes.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People know whatever follows is spoken in trust, and they respond to that feeling of being trusted with trustworthy behavior.</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People begin to feel like they're in the inner circle when they receive more information about their work or the environment than they usually do.</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They start to see how their work fits into the larger organizational whole.</a:t>
            </a:r>
            <a:endParaRPr lang="en-US" sz="1600" dirty="0"/>
          </a:p>
          <a:p>
            <a:pPr indent="0" marL="0">
              <a:lnSpc>
                <a:spcPct val="115000"/>
              </a:lnSpc>
              <a:spcBef>
                <a:spcPts val="1000"/>
              </a:spcBef>
              <a:buNone/>
            </a:pPr>
            <a:r>
              <a:rPr lang="en-US" sz="1600" dirty="0">
                <a:solidFill>
                  <a:srgbClr val="14453D"/>
                </a:solidFill>
              </a:rPr>
              <a:t>①  I am setting boundaries out of caution, not out of trust.</a:t>
            </a:r>
            <a:endParaRPr lang="en-US" sz="1600" dirty="0"/>
          </a:p>
          <a:p>
            <a:pPr indent="0" marL="0">
              <a:lnSpc>
                <a:spcPct val="115000"/>
              </a:lnSpc>
              <a:spcBef>
                <a:spcPts val="200"/>
              </a:spcBef>
              <a:buNone/>
            </a:pPr>
            <a:r>
              <a:rPr lang="en-US" sz="1600" dirty="0">
                <a:solidFill>
                  <a:srgbClr val="14453D"/>
                </a:solidFill>
              </a:rPr>
              <a:t>②  I think this is way too sensitive to discuss openly right now.</a:t>
            </a:r>
            <a:endParaRPr lang="en-US" sz="1600" dirty="0"/>
          </a:p>
          <a:p>
            <a:pPr indent="0" marL="0">
              <a:lnSpc>
                <a:spcPct val="115000"/>
              </a:lnSpc>
              <a:spcBef>
                <a:spcPts val="200"/>
              </a:spcBef>
              <a:buNone/>
            </a:pPr>
            <a:r>
              <a:rPr lang="en-US" sz="1600" dirty="0">
                <a:solidFill>
                  <a:srgbClr val="14453D"/>
                </a:solidFill>
              </a:rPr>
              <a:t>③  I feel uncomfortable with what I am about to say, so forget it.</a:t>
            </a:r>
            <a:endParaRPr lang="en-US" sz="1600" dirty="0"/>
          </a:p>
          <a:p>
            <a:pPr indent="0" marL="0">
              <a:lnSpc>
                <a:spcPct val="115000"/>
              </a:lnSpc>
              <a:spcBef>
                <a:spcPts val="200"/>
              </a:spcBef>
              <a:buNone/>
            </a:pPr>
            <a:r>
              <a:rPr lang="en-US" sz="1600" dirty="0">
                <a:solidFill>
                  <a:srgbClr val="14453D"/>
                </a:solidFill>
              </a:rPr>
              <a:t>④  I am unsure if I should speak freely, so I will keep this vague.</a:t>
            </a:r>
            <a:endParaRPr lang="en-US" sz="1600" dirty="0"/>
          </a:p>
          <a:p>
            <a:pPr indent="0" marL="0">
              <a:lnSpc>
                <a:spcPct val="115000"/>
              </a:lnSpc>
              <a:spcBef>
                <a:spcPts val="200"/>
              </a:spcBef>
              <a:buNone/>
            </a:pPr>
            <a:r>
              <a:rPr lang="en-US" sz="1600" dirty="0">
                <a:solidFill>
                  <a:srgbClr val="14453D"/>
                </a:solidFill>
              </a:rPr>
              <a:t>⑤  I will disclose sensitive information on the basis of mutual trust.</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12  </a:t>
            </a:r>
            <a:pPr algn="l" indent="0" marL="0">
              <a:buNone/>
            </a:pPr>
            <a:r>
              <a:rPr lang="en-US" sz="3000" b="1" dirty="0">
                <a:solidFill>
                  <a:schemeClr val="tx2"/>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rPr>
              <a:t>Knowledge is power.</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highlight>
                  <a:srgbClr val="FFD45C"/>
                </a:highlight>
              </a:rPr>
              <a:t>And one way to measure the amount of trust on a team is by looking at </a:t>
            </a:r>
            <a:pPr indent="0" marL="0">
              <a:lnSpc>
                <a:spcPct val="120000"/>
              </a:lnSpc>
              <a:buNone/>
            </a:pPr>
            <a:r>
              <a:rPr lang="en-US" sz="1800" b="1" dirty="0">
                <a:solidFill>
                  <a:srgbClr val="2C7DA0"/>
                </a:solidFill>
                <a:highlight>
                  <a:srgbClr val="FFD45C"/>
                </a:highlight>
              </a:rPr>
              <a:t>how much information people keep to themselves</a:t>
            </a:r>
            <a:pPr indent="0" marL="0">
              <a:lnSpc>
                <a:spcPct val="120000"/>
              </a:lnSpc>
              <a:buNone/>
            </a:pPr>
            <a:r>
              <a:rPr lang="en-US" sz="1800" dirty="0">
                <a:solidFill>
                  <a:srgbClr val="1E2B2A"/>
                </a:solidFill>
                <a:highlight>
                  <a:srgbClr val="FFD45C"/>
                </a:highlight>
              </a:rPr>
              <a:t> (low trust) or share openly (high trust).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highlight>
                  <a:srgbClr val="FFD45C"/>
                </a:highlight>
              </a:rPr>
              <a:t>Team leaders signal that they trust their team when they share privileged information with them.</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rPr>
              <a:t>This could be sharing the team's finances, or the budget handed down from higher-ups, </a:t>
            </a:r>
            <a:pPr indent="0" marL="0">
              <a:lnSpc>
                <a:spcPct val="120000"/>
              </a:lnSpc>
              <a:buNone/>
            </a:pPr>
            <a:r>
              <a:rPr lang="en-US" sz="1800" b="1" dirty="0">
                <a:solidFill>
                  <a:srgbClr val="2C7DA0"/>
                </a:solidFill>
              </a:rPr>
              <a:t>so that the whole team knows</a:t>
            </a:r>
            <a:pPr indent="0" marL="0">
              <a:lnSpc>
                <a:spcPct val="120000"/>
              </a:lnSpc>
              <a:buNone/>
            </a:pPr>
            <a:r>
              <a:rPr lang="en-US" sz="1800" dirty="0">
                <a:solidFill>
                  <a:srgbClr val="1E2B2A"/>
                </a:solidFill>
              </a:rPr>
              <a:t> what they're working with and where the priorities are.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rPr>
              <a:t>It could also be competitive data or customer trends </a:t>
            </a:r>
            <a:pPr indent="0" marL="0">
              <a:lnSpc>
                <a:spcPct val="120000"/>
              </a:lnSpc>
              <a:buNone/>
            </a:pPr>
            <a:r>
              <a:rPr lang="en-US" sz="1800" b="1" dirty="0">
                <a:solidFill>
                  <a:srgbClr val="2C7DA0"/>
                </a:solidFill>
              </a:rPr>
              <a:t>that are widely available but rarely shared</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dirty="0">
                <a:solidFill>
                  <a:srgbClr val="1E2B2A"/>
                </a:solidFill>
              </a:rPr>
              <a:t>It could even be passing on information shared by another team.</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rPr>
              <a:t>In a meeting, any time someone says, "</a:t>
            </a:r>
            <a:pPr indent="0" marL="0">
              <a:lnSpc>
                <a:spcPct val="120000"/>
              </a:lnSpc>
              <a:buNone/>
            </a:pPr>
            <a:r>
              <a:rPr lang="en-US" sz="1800" b="1" u="sng" dirty="0">
                <a:solidFill>
                  <a:srgbClr val="1E2B2A"/>
                </a:solidFill>
              </a:rPr>
              <a:t>This stays here</a:t>
            </a:r>
            <a:pPr indent="0" marL="0">
              <a:lnSpc>
                <a:spcPct val="120000"/>
              </a:lnSpc>
              <a:buNone/>
            </a:pPr>
            <a:r>
              <a:rPr lang="en-US" sz="1800" dirty="0">
                <a:solidFill>
                  <a:srgbClr val="1E2B2A"/>
                </a:solidFill>
              </a:rPr>
              <a:t>," the atmosphere changes.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(8) </a:t>
            </a:r>
            <a:pPr indent="0" marL="0">
              <a:lnSpc>
                <a:spcPct val="120000"/>
              </a:lnSpc>
              <a:buNone/>
            </a:pPr>
            <a:r>
              <a:rPr lang="en-US" sz="1800" dirty="0">
                <a:solidFill>
                  <a:srgbClr val="1E2B2A"/>
                </a:solidFill>
                <a:highlight>
                  <a:srgbClr val="FFD45C"/>
                </a:highlight>
              </a:rPr>
              <a:t>People know </a:t>
            </a:r>
            <a:pPr indent="0" marL="0">
              <a:lnSpc>
                <a:spcPct val="120000"/>
              </a:lnSpc>
              <a:buNone/>
            </a:pPr>
            <a:r>
              <a:rPr lang="en-US" sz="1800" b="1" dirty="0">
                <a:solidFill>
                  <a:srgbClr val="2C7DA0"/>
                </a:solidFill>
                <a:highlight>
                  <a:srgbClr val="FFD45C"/>
                </a:highlight>
              </a:rPr>
              <a:t>whatever follows is spoken in trust</a:t>
            </a:r>
            <a:pPr indent="0" marL="0">
              <a:lnSpc>
                <a:spcPct val="120000"/>
              </a:lnSpc>
              <a:buNone/>
            </a:pPr>
            <a:r>
              <a:rPr lang="en-US" sz="1800" dirty="0">
                <a:solidFill>
                  <a:srgbClr val="1E2B2A"/>
                </a:solidFill>
                <a:highlight>
                  <a:srgbClr val="FFD45C"/>
                </a:highlight>
              </a:rPr>
              <a:t>, and they respond to that feeling of being trusted with trustworthy behavior.</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(9) </a:t>
            </a:r>
            <a:pPr indent="0" marL="0">
              <a:lnSpc>
                <a:spcPct val="120000"/>
              </a:lnSpc>
              <a:buNone/>
            </a:pPr>
            <a:r>
              <a:rPr lang="en-US" sz="1800" dirty="0">
                <a:solidFill>
                  <a:srgbClr val="1E2B2A"/>
                </a:solidFill>
              </a:rPr>
              <a:t>People begin to feel like they're in the inner circle when they receive more information about their work or the environment </a:t>
            </a:r>
            <a:pPr indent="0" marL="0">
              <a:lnSpc>
                <a:spcPct val="120000"/>
              </a:lnSpc>
              <a:buNone/>
            </a:pPr>
            <a:r>
              <a:rPr lang="en-US" sz="1800" b="1" dirty="0">
                <a:solidFill>
                  <a:srgbClr val="2C7DA0"/>
                </a:solidFill>
              </a:rPr>
              <a:t>than they usually do</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(10) </a:t>
            </a:r>
            <a:pPr indent="0" marL="0">
              <a:lnSpc>
                <a:spcPct val="120000"/>
              </a:lnSpc>
              <a:buNone/>
            </a:pPr>
            <a:r>
              <a:rPr lang="en-US" sz="1800" dirty="0">
                <a:solidFill>
                  <a:srgbClr val="1E2B2A"/>
                </a:solidFill>
              </a:rPr>
              <a:t>They start to see how their work fits into the larger organizational whole.</a:t>
            </a:r>
            <a:endParaRPr lang="en-US" sz="15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2C7DA0"/>
                </a:solidFill>
              </a:rPr>
              <a:t>파란 굵은 글씨 </a:t>
            </a:r>
            <a:pPr indent="0" marL="0">
              <a:buNone/>
            </a:pPr>
            <a:r>
              <a:rPr lang="en-US" sz="1100" dirty="0">
                <a:solidFill>
                  <a:schemeClr val="accent4"/>
                </a:solidFill>
              </a:rPr>
              <a:t>= 문법·내신 포인트 (다음 슬라이드)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12  </a:t>
            </a:r>
            <a:pPr algn="l" indent="0" marL="0">
              <a:buNone/>
            </a:pPr>
            <a:r>
              <a:rPr lang="en-US" sz="3000" b="1" dirty="0">
                <a:solidFill>
                  <a:schemeClr val="tx2"/>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EAF3F7"/>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how much information people keep to themselves</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간접의문문</a:t>
            </a:r>
            <a:endParaRPr lang="en-US" sz="1700" dirty="0"/>
          </a:p>
          <a:p>
            <a:pPr indent="0" marL="0">
              <a:spcAft>
                <a:spcPts val="200"/>
              </a:spcAft>
              <a:buNone/>
            </a:pPr>
            <a:r>
              <a:rPr lang="en-US" sz="1400" dirty="0">
                <a:solidFill>
                  <a:srgbClr val="1E2B2A"/>
                </a:solidFill>
              </a:rPr>
              <a:t>how much + 명사 + 주어 + 동사 어순</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so that the whole team knows</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so that (목적)</a:t>
            </a:r>
            <a:endParaRPr lang="en-US" sz="1700" dirty="0"/>
          </a:p>
          <a:p>
            <a:pPr indent="0" marL="0">
              <a:spcAft>
                <a:spcPts val="200"/>
              </a:spcAft>
              <a:buNone/>
            </a:pPr>
            <a:r>
              <a:rPr lang="en-US" sz="1400" dirty="0">
                <a:solidFill>
                  <a:srgbClr val="1E2B2A"/>
                </a:solidFill>
              </a:rPr>
              <a:t>so that + S + V: ~하도록. 주어 the whole team(단수) → knows</a:t>
            </a:r>
            <a:endParaRPr lang="en-US" sz="1700" dirty="0"/>
          </a:p>
        </p:txBody>
      </p:sp>
      <p:sp>
        <p:nvSpPr>
          <p:cNvPr id="10" name="Shape 8"/>
          <p:cNvSpPr/>
          <p:nvPr/>
        </p:nvSpPr>
        <p:spPr>
          <a:xfrm>
            <a:off x="548640" y="3335731"/>
            <a:ext cx="11064240" cy="918058"/>
          </a:xfrm>
          <a:prstGeom prst="roundRect">
            <a:avLst>
              <a:gd name="adj" fmla="val 9960"/>
            </a:avLst>
          </a:prstGeom>
          <a:solidFill>
            <a:srgbClr val="EAF3F7"/>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that are widely available but rarely shared</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주격 관계대명사 수일치</a:t>
            </a:r>
            <a:endParaRPr lang="en-US" sz="1700" dirty="0"/>
          </a:p>
          <a:p>
            <a:pPr indent="0" marL="0">
              <a:spcAft>
                <a:spcPts val="200"/>
              </a:spcAft>
              <a:buNone/>
            </a:pPr>
            <a:r>
              <a:rPr lang="en-US" sz="1400" dirty="0">
                <a:solidFill>
                  <a:srgbClr val="1E2B2A"/>
                </a:solidFill>
              </a:rPr>
              <a:t>선행사 competitive data or customer trends → are (가까운 trends에 일치)</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whatever follows is spoken in trust</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복합관계대명사 whatever</a:t>
            </a:r>
            <a:endParaRPr lang="en-US" sz="1700" dirty="0"/>
          </a:p>
          <a:p>
            <a:pPr indent="0" marL="0">
              <a:spcAft>
                <a:spcPts val="200"/>
              </a:spcAft>
              <a:buNone/>
            </a:pPr>
            <a:r>
              <a:rPr lang="en-US" sz="1400" dirty="0">
                <a:solidFill>
                  <a:srgbClr val="1E2B2A"/>
                </a:solidFill>
              </a:rPr>
              <a:t>whatever = anything that, 명사절 주어 → 단수 is</a:t>
            </a:r>
            <a:endParaRPr lang="en-US" sz="1700" dirty="0"/>
          </a:p>
        </p:txBody>
      </p:sp>
      <p:sp>
        <p:nvSpPr>
          <p:cNvPr id="16" name="Shape 14"/>
          <p:cNvSpPr/>
          <p:nvPr/>
        </p:nvSpPr>
        <p:spPr>
          <a:xfrm>
            <a:off x="548640" y="5391302"/>
            <a:ext cx="11064240" cy="918058"/>
          </a:xfrm>
          <a:prstGeom prst="roundRect">
            <a:avLst>
              <a:gd name="adj" fmla="val 9960"/>
            </a:avLst>
          </a:prstGeom>
          <a:solidFill>
            <a:srgbClr val="EAF3F7"/>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chemeClr val="accent5"/>
                </a:solidFill>
              </a:rPr>
              <a:t>than they usually do</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비교급 · 대동사 do</a:t>
            </a:r>
            <a:endParaRPr lang="en-US" sz="1700" dirty="0"/>
          </a:p>
          <a:p>
            <a:pPr indent="0" marL="0">
              <a:spcAft>
                <a:spcPts val="200"/>
              </a:spcAft>
              <a:buNone/>
            </a:pPr>
            <a:r>
              <a:rPr lang="en-US" sz="1400" dirty="0">
                <a:solidFill>
                  <a:srgbClr val="1E2B2A"/>
                </a:solidFill>
              </a:rPr>
              <a:t>do = receive information (반복을 피하는 대동사)</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12  </a:t>
            </a:r>
            <a:pPr algn="l" indent="0" marL="0">
              <a:buNone/>
            </a:pPr>
            <a:r>
              <a:rPr lang="en-US" sz="3000" b="1" dirty="0">
                <a:solidFill>
                  <a:schemeClr val="tx2"/>
                </a:solidFill>
              </a:rPr>
              <a:t>"This stays here"의 의미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밑줄 문장</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…any time someone says, "This stays here," the atmosphere changes.</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누군가 "이건 여기서만 하는 얘기야"라고 말할 때마다 분위기가 바뀐다.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이 말을 하는 사람의 '속뜻'은?</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People know whatever follows is spoken in trust, and they respond to that feeling of being trusted with trustworthy behavior.</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사람들은 뒤따르는 말이 신뢰 속에서 하는 말임을 알고, 신뢰할 만한 행동으로 응답한다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주제</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정보를 얼마나 공유하는가 = 팀 신뢰의 척도</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근거</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리더가 특별한 정보를 공유 = 팀을 믿는다는 신호</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밑줄</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"This stays here" → 이후 말은 '신뢰 속에서' 하는 말</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결과</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사람들은 신뢰받는다고 느끼고 신뢰할 만한 행동으로 응답</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12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⑤</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I will disclose sensitive information on the basis of mutual trust.</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상호 신뢰를 바탕으로 민감한 정보를 공개하겠다</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 am setting boundaries out of caution, not out of trust.</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신뢰가 아닌 경계심 → 정반대</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 think this is way too sensitive to discuss openly right now.</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너무 민감해서 말 못 함 → 실제로는 공개함</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 feel uncomfortable with what I am about to say, so forget it.</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불편하니 잊어라 → 글에 없음</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 am unsure if I should speak freely, so I will keep this vague.</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모호하게 말하겠다 → 오히려 솔직히 공유</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accent6"/>
          </a:solidFill>
          <a:ln w="25400">
            <a:solidFill>
              <a:schemeClr val="accent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I will disclose sensitive information on the basis of mutual trust.</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상호 신뢰를 바탕으로 민감한 정보를 공개하겠다</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914400"/>
            <a:ext cx="822960" cy="822960"/>
          </a:xfrm>
          <a:prstGeom prst="rect">
            <a:avLst/>
          </a:prstGeom>
        </p:spPr>
      </p:pic>
      <p:sp>
        <p:nvSpPr>
          <p:cNvPr id="3"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chemeClr val="bg1"/>
                </a:solidFill>
              </a:rPr>
              <a:t>빈칸의 답은 언제나 지문 안에 있다</a:t>
            </a:r>
            <a:endParaRPr lang="en-US" sz="4400" dirty="0"/>
          </a:p>
        </p:txBody>
      </p:sp>
      <p:sp>
        <p:nvSpPr>
          <p:cNvPr id="4"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chemeClr val="bg2"/>
                </a:solidFill>
              </a:rPr>
              <a:t>① 빈칸 문장 먼저   ② 같은 말 찾기   ③ 함정 지우기</a:t>
            </a:r>
            <a:endParaRPr lang="en-US" sz="2000" dirty="0"/>
          </a:p>
          <a:p>
            <a:pPr algn="l" indent="0" marL="0">
              <a:buNone/>
            </a:pPr>
            <a:r>
              <a:rPr lang="en-US" sz="2000" b="1" dirty="0">
                <a:solidFill>
                  <a:schemeClr val="accent3"/>
                </a:solidFill>
              </a:rPr>
              <a:t>복습 과제: 틀린 문제의 '결정적 단서' 문장에 밑줄 긋고 해석해 오기</a:t>
            </a:r>
            <a:endParaRPr lang="en-US" sz="2000" dirty="0"/>
          </a:p>
        </p:txBody>
      </p:sp>
    </p:spTree>
  </p:cSld>
  <p:clrMapOvr>
    <a:masterClrMapping/>
  </p:clrMapOvr>
</p:sld>
</file>

<file path=ppt/theme/theme1.xml><?xml version="1.0" encoding="utf-8"?>
<a:theme xmlns:a="http://schemas.openxmlformats.org/drawingml/2006/main" name="Blank Hunter">
  <a:themeElements>
    <a:clrScheme name="Blank Hunter">
      <a:dk1>
        <a:srgbClr val="1E2B2A"/>
      </a:dk1>
      <a:lt1>
        <a:srgbClr val="FFFFFF"/>
      </a:lt1>
      <a:dk2>
        <a:srgbClr val="14453D"/>
      </a:dk2>
      <a:lt2>
        <a:srgbClr val="E6F2ED"/>
      </a:lt2>
      <a:accent1>
        <a:srgbClr val="1F7A64"/>
      </a:accent1>
      <a:accent2>
        <a:srgbClr val="EF5B3F"/>
      </a:accent2>
      <a:accent3>
        <a:srgbClr val="FFD45C"/>
      </a:accent3>
      <a:accent4>
        <a:srgbClr val="6E7F7C"/>
      </a:accent4>
      <a:accent5>
        <a:srgbClr val="2C7DA0"/>
      </a:accent5>
      <a:accent6>
        <a:srgbClr val="F7E9E4"/>
      </a:accent6>
      <a:hlink>
        <a:srgbClr val="1F7A64"/>
      </a:hlink>
      <a:folHlink>
        <a:srgbClr val="6E7F7C"/>
      </a:folHlink>
    </a:clrScheme>
    <a:fontScheme name="Blank Hunter">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70</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70</vt:i4>
      </vt:variant>
    </vt:vector>
  </HeadingPairs>
  <TitlesOfParts>
    <vt:vector size="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수능특강 영어 03강 빈칸·함의 추론</dc:title>
  <dc:subject>PptxGenJS Presentation</dc:subject>
  <dc:creator>David</dc:creator>
  <cp:lastModifiedBy>David</cp:lastModifiedBy>
  <cp:revision>1</cp:revision>
  <dcterms:created xsi:type="dcterms:W3CDTF">2026-10-13T02:37:16Z</dcterms:created>
  <dcterms:modified xsi:type="dcterms:W3CDTF">2026-10-13T02:37:16Z</dcterms:modified>
</cp:coreProperties>
</file>