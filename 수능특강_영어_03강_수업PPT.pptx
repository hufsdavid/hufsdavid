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b27a35a-ac44-6fd2-fe60-b2f71a7f857e}">
          <p14:sldIdLst>
            <p14:sldId id="256"/>
            <p14:sldId id="257"/>
          </p14:sldIdLst>
        </p14:section>
        <p14:section name="풀이 공식" id="{2ade8759-2f08-1a6c-a18d-dbbb99cba03b}">
          <p14:sldIdLst>
            <p14:sldId id="258"/>
            <p14:sldId id="259"/>
            <p14:sldId id="260"/>
            <p14:sldId id="261"/>
          </p14:sldIdLst>
        </p14:section>
        <p14:section name="Part 1 · Ex 1–6" id="{83fd81ee-7810-ccbd-87a9-d2c9ad1121f9}">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Part 2 · Ex 7–12" id="{694d25ea-8b2e-590e-d4a0-f2189e743e6e}">
          <p14:sldIdLst>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 name="정리" id="{05080c7e-5daf-bb84-fd49-415cf26f0b59}">
          <p14:sldIdLst>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빈칸 문제 10개, 밑줄 의미 문제 2개를 오늘 하나씩 해설할 거예요. 오늘 딱 하나만 기억하면 됩니다. 빈칸의 답은 항상 지문 안에 '다른 말로' 숨어 있다!"
【시간 배분 추천】 50분 수업 2차시: 1차시 = 풀이 공식 + Ex 1~6, 2차시 = Ex 7~12 + 정리. 한 문제당 약 7~8분(지문+보기·근거 찾기 4분 + 흐름·정답·오답 3~4분).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지문+보기 보면서 고른 답 확인 → ② 정답 근거 찾기 → ③ 글의 흐름 정리 → ④ 정답과 오답 이유, 이 순서로 해설할게요."
【팁】 지문+보기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"빈칸 문제를 처음부터 끝까지 해석하고 나서 고르면 시간이 부족해요. 순서를 바꿔 볼게요.
1단계, 빈칸 문장을 먼저 읽고 '내가 찾아야 할 것'을 정해요. 예: '자존감 낮은 사람의 특징'.
2단계, 지문에서 그것과 같은 말을 찾아요. 글쓴이는 중요한 말을 반드시 반복해요.
3단계, 선택지를 넣어 보고 틀린 것부터 지워요."
【강조】 오늘 12문제 모두 이 3단계로 풀 거라고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"밑줄 문제는 '암호 풀기'예요. 밑줄은 비유라서 단어 하나하나를 글의 핵심 개념으로 바꿔 줘야 해요."
【칠판 활동】 오른쪽 예시처럼 '밑줄 단어 → 글의 개념'을 표로 만들어 보여 주세요. Ex 6과 Ex 12가 이 유형입니다.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【1차시 본론 시작】 "이제 문제를 풀어 볼게요. 3분 타이머 시작! 빈칸 문장부터 읽는 것 잊지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자존감 낮은 사람들의 '특징'을 찾자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6번)에서 멈춰 "여기가 정답 근거!"라고 강조하세요.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
【문장별 해석 · 선생님 참고용 (★ = 정답 근거)】
(1) 자존감이 낮은 사람들은 ______는 증거가 있다.
(2) ★ Campbell과 Fehr가 피실험자들이 한결같이 긍정적이거나 한결같이 부정적인 형용사 세트로 자신을 어떻게 평가하는지 조사했을 때, 자존감이 낮은 피실험자들은 (평균적으로) 덜 긍정적이거나 더 부정적인 평가를 했을 뿐 아니라, 각 세트 안에서의 평가도 더 흩어져 있었다, 즉 분산이 더 컸다.
(3) 자존감이 높은 피실험자들은 긍정적 형용사는 강하고 일관되게 인정하고, 부정적 형용사는 거부했다.
(4) 대조적으로, 자존감이 낮은 피실험자들은 부정적 형용사를 강하고 일관되게 인정하고 긍정적 형용사를 거부하지는 않았다.
(5) ★ 오히려 그들은 두 종류의 형용사 모두에 더 중간적이고 더 가변적인(들쭉날쭉한) 평가를 했다.
(6) ★ 그러므로 자존감이 낮은 사람과 높은 사람은 자기관의 평균적 긍정성뿐 아니라, 자기관들이 서로 평가적으로 일관된 정도에서도 다른 것으로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상황 해석에 민감 → 글에 없는 내용
② 반대: 안정적 → 오히려 '들쭉날쭉'이 핵심
③ 정답: 자기 묘사의 평가적 일관성이 낮다 = consistent의 재진술
④ 반대: '일관되게' 다듬어짐 → 일관성이 낮다는 글과 반대
⑤ 언급 없음: 또래·주변인 인정에 의존 → 글에 없음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'야만'이 흔한 곳 = 어떤 사회?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5, 7번)에서 멈춰 "여기가 정답 근거!"라고 강조하세요.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
【문장별 해석 · 선생님 참고용 (★ = 정답 근거)】
(1) 문해 사회에서 글을 읽고 쓸 줄 아는 것의 힘과 가치는 전 세계에서 매일 드러나고 있다.
(2) 다른 이들이 그것을 당연하게 여기는 바로 그때에도, 많은 개인들, 그리고 실은 사회 전체가 문해력을 갖추기 위해 상당한 희생을 치른다.
(3) ★ 문해 행위를 실천하지 않는 사회는 흔히 지저분하고, 정신과 육체가 영양 결핍 상태이며, 인권과 존엄성을 억압하고, 잔인하며 가혹하다.
(4) 오늘날의 예를 열거하기는 쉽지만, 사실 이것은 언제나 그래 왔다.
(5) ★ 2세기도 더 전에 Samuel Johnson이 말했듯이, "인쇄가 없는 곳에서는 모든 민족의 대중이 야만적일 수밖에 없다."
(6) 우리는 다양한 형태의 '야만'이 모든 사회에서 발견될 수 있음을 인정하지만, 그것들은 ______한 곳에서 훨씬 더 널리 퍼져 있다.
(7) ★ 문해력과 삶의 질은 함께 간다.
(8) 문해력과 함께 특권 집단에 속하는 힘과 그 힘에서 나오는 자유가 온다.
(9) 노예로서 읽는 법을 배우려고 분투했던 Frederick Douglass는 이것을 가장 잘 표현했다. "일단 읽는 법을 배우면, 당신은 영원히 자유로울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문해율이 일정하다 → '변화' 이야기 아님
② 소재 함정: 도덕이 무시된다 → 그럴듯하지만 주제는 '문해력'
③ 언급 없음: 경제적 불평등 → 글에 없음 (교재 오타: previals)
④ 정답: 문해 행위가 없는 곳 = do not practice literate behavior
⑤ 언급 없음: 사회 안정이 취약하다 → 글의 핵심어 아님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문화적 자아관이 '무엇에' 영향을 주나?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5, 8번)에서 멈춰 "여기가 정답 근거!"라고 강조하세요.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
【문장별 해석 · 선생님 참고용 (★ = 정답 근거)】
(1) 문화적으로 공유된 자아관은 ______라고 제시되어 왔다.
(2) ★ 서양 문화에서 개인은 욕구와 개인적 목표 같은 내적 속성을 발견하도록 장려되며, 따라서 그런 욕구와 목표에 관련된 사건에 주의를 집중할 것으로 예상될 수 있다.
(3) 그 결과, 그들의 주의는 (한 곳에) 집중될 수 있다.
(4) 맥락 대신 초점 대상에 고정된 이러한 인지 방식은 '분석적'이라고 불려 왔다.
(5) ★ 대조적으로, 동양 문화에서 개인은 늘 중요한 사회적 관계의 다양한 측면에 더 맞춰져 있으며, 그 결과 초점 대상뿐 아니라 그 주변 맥락에도 더 넓게 주의를 기울여, 대상과 맥락 사이의 관계를 추론할 것으로 예상될 수 있다.
(6) 이러한 인지 방식은 '총체적'이라고 불려 왔다.
(7) 이러한 예측은 입증되었다.
(8) ★ 예를 들어, 수중 장면을 담은 짤막한 애니메이션을 보고 나서 본 것을 기억해 보라는 요청을 받았을 때, 유럽계 미국인은 초점 대상을 더 많이 회상한 반면, 일본인은 초점 대상들 사이의 관계뿐 아니라 맥락 정보도 더 많이 언급했다.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사회적 상호작용 해석을 '왜곡' → 부정적 내용 없음
② 언급 없음: 세대에 걸친 사회 문제 → 무관
③ 정답: 기본적 주의 과정에 깊은 영향 = attention 반복
④ 반대: '최소한의' 영향 → 큰 영향이라는 글과 반대
⑤ 범위 오류: 사회적 태도·행동 → 글은 '주의(보는 방식)' 이야기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숨어 있던 수요가 '언제' 드러나나?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8번)에서 멈춰 "여기가 정답 근거!"라고 강조하세요.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
【문장별 해석 · 선생님 참고용 (★ = 정답 근거)】
(1) 환자가 구매를 선택하면 그 사람은 수요의 일부가 된다.
(2) (약, 성형수술, 인공 고관절 등을) 사고 싶지만 사지 않으면 그 잠재적 환자는 보이지 않는 상태, 즉 시장에 실질적으로 참여하지 않는 잠재 수요의 일부로 남는다.
(3) 그 추가 수요는 ______ 드러날 것이다.
(4) 예를 들어, 인공 심장의 개발을 생각해 보라.
(5) ★ 심장 하나에 100만 달러가 든다면, 그것은 생사가 걸린 문제에만 사용될 것이다.
(6) ★ 추가 개발로 인공 심장의 비용이 개당 10만 달러로 줄어든다면, 더 많은 사람이 그것을 얻게 될 것이다.
(7) 인공 심장은 여전히 중병 환자에게만 사용되겠지만, 사람의 원래 심장이 기능을 다하기 훨씬 전에 이식될 수도 있을 것이다.
(8) ★ 인공 심장 제작 비용이 100달러로 떨어진다면, 필요한 누구나 쉽게 구할 수 있을 것이다.
(9) 인공 심장 비용이 10달러로 떨어지고 15분짜리 진료 중에 쉽게 이식될 수 있다면 어떤 일이 일어날지 생각해 보라.
(10) 한 번도 아픈 적 없이 그저 걱정만 하던 사람들 중 일부는 새 심장을 이식받을지도 모른다.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가격이 충분히 낮아지면 = 예시 전체의 공통점
② 소재 함정: 소득 증가 → 예시는 '소득'이 아니라 '가격' 변화
③ 언급 없음: 사회가 필요하다고 여길 때 → 글에 없음
④ 언급 없음: 규칙이 올바르게 적용될 때 → 무관
⑤ 소재 함정: 위험이 없어지면 → 예시는 '안전'이 아니라 '비용'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These(앞의 예시들)를 한 마디로 묶으면?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3번)에서 멈춰 "여기가 정답 근거!"라고 강조하세요.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
【문장별 해석 · 선생님 참고용 (★ = 정답 근거)】
(1) ★ 역사가는 증거를 선별하고 해석하는 것 이상의 일을 한다. 그들은 또한 이해할 수 있는 (그리고 그들이 바라기로는 설득력 있는) 서사를 만들기 위해 증거를 조직한다.
(2) 특히 변화의 원인이 핵심일 때 연대순은 일반적으로 역사를 그럴듯하게 만드는 요소의 일부이지만, 실제로 많은 역사 서술은 복잡한 이야기의 여러 가닥을 집어내기 위해 시간을 앞뒤로 오가야 한다.
(3) ★ 역사가는 또한 사건을 특정한 관점에서 비추거나 서사에 특정한 어조를 부여함으로써 사건을 이해할 수 있게 만든다.
(4) 예를 들어, 역사가는 역사적 아이러니를 부각할 수 있다. George W. Bush 대통령은 한 나라의 정부가 무너졌을 때 미국이 그 나라의 경제·정치 구조를 재건하는 '국가 건설'을 한때 비판했지만, 나중에 이라크 전쟁을 일으킨 결과 바로 그 일을 시도해야 했던 것이 그 예이다.
(5) 역사가는 사건을 낭만화할 수도 있는데, 영웅적인 아서 왕과 원탁의 기사들에 관한 브로드웨이 뮤지컬을 암시하며 John F. Kennedy의 대통령 임기를 '카멜롯'이라고 묘사한 사람들이 그랬다.
(6) 마찬가지로, 어떤 역사가는 일련의 사건을 발전으로 보는 반면, 다른 역사가는 그것을 쇠퇴로 인식할 수 있다.
(7) 이것들은 ______하는 방식들 중 단지 몇 가지일 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역사를 서사적으로 이해되게 만든다 = 첫 문장 재진술
② 범위 오류: 연구가 추진·전달되는 방식 → 너무 넓고 막연함
③ 언급 없음: 지식을 풍부하게 → 가치 평가, 글에 없음
④ 언급 없음: 교훈적 자료로 사용 → 글에 없음
⑤ 소재 함정: 허구 사용·공감 → romanticize ≠ fiction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골프(분야 A) → 시계(분야 B) = 무슨 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7번)에서 멈춰 "여기가 정답 근거!"라고 강조하세요.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
【문장별 해석 · 선생님 참고용 (★ = 정답 근거)】
(1) 위신은 인간만이 인식하는 특별한 형태의 지위이다.
(2) 대부분의 동물은 가장 힘세거나 공격적인 개체가 되는 것 같은 지배의 이점을 따르며, 이것은 인간에게도 중요하다. 무시무시한 전사는 어디서나 찬양받는다.
(3) 위신은 거의 그 반대이다.
(4) 위신 있는 사람은 배울 가치가 있는 사람, 즉 전문가나 연장자이다.
(5) ★ 그리고 누군가 한 분야에서 위신을 가지면, 그들은 높은 지위의 사람이 되고 그들의 영향력은 그 분야에 한정되지 않는다. 우리는 그들의 모든 결정을 따라 할 가능성이 크다.
(6) 실제로 위신은 문화 전달의 이점을 높이는 방법으로 진화했을지도 모른다.
(7) ★ 삶의 한 영역에서의 성공은 그 사람에게 전반적인 여론 주도자의 지위를 부여한다.
(8) 우리는 성공한 사람들에게서 배우거나, 그저 어떤 식으로든 그들과 연관되기를 원하는데, 그들의 명성이 우리에게 옮아오도록 하기 위해서이다.
(9) 그래서 골프 영웅이 당신에게 시계를 팔 수 있는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돈을 많이 버는 것 → 글에 없음
② 소재 함정: 은퇴 후 진로 → 글은 '영향력 확장'
③ 언급 없음: 즉각적 만족을 위한 구매 → 글에 없음
④ 정답: 위신을 얻으면 영향력이 원래 분야를 넘어 확장
⑤ 반대: 위신의 상속 → 글은 실력·성공으로 얻음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【2차시 시작】 지난 시간 3단계 공식(빈칸 문장 먼저 → 같은 말 찾기 → 함정 지우기)과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우리가 '생각해서 결정'할 수 있는 것은?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5, 6번)에서 멈춰 "여기가 정답 근거!"라고 강조하세요.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
【문장별 해석 · 선생님 참고용 (★ = 정답 근거)】
(1) ★ 감정(emotion)은 무의식적인 신경생물학적 반응을 가리키는 데 쓰일 수 있는 반면, 느낌(feeling)은 우리가 그 감정에 부여하는 인지적 의미이다.
(2) 이것은 분명 훨씬 더 복잡한 역학 관계이며, 이 둘의 상호 작용을 설명하는 매우 상세한 정보가 아주 많다.
(3) 그러나 감정과 느낌의 구분이 가장 주목할 만하게 적용되는 점은, 인간이 바로 ______을 인지적으로 부여할, 즉 그것에 대해 생각하고 결정할 어느 정도의 능력이 있다는 것이다.
(4) 이것은 더 구체적인 예인 고대의 전쟁 북을 생각해 보면 더 쉽게 이해할 수 있다.
(5) ★ 대부분은 울리는 전쟁 북소리를 듣는다고 해서 어떤 갈등에서 편을 고르게 되지는 않는다는 데 동의할 것이다.
(6) ★ 울리는 전쟁 북은 처음에 선택한 쪽이 어느 쪽이든 그 편에서 더 힘차게 행진하도록 도울 뿐이다.
(7) 북소리의 청각적 감각이 일으킨 신경생물학적 경험은 사람이 주어진 목적을 향해 더 많은 에너지를 '느끼고' 더 빨리 걷게 만든다.
(8) 아마 셰익스피어는 Timon의 대사 "그대의 북을 따르라…"를 쓸 때 이것에 대해 무언가 알고 있었을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우리가 경험하는 감정이 무엇을 의미할지 = feeling의 정의
② 소재 함정: 음악 = 심리 무기 → 북소리 '소재'만 빌린 함정
③ 반대: 무의식이 본능적 행동을 형성 → 글은 '인지적' 선택 강조
④ 언급 없음: 리듬과 신경 발달 → 글에 없음
⑤ 소재 함정: 외부 신호가 감정·기억 유발 → 핵심 아님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물을 '중앙에서 통제'하면 무엇이 생기나?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문장(4, 7번)에서 멈춰 "여기가 정답 근거!"라고 강조하세요.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
【문장별 해석 · 선생님 참고용 (★ = 정답 근거)】
(1) 메소포타미아의 농업 잠재력을 여는 열쇠는 관개에 있었다.
(2) 초기 메소포타미아인들, 특히 수메르인들은 정교한 관개 기술을 개발한 선구자였다.
(3) 그들은 강의 흐름을 통제하기 위해 운하, 제방, 저수지를 건설하여, 건기에는 물을 밭으로 돌리고 홍수로부터 정착지를 보호했다.
(4) ★ 이 거대한 노력은 이전에 없던 규모의 협력과 조직을 필요로 했고, 복잡한 사회 구조의 발달과 강력한 도시 국가의 부상으로 이어졌다.
(5) 초기 관개는 비교적 소규모였으며, 근처 밭으로 물을 돌리기 위해 단순한 수로를 파는 일이었다.
(6) 시간이 지나면서 이 체계는 더 정교해져, 먼 거리에 걸친 복잡한 운하망을 갖추게 되었다.
(7) ★ 이 체계를 건설하고 유지하는 데는 상당한 노동력이 필요했는데, 그것은 흔히 신전 사제나 강력한 지도자들이 조직하고 지휘했다.
(8) 물 자원에 대한 이러한 중앙 집중식 통제는 ______을 제공했다.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조직 노동의 필요 감소 → 오히려 대규모 노동 필요
② 반대: 모두에게 평등한 접근 → '중앙 통제'와 반대
③ 반대: 사회 계급 제거 → 오히려 계급 형성
④ 정답: 정치 권력과 사회 위계의 기반
⑤ 반대: 개인 농업의 독립성 → 중앙 통제와 반대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앞 내용(옛 방식을 버림)을 한 문장으로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문장(1, 9, 10번)에서 멈춰 "여기가 정답 근거!"라고 강조하세요.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
【문장별 해석 · 선생님 참고용 (★ = 정답 근거)】
(1) ★ 문화가 그 은유적 기반을 농업에서 찾는다면, 문명은 그것을 교환에서 찾는다.
(2) 우리 사회가 다른 사회와 연결되면 우리는 다른 사람들과 연결되고, 갑자기 사물을 비교하고 서로와의 관계 속에서 판단할 수 있게 된다.
(3) 그 결과, 우리는 더 좋고 더 싼 선택지 중에서 고를 수 있게 되고, 새로운 것과 한 번도 시도해 보지 않은 것을 고를 수 있다.
(4) 그러한 선택은 우리의 시야를 넓히고 삶을 향상시킨다.
(5) 이것이 문명이 상품, 사람, 사상, 신앙, 생활 방식의 방해받지 않는 순환에 의존하는 이유이다.
(6) 그러한 상호 작용의 결과는 불안하게 할 수도 있지만, 해방감을 줄 수도 있다.
(7) 우리는 더 이상 우리 문화에 갇혀 그 짐을 질 필요가 없고, 더 이상 지금의 우리일 필요도 없다.
(8) 문명은 우리에게 탈출 수단을 제공한다.
(9) ★ 또는 달리 말하면, 교환은 문화의 적이다.
(10) ★ 대안이 주어지면 우리는 옛 방식을 버린다.
(11) 우리는 더 이상 예전에 하던 일을 하지 않고, 더 이상 예전과 꼭 같은 사람이 아니다.
(12) 이것이 ______하는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강한 문화적 경계 → 경계가 무너지는 글
② 정답: 문명이 문화를 약화·파괴 = enemy of culture
③ 반대: 지역 고유성 장려 → 반대
④ 반대: 핵심 가치 변화 없음 → '예전의 우리가 아님'과 반대
⑤ 반대: 정체성 강화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However 뒤 → 앞(정당성)과 반대되는 '한계'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문장(5, 6, 7번)에서 멈춰 "여기가 정답 근거!"라고 강조하세요.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
【문장별 해석 · 선생님 참고용 (★ = 정답 근거)】
(1) 과학과 민주주의는 지식과 권력에 대한 부당한 주장에 반대하는 중요한 원칙과 이상을 공유한다.
(2) 과학적 지식과 민주적 통치의 권위는 모두 대표(representation)에 의해 정당화된다.
(3) 이 대표가 정당하다고 받아들여질 때에만 그것은 제기된 지식 주장의 권위나 특정 형태의 통치의 권위를 뒷받침할 수 있다.
(4) 그러나 대표는 ______하다.
(5) ★ 과학적 실천과 민주적 통치는 모두 원칙적으로 잠재적인 대안적 대표를 인정하므로, 무엇이 대표되고 무엇이 대표되지 않는지를 두고 지속적인 다툼이 예견될 수 있다.
(6) ★ 대표한다는 것은 단순화한다는 뜻이며, 이는 대안, 즉 복잡한 문제를 단순화하는 다른 방식들이 존재함을 암시한다.
(7) ★ 이것은 나아가 과학과 민주주의 모두 개선을 위한 내장된 장치를 가지고 있다는 뜻이며, 그 장치는 기존 대표에 대한 비판적 평가에 기반한다.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논쟁이 없다 → continuous struggles와 반대
② 정답: 결코 완벽·완전하지 않다 = 단순화, 대안, 개선 필요
③ 범위 오류: 과학에서만 유효 → 민주주의도 해당
④ 반대: 고정·변화 저항 → 개선 메커니즘과 반대
⑤ 언급 없음: 주관적이지도 거부되지도 않음 → 무관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열대 토양 사례 → '일반 법칙'으로 바꾸기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문장(3, 4번)에서 멈춰 "여기가 정답 근거!"라고 강조하세요.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
【문장별 해석 · 선생님 참고용 (★ = 정답 근거)】
(1) 지질과 기후의 차이 때문에 지역마다 토양이 지속적인 농업을 감당할 수 있는 정도가 다르다.
(2) 특히, 많은 열대 지형의 완만한 경사지에 내리는 풍부한 비와 높은 풍화율은, 충분한 시간이 지나면 땅속으로 스며든 빗물이 토양과 그 아래 풍화된 암석 모두에서 거의 모든 영양분을 씻어 낸다는 것을 의미한다.
(3) ★ 일단 이렇게 되면, 울창한 식생은 본질적으로 스스로를 먹고 살며, 오래전 풍화된 암석에서 물려받은 영양분을 보유하고 재활용한다.
(4) ★ 이 지역의 영양분 대부분은 토양이 아니라 식물 자체에 있기 때문에, 토착 식생이 사라지면 토양의 생산 능력도 사라진다.
(5) 흔히 삼림 벌채 후 수십 년 안에, 농작물이나 가축을 부양하기에는 너무 적은 영양분만 남게 된다.
(6) 영양분이 부족한 열대 토양은 ______라는 일반 법칙을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모든 성장이 변화로 이어지진 않음 → 무관
② 정답: 생명은 과거 생명의 재활용에 의존 = recycling
③ 소재 함정: 뿌리 깊은 곳에서 농업 번성 → 글에 없음
④ 반대: 울창한 숲 = 비옥한 땅? → 열대는 정반대!
⑤ 반대: 토양은 항상 충분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문제를 그대로 띄운 화면입니다. "몇 번 골랐어?" 손가락으로 표시하게 해서 답 분포를 확인하고, 정답은 아직 말하지 마세요. 많이 고른 오답이 있으면 정답·오답 슬라이드에서 그 선택지를 더 오래 설명하세요.
【한 줄 요약】 이 말을 하는 사람의 '속뜻'은?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 번호 순서대로 읽으며 해설하고, 형광 문장(2, 3, 8번)에서 멈춰 "여기가 정답 근거!"라고 강조하세요.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
【문장별 해석 · 선생님 참고용 (★ = 정답 근거)】
(1) 아는 것이 힘이다.
(2) ★ 그리고 팀 내 신뢰의 양을 측정하는 한 가지 방법은 사람들이 얼마나 많은 정보를 혼자 간직하는지(낮은 신뢰), 혹은 공개적으로 공유하는지(높은 신뢰)를 살펴보는 것이다.
(3) ★ 팀 리더는 특권 정보(일부만 아는 정보)를 팀원과 공유할 때 팀을 신뢰한다는 신호를 보낸다.
(4) 이것은 팀의 재정이나 윗선에서 내려온 예산을 공유하여, 팀 전체가 무엇을 가지고 일하는지, 우선순위가 어디에 있는지 알게 하는 것일 수 있다.
(5) 또한 널리 구할 수 있지만 거의 공유되지 않는 경쟁 데이터나 고객 동향일 수도 있다.
(6) 심지어 다른 팀이 공유한 정보를 전달하는 것일 수도 있다.
(7) 회의에서 누군가 "이건 여기서만 하는 얘기예요"라고 말할 때마다 분위기가 바뀐다.
(8) ★ 사람들은 뒤이어 나오는 말이 무엇이든 신뢰 속에서 하는 말임을 알고, 신뢰받는다는 그 느낌에 신뢰할 만한 행동으로 응답한다.
(9) 사람들은 자기 업무나 환경에 대해 평소보다 많은 정보를 받을 때 자신이 핵심층에 속해 있다고 느끼기 시작한다.
(10) 그들은 자신의 일이 더 큰 조직 전체에 어떻게 들어맞는지 보기 시작한다.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근거 찾기를 마친 뒤 "그래서 이 글은 한마디로 뭐야?" 하고 정리할 때 띄우세요. 왼쪽 위(빈칸 문장) → 오른쪽(글의 흐름 1~4) → 왼쪽 아래(결정적 단서) 순서로 설명하면 됩니다. 정답은 다음 슬라이드에서 공개!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신뢰가 아닌 경계심 → 정반대
② 반대: 너무 민감해서 말 못 함 → 실제로는 공개함
③ 언급 없음: 불편하니 잊어라 → 글에 없음
④ 반대: 모호하게 말하겠다 → 오히려 솔직히 공유
⑤ 정답: 상호 신뢰를 바탕으로 민감한 정보를 공개하겠다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활동】 '한 줄 핵심' 칸을 가리고 학생에게 번호만 불러 주며 "Ex 9는 무슨 내용이었지?" 하고 퀴즈처럼 물어보세요. 정답 번호보다 '왜 그 답인지'를 말하게 하는 게 복습 효과가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12문제를 다 3단계로 풀었어요. 다음 시간에도 빈칸 문장 먼저, 같은 말 찾기, 함정 지우기!"
【과제 안내】 틀린 문제의 결정적 단서 문장을 찾아 밑줄 + 해석해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수능특강 영어 03강 · 빈칸 &amp; 함의 추론</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수능특강 영어 03강  Exercise 1–12</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빈칸 추론 10문항 + 함의(밑줄) 추론 2문항</a:t>
            </a:r>
            <a:endParaRPr lang="en-US" sz="2000" dirty="0"/>
          </a:p>
          <a:p>
            <a:pPr algn="l" indent="0" marL="0">
              <a:buNone/>
            </a:pPr>
            <a:r>
              <a:rPr lang="en-US" sz="2000" b="1" dirty="0">
                <a:solidFill>
                  <a:schemeClr val="accent3"/>
                </a:solidFill>
              </a:rPr>
              <a:t>오늘의 목표: 빈칸은 '찍는' 게 아니라 지문에서 '찾는' 것</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풀이 공식 익히기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빈칸 3단계 · 신호어 · 오답 함정 · 함의 추론</a:t>
            </a:r>
            <a:endParaRPr lang="en-US" sz="1500" dirty="0"/>
          </a:p>
        </p:txBody>
      </p:sp>
      <p:sp>
        <p:nvSpPr>
          <p:cNvPr id="7" name="Text 5"/>
          <p:cNvSpPr/>
          <p:nvPr/>
        </p:nvSpPr>
        <p:spPr>
          <a:xfrm>
            <a:off x="82296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10분</a:t>
            </a:r>
            <a:endParaRPr lang="en-US" sz="1300" dirty="0"/>
          </a:p>
        </p:txBody>
      </p:sp>
      <p:sp>
        <p:nvSpPr>
          <p:cNvPr id="8" name="Shape 6"/>
          <p:cNvSpPr/>
          <p:nvPr/>
        </p:nvSpPr>
        <p:spPr>
          <a:xfrm>
            <a:off x="338328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1–6</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지문+보기 → 근거 찾기 → 흐름 → 정답·오답</a:t>
            </a:r>
            <a:endParaRPr lang="en-US" sz="1500" dirty="0"/>
          </a:p>
        </p:txBody>
      </p:sp>
      <p:sp>
        <p:nvSpPr>
          <p:cNvPr id="12" name="Text 10"/>
          <p:cNvSpPr/>
          <p:nvPr/>
        </p:nvSpPr>
        <p:spPr>
          <a:xfrm>
            <a:off x="365760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1차시</a:t>
            </a:r>
            <a:endParaRPr lang="en-US" sz="1300" dirty="0"/>
          </a:p>
        </p:txBody>
      </p:sp>
      <p:sp>
        <p:nvSpPr>
          <p:cNvPr id="13" name="Shape 11"/>
          <p:cNvSpPr/>
          <p:nvPr/>
        </p:nvSpPr>
        <p:spPr>
          <a:xfrm>
            <a:off x="621792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7–12</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같은 순서로 해설 → 학생이 단서 먼저 말하기</a:t>
            </a:r>
            <a:endParaRPr lang="en-US" sz="1500" dirty="0"/>
          </a:p>
        </p:txBody>
      </p:sp>
      <p:sp>
        <p:nvSpPr>
          <p:cNvPr id="17" name="Text 15"/>
          <p:cNvSpPr/>
          <p:nvPr/>
        </p:nvSpPr>
        <p:spPr>
          <a:xfrm>
            <a:off x="649224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2차시</a:t>
            </a:r>
            <a:endParaRPr lang="en-US" sz="1300" dirty="0"/>
          </a:p>
        </p:txBody>
      </p:sp>
      <p:sp>
        <p:nvSpPr>
          <p:cNvPr id="18" name="Shape 16"/>
          <p:cNvSpPr/>
          <p:nvPr/>
        </p:nvSpPr>
        <p:spPr>
          <a:xfrm>
            <a:off x="905256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정답 한눈에 정리</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12문제 정답 + 한 줄 핵심 복습</a:t>
            </a:r>
            <a:endParaRPr lang="en-US" sz="1500" dirty="0"/>
          </a:p>
        </p:txBody>
      </p:sp>
      <p:sp>
        <p:nvSpPr>
          <p:cNvPr id="22" name="Text 20"/>
          <p:cNvSpPr/>
          <p:nvPr/>
        </p:nvSpPr>
        <p:spPr>
          <a:xfrm>
            <a:off x="932688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5분</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빈칸 추론,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chemeClr val="bg2"/>
          </a:solidFill>
          <a:ln w="12700">
            <a:solidFill>
              <a:schemeClr val="bg2"/>
            </a:solidFill>
            <a:prstDash val="solid"/>
          </a:ln>
        </p:spPr>
      </p:sp>
      <p:sp>
        <p:nvSpPr>
          <p:cNvPr id="4" name="Shape 2"/>
          <p:cNvSpPr/>
          <p:nvPr/>
        </p:nvSpPr>
        <p:spPr>
          <a:xfrm>
            <a:off x="868680" y="1783080"/>
            <a:ext cx="914400" cy="9144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빈칸 문장부터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지문 처음부터 읽지 말고 빈칸 문장을 먼저!</a:t>
            </a:r>
            <a:endParaRPr lang="en-US" sz="1700" dirty="0"/>
          </a:p>
          <a:p>
            <a:pPr indent="0" marL="0">
              <a:spcAft>
                <a:spcPts val="600"/>
              </a:spcAft>
              <a:buNone/>
            </a:pPr>
            <a:r>
              <a:rPr lang="en-US" sz="1700" dirty="0">
                <a:solidFill>
                  <a:schemeClr val="tx1"/>
                </a:solidFill>
              </a:rPr>
              <a:t>→ "무엇을 찾아야 하지?"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chemeClr val="bg2"/>
          </a:solidFill>
          <a:ln w="12700">
            <a:solidFill>
              <a:schemeClr val="bg2"/>
            </a:solidFill>
            <a:prstDash val="solid"/>
          </a:ln>
        </p:spPr>
      </p:sp>
      <p:sp>
        <p:nvSpPr>
          <p:cNvPr id="11" name="Shape 7"/>
          <p:cNvSpPr/>
          <p:nvPr/>
        </p:nvSpPr>
        <p:spPr>
          <a:xfrm>
            <a:off x="4663440" y="1783080"/>
            <a:ext cx="914400" cy="91440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같은 말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빈칸 내용은 지문 어딘가에서 다른 표현으로 반복된다 (재진술)</a:t>
            </a:r>
            <a:endParaRPr lang="en-US" sz="1700" dirty="0"/>
          </a:p>
          <a:p>
            <a:pPr indent="0" marL="0">
              <a:spcAft>
                <a:spcPts val="600"/>
              </a:spcAft>
              <a:buNone/>
            </a:pPr>
            <a:r>
              <a:rPr lang="en-US" sz="1700" dirty="0">
                <a:solidFill>
                  <a:schemeClr val="tx1"/>
                </a:solidFill>
              </a:rPr>
              <a:t>→ 반복 단어·예시·결론에 밑줄</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chemeClr val="bg2"/>
          </a:solidFill>
          <a:ln w="12700">
            <a:solidFill>
              <a:schemeClr val="bg2"/>
            </a:solidFill>
            <a:prstDash val="solid"/>
          </a:ln>
        </p:spPr>
      </p:sp>
      <p:sp>
        <p:nvSpPr>
          <p:cNvPr id="18" name="Shape 12"/>
          <p:cNvSpPr/>
          <p:nvPr/>
        </p:nvSpPr>
        <p:spPr>
          <a:xfrm>
            <a:off x="8458200" y="1783080"/>
            <a:ext cx="914400" cy="914400"/>
          </a:xfrm>
          <a:prstGeom prst="ellipse">
            <a:avLst/>
          </a:prstGeom>
          <a:solidFill>
            <a:schemeClr val="accent1"/>
          </a:solidFill>
          <a:ln w="12700">
            <a:solidFill>
              <a:schemeClr val="accent1"/>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대입하고 함정 지우기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선택지를 빈칸에 넣어 읽어 보기</a:t>
            </a:r>
            <a:endParaRPr lang="en-US" sz="1700" dirty="0"/>
          </a:p>
          <a:p>
            <a:pPr indent="0" marL="0">
              <a:spcAft>
                <a:spcPts val="600"/>
              </a:spcAft>
              <a:buNone/>
            </a:pPr>
            <a:r>
              <a:rPr lang="en-US" sz="1700" dirty="0">
                <a:solidFill>
                  <a:schemeClr val="tx1"/>
                </a:solidFill>
              </a:rPr>
              <a:t>→ 반대·언급 없음·소재 함정부터 X</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10</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However · But · Yet · In contrast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앞 내용과 반대가 나온다</a:t>
            </a:r>
            <a:endParaRPr lang="en-US" sz="1500" dirty="0"/>
          </a:p>
          <a:p>
            <a:pPr indent="0" marL="0">
              <a:buNone/>
            </a:pPr>
            <a:r>
              <a:rPr lang="en-US" sz="1500" dirty="0">
                <a:solidFill>
                  <a:schemeClr val="tx1"/>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 9</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Therefore · As a result · This is why · Thus</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지금까지 내용을 정리한다</a:t>
            </a:r>
            <a:endParaRPr lang="en-US" sz="1500" dirty="0"/>
          </a:p>
          <a:p>
            <a:pPr indent="0" marL="0">
              <a:buNone/>
            </a:pPr>
            <a:r>
              <a:rPr lang="en-US" sz="1500" dirty="0">
                <a:solidFill>
                  <a:schemeClr val="tx1"/>
                </a:solidFill>
              </a:rPr>
              <a:t>→ 빈칸 답의 원본</a:t>
            </a:r>
            <a:endParaRPr lang="en-US" sz="1500" dirty="0"/>
          </a:p>
        </p:txBody>
      </p:sp>
      <p:sp>
        <p:nvSpPr>
          <p:cNvPr id="17" name="Shape 13"/>
          <p:cNvSpPr/>
          <p:nvPr/>
        </p:nvSpPr>
        <p:spPr>
          <a:xfrm>
            <a:off x="54864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4, 7</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For example · For instance · Consider</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예시 앞 문장이 핵심</a:t>
            </a:r>
            <a:endParaRPr lang="en-US" sz="1500" dirty="0"/>
          </a:p>
          <a:p>
            <a:pPr indent="0" marL="0">
              <a:buNone/>
            </a:pPr>
            <a:r>
              <a:rPr lang="en-US" sz="1500" dirty="0">
                <a:solidFill>
                  <a:schemeClr val="tx1"/>
                </a:solidFill>
              </a:rPr>
              <a:t>→ 예시들의 공통점 = 답</a:t>
            </a:r>
            <a:endParaRPr lang="en-US" sz="1500" dirty="0"/>
          </a:p>
        </p:txBody>
      </p:sp>
      <p:sp>
        <p:nvSpPr>
          <p:cNvPr id="24" name="Shape 19"/>
          <p:cNvSpPr/>
          <p:nvPr/>
        </p:nvSpPr>
        <p:spPr>
          <a:xfrm>
            <a:off x="617220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chemeClr val="accent1"/>
          </a:solidFill>
          <a:ln w="12700">
            <a:solidFill>
              <a:schemeClr val="accent1"/>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7, 9</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In other words · Differently put · That is</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같은 말을 다르게 한 번 더</a:t>
            </a:r>
            <a:endParaRPr lang="en-US" sz="1500" dirty="0"/>
          </a:p>
          <a:p>
            <a:pPr indent="0" marL="0">
              <a:buNone/>
            </a:pPr>
            <a:r>
              <a:rPr lang="en-US" sz="1500" dirty="0">
                <a:solidFill>
                  <a:schemeClr val="tx1"/>
                </a:solidFill>
              </a:rPr>
              <a:t>→ 정답과 거의 같은 표현</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chemeClr val="bg2"/>
          </a:solidFill>
          <a:ln w="12700">
            <a:solidFill>
              <a:schemeClr val="bg2"/>
            </a:solidFill>
            <a:prstDash val="solid"/>
          </a:ln>
        </p:spPr>
      </p:sp>
      <p:sp>
        <p:nvSpPr>
          <p:cNvPr id="4" name="Text 2"/>
          <p:cNvSpPr/>
          <p:nvPr/>
        </p:nvSpPr>
        <p:spPr>
          <a:xfrm>
            <a:off x="822960" y="1691640"/>
            <a:ext cx="1737360" cy="502920"/>
          </a:xfrm>
          <a:prstGeom prst="roundRect">
            <a:avLst>
              <a:gd name="adj" fmla="val 27273"/>
            </a:avLst>
          </a:prstGeom>
          <a:solidFill>
            <a:schemeClr val="tx2"/>
          </a:solidFill>
          <a:ln/>
        </p:spPr>
        <p:txBody>
          <a:bodyPr wrap="square" lIns="0" tIns="0" rIns="0" bIns="0" rtlCol="0" anchor="ctr"/>
          <a:lstStyle/>
          <a:p>
            <a:pPr algn="ctr" indent="0" marL="0">
              <a:buNone/>
            </a:pPr>
            <a:r>
              <a:rPr lang="en-US" sz="1800" b="1" dirty="0">
                <a:solidFill>
                  <a:schemeClr val="bg1"/>
                </a:solidFill>
              </a:rPr>
              <a:t>반대</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글의 내용과 정반대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8 ② 평등한 물 접근 ↔ 중앙 통제</a:t>
            </a:r>
            <a:endParaRPr lang="en-US" sz="1500" dirty="0"/>
          </a:p>
        </p:txBody>
      </p:sp>
      <p:sp>
        <p:nvSpPr>
          <p:cNvPr id="7" name="Shape 5"/>
          <p:cNvSpPr/>
          <p:nvPr/>
        </p:nvSpPr>
        <p:spPr>
          <a:xfrm>
            <a:off x="548640" y="2633472"/>
            <a:ext cx="11064240" cy="1051560"/>
          </a:xfrm>
          <a:prstGeom prst="roundRect">
            <a:avLst>
              <a:gd name="adj" fmla="val 10435"/>
            </a:avLst>
          </a:prstGeom>
          <a:solidFill>
            <a:schemeClr val="bg1"/>
          </a:solidFill>
          <a:ln w="12700">
            <a:solidFill>
              <a:schemeClr val="bg2"/>
            </a:solidFill>
            <a:prstDash val="solid"/>
          </a:ln>
        </p:spPr>
      </p:sp>
      <p:sp>
        <p:nvSpPr>
          <p:cNvPr id="8" name="Text 6"/>
          <p:cNvSpPr/>
          <p:nvPr/>
        </p:nvSpPr>
        <p:spPr>
          <a:xfrm>
            <a:off x="822960" y="2907792"/>
            <a:ext cx="1737360" cy="502920"/>
          </a:xfrm>
          <a:prstGeom prst="roundRect">
            <a:avLst>
              <a:gd name="adj" fmla="val 27273"/>
            </a:avLst>
          </a:prstGeom>
          <a:solidFill>
            <a:schemeClr val="bg2"/>
          </a:solidFill>
          <a:ln/>
        </p:spPr>
        <p:txBody>
          <a:bodyPr wrap="square" lIns="0" tIns="0" rIns="0" bIns="0" rtlCol="0" anchor="ctr"/>
          <a:lstStyle/>
          <a:p>
            <a:pPr algn="ctr" indent="0" marL="0">
              <a:buNone/>
            </a:pPr>
            <a:r>
              <a:rPr lang="en-US" sz="1800" b="1" dirty="0">
                <a:solidFill>
                  <a:schemeClr val="tx2"/>
                </a:solidFill>
              </a:rPr>
              <a:t>언급 없음</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그럴듯하지만 글에 없는 내용</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2 ③ 경제적 불평등</a:t>
            </a:r>
            <a:endParaRPr lang="en-US" sz="1500" dirty="0"/>
          </a:p>
        </p:txBody>
      </p:sp>
      <p:sp>
        <p:nvSpPr>
          <p:cNvPr id="11" name="Shape 9"/>
          <p:cNvSpPr/>
          <p:nvPr/>
        </p:nvSpPr>
        <p:spPr>
          <a:xfrm>
            <a:off x="548640" y="3849624"/>
            <a:ext cx="11064240" cy="1051560"/>
          </a:xfrm>
          <a:prstGeom prst="roundRect">
            <a:avLst>
              <a:gd name="adj" fmla="val 10435"/>
            </a:avLst>
          </a:prstGeom>
          <a:solidFill>
            <a:schemeClr val="bg2"/>
          </a:solidFill>
          <a:ln w="12700">
            <a:solidFill>
              <a:schemeClr val="bg2"/>
            </a:solidFill>
            <a:prstDash val="solid"/>
          </a:ln>
        </p:spPr>
      </p:sp>
      <p:sp>
        <p:nvSpPr>
          <p:cNvPr id="12" name="Text 10"/>
          <p:cNvSpPr/>
          <p:nvPr/>
        </p:nvSpPr>
        <p:spPr>
          <a:xfrm>
            <a:off x="822960" y="4123944"/>
            <a:ext cx="1737360" cy="502920"/>
          </a:xfrm>
          <a:prstGeom prst="roundRect">
            <a:avLst>
              <a:gd name="adj" fmla="val 27273"/>
            </a:avLst>
          </a:prstGeom>
          <a:solidFill>
            <a:schemeClr val="accent3"/>
          </a:solidFill>
          <a:ln/>
        </p:spPr>
        <p:txBody>
          <a:bodyPr wrap="square" lIns="0" tIns="0" rIns="0" bIns="0" rtlCol="0" anchor="ctr"/>
          <a:lstStyle/>
          <a:p>
            <a:pPr algn="ctr" indent="0" marL="0">
              <a:buNone/>
            </a:pPr>
            <a:r>
              <a:rPr lang="en-US" sz="1800" b="1" dirty="0">
                <a:solidFill>
                  <a:schemeClr val="tx1"/>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 속 단어·소재만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7 ② 음악 = 심리 무기 (북소리)</a:t>
            </a:r>
            <a:endParaRPr lang="en-US" sz="1500" dirty="0"/>
          </a:p>
        </p:txBody>
      </p:sp>
      <p:sp>
        <p:nvSpPr>
          <p:cNvPr id="15" name="Shape 13"/>
          <p:cNvSpPr/>
          <p:nvPr/>
        </p:nvSpPr>
        <p:spPr>
          <a:xfrm>
            <a:off x="548640" y="5065776"/>
            <a:ext cx="11064240" cy="1051560"/>
          </a:xfrm>
          <a:prstGeom prst="roundRect">
            <a:avLst>
              <a:gd name="adj" fmla="val 10435"/>
            </a:avLst>
          </a:prstGeom>
          <a:solidFill>
            <a:schemeClr val="bg1"/>
          </a:solidFill>
          <a:ln w="12700">
            <a:solidFill>
              <a:schemeClr val="bg2"/>
            </a:solidFill>
            <a:prstDash val="solid"/>
          </a:ln>
        </p:spPr>
      </p:sp>
      <p:sp>
        <p:nvSpPr>
          <p:cNvPr id="16" name="Text 14"/>
          <p:cNvSpPr/>
          <p:nvPr/>
        </p:nvSpPr>
        <p:spPr>
          <a:xfrm>
            <a:off x="822960" y="5340096"/>
            <a:ext cx="1737360" cy="502920"/>
          </a:xfrm>
          <a:prstGeom prst="roundRect">
            <a:avLst>
              <a:gd name="adj" fmla="val 27273"/>
            </a:avLst>
          </a:prstGeom>
          <a:solidFill>
            <a:schemeClr val="accent5"/>
          </a:solidFill>
          <a:ln/>
        </p:spPr>
        <p:txBody>
          <a:bodyPr wrap="square" lIns="0" tIns="0" rIns="0" bIns="0" rtlCol="0" anchor="ctr"/>
          <a:lstStyle/>
          <a:p>
            <a:pPr algn="ctr" indent="0" marL="0">
              <a:buNone/>
            </a:pPr>
            <a:r>
              <a:rPr lang="en-US" sz="1800" b="1" dirty="0">
                <a:solidFill>
                  <a:schemeClr val="bg1"/>
                </a:solidFill>
              </a:rPr>
              <a:t>범위 오류</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너무 넓거나 좁거나 엉뚱한 범위</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3 ⑤ 사회적 태도·행동 전반</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함의(밑줄) 추론: 비유를 '주제'로 번역하기</a:t>
            </a:r>
            <a:endParaRPr lang="en-US" sz="3000" dirty="0"/>
          </a:p>
        </p:txBody>
      </p:sp>
      <p:sp>
        <p:nvSpPr>
          <p:cNvPr id="3" name="Text 1"/>
          <p:cNvSpPr/>
          <p:nvPr/>
        </p:nvSpPr>
        <p:spPr>
          <a:xfrm>
            <a:off x="548640" y="14630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4" name="Text 2"/>
          <p:cNvSpPr txBox="1"/>
          <p:nvPr/>
        </p:nvSpPr>
        <p:spPr>
          <a:xfrm>
            <a:off x="1463040" y="14447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밑줄은 비유다</a:t>
            </a:r>
            <a:endParaRPr lang="en-US" sz="2000" dirty="0"/>
          </a:p>
        </p:txBody>
      </p:sp>
      <p:sp>
        <p:nvSpPr>
          <p:cNvPr id="5" name="Text 3"/>
          <p:cNvSpPr txBox="1"/>
          <p:nvPr/>
        </p:nvSpPr>
        <p:spPr>
          <a:xfrm>
            <a:off x="1463040" y="1920240"/>
            <a:ext cx="4206240" cy="960120"/>
          </a:xfrm>
          <a:prstGeom prst="rect">
            <a:avLst/>
          </a:prstGeom>
          <a:noFill/>
          <a:ln/>
        </p:spPr>
        <p:txBody>
          <a:bodyPr wrap="square" lIns="0" tIns="0" rIns="0" bIns="0" rtlCol="0" anchor="t"/>
          <a:lstStyle/>
          <a:p>
            <a:pPr indent="0" marL="0">
              <a:buNone/>
            </a:pPr>
            <a:r>
              <a:rPr lang="en-US" sz="1500" dirty="0">
                <a:solidFill>
                  <a:schemeClr val="tx1"/>
                </a:solidFill>
              </a:rPr>
              <a:t>문자 그대로 해석하면 오답! "골프 선수가 시계를 판다" → 진짜 시계 이야기 아님</a:t>
            </a:r>
            <a:endParaRPr lang="en-US" sz="1500" dirty="0"/>
          </a:p>
        </p:txBody>
      </p:sp>
      <p:sp>
        <p:nvSpPr>
          <p:cNvPr id="6" name="Text 4"/>
          <p:cNvSpPr/>
          <p:nvPr/>
        </p:nvSpPr>
        <p:spPr>
          <a:xfrm>
            <a:off x="548640" y="30632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7" name="Text 5"/>
          <p:cNvSpPr txBox="1"/>
          <p:nvPr/>
        </p:nvSpPr>
        <p:spPr>
          <a:xfrm>
            <a:off x="1463040" y="30449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주제문 찾기</a:t>
            </a:r>
            <a:endParaRPr lang="en-US" sz="2000" dirty="0"/>
          </a:p>
        </p:txBody>
      </p:sp>
      <p:sp>
        <p:nvSpPr>
          <p:cNvPr id="8" name="Text 6"/>
          <p:cNvSpPr txBox="1"/>
          <p:nvPr/>
        </p:nvSpPr>
        <p:spPr>
          <a:xfrm>
            <a:off x="1463040" y="35204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앞뒤 1~2문장에 설명이 있다</a:t>
            </a:r>
            <a:endParaRPr lang="en-US" sz="1500" dirty="0"/>
          </a:p>
          <a:p>
            <a:pPr indent="0" marL="0">
              <a:buNone/>
            </a:pPr>
            <a:r>
              <a:rPr lang="en-US" sz="1500" dirty="0">
                <a:solidFill>
                  <a:schemeClr val="tx1"/>
                </a:solidFill>
              </a:rPr>
              <a:t>(That's why / This means 등)</a:t>
            </a:r>
            <a:endParaRPr lang="en-US" sz="1500" dirty="0"/>
          </a:p>
        </p:txBody>
      </p:sp>
      <p:sp>
        <p:nvSpPr>
          <p:cNvPr id="9" name="Text 7"/>
          <p:cNvSpPr/>
          <p:nvPr/>
        </p:nvSpPr>
        <p:spPr>
          <a:xfrm>
            <a:off x="548640" y="46634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0" name="Text 8"/>
          <p:cNvSpPr txBox="1"/>
          <p:nvPr/>
        </p:nvSpPr>
        <p:spPr>
          <a:xfrm>
            <a:off x="1463040" y="46451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비유 ↔ 주제 연결</a:t>
            </a:r>
            <a:endParaRPr lang="en-US" sz="2000" dirty="0"/>
          </a:p>
        </p:txBody>
      </p:sp>
      <p:sp>
        <p:nvSpPr>
          <p:cNvPr id="11" name="Text 9"/>
          <p:cNvSpPr txBox="1"/>
          <p:nvPr/>
        </p:nvSpPr>
        <p:spPr>
          <a:xfrm>
            <a:off x="1463040" y="51206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속 단어를 글의 핵심 개념으로 바꿔 넣고, 같은 뜻의 선택지 고르기</a:t>
            </a:r>
            <a:endParaRPr lang="en-US" sz="1500" dirty="0"/>
          </a:p>
        </p:txBody>
      </p:sp>
      <p:sp>
        <p:nvSpPr>
          <p:cNvPr id="12" name="Shape 10"/>
          <p:cNvSpPr/>
          <p:nvPr/>
        </p:nvSpPr>
        <p:spPr>
          <a:xfrm>
            <a:off x="6126480" y="1463040"/>
            <a:ext cx="5486400" cy="4572000"/>
          </a:xfrm>
          <a:prstGeom prst="roundRect">
            <a:avLst>
              <a:gd name="adj" fmla="val 3000"/>
            </a:avLst>
          </a:prstGeom>
          <a:solidFill>
            <a:schemeClr val="bg2"/>
          </a:solidFill>
          <a:ln w="12700">
            <a:solidFill>
              <a:schemeClr val="bg2"/>
            </a:solidFill>
            <a:prstDash val="solid"/>
          </a:ln>
        </p:spPr>
      </p:sp>
      <p:sp>
        <p:nvSpPr>
          <p:cNvPr id="13" name="Text 11"/>
          <p:cNvSpPr txBox="1"/>
          <p:nvPr/>
        </p:nvSpPr>
        <p:spPr>
          <a:xfrm>
            <a:off x="6400800" y="1691640"/>
            <a:ext cx="2743200" cy="365760"/>
          </a:xfrm>
          <a:prstGeom prst="rect">
            <a:avLst/>
          </a:prstGeom>
          <a:noFill/>
          <a:ln/>
        </p:spPr>
        <p:txBody>
          <a:bodyPr wrap="square" lIns="0" tIns="0" rIns="0" bIns="0" rtlCol="0" anchor="ctr"/>
          <a:lstStyle/>
          <a:p>
            <a:pPr indent="0" marL="0">
              <a:buNone/>
            </a:pPr>
            <a:r>
              <a:rPr lang="en-US" sz="1400" b="1" dirty="0">
                <a:solidFill>
                  <a:schemeClr val="accent2"/>
                </a:solidFill>
              </a:rPr>
              <a:t>예시 · Ex 6</a:t>
            </a:r>
            <a:endParaRPr lang="en-US" sz="1400" dirty="0"/>
          </a:p>
        </p:txBody>
      </p:sp>
      <p:sp>
        <p:nvSpPr>
          <p:cNvPr id="14" name="Text 12"/>
          <p:cNvSpPr txBox="1"/>
          <p:nvPr/>
        </p:nvSpPr>
        <p:spPr>
          <a:xfrm>
            <a:off x="6400800" y="2103120"/>
            <a:ext cx="4937760" cy="457200"/>
          </a:xfrm>
          <a:prstGeom prst="rect">
            <a:avLst/>
          </a:prstGeom>
          <a:noFill/>
          <a:ln/>
        </p:spPr>
        <p:txBody>
          <a:bodyPr wrap="square" lIns="0" tIns="0" rIns="0" bIns="0" rtlCol="0" anchor="ctr"/>
          <a:lstStyle/>
          <a:p>
            <a:pPr indent="0" marL="0">
              <a:buNone/>
            </a:pPr>
            <a:r>
              <a:rPr lang="en-US" sz="1800" b="1" i="1" dirty="0">
                <a:solidFill>
                  <a:schemeClr val="tx2"/>
                </a:solidFill>
              </a:rPr>
              <a:t>"a golfing hero can sell you a watch"</a:t>
            </a:r>
            <a:endParaRPr lang="en-US" sz="1800" dirty="0"/>
          </a:p>
        </p:txBody>
      </p:sp>
      <p:sp>
        <p:nvSpPr>
          <p:cNvPr id="15" name="Text 13"/>
          <p:cNvSpPr/>
          <p:nvPr/>
        </p:nvSpPr>
        <p:spPr>
          <a:xfrm>
            <a:off x="6400800" y="288036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골프 영웅</a:t>
            </a:r>
            <a:endParaRPr lang="en-US" sz="1700" dirty="0"/>
          </a:p>
        </p:txBody>
      </p:sp>
      <p:pic>
        <p:nvPicPr>
          <p:cNvPr id="16" name="Image 0" descr="preencoded.png">    </p:cNvPr>
          <p:cNvPicPr>
            <a:picLocks noChangeAspect="1"/>
          </p:cNvPicPr>
          <p:nvPr/>
        </p:nvPicPr>
        <p:blipFill>
          <a:blip r:embed="rId1"/>
          <a:stretch>
            <a:fillRect/>
          </a:stretch>
        </p:blipFill>
        <p:spPr>
          <a:xfrm>
            <a:off x="8686800" y="3108960"/>
            <a:ext cx="274320" cy="274320"/>
          </a:xfrm>
          <a:prstGeom prst="rect">
            <a:avLst/>
          </a:prstGeom>
        </p:spPr>
      </p:pic>
      <p:sp>
        <p:nvSpPr>
          <p:cNvPr id="17" name="Text 14"/>
          <p:cNvSpPr/>
          <p:nvPr/>
        </p:nvSpPr>
        <p:spPr>
          <a:xfrm>
            <a:off x="9144000" y="288036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한 분야의 위신</a:t>
            </a:r>
            <a:endParaRPr lang="en-US" sz="1700" dirty="0"/>
          </a:p>
        </p:txBody>
      </p:sp>
      <p:sp>
        <p:nvSpPr>
          <p:cNvPr id="18" name="Text 15"/>
          <p:cNvSpPr/>
          <p:nvPr/>
        </p:nvSpPr>
        <p:spPr>
          <a:xfrm>
            <a:off x="6400800" y="393192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시계를 판다</a:t>
            </a:r>
            <a:endParaRPr lang="en-US" sz="1700" dirty="0"/>
          </a:p>
        </p:txBody>
      </p:sp>
      <p:pic>
        <p:nvPicPr>
          <p:cNvPr id="19" name="Image 1" descr="preencoded.png">    </p:cNvPr>
          <p:cNvPicPr>
            <a:picLocks noChangeAspect="1"/>
          </p:cNvPicPr>
          <p:nvPr/>
        </p:nvPicPr>
        <p:blipFill>
          <a:blip r:embed="rId2"/>
          <a:stretch>
            <a:fillRect/>
          </a:stretch>
        </p:blipFill>
        <p:spPr>
          <a:xfrm>
            <a:off x="8686800" y="4160520"/>
            <a:ext cx="274320" cy="274320"/>
          </a:xfrm>
          <a:prstGeom prst="rect">
            <a:avLst/>
          </a:prstGeom>
        </p:spPr>
      </p:pic>
      <p:sp>
        <p:nvSpPr>
          <p:cNvPr id="20" name="Text 16"/>
          <p:cNvSpPr/>
          <p:nvPr/>
        </p:nvSpPr>
        <p:spPr>
          <a:xfrm>
            <a:off x="9144000" y="393192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다른 분야에도 영향력</a:t>
            </a:r>
            <a:endParaRPr lang="en-US" sz="1700" dirty="0"/>
          </a:p>
        </p:txBody>
      </p:sp>
      <p:sp>
        <p:nvSpPr>
          <p:cNvPr id="21" name="Text 17"/>
          <p:cNvSpPr txBox="1"/>
          <p:nvPr/>
        </p:nvSpPr>
        <p:spPr>
          <a:xfrm>
            <a:off x="6400800" y="5120640"/>
            <a:ext cx="4937760" cy="640080"/>
          </a:xfrm>
          <a:prstGeom prst="rect">
            <a:avLst/>
          </a:prstGeom>
          <a:noFill/>
          <a:ln/>
        </p:spPr>
        <p:txBody>
          <a:bodyPr wrap="square" lIns="0" tIns="0" rIns="0" bIns="0" rtlCol="0" anchor="ctr"/>
          <a:lstStyle/>
          <a:p>
            <a:pPr indent="0" marL="0">
              <a:buNone/>
            </a:pPr>
            <a:r>
              <a:rPr lang="en-US" sz="1600" b="1" dirty="0">
                <a:solidFill>
                  <a:schemeClr val="accent2"/>
                </a:solidFill>
              </a:rPr>
              <a:t>= 위신을 얻으면 영향력이 원래 분야를 넘어 확장된다</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1  ·  Exercise 1–6</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자존감 · 문해력 · 문화와 주의 · 잠재 수요 · 역사 서사 · 위신(함의)</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There is evidence that low self-esteem people are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High self-esteem subjects strongly and consistently endorsed the positive adjectives and rejected the negative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Low self-esteem subjects did not, in contrast, strongly and consistently endorse the negative adjectives and reject the positive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Rather, they gave more intermediate ratings and more variable ratings to both types of adjectives.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Therefore, it appears that low and high self-esteem individuals differ not only in the average positivity of their self-views, but also in the extent to which their self-views are evaluatively consistent with one another.</a:t>
            </a:r>
            <a:endParaRPr lang="en-US" sz="1600" dirty="0"/>
          </a:p>
          <a:p>
            <a:pPr algn="r" indent="0" marL="0">
              <a:lnSpc>
                <a:spcPct val="115000"/>
              </a:lnSpc>
              <a:spcBef>
                <a:spcPts val="200"/>
              </a:spcBef>
              <a:buNone/>
            </a:pPr>
            <a:r>
              <a:rPr lang="en-US" sz="1100" i="1" dirty="0">
                <a:solidFill>
                  <a:srgbClr val="6E7F7C"/>
                </a:solidFill>
              </a:rPr>
              <a:t>* variance: 분산   ** endorse: 인정하다</a:t>
            </a:r>
            <a:endParaRPr lang="en-US" sz="1600" dirty="0"/>
          </a:p>
          <a:p>
            <a:pPr indent="0" marL="0">
              <a:lnSpc>
                <a:spcPct val="115000"/>
              </a:lnSpc>
              <a:spcBef>
                <a:spcPts val="1000"/>
              </a:spcBef>
              <a:buNone/>
            </a:pPr>
            <a:r>
              <a:rPr lang="en-US" sz="1600" dirty="0">
                <a:solidFill>
                  <a:srgbClr val="14453D"/>
                </a:solidFill>
              </a:rPr>
              <a:t>①  inherently sensitive to their own interpretations of situations</a:t>
            </a:r>
            <a:endParaRPr lang="en-US" sz="1600" dirty="0"/>
          </a:p>
          <a:p>
            <a:pPr indent="0" marL="0">
              <a:lnSpc>
                <a:spcPct val="115000"/>
              </a:lnSpc>
              <a:spcBef>
                <a:spcPts val="200"/>
              </a:spcBef>
              <a:buNone/>
            </a:pPr>
            <a:r>
              <a:rPr lang="en-US" sz="1600" dirty="0">
                <a:solidFill>
                  <a:srgbClr val="14453D"/>
                </a:solidFill>
              </a:rPr>
              <a:t>②  relatively stable despite changes in interpersonal dynamics</a:t>
            </a:r>
            <a:endParaRPr lang="en-US" sz="1600" dirty="0"/>
          </a:p>
          <a:p>
            <a:pPr indent="0" marL="0">
              <a:lnSpc>
                <a:spcPct val="115000"/>
              </a:lnSpc>
              <a:spcBef>
                <a:spcPts val="200"/>
              </a:spcBef>
              <a:buNone/>
            </a:pPr>
            <a:r>
              <a:rPr lang="en-US" sz="1600" dirty="0">
                <a:solidFill>
                  <a:srgbClr val="14453D"/>
                </a:solidFill>
              </a:rPr>
              <a:t>③  less evaluatively consistent in their self-descriptions</a:t>
            </a:r>
            <a:endParaRPr lang="en-US" sz="1600" dirty="0"/>
          </a:p>
          <a:p>
            <a:pPr indent="0" marL="0">
              <a:lnSpc>
                <a:spcPct val="115000"/>
              </a:lnSpc>
              <a:spcBef>
                <a:spcPts val="200"/>
              </a:spcBef>
              <a:buNone/>
            </a:pPr>
            <a:r>
              <a:rPr lang="en-US" sz="1600" dirty="0">
                <a:solidFill>
                  <a:srgbClr val="14453D"/>
                </a:solidFill>
              </a:rPr>
              <a:t>④  consistently refined in response to evolving self-perceptions</a:t>
            </a:r>
            <a:endParaRPr lang="en-US" sz="1600" dirty="0"/>
          </a:p>
          <a:p>
            <a:pPr indent="0" marL="0">
              <a:lnSpc>
                <a:spcPct val="115000"/>
              </a:lnSpc>
              <a:spcBef>
                <a:spcPts val="200"/>
              </a:spcBef>
              <a:buNone/>
            </a:pPr>
            <a:r>
              <a:rPr lang="en-US" sz="1600" dirty="0">
                <a:solidFill>
                  <a:srgbClr val="14453D"/>
                </a:solidFill>
              </a:rPr>
              <a:t>⑤  solely dependent on validation from peers and significant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There is evidence that low self-esteem people are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highlight>
                  <a:srgbClr val="FFD45C"/>
                </a:highlight>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High self-esteem subjects strongly and consistently endorsed the positive adjectives and rejected the negative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Low self-esteem subjects did not, in contrast, strongly and consistently endorse the negative adjectives and reject the positive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Rather, they gave more intermediate ratings and more variable ratings to both types of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Therefore, it appears that low and high self-esteem individuals differ not only in the average positivity of their self-views, but also in the extent to which their self-views are evaluatively consistent with one another.</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자존감 낮은 사람의 자기평가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There is evidence that low self-esteem people are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자존감이 낮은 사람들은 ______하다는 증거가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자존감 낮은 사람들의 '특징'을 찾자</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…differ not only in the average positivity of their self-views, but also in the extent to which their self-views are evaluatively consistent…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평균적 긍정성뿐 아니라 자기관이 평가적으로 '일관된 정도'에서도 다르다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 (빈칸)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자존감 낮은 사람들은 ~하다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Campbell &amp; Fehr: 긍정 형용사 / 부정 형용사로 자기 평가하게 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높은 자존감 → 긍정 O, 부정 X (일관됨)</a:t>
            </a:r>
            <a:endParaRPr lang="en-US" sz="1400" dirty="0"/>
          </a:p>
          <a:p>
            <a:pPr indent="0" marL="0">
              <a:buNone/>
            </a:pPr>
            <a:r>
              <a:rPr lang="en-US" sz="1400" dirty="0">
                <a:solidFill>
                  <a:schemeClr val="tx1"/>
                </a:solidFill>
              </a:rPr>
              <a:t>낮은 자존감 → 중간 점수, 들쭉날쭉 (일관성 X)</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차이는 '평균'뿐 아니라 '일관성'에도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less evaluatively consistent in their self-descriptions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자기 묘사의 평가적 일관성이 낮다 = consistent의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inherently sensitive to their own interpretations of situations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상황 해석에 민감 → 글에 없는 내용</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relatively stable despite changes in interpersonal dynamics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안정적 → 오히려 '들쭉날쭉'이 핵심</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less evaluatively consistent in their self-descriptions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자기 묘사의 평가적 일관성이 낮다 = consistent의 재진술</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consistently refined in response to evolving self-perceptions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'일관되게' 다듬어짐 → 일관성이 낮다는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solely dependent on validation from peers and significant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또래·주변인 인정에 의존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power and value of being literate in a literate society are played out every day around the world.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Many individuals, and in fact whole societies, make considerable sacrifices to become literate just as others take it for granted.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Societies that do not practice literate behavior are often squalid, undernourished in mind and body, repressive of human rights and dignity, brutal, and harsh.</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Present-day examples are easy to list, but in fact this has always been the case.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Samuel Johnson observed more than two centuries ago, "The mass of every people must be barbarous where there is no printing."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admit that various forms of "barbarity" can be found in all societies, but they are much more prevalent where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Literacy and quality of life go hand in hand.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With literacy comes the power of belonging to a privileged group and the freedom that derives from that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Frederick Douglass, who struggled as a slave to learn to read, said it best: "Once you learn to read, you will be forever free."</a:t>
            </a:r>
            <a:endParaRPr lang="en-US" sz="1600" dirty="0"/>
          </a:p>
          <a:p>
            <a:pPr algn="r" indent="0" marL="0">
              <a:lnSpc>
                <a:spcPct val="115000"/>
              </a:lnSpc>
              <a:spcBef>
                <a:spcPts val="200"/>
              </a:spcBef>
              <a:buNone/>
            </a:pPr>
            <a:r>
              <a:rPr lang="en-US" sz="1100" i="1" dirty="0">
                <a:solidFill>
                  <a:srgbClr val="6E7F7C"/>
                </a:solidFill>
              </a:rPr>
              <a:t>* squalid: 지저분한</a:t>
            </a:r>
            <a:endParaRPr lang="en-US" sz="1600" dirty="0"/>
          </a:p>
          <a:p>
            <a:pPr indent="0" marL="0">
              <a:lnSpc>
                <a:spcPct val="115000"/>
              </a:lnSpc>
              <a:spcBef>
                <a:spcPts val="1000"/>
              </a:spcBef>
              <a:buNone/>
            </a:pPr>
            <a:r>
              <a:rPr lang="en-US" sz="1600" dirty="0">
                <a:solidFill>
                  <a:srgbClr val="14453D"/>
                </a:solidFill>
              </a:rPr>
              <a:t>①  literacy rates remain constant</a:t>
            </a:r>
            <a:endParaRPr lang="en-US" sz="1600" dirty="0"/>
          </a:p>
          <a:p>
            <a:pPr indent="0" marL="0">
              <a:lnSpc>
                <a:spcPct val="115000"/>
              </a:lnSpc>
              <a:spcBef>
                <a:spcPts val="200"/>
              </a:spcBef>
              <a:buNone/>
            </a:pPr>
            <a:r>
              <a:rPr lang="en-US" sz="1600" dirty="0">
                <a:solidFill>
                  <a:srgbClr val="14453D"/>
                </a:solidFill>
              </a:rPr>
              <a:t>②  moral values are disregarded</a:t>
            </a:r>
            <a:endParaRPr lang="en-US" sz="1600" dirty="0"/>
          </a:p>
          <a:p>
            <a:pPr indent="0" marL="0">
              <a:lnSpc>
                <a:spcPct val="115000"/>
              </a:lnSpc>
              <a:spcBef>
                <a:spcPts val="200"/>
              </a:spcBef>
              <a:buNone/>
            </a:pPr>
            <a:r>
              <a:rPr lang="en-US" sz="1600" dirty="0">
                <a:solidFill>
                  <a:srgbClr val="14453D"/>
                </a:solidFill>
              </a:rPr>
              <a:t>③  economic inequality prevails</a:t>
            </a:r>
            <a:endParaRPr lang="en-US" sz="1600" dirty="0"/>
          </a:p>
          <a:p>
            <a:pPr indent="0" marL="0">
              <a:lnSpc>
                <a:spcPct val="115000"/>
              </a:lnSpc>
              <a:spcBef>
                <a:spcPts val="200"/>
              </a:spcBef>
              <a:buNone/>
            </a:pPr>
            <a:r>
              <a:rPr lang="en-US" sz="1600" dirty="0">
                <a:solidFill>
                  <a:srgbClr val="14453D"/>
                </a:solidFill>
              </a:rPr>
              <a:t>④  literate behavior is absent</a:t>
            </a:r>
            <a:endParaRPr lang="en-US" sz="1600" dirty="0"/>
          </a:p>
          <a:p>
            <a:pPr indent="0" marL="0">
              <a:lnSpc>
                <a:spcPct val="115000"/>
              </a:lnSpc>
              <a:spcBef>
                <a:spcPts val="200"/>
              </a:spcBef>
              <a:buNone/>
            </a:pPr>
            <a:r>
              <a:rPr lang="en-US" sz="1600" dirty="0">
                <a:solidFill>
                  <a:srgbClr val="14453D"/>
                </a:solidFill>
              </a:rPr>
              <a:t>⑤  societal stability is fragile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The power and value of being literate in a literate society are played out every day around the world.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Many individuals, and in fact whole societies, make considerable sacrifices to become literate just as others take it for granted.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highlight>
                  <a:srgbClr val="FFD45C"/>
                </a:highlight>
              </a:rPr>
              <a:t>Societies that do not practice literate behavior are often squalid, undernourished in mind and body, repressive of human rights and dignity, brutal, and harsh.</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Present-day examples are easy to list, but in fact this has always been the case.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As Samuel Johnson observed more than two centuries ago, "The mass of every people must be barbarous where there is no printing."</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We admit that various forms of "barbarity" can be found in all societies, but they are much more prevalent where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Literacy and quality of life go hand in hand.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With literacy comes the power of belonging to a privileged group and the freedom that derives from that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dirty="0">
                <a:solidFill>
                  <a:srgbClr val="1E2B2A"/>
                </a:solidFill>
              </a:rPr>
              <a:t>Frederick Douglass, who struggled as a slave to learn to read, said it best: "Once you learn to read, you will be forever free."</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문해력과 삶의 질</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…they are much more prevalent where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'야만'은 ______한 곳에서 훨씬 더 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'야만'이 흔한 곳 = 어떤 사회?</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Societies that do not practice literate behavior are often squalid, … brutal, and harsh.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문해 행위를 하지 않는 사회는 흔히 지저분하고 … 잔혹하고 가혹하다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문해력(읽고 쓰는 능력)은 사회에 큰 힘과 가치를 준다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 행위가 없는 사회 → 지저분, 억압적, 잔혹함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인용</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Samuel Johnson: "인쇄가 없는 곳의 대중은 야만적이다"</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문해력과 삶의 질은 함께 간다 (go hand in hand)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literate behavior is absent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문해 행위가 없는 곳 = do not practice literate behavior</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literacy rates remain constant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문해율이 일정하다 → '변화' 이야기 아님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moral values are disregarded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도덕이 무시된다 → 그럴듯하지만 주제는 '문해력'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economic inequality prevails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경제적 불평등 → 글에 없음 (교재 오타: previals)</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literate behavior is absent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문해 행위가 없는 곳 = do not practice literate behavior</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societal stability is fragile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안정이 취약하다 → 글의 핵심어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00" dirty="0">
                <a:solidFill>
                  <a:srgbClr val="1E2B2A"/>
                </a:solidFill>
              </a:rPr>
              <a:t>Culturally shared views of the self have been suggested </a:t>
            </a:r>
            <a:pPr indent="0" marL="0">
              <a:lnSpc>
                <a:spcPct val="115000"/>
              </a:lnSpc>
              <a:buNone/>
            </a:pPr>
            <a:r>
              <a:rPr lang="en-US" sz="1500" b="1" dirty="0">
                <a:solidFill>
                  <a:srgbClr val="EF5B3F"/>
                </a:solidFill>
              </a:rPr>
              <a:t>____________</a:t>
            </a:r>
            <a:pPr indent="0" marL="0">
              <a:lnSpc>
                <a:spcPct val="115000"/>
              </a:lnSpc>
              <a:buNone/>
            </a:pPr>
            <a:r>
              <a:rPr lang="en-US" sz="1500" dirty="0">
                <a:solidFill>
                  <a:srgbClr val="1E2B2A"/>
                </a:solidFill>
              </a:rPr>
              <a: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As a result, their attention may become focused.</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cognitive style, which is anchored in a focal object in lieu of its context, has been called analytic.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This mode of cognition has been called holistic.</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These predictions have been borne out.</a:t>
            </a:r>
            <a:pPr indent="0" marL="0">
              <a:lnSpc>
                <a:spcPct val="115000"/>
              </a:lnSpc>
              <a:buNone/>
            </a:pPr>
            <a:r>
              <a:rPr lang="en-US" sz="1500" dirty="0">
                <a:solidFill>
                  <a:srgbClr val="000000"/>
                </a:solidFill>
              </a:rPr>
              <a:t> </a:t>
            </a:r>
            <a:pPr indent="0" marL="0">
              <a:lnSpc>
                <a:spcPct val="115000"/>
              </a:lnSpc>
              <a:buNone/>
            </a:pPr>
            <a:r>
              <a:rPr lang="en-US" sz="1500" dirty="0">
                <a:solidFill>
                  <a:srgbClr val="1E2B2A"/>
                </a:solidFill>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500" dirty="0"/>
          </a:p>
          <a:p>
            <a:pPr algn="r" indent="0" marL="0">
              <a:lnSpc>
                <a:spcPct val="115000"/>
              </a:lnSpc>
              <a:spcBef>
                <a:spcPts val="200"/>
              </a:spcBef>
              <a:buNone/>
            </a:pPr>
            <a:r>
              <a:rPr lang="en-US" sz="1100" i="1" dirty="0">
                <a:solidFill>
                  <a:srgbClr val="6E7F7C"/>
                </a:solidFill>
              </a:rPr>
              <a:t>* in lieu of: ~대신에   ** holistic: 총체적인   *** vignette: 짤막한 장면</a:t>
            </a:r>
            <a:endParaRPr lang="en-US" sz="1500" dirty="0"/>
          </a:p>
          <a:p>
            <a:pPr indent="0" marL="0">
              <a:lnSpc>
                <a:spcPct val="115000"/>
              </a:lnSpc>
              <a:spcBef>
                <a:spcPts val="1000"/>
              </a:spcBef>
              <a:buNone/>
            </a:pPr>
            <a:r>
              <a:rPr lang="en-US" sz="1500" dirty="0">
                <a:solidFill>
                  <a:srgbClr val="14453D"/>
                </a:solidFill>
              </a:rPr>
              <a:t>①  to distort cognitive interpretations of social interaction</a:t>
            </a:r>
            <a:endParaRPr lang="en-US" sz="1500" dirty="0"/>
          </a:p>
          <a:p>
            <a:pPr indent="0" marL="0">
              <a:lnSpc>
                <a:spcPct val="115000"/>
              </a:lnSpc>
              <a:spcBef>
                <a:spcPts val="200"/>
              </a:spcBef>
              <a:buNone/>
            </a:pPr>
            <a:r>
              <a:rPr lang="en-US" sz="1500" dirty="0">
                <a:solidFill>
                  <a:srgbClr val="14453D"/>
                </a:solidFill>
              </a:rPr>
              <a:t>②  to address social issues that persist through generations</a:t>
            </a:r>
            <a:endParaRPr lang="en-US" sz="1500" dirty="0"/>
          </a:p>
          <a:p>
            <a:pPr indent="0" marL="0">
              <a:lnSpc>
                <a:spcPct val="115000"/>
              </a:lnSpc>
              <a:spcBef>
                <a:spcPts val="200"/>
              </a:spcBef>
              <a:buNone/>
            </a:pPr>
            <a:r>
              <a:rPr lang="en-US" sz="1500" dirty="0">
                <a:solidFill>
                  <a:srgbClr val="14453D"/>
                </a:solidFill>
              </a:rPr>
              <a:t>③  to have profound influences on basic attention processes</a:t>
            </a:r>
            <a:endParaRPr lang="en-US" sz="1500" dirty="0"/>
          </a:p>
          <a:p>
            <a:pPr indent="0" marL="0">
              <a:lnSpc>
                <a:spcPct val="115000"/>
              </a:lnSpc>
              <a:spcBef>
                <a:spcPts val="200"/>
              </a:spcBef>
              <a:buNone/>
            </a:pPr>
            <a:r>
              <a:rPr lang="en-US" sz="1500" dirty="0">
                <a:solidFill>
                  <a:srgbClr val="14453D"/>
                </a:solidFill>
              </a:rPr>
              <a:t>④  to exert minimal effects on advanced cognitive functions</a:t>
            </a:r>
            <a:endParaRPr lang="en-US" sz="1500" dirty="0"/>
          </a:p>
          <a:p>
            <a:pPr indent="0" marL="0">
              <a:lnSpc>
                <a:spcPct val="115000"/>
              </a:lnSpc>
              <a:spcBef>
                <a:spcPts val="200"/>
              </a:spcBef>
              <a:buNone/>
            </a:pPr>
            <a:r>
              <a:rPr lang="en-US" sz="1500" dirty="0">
                <a:solidFill>
                  <a:srgbClr val="14453D"/>
                </a:solidFill>
              </a:rPr>
              <a:t>⑤  to prompt overall changes in social attitude and behavior</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Culturally shared views of the self have been suggested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a result, their attention may become focused.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This cognitive style, which is anchored in a focal object in lieu of its context, has been called analytic.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This mode of cognition has been called holistic.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predictions have been borne out.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문화와 주의(attention) 방식</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Culturally shared views of the self have been suggested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문화적으로 공유된 자아관은 ______라고 제안되어 왔다.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문화적 자아관이 '무엇에' 영향을 주나?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may be expected to focus their attention… / …to attend more broadly to a focal object as well as to its surrounding context…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주의를 집중한다 / 대상과 주변 맥락에 더 넓게 주의를 기울인다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서양</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내적 속성(욕구·목표) 중시 → 주의가 한 대상에 집중 = 분석적(analytic)</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동양</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사회적 관계 중시 → 대상 + 주변 맥락까지 넓게 = 총체적(holistic)</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수중 장면 영상: 미국인은 중심 사물, 일본인은 맥락·관계를 기억</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문화가 '무엇을 보는가(주의)'까지 바꾼다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to have profound influences on basic attention processes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기본적 주의 과정에 깊은 영향 = attention 반복</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distort cognitive interpretations of social interaction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상호작용 해석을 '왜곡' → 부정적 내용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address social issues that persist through generations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세대에 걸친 사회 문제 → 무관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to have profound influences on basic attention processes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기본적 주의 과정에 깊은 영향 = attention 반복</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exert minimal effects on advanced cognitive functions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'최소한의' 영향 → 큰 영향이라는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prompt overall changes in social attitude and behavior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태도·행동 → 글은 '주의(보는 방식)' 이야기</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When a patient chooses to buy he or she becomes a part of demand.</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That extra demand will be revealed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For example, consider the development of an artificial heart.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each heart costs $1 million, they would only be used in matters of life and death.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further development reduced the cost of artificial hearts to $100,000 each, more people would get them.</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artificial hearts would still be used only for people with serious illnesses, but they might be implanted long before a person's natural heart gave out.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If the cost of making an artificial heart dropped to $100, one would be readily available to anyone who needed it.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Consider what would happen if the cost of an artificial heart dropped to $10 and could be easily implanted during a 15-minute visit to the doctor.</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Some people who had never been ill but were just worried might have new hearts implanted.</a:t>
            </a:r>
            <a:endParaRPr lang="en-US" sz="1550" dirty="0"/>
          </a:p>
          <a:p>
            <a:pPr algn="r" indent="0" marL="0">
              <a:lnSpc>
                <a:spcPct val="115000"/>
              </a:lnSpc>
              <a:spcBef>
                <a:spcPts val="200"/>
              </a:spcBef>
              <a:buNone/>
            </a:pPr>
            <a:r>
              <a:rPr lang="en-US" sz="1100" i="1" dirty="0">
                <a:solidFill>
                  <a:srgbClr val="6E7F7C"/>
                </a:solidFill>
              </a:rPr>
              <a:t>* latent: 잠재하는</a:t>
            </a:r>
            <a:endParaRPr lang="en-US" sz="1550" dirty="0"/>
          </a:p>
          <a:p>
            <a:pPr indent="0" marL="0">
              <a:lnSpc>
                <a:spcPct val="115000"/>
              </a:lnSpc>
              <a:spcBef>
                <a:spcPts val="1000"/>
              </a:spcBef>
              <a:buNone/>
            </a:pPr>
            <a:r>
              <a:rPr lang="en-US" sz="1550" dirty="0">
                <a:solidFill>
                  <a:srgbClr val="14453D"/>
                </a:solidFill>
              </a:rPr>
              <a:t>①  if the price goes low enough</a:t>
            </a:r>
            <a:endParaRPr lang="en-US" sz="1550" dirty="0"/>
          </a:p>
          <a:p>
            <a:pPr indent="0" marL="0">
              <a:lnSpc>
                <a:spcPct val="115000"/>
              </a:lnSpc>
              <a:spcBef>
                <a:spcPts val="200"/>
              </a:spcBef>
              <a:buNone/>
            </a:pPr>
            <a:r>
              <a:rPr lang="en-US" sz="1550" dirty="0">
                <a:solidFill>
                  <a:srgbClr val="14453D"/>
                </a:solidFill>
              </a:rPr>
              <a:t>②  once consumer incomes rise</a:t>
            </a:r>
            <a:endParaRPr lang="en-US" sz="1550" dirty="0"/>
          </a:p>
          <a:p>
            <a:pPr indent="0" marL="0">
              <a:lnSpc>
                <a:spcPct val="115000"/>
              </a:lnSpc>
              <a:spcBef>
                <a:spcPts val="200"/>
              </a:spcBef>
              <a:buNone/>
            </a:pPr>
            <a:r>
              <a:rPr lang="en-US" sz="1550" dirty="0">
                <a:solidFill>
                  <a:srgbClr val="14453D"/>
                </a:solidFill>
              </a:rPr>
              <a:t>③  when society deems it necessary</a:t>
            </a:r>
            <a:endParaRPr lang="en-US" sz="1550" dirty="0"/>
          </a:p>
          <a:p>
            <a:pPr indent="0" marL="0">
              <a:lnSpc>
                <a:spcPct val="115000"/>
              </a:lnSpc>
              <a:spcBef>
                <a:spcPts val="200"/>
              </a:spcBef>
              <a:buNone/>
            </a:pPr>
            <a:r>
              <a:rPr lang="en-US" sz="1550" dirty="0">
                <a:solidFill>
                  <a:srgbClr val="14453D"/>
                </a:solidFill>
              </a:rPr>
              <a:t>④  when the rules are applied correctly</a:t>
            </a:r>
            <a:endParaRPr lang="en-US" sz="1550" dirty="0"/>
          </a:p>
          <a:p>
            <a:pPr indent="0" marL="0">
              <a:lnSpc>
                <a:spcPct val="115000"/>
              </a:lnSpc>
              <a:spcBef>
                <a:spcPts val="200"/>
              </a:spcBef>
              <a:buNone/>
            </a:pPr>
            <a:r>
              <a:rPr lang="en-US" sz="1550" dirty="0">
                <a:solidFill>
                  <a:srgbClr val="14453D"/>
                </a:solidFill>
              </a:rPr>
              <a:t>⑤  if an artificial organ becomes risk-free</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When a patient chooses to buy he or she becomes a part of demand.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That extra demand will be revealed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For example, consider the development of an artificial heart.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If each heart costs $1 million, they would only be used in matters of life and death.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If further development reduced the cost of artificial hearts to $100,000 each, more people would get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artificial hearts would still be used only for people with serious illnesses, but they might be implanted long before a person's natural heart gave out.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If the cost of making an artificial heart dropped to $100, one would be readily available to anyone who needed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Consider what would happen if the cost of an artificial heart dropped to $10 and could be easily implanted during a 15-minute visit to the doctor.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Some people who had never been ill but were just worried might have new hearts implanted.</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잠재 수요와 가격</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 extra demand will be revealed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 추가 수요는 ______ 드러날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숨어 있던 수요가 '언제' 드러나나?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further development reduced the cost of artificial hearts to $100,000 each, more people would get them.</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비용이 10만 달러로 줄면 더 많은 사람이 이식받을 것이다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개념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사고 싶지만 안 사는 사람 = 잠재 수요 (시장에 안 보임)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인공심장 100만 달러 → 생사가 걸린 경우에만 사용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10만 달러 → 더 많은 사람 / 100달러 → 필요한 누구나</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10달러 + 15분 시술 → 아프지 않은 사람도 이식</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if the price goes low enough</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가격이 충분히 낮아지면 = 예시 전체의 공통점</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if the price goes low enough</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가격이 충분히 낮아지면 = 예시 전체의 공통점</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once consumer incomes rise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소득 증가 → 예시는 '소득'이 아니라 '가격' 변화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society deems it necessary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사회가 필요하다고 여길 때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the rules are applied correctly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규칙이 올바르게 적용될 때 → 무관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if an artificial organ becomes risk-free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위험이 없어지면 → 예시는 '안전'이 아니라 '비용'</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450" dirty="0">
                <a:solidFill>
                  <a:srgbClr val="1E2B2A"/>
                </a:solidFill>
              </a:rPr>
              <a:t>Historians do more than select and interpret evidence: they also organize the evidence in order to create an understandable (and, they hope, persuasive) narrative.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also make events understandable by casting them in a particular light or giving their narrative a particular tone.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Similarly, one historian may view a certain chain of events as improvement, while another may perceive it as a decline.</a:t>
            </a:r>
            <a:pPr indent="0" marL="0">
              <a:lnSpc>
                <a:spcPct val="115000"/>
              </a:lnSpc>
              <a:buNone/>
            </a:pPr>
            <a:r>
              <a:rPr lang="en-US" sz="1450" dirty="0">
                <a:solidFill>
                  <a:srgbClr val="000000"/>
                </a:solidFill>
              </a:rPr>
              <a:t> </a:t>
            </a:r>
            <a:pPr indent="0" marL="0">
              <a:lnSpc>
                <a:spcPct val="115000"/>
              </a:lnSpc>
              <a:buNone/>
            </a:pPr>
            <a:r>
              <a:rPr lang="en-US" sz="1450" dirty="0">
                <a:solidFill>
                  <a:srgbClr val="1E2B2A"/>
                </a:solidFill>
              </a:rPr>
              <a:t>These are just a few of the ways </a:t>
            </a:r>
            <a:pPr indent="0" marL="0">
              <a:lnSpc>
                <a:spcPct val="115000"/>
              </a:lnSpc>
              <a:buNone/>
            </a:pPr>
            <a:r>
              <a:rPr lang="en-US" sz="1450" b="1" dirty="0">
                <a:solidFill>
                  <a:srgbClr val="EF5B3F"/>
                </a:solidFill>
              </a:rPr>
              <a:t>____________</a:t>
            </a:r>
            <a:pPr indent="0" marL="0">
              <a:lnSpc>
                <a:spcPct val="115000"/>
              </a:lnSpc>
              <a:buNone/>
            </a:pPr>
            <a:r>
              <a:rPr lang="en-US" sz="1450" dirty="0">
                <a:solidFill>
                  <a:srgbClr val="1E2B2A"/>
                </a:solidFill>
              </a:rPr>
              <a:t>.</a:t>
            </a:r>
            <a:endParaRPr lang="en-US" sz="1450" dirty="0"/>
          </a:p>
          <a:p>
            <a:pPr algn="r" indent="0" marL="0">
              <a:lnSpc>
                <a:spcPct val="115000"/>
              </a:lnSpc>
              <a:spcBef>
                <a:spcPts val="200"/>
              </a:spcBef>
              <a:buNone/>
            </a:pPr>
            <a:r>
              <a:rPr lang="en-US" sz="1100" i="1" dirty="0">
                <a:solidFill>
                  <a:srgbClr val="6E7F7C"/>
                </a:solidFill>
              </a:rPr>
              <a:t>* plausible: 그럴듯한   ** allude to: ~을 넌지시 암시하다</a:t>
            </a:r>
            <a:endParaRPr lang="en-US" sz="1450" dirty="0"/>
          </a:p>
          <a:p>
            <a:pPr indent="0" marL="0">
              <a:lnSpc>
                <a:spcPct val="115000"/>
              </a:lnSpc>
              <a:spcBef>
                <a:spcPts val="1000"/>
              </a:spcBef>
              <a:buNone/>
            </a:pPr>
            <a:r>
              <a:rPr lang="en-US" sz="1450" dirty="0">
                <a:solidFill>
                  <a:srgbClr val="14453D"/>
                </a:solidFill>
              </a:rPr>
              <a:t>①  historians may make narrative sense of history</a:t>
            </a:r>
            <a:endParaRPr lang="en-US" sz="1450" dirty="0"/>
          </a:p>
          <a:p>
            <a:pPr indent="0" marL="0">
              <a:lnSpc>
                <a:spcPct val="115000"/>
              </a:lnSpc>
              <a:spcBef>
                <a:spcPts val="200"/>
              </a:spcBef>
              <a:buNone/>
            </a:pPr>
            <a:r>
              <a:rPr lang="en-US" sz="1450" dirty="0">
                <a:solidFill>
                  <a:srgbClr val="14453D"/>
                </a:solidFill>
              </a:rPr>
              <a:t>②  historical research is driven and communicated</a:t>
            </a:r>
            <a:endParaRPr lang="en-US" sz="1450" dirty="0"/>
          </a:p>
          <a:p>
            <a:pPr indent="0" marL="0">
              <a:lnSpc>
                <a:spcPct val="115000"/>
              </a:lnSpc>
              <a:spcBef>
                <a:spcPts val="200"/>
              </a:spcBef>
              <a:buNone/>
            </a:pPr>
            <a:r>
              <a:rPr lang="en-US" sz="1450" dirty="0">
                <a:solidFill>
                  <a:srgbClr val="14453D"/>
                </a:solidFill>
              </a:rPr>
              <a:t>③  historical approaches enrich and diversify knowledge</a:t>
            </a:r>
            <a:endParaRPr lang="en-US" sz="1450" dirty="0"/>
          </a:p>
          <a:p>
            <a:pPr indent="0" marL="0">
              <a:lnSpc>
                <a:spcPct val="115000"/>
              </a:lnSpc>
              <a:spcBef>
                <a:spcPts val="200"/>
              </a:spcBef>
              <a:buNone/>
            </a:pPr>
            <a:r>
              <a:rPr lang="en-US" sz="1450" dirty="0">
                <a:solidFill>
                  <a:srgbClr val="14453D"/>
                </a:solidFill>
              </a:rPr>
              <a:t>④  historical narratives can be used as an instructive resource</a:t>
            </a:r>
            <a:endParaRPr lang="en-US" sz="1450" dirty="0"/>
          </a:p>
          <a:p>
            <a:pPr indent="0" marL="0">
              <a:lnSpc>
                <a:spcPct val="115000"/>
              </a:lnSpc>
              <a:spcBef>
                <a:spcPts val="200"/>
              </a:spcBef>
              <a:buNone/>
            </a:pPr>
            <a:r>
              <a:rPr lang="en-US" sz="1450" dirty="0">
                <a:solidFill>
                  <a:srgbClr val="14453D"/>
                </a:solidFill>
              </a:rPr>
              <a:t>⑤  historians use fiction to inspire empathy for past generations</a:t>
            </a:r>
            <a:endParaRPr lang="en-US" sz="14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Historians do more than select and interpret evidence: they also organize the evidence in order to create an understandable (and, they hope, persuasive) narrative.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highlight>
                  <a:srgbClr val="FFD45C"/>
                </a:highlight>
              </a:rPr>
              <a:t>Historians also make events understandable by casting them in a particular light or giving their narrative a particular tone.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Similarly, one historian may view a certain chain of events as improvement, while another may perceive it as a decline.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are just a few of the ways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역사가가 서사를 만드는 방법</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These are just a few of the ways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이것들은 ______하는 방식들 중 단지 몇 가지일 뿐이다.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These(앞의 예시들)를 한 마디로 묶으면?</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also organize the evidence in order to create an understandable (and, they hope, persuasive) narrative.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그들은 이해할 수 있는 (그리고 설득력 있는) 서사를 만들기 위해 증거를 조직한다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역사가는 증거를 조직해 이해 가능한 '서사(이야기)'를 만든다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연대순 배열 (시간 순서)</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특정한 관점·어조 입히기: 아이러니(부시), 낭만화(케네디 '카멜롯')</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같은 사건도 '발전' 또는 '쇠퇴'로 다르게 볼 수 있음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historians may make narrative sense of history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역사를 서사적으로 이해되게 만든다 = 첫 문장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historians may make narrative sense of history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역사를 서사적으로 이해되게 만든다 = 첫 문장 재진술</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research is driven and communicated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연구가 추진·전달되는 방식 → 너무 넓고 막연함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approaches enrich and diversify knowledge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지식을 풍부하게 → 가치 평가,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narratives can be used as an instructive resource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교훈적 자료로 사용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historians use fiction to inspire empathy for past generations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허구 사용·공감 → romanticize ≠ fiction</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Prestige is a particular form of status that only humans recognize.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Prestige is almost the opposite.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Prestigious individuals are ones worthy of learning from ─ they are experts, older people.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And if someone has prestige in one field, they become high-status individuals and their influence won't be limited to their field; we are likely to copy all their decisions.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Indeed, prestige may have evolved as a way to enhance the benefits of cultural transmission.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Success in one area of life affords someone the status of general opinion leader.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We want to learn from successful individuals, or even simply be associated with them in some way, so that their reputation rubs off on us.</a:t>
            </a:r>
            <a:pPr indent="0" marL="0">
              <a:lnSpc>
                <a:spcPct val="115000"/>
              </a:lnSpc>
              <a:buNone/>
            </a:pPr>
            <a:r>
              <a:rPr lang="en-US" sz="1650" dirty="0">
                <a:solidFill>
                  <a:srgbClr val="000000"/>
                </a:solidFill>
              </a:rPr>
              <a:t> </a:t>
            </a:r>
            <a:pPr indent="0" marL="0">
              <a:lnSpc>
                <a:spcPct val="115000"/>
              </a:lnSpc>
              <a:buNone/>
            </a:pPr>
            <a:r>
              <a:rPr lang="en-US" sz="1650" b="1" u="sng" dirty="0">
                <a:solidFill>
                  <a:srgbClr val="1E2B2A"/>
                </a:solidFill>
              </a:rPr>
              <a:t>That's why a golfing hero can sell you a watch</a:t>
            </a:r>
            <a:pPr indent="0" marL="0">
              <a:lnSpc>
                <a:spcPct val="115000"/>
              </a:lnSpc>
              <a:buNone/>
            </a:pPr>
            <a:r>
              <a:rPr lang="en-US" sz="1650" dirty="0">
                <a:solidFill>
                  <a:srgbClr val="1E2B2A"/>
                </a:solidFill>
              </a:rPr>
              <a:t>.</a:t>
            </a:r>
            <a:endParaRPr lang="en-US" sz="1650" dirty="0"/>
          </a:p>
          <a:p>
            <a:pPr indent="0" marL="0">
              <a:lnSpc>
                <a:spcPct val="115000"/>
              </a:lnSpc>
              <a:spcBef>
                <a:spcPts val="1000"/>
              </a:spcBef>
              <a:buNone/>
            </a:pPr>
            <a:r>
              <a:rPr lang="en-US" sz="1650" dirty="0">
                <a:solidFill>
                  <a:srgbClr val="14453D"/>
                </a:solidFill>
              </a:rPr>
              <a:t>①  Making big money to gain influence is at the heart of prestige.</a:t>
            </a:r>
            <a:endParaRPr lang="en-US" sz="1650" dirty="0"/>
          </a:p>
          <a:p>
            <a:pPr indent="0" marL="0">
              <a:lnSpc>
                <a:spcPct val="115000"/>
              </a:lnSpc>
              <a:spcBef>
                <a:spcPts val="200"/>
              </a:spcBef>
              <a:buNone/>
            </a:pPr>
            <a:r>
              <a:rPr lang="en-US" sz="1650" dirty="0">
                <a:solidFill>
                  <a:srgbClr val="14453D"/>
                </a:solidFill>
              </a:rPr>
              <a:t>②  Prestige can open unexpected career paths after a main career ends.</a:t>
            </a:r>
            <a:endParaRPr lang="en-US" sz="1650" dirty="0"/>
          </a:p>
          <a:p>
            <a:pPr indent="0" marL="0">
              <a:lnSpc>
                <a:spcPct val="115000"/>
              </a:lnSpc>
              <a:spcBef>
                <a:spcPts val="200"/>
              </a:spcBef>
              <a:buNone/>
            </a:pPr>
            <a:r>
              <a:rPr lang="en-US" sz="1650" dirty="0">
                <a:solidFill>
                  <a:srgbClr val="14453D"/>
                </a:solidFill>
              </a:rPr>
              <a:t>③  People may purchase things for instant gratification to earn prestige.</a:t>
            </a:r>
            <a:endParaRPr lang="en-US" sz="1650" dirty="0"/>
          </a:p>
          <a:p>
            <a:pPr indent="0" marL="0">
              <a:lnSpc>
                <a:spcPct val="115000"/>
              </a:lnSpc>
              <a:spcBef>
                <a:spcPts val="200"/>
              </a:spcBef>
              <a:buNone/>
            </a:pPr>
            <a:r>
              <a:rPr lang="en-US" sz="1650" dirty="0">
                <a:solidFill>
                  <a:srgbClr val="14453D"/>
                </a:solidFill>
              </a:rPr>
              <a:t>④  Influence often extends beyond its original field when one gains prestige.</a:t>
            </a:r>
            <a:endParaRPr lang="en-US" sz="1650" dirty="0"/>
          </a:p>
          <a:p>
            <a:pPr indent="0" marL="0">
              <a:lnSpc>
                <a:spcPct val="115000"/>
              </a:lnSpc>
              <a:spcBef>
                <a:spcPts val="200"/>
              </a:spcBef>
              <a:buNone/>
            </a:pPr>
            <a:r>
              <a:rPr lang="en-US" sz="1650" dirty="0">
                <a:solidFill>
                  <a:srgbClr val="14453D"/>
                </a:solidFill>
              </a:rPr>
              <a:t>⑤  Prestige is sometimes inherited rather than earned through skill or knowledge.</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Prestige is a particular form of status that only humans recognize.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Prestige is almost the opposite.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Prestigious individuals are ones worthy of learning from ─ they are experts, older people.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And if someone has prestige in one field, they become high-status individuals and their influence won't be limited to their field; we are likely to copy all their decisions.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Indeed, prestige may have evolved as a way to enhance the benefits of cultural transmission.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Success in one area of life affords someone the status of general opinion leader.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We want to learn from successful individuals, or even simply be associated with them in some way, so that their reputation rubs off on us.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b="1" u="sng" dirty="0">
                <a:solidFill>
                  <a:srgbClr val="1E2B2A"/>
                </a:solidFill>
              </a:rPr>
              <a:t>That's why a golfing hero can sell you a watch</a:t>
            </a:r>
            <a:pPr indent="0" marL="0">
              <a:lnSpc>
                <a:spcPct val="120000"/>
              </a:lnSpc>
              <a:buNone/>
            </a:pPr>
            <a:r>
              <a:rPr lang="en-US" sz="1900" dirty="0">
                <a:solidFill>
                  <a:srgbClr val="1E2B2A"/>
                </a:solidFill>
              </a:rPr>
              <a:t>.</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위신(prestige)의 확장력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That's why a golfing hero can sell you a watch.</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그래서 골프 영웅이 당신에게 시계를 팔 수 있는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골프(분야 A) → 시계(분야 B) = 무슨 뜻?</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someone has prestige in one field, … their influence won't be limited to their field…</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한 분야에서 위신을 가지면 … 그들의 영향력은 그 분야에 한정되지 않는다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위신(prestige) = 인간만 인식하는 지위, '배울 만한 사람'</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한 분야에서 위신을 얻으면 영향력이 그 분야에 한정되지 않음</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이유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성공한 사람에게 배우고, 연결되고 싶어서 (평판이 묻어나길 바람)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골프 선수(골프 분야) → 시계 광고(다른 분야)까지 영향</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Influence often extends beyond its original field when one gains prestige.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위신을 얻으면 영향력이 원래 분야를 넘어 확장</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Making big money to gain influence is at the heart of prestige.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돈을 많이 버는 것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can open unexpected career paths after a main career ends.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은퇴 후 진로 → 글은 '영향력 확장'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People may purchase things for instant gratification to earn prestige.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즉각적 만족을 위한 구매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Influence often extends beyond its original field when one gains prestige.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위신을 얻으면 영향력이 원래 분야를 넘어 확장</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is sometimes inherited rather than earned through skill or knowledge.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위신의 상속 → 글은 실력·성공으로 얻음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2  ·  Exercise 7–12</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감정과 느낌 · 메소포타미아 · 문명과 문화 · 대표성 · 열대 토양 · 신뢰(함의)</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550" dirty="0">
                <a:solidFill>
                  <a:srgbClr val="1E2B2A"/>
                </a:solidFill>
              </a:rPr>
              <a:t>Emotions can be used to refer to the unconscious, neurobiological response, while feelings are the cognitive assignments we make to those emotions.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is undoubtedly a much more complicated dynamic and there is a great degree of highly detailed information explaining the interworking of these two.</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15000"/>
              </a:lnSpc>
              <a:buNone/>
            </a:pPr>
            <a:r>
              <a:rPr lang="en-US" sz="1550" b="1" dirty="0">
                <a:solidFill>
                  <a:srgbClr val="EF5B3F"/>
                </a:solidFill>
              </a:rPr>
              <a:t>____________</a:t>
            </a:r>
            <a:pPr indent="0" marL="0">
              <a:lnSpc>
                <a:spcPct val="115000"/>
              </a:lnSpc>
              <a:buNone/>
            </a:pPr>
            <a:r>
              <a:rPr lang="en-US" sz="1550" dirty="0">
                <a:solidFill>
                  <a:srgbClr val="1E2B2A"/>
                </a:solidFill>
              </a:rPr>
              <a: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This can be more easily grasped when thinking about a more concrete exemplar ─ ancient war drums.</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Most would agree that hearing a beating war drum does not lead one to pick a side in a given conflict.</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A beating war drum merely helps one march more energetically on whichever side was chosen to begin with.</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The neurobiological experience set off by the auditory sensation of the drums causes one to "feel" more energy toward a given end and step more quickly.</a:t>
            </a:r>
            <a:pPr indent="0" marL="0">
              <a:lnSpc>
                <a:spcPct val="115000"/>
              </a:lnSpc>
              <a:buNone/>
            </a:pPr>
            <a:r>
              <a:rPr lang="en-US" sz="1550" dirty="0">
                <a:solidFill>
                  <a:srgbClr val="000000"/>
                </a:solidFill>
              </a:rPr>
              <a:t> </a:t>
            </a:r>
            <a:pPr indent="0" marL="0">
              <a:lnSpc>
                <a:spcPct val="115000"/>
              </a:lnSpc>
              <a:buNone/>
            </a:pPr>
            <a:r>
              <a:rPr lang="en-US" sz="1550" dirty="0">
                <a:solidFill>
                  <a:srgbClr val="1E2B2A"/>
                </a:solidFill>
              </a:rPr>
              <a:t>Perhaps Shakespeare knew something of this when he wrote Timon's words, "follow thy drum ...".</a:t>
            </a:r>
            <a:endParaRPr lang="en-US" sz="1550" dirty="0"/>
          </a:p>
          <a:p>
            <a:pPr algn="r" indent="0" marL="0">
              <a:lnSpc>
                <a:spcPct val="115000"/>
              </a:lnSpc>
              <a:spcBef>
                <a:spcPts val="200"/>
              </a:spcBef>
              <a:buNone/>
            </a:pPr>
            <a:r>
              <a:rPr lang="en-US" sz="1100" i="1" dirty="0">
                <a:solidFill>
                  <a:srgbClr val="6E7F7C"/>
                </a:solidFill>
              </a:rPr>
              <a:t>* exemplar: 전형적인 예   ** thy: (고어) 당신의</a:t>
            </a:r>
            <a:endParaRPr lang="en-US" sz="1550" dirty="0"/>
          </a:p>
          <a:p>
            <a:pPr indent="0" marL="0">
              <a:lnSpc>
                <a:spcPct val="115000"/>
              </a:lnSpc>
              <a:spcBef>
                <a:spcPts val="1000"/>
              </a:spcBef>
              <a:buNone/>
            </a:pPr>
            <a:r>
              <a:rPr lang="en-US" sz="1550" dirty="0">
                <a:solidFill>
                  <a:srgbClr val="14453D"/>
                </a:solidFill>
              </a:rPr>
              <a:t>①  what a given emotion we experience might mean</a:t>
            </a:r>
            <a:endParaRPr lang="en-US" sz="1550" dirty="0"/>
          </a:p>
          <a:p>
            <a:pPr indent="0" marL="0">
              <a:lnSpc>
                <a:spcPct val="115000"/>
              </a:lnSpc>
              <a:spcBef>
                <a:spcPts val="200"/>
              </a:spcBef>
              <a:buNone/>
            </a:pPr>
            <a:r>
              <a:rPr lang="en-US" sz="1550" dirty="0">
                <a:solidFill>
                  <a:srgbClr val="14453D"/>
                </a:solidFill>
              </a:rPr>
              <a:t>②  why music was once used as a psychological weapon</a:t>
            </a:r>
            <a:endParaRPr lang="en-US" sz="1550" dirty="0"/>
          </a:p>
          <a:p>
            <a:pPr indent="0" marL="0">
              <a:lnSpc>
                <a:spcPct val="115000"/>
              </a:lnSpc>
              <a:spcBef>
                <a:spcPts val="200"/>
              </a:spcBef>
              <a:buNone/>
            </a:pPr>
            <a:r>
              <a:rPr lang="en-US" sz="1550" dirty="0">
                <a:solidFill>
                  <a:srgbClr val="14453D"/>
                </a:solidFill>
              </a:rPr>
              <a:t>③  how unconscious reactions shape our instinctive behavior</a:t>
            </a:r>
            <a:endParaRPr lang="en-US" sz="1550" dirty="0"/>
          </a:p>
          <a:p>
            <a:pPr indent="0" marL="0">
              <a:lnSpc>
                <a:spcPct val="115000"/>
              </a:lnSpc>
              <a:spcBef>
                <a:spcPts val="200"/>
              </a:spcBef>
              <a:buNone/>
            </a:pPr>
            <a:r>
              <a:rPr lang="en-US" sz="1550" dirty="0">
                <a:solidFill>
                  <a:srgbClr val="14453D"/>
                </a:solidFill>
              </a:rPr>
              <a:t>④  how rhythm affects neural development in the long term</a:t>
            </a:r>
            <a:endParaRPr lang="en-US" sz="1550" dirty="0"/>
          </a:p>
          <a:p>
            <a:pPr indent="0" marL="0">
              <a:lnSpc>
                <a:spcPct val="115000"/>
              </a:lnSpc>
              <a:spcBef>
                <a:spcPts val="200"/>
              </a:spcBef>
              <a:buNone/>
            </a:pPr>
            <a:r>
              <a:rPr lang="en-US" sz="1550" dirty="0">
                <a:solidFill>
                  <a:srgbClr val="14453D"/>
                </a:solidFill>
              </a:rPr>
              <a:t>⑤  what external signals can trigger emotion and memory</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Emotions can be used to refer to the unconscious, neurobiological response, while feelings are the cognitive assignments we make to those emotions.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This is undoubtedly a much more complicated dynamic and there is a great degree of highly detailed information explaining the interworking of these two.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can be more easily grasped when thinking about a more concrete exemplar ─ ancient war drums.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Most would agree that hearing a beating war drum does not lead one to pick a side in a given conflict.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A beating war drum merely helps one march more energetically on whichever side was chosen to begin with.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neurobiological experience set off by the auditory sensation of the drums causes one to "feel" more energy toward a given end and step more quickly.</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Perhaps Shakespeare knew something of this when he wrote Timon's words, "follow thy drum ...".</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감정 vs 느낌</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…human beings have some ability to cognitively assign … just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인간은 바로 ______을 인지적으로 부여할(생각하고 결정할) 능력이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우리가 '생각해서 결정'할 수 있는 것은?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…feelings are the cognitive assignments we make to those emotions.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느낌은 우리가 그 감정들에 부여하는 인지적 의미(배정)이다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emotion = 무의식적 신경생물학 반응 / feeling = 그 감정에 붙이는 인지적 의미</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인간은 감정의 '의미'를 스스로 생각하고 정할 수 있다</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전쟁 북소리: 어느 편에 설지 정해 주진 않음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이미 고른 편으로 더 힘차게 행진하게 할 뿐 (에너지만 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what a given emotion we experience might mean</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우리가 경험하는 감정이 무엇을 의미할지 = feeling의 정의</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what a given emotion we experience might mean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우리가 경험하는 감정이 무엇을 의미할지 = feeling의 정의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why music was once used as a psychological weapon</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음악 = 심리 무기 → 북소리 '소재'만 빌린 함정</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unconscious reactions shape our instinctive behavior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무의식이 본능적 행동을 형성 → 글은 '인지적' 선택 강조</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rhythm affects neural development in the long term</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리듬과 신경 발달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what external signals can trigger emotion and memory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외부 신호가 감정·기억 유발 → 핵심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The key to unlocking the agricultural potential of Mesopotamia lay in irrigation.</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Mesopotamians, particularly the Sumerians, were pioneers in developing sophisticated irrigation techniques.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constructed canals, dikes, and reservoirs to control the flow of the rivers, diverting water to their fields during dry periods and protecting their settlements from floods.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monumental effort required cooperation and organization on a scale previously unseen, leading to the development of complex social structures and the rise of powerful city-states.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Early irrigation was relatively small-scale, involving the digging of simple channels to divert water to nearby fields.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Over time, these systems became more elaborate, with complex networks of canals spanning vast distances.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construction and maintenance of these systems required a significant labor force, which was often organized and directed by temple priests or powerful leaders.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centralized control over water resources provided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dike: 제방   ** reservoir: 저수지</a:t>
            </a:r>
            <a:endParaRPr lang="en-US" sz="1600" dirty="0"/>
          </a:p>
          <a:p>
            <a:pPr indent="0" marL="0">
              <a:lnSpc>
                <a:spcPct val="115000"/>
              </a:lnSpc>
              <a:spcBef>
                <a:spcPts val="1000"/>
              </a:spcBef>
              <a:buNone/>
            </a:pPr>
            <a:r>
              <a:rPr lang="en-US" sz="1600" dirty="0">
                <a:solidFill>
                  <a:srgbClr val="14453D"/>
                </a:solidFill>
              </a:rPr>
              <a:t>①  a reduction in the need for organized labor groups</a:t>
            </a:r>
            <a:endParaRPr lang="en-US" sz="1600" dirty="0"/>
          </a:p>
          <a:p>
            <a:pPr indent="0" marL="0">
              <a:lnSpc>
                <a:spcPct val="115000"/>
              </a:lnSpc>
              <a:spcBef>
                <a:spcPts val="200"/>
              </a:spcBef>
              <a:buNone/>
            </a:pPr>
            <a:r>
              <a:rPr lang="en-US" sz="1600" dirty="0">
                <a:solidFill>
                  <a:srgbClr val="14453D"/>
                </a:solidFill>
              </a:rPr>
              <a:t>②  a guarantee of equal access to water for everyone</a:t>
            </a:r>
            <a:endParaRPr lang="en-US" sz="1600" dirty="0"/>
          </a:p>
          <a:p>
            <a:pPr indent="0" marL="0">
              <a:lnSpc>
                <a:spcPct val="115000"/>
              </a:lnSpc>
              <a:spcBef>
                <a:spcPts val="200"/>
              </a:spcBef>
              <a:buNone/>
            </a:pPr>
            <a:r>
              <a:rPr lang="en-US" sz="1600" dirty="0">
                <a:solidFill>
                  <a:srgbClr val="14453D"/>
                </a:solidFill>
              </a:rPr>
              <a:t>③  a solution to eliminating social classes altogether</a:t>
            </a:r>
            <a:endParaRPr lang="en-US" sz="1600" dirty="0"/>
          </a:p>
          <a:p>
            <a:pPr indent="0" marL="0">
              <a:lnSpc>
                <a:spcPct val="115000"/>
              </a:lnSpc>
              <a:spcBef>
                <a:spcPts val="200"/>
              </a:spcBef>
              <a:buNone/>
            </a:pPr>
            <a:r>
              <a:rPr lang="en-US" sz="1600" dirty="0">
                <a:solidFill>
                  <a:srgbClr val="14453D"/>
                </a:solidFill>
              </a:rPr>
              <a:t>④  a basis for political power and social hierarchy</a:t>
            </a:r>
            <a:endParaRPr lang="en-US" sz="1600" dirty="0"/>
          </a:p>
          <a:p>
            <a:pPr indent="0" marL="0">
              <a:lnSpc>
                <a:spcPct val="115000"/>
              </a:lnSpc>
              <a:spcBef>
                <a:spcPts val="200"/>
              </a:spcBef>
              <a:buNone/>
            </a:pPr>
            <a:r>
              <a:rPr lang="en-US" sz="1600" dirty="0">
                <a:solidFill>
                  <a:srgbClr val="14453D"/>
                </a:solidFill>
              </a:rPr>
              <a:t>⑤  a rise in individual farming independence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The key to unlocking the agricultural potential of Mesopotamia lay in irrigation.</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Early Mesopotamians, particularly the Sumerians, were pioneers in developing sophisticated irrigation techniques.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They constructed canals, dikes, and reservoirs to control the flow of the rivers, diverting water to their fields during dry periods and protecting their settlements from floods.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This monumental effort required cooperation and organization on a scale previously unseen, leading to the development of complex social structures and the rise of powerful city-states.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Early irrigation was relatively small-scale, involving the digging of simple channels to divert water to nearby fields.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Over time, these systems became more elaborate, with complex networks of canals spanning vast distances.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The construction and maintenance of these systems required a significant labor force, which was often organized and directed by temple priests or powerful leaders.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This centralized control over water resources provided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메소포타미아의 관개와 권력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centralized control over water resources provided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물 자원에 대한 이 중앙집권적 통제는 ______을 제공했다.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물을 '중앙에서 통제'하면 무엇이 생기나?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…leading to the development of complex social structures and the rise of powerful city-states.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복잡한 사회 구조의 발달과 강력한 도시국가의 부상으로 이어졌다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메소포타미아 농업의 열쇠 = 관개(irrigation)</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운하·제방·저수지 건설 → 대규모 협력·조직 필요</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복잡한 사회 구조 + 강력한 도시국가 등장</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사제·지도자가 노동력을 조직·지휘 → 중앙집권적 통제</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a basis for political power and social hierarchy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정치 권력과 사회 위계의 기반</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reduction in the need for organized labor groups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조직 노동의 필요 감소 → 오히려 대규모 노동 필요</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guarantee of equal access to water for everyone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모두에게 평등한 접근 → '중앙 통제'와 반대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solution to eliminating social classes altogether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계급 제거 → 오히려 계급 형성</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a basis for political power and social hierarchy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정치 권력과 사회 위계의 기반</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rise in individual farming independence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개인 농업의 독립성 → 중앙 통제와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If culture finds its metaphorical basis in agriculture, civilization finds it in exchange.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our society is connected to other societies, we are connected to other people, and we can suddenly compare things and judge them in relation to each other.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As a result, we have a choice between better and cheaper options; we can pick the new and the never-before-tried.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Such choices broaden our horizons and improve our lives.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why civilization depends on the unencumbered circulation of goods, people, ideas, faiths, and ways of life.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 consequences of such interaction may be unsettling, but they can also be liberating.</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have to be confined to, and carry the burden of, our culture, and we no longer have to be who we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Civilization provides us with a means of escape.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Or, differently put, exchange is the enemy of culture.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When presented with alternatives, we give up our old ways.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We no longer do the things we used to do and we are no longer quite the same people as before.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is how </a:t>
            </a:r>
            <a:pPr indent="0" marL="0">
              <a:lnSpc>
                <a:spcPct val="115000"/>
              </a:lnSpc>
              <a:buNone/>
            </a:pPr>
            <a:r>
              <a:rPr lang="en-US" sz="1600" b="1" dirty="0">
                <a:solidFill>
                  <a:srgbClr val="EF5B3F"/>
                </a:solidFill>
              </a:rPr>
              <a:t>____________</a:t>
            </a:r>
            <a:pPr indent="0" marL="0">
              <a:lnSpc>
                <a:spcPct val="115000"/>
              </a:lnSpc>
              <a:buNone/>
            </a:pPr>
            <a:r>
              <a:rPr lang="en-US" sz="1600" dirty="0">
                <a:solidFill>
                  <a:srgbClr val="1E2B2A"/>
                </a:solidFill>
              </a:rPr>
              <a:t>.</a:t>
            </a:r>
            <a:endParaRPr lang="en-US" sz="1600" dirty="0"/>
          </a:p>
          <a:p>
            <a:pPr algn="r" indent="0" marL="0">
              <a:lnSpc>
                <a:spcPct val="115000"/>
              </a:lnSpc>
              <a:spcBef>
                <a:spcPts val="200"/>
              </a:spcBef>
              <a:buNone/>
            </a:pPr>
            <a:r>
              <a:rPr lang="en-US" sz="1100" i="1" dirty="0">
                <a:solidFill>
                  <a:srgbClr val="6E7F7C"/>
                </a:solidFill>
              </a:rPr>
              <a:t>※ 교재 각주(endowment, exacerbate)는 이 지문에 나오지 않는 단어 → 무시</a:t>
            </a:r>
            <a:endParaRPr lang="en-US" sz="1600" dirty="0"/>
          </a:p>
          <a:p>
            <a:pPr indent="0" marL="0">
              <a:lnSpc>
                <a:spcPct val="115000"/>
              </a:lnSpc>
              <a:spcBef>
                <a:spcPts val="1000"/>
              </a:spcBef>
              <a:buNone/>
            </a:pPr>
            <a:r>
              <a:rPr lang="en-US" sz="1600" dirty="0">
                <a:solidFill>
                  <a:srgbClr val="14453D"/>
                </a:solidFill>
              </a:rPr>
              <a:t>①  strong cultural boundaries emerge globally</a:t>
            </a:r>
            <a:endParaRPr lang="en-US" sz="1600" dirty="0"/>
          </a:p>
          <a:p>
            <a:pPr indent="0" marL="0">
              <a:lnSpc>
                <a:spcPct val="115000"/>
              </a:lnSpc>
              <a:spcBef>
                <a:spcPts val="200"/>
              </a:spcBef>
              <a:buNone/>
            </a:pPr>
            <a:r>
              <a:rPr lang="en-US" sz="1600" dirty="0">
                <a:solidFill>
                  <a:srgbClr val="14453D"/>
                </a:solidFill>
              </a:rPr>
              <a:t>②  civilization undermines and destroys culture</a:t>
            </a:r>
            <a:endParaRPr lang="en-US" sz="1600" dirty="0"/>
          </a:p>
          <a:p>
            <a:pPr indent="0" marL="0">
              <a:lnSpc>
                <a:spcPct val="115000"/>
              </a:lnSpc>
              <a:spcBef>
                <a:spcPts val="200"/>
              </a:spcBef>
              <a:buNone/>
            </a:pPr>
            <a:r>
              <a:rPr lang="en-US" sz="1600" dirty="0">
                <a:solidFill>
                  <a:srgbClr val="14453D"/>
                </a:solidFill>
              </a:rPr>
              <a:t>③  cultural exchange encourages local uniqueness</a:t>
            </a:r>
            <a:endParaRPr lang="en-US" sz="1600" dirty="0"/>
          </a:p>
          <a:p>
            <a:pPr indent="0" marL="0">
              <a:lnSpc>
                <a:spcPct val="115000"/>
              </a:lnSpc>
              <a:spcBef>
                <a:spcPts val="200"/>
              </a:spcBef>
              <a:buNone/>
            </a:pPr>
            <a:r>
              <a:rPr lang="en-US" sz="1600" dirty="0">
                <a:solidFill>
                  <a:srgbClr val="14453D"/>
                </a:solidFill>
              </a:rPr>
              <a:t>④  civilization spreads culture without altering its core values</a:t>
            </a:r>
            <a:endParaRPr lang="en-US" sz="1600" dirty="0"/>
          </a:p>
          <a:p>
            <a:pPr indent="0" marL="0">
              <a:lnSpc>
                <a:spcPct val="115000"/>
              </a:lnSpc>
              <a:spcBef>
                <a:spcPts val="200"/>
              </a:spcBef>
              <a:buNone/>
            </a:pPr>
            <a:r>
              <a:rPr lang="en-US" sz="1600" dirty="0">
                <a:solidFill>
                  <a:srgbClr val="14453D"/>
                </a:solidFill>
              </a:rPr>
              <a:t>⑤  cultural identity strengthens through interaction with others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If culture finds its metaphorical basis in agriculture, civilization finds it in exchange.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our society is connected to other societies, we are connected to other people, and we can suddenly compare things and judge them in relation to each other.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As a result, we have a choice between better and cheaper options; we can pick the new and the never-before-tried.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Such choices broaden our horizons and improve our lives.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This is why civilization depends on the unencumbered circulation of goods, people, ideas, faiths, and ways of life.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The consequences of such interaction may be unsettling, but they can also be liberating.</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We no longer have to be confined to, and carry the burden of, our culture, and we no longer have to be who we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Civilization provides us with a means of escape.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highlight>
                  <a:srgbClr val="FFD45C"/>
                </a:highlight>
              </a:rPr>
              <a:t>Or, differently put, exchange is the enemy of culture.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highlight>
                  <a:srgbClr val="FFD45C"/>
                </a:highlight>
              </a:rPr>
              <a:t>When presented with alternatives, we give up our old ways.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(11) </a:t>
            </a:r>
            <a:pPr indent="0" marL="0">
              <a:lnSpc>
                <a:spcPct val="120000"/>
              </a:lnSpc>
              <a:buNone/>
            </a:pPr>
            <a:r>
              <a:rPr lang="en-US" sz="1800" dirty="0">
                <a:solidFill>
                  <a:srgbClr val="1E2B2A"/>
                </a:solidFill>
              </a:rPr>
              <a:t>We no longer do the things we used to do and we are no longer quite the same people as before.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(12) </a:t>
            </a:r>
            <a:pPr indent="0" marL="0">
              <a:lnSpc>
                <a:spcPct val="120000"/>
              </a:lnSpc>
              <a:buNone/>
            </a:pPr>
            <a:r>
              <a:rPr lang="en-US" sz="1800" dirty="0">
                <a:solidFill>
                  <a:srgbClr val="1E2B2A"/>
                </a:solidFill>
              </a:rPr>
              <a:t>This is how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문명은 문화의 적?</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is how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이것이 바로 ______하는 방식이다.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앞 내용(옛 방식을 버림)을 한 문장으로 요약</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Or, differently put, exchange is the enemy of culture. When presented with alternatives, we give up our old ways.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다시 말해, 교환은 문화의 적이다. 대안이 주어지면 우리는 옛 방식을 버린다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대비</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문화(culture) = 농업(뿌리) / 문명(civilization) = 교환</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교환 → 비교 → 더 나은 선택 → 시야 확장</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Exchange is the enemy of culture (교환은 문화의 적)</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대안이 생기면 옛 방식을 버리고, 예전의 우리가 아니게 됨</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civilization undermines and destroys culture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문명이 문화를 약화·파괴 = enemy of culture</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strong cultural boundaries emerge globally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강한 문화적 경계 → 경계가 무너지는 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civilization undermines and destroys culture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문명이 문화를 약화·파괴 = enemy of culture</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exchange encourages local uniqueness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지역 고유성 장려 → 반대</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civilization spreads culture without altering its core values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핵심 가치 변화 없음 → '예전의 우리가 아님'과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identity strengthens through interaction with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정체성 강화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50" dirty="0">
                <a:solidFill>
                  <a:srgbClr val="1E2B2A"/>
                </a:solidFill>
              </a:rPr>
              <a:t>Science and democracy share important principles and ideals that oppose illegitimate claims for knowledge and power.</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The authority of both scientific knowledge and democratic governance is legitimated by representation.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It is only when this representation is accepted as legitimate that it can support the authority of the knowledge claims made, or the authority of particular forms of governance.</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Representation is, however, </a:t>
            </a:r>
            <a:pPr indent="0" marL="0">
              <a:lnSpc>
                <a:spcPct val="115000"/>
              </a:lnSpc>
              <a:buNone/>
            </a:pPr>
            <a:r>
              <a:rPr lang="en-US" sz="1650" b="1" dirty="0">
                <a:solidFill>
                  <a:srgbClr val="EF5B3F"/>
                </a:solidFill>
              </a:rPr>
              <a:t>____________</a:t>
            </a:r>
            <a:pPr indent="0" marL="0">
              <a:lnSpc>
                <a:spcPct val="115000"/>
              </a:lnSpc>
              <a:buNone/>
            </a:pPr>
            <a:r>
              <a:rPr lang="en-US" sz="1650" dirty="0">
                <a:solidFill>
                  <a:srgbClr val="1E2B2A"/>
                </a:solidFill>
              </a:rPr>
              <a:t>.</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Since both scientific practices and democratic governance, in principle, admit potential alternative representations, continuous struggles over what is represented and what is not can be foreseen.</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To represent means to simplify, which implies the existence of alternatives ─ alternative ways of simplifying complicated issues.</a:t>
            </a:r>
            <a:pPr indent="0" marL="0">
              <a:lnSpc>
                <a:spcPct val="115000"/>
              </a:lnSpc>
              <a:buNone/>
            </a:pPr>
            <a:r>
              <a:rPr lang="en-US" sz="1650" dirty="0">
                <a:solidFill>
                  <a:srgbClr val="000000"/>
                </a:solidFill>
              </a:rPr>
              <a:t> </a:t>
            </a:r>
            <a:pPr indent="0" marL="0">
              <a:lnSpc>
                <a:spcPct val="115000"/>
              </a:lnSpc>
              <a:buNone/>
            </a:pPr>
            <a:r>
              <a:rPr lang="en-US" sz="1650" dirty="0">
                <a:solidFill>
                  <a:srgbClr val="1E2B2A"/>
                </a:solidFill>
              </a:rPr>
              <a:t>This further means that both science and democracy have inbuilt mechanisms for improvement, which are based on critical assessments of existing representations.</a:t>
            </a:r>
            <a:endParaRPr lang="en-US" sz="1650" dirty="0"/>
          </a:p>
          <a:p>
            <a:pPr algn="r" indent="0" marL="0">
              <a:lnSpc>
                <a:spcPct val="115000"/>
              </a:lnSpc>
              <a:spcBef>
                <a:spcPts val="200"/>
              </a:spcBef>
              <a:buNone/>
            </a:pPr>
            <a:r>
              <a:rPr lang="en-US" sz="1100" i="1" dirty="0">
                <a:solidFill>
                  <a:srgbClr val="6E7F7C"/>
                </a:solidFill>
              </a:rPr>
              <a:t>* governance: 통치, 관리</a:t>
            </a:r>
            <a:endParaRPr lang="en-US" sz="1650" dirty="0"/>
          </a:p>
          <a:p>
            <a:pPr indent="0" marL="0">
              <a:lnSpc>
                <a:spcPct val="115000"/>
              </a:lnSpc>
              <a:spcBef>
                <a:spcPts val="1000"/>
              </a:spcBef>
              <a:buNone/>
            </a:pPr>
            <a:r>
              <a:rPr lang="en-US" sz="1650" dirty="0">
                <a:solidFill>
                  <a:srgbClr val="14453D"/>
                </a:solidFill>
              </a:rPr>
              <a:t>①  free from controversy</a:t>
            </a:r>
            <a:endParaRPr lang="en-US" sz="1650" dirty="0"/>
          </a:p>
          <a:p>
            <a:pPr indent="0" marL="0">
              <a:lnSpc>
                <a:spcPct val="115000"/>
              </a:lnSpc>
              <a:spcBef>
                <a:spcPts val="200"/>
              </a:spcBef>
              <a:buNone/>
            </a:pPr>
            <a:r>
              <a:rPr lang="en-US" sz="1650" dirty="0">
                <a:solidFill>
                  <a:srgbClr val="14453D"/>
                </a:solidFill>
              </a:rPr>
              <a:t>②  never perfect or complete</a:t>
            </a:r>
            <a:endParaRPr lang="en-US" sz="1650" dirty="0"/>
          </a:p>
          <a:p>
            <a:pPr indent="0" marL="0">
              <a:lnSpc>
                <a:spcPct val="115000"/>
              </a:lnSpc>
              <a:spcBef>
                <a:spcPts val="200"/>
              </a:spcBef>
              <a:buNone/>
            </a:pPr>
            <a:r>
              <a:rPr lang="en-US" sz="1650" dirty="0">
                <a:solidFill>
                  <a:srgbClr val="14453D"/>
                </a:solidFill>
              </a:rPr>
              <a:t>③  valid only in scientific contexts</a:t>
            </a:r>
            <a:endParaRPr lang="en-US" sz="1650" dirty="0"/>
          </a:p>
          <a:p>
            <a:pPr indent="0" marL="0">
              <a:lnSpc>
                <a:spcPct val="115000"/>
              </a:lnSpc>
              <a:spcBef>
                <a:spcPts val="200"/>
              </a:spcBef>
              <a:buNone/>
            </a:pPr>
            <a:r>
              <a:rPr lang="en-US" sz="1650" dirty="0">
                <a:solidFill>
                  <a:srgbClr val="14453D"/>
                </a:solidFill>
              </a:rPr>
              <a:t>④  fixed and then resistant to change</a:t>
            </a:r>
            <a:endParaRPr lang="en-US" sz="1650" dirty="0"/>
          </a:p>
          <a:p>
            <a:pPr indent="0" marL="0">
              <a:lnSpc>
                <a:spcPct val="115000"/>
              </a:lnSpc>
              <a:spcBef>
                <a:spcPts val="200"/>
              </a:spcBef>
              <a:buNone/>
            </a:pPr>
            <a:r>
              <a:rPr lang="en-US" sz="1650" dirty="0">
                <a:solidFill>
                  <a:srgbClr val="14453D"/>
                </a:solidFill>
              </a:rPr>
              <a:t>⑤  not subjective nor universally rejected</a:t>
            </a:r>
            <a:endParaRPr lang="en-US" sz="16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Science and democracy share important principles and ideals that oppose illegitimate claims for knowledge and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The authority of both scientific knowledge and democratic governance is legitimated by representation.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It is only when this representation is accepted as legitimate that it can support the authority of the knowledge claims made, or the authority of particular forms of governance.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Representation is, however,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Since both scientific practices and democratic governance, in principle, admit potential alternative representations, continuous struggles over what is represented and what is not can be foreseen.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To represent means to simplify, which implies the existence of alternatives ─ alternative ways of simplifying complicated issues.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This further means that both science and democracy have inbuilt mechanisms for improvement, which are based on critical assessments of existing representations.</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과학과 민주주의의 '대표성'</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Representation is, however,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그러나 대표(표현)는 ______하다.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However 뒤 → 앞(정당성)과 반대되는 '한계'</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To represent means to simplify, which implies the existence of alternatives…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대표한다는 것은 단순화를 의미하며, 이는 대안의 존재를 암시한다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공통점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과학과 민주주의는 '대표(representation)'로 권위를 정당화</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However → 대표에는 한계가 있다 (빈칸)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대표한다 = 단순화한다 → 다른 단순화(대안)가 항상 존재</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그래서 둘 다 비판을 통한 개선 장치를 내장하고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never perfect or complete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결코 완벽·완전하지 않다 = 단순화, 대안, 개선 필요</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free from controversy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논쟁이 없다 → continuous struggles와 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never perfect or complete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결코 완벽·완전하지 않다 = 단순화, 대안, 개선 필요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valid only in scientific contexts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과학에서만 유효 → 민주주의도 해당</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fixed and then resistant to change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고정·변화 저항 → 개선 메커니즘과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subjective nor universally rejected</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주관적이지도 거부되지도 않음 → 무관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2400" b="1" dirty="0">
                <a:solidFill>
                  <a:schemeClr val="tx2"/>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700" dirty="0">
                <a:solidFill>
                  <a:srgbClr val="1E2B2A"/>
                </a:solidFill>
              </a:rPr>
              <a:t>Differences in geology and climate make soils in different regions more or less capable of sustained agriculture.</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Once this happens, the lush vegetation essentially feeds on itself, retaining and recycling nutrients inherited from rocks weathered long ago.</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As most of the nutrients in these areas reside not in the soil but in the plants themselves, once the native vegetation disappears, so does the productive capacity of the soil.</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Often too few nutrients remain to support either crops or livestock within decades of deforestation.</a:t>
            </a:r>
            <a:pPr indent="0" marL="0">
              <a:lnSpc>
                <a:spcPct val="115000"/>
              </a:lnSpc>
              <a:buNone/>
            </a:pPr>
            <a:r>
              <a:rPr lang="en-US" sz="1700" dirty="0">
                <a:solidFill>
                  <a:srgbClr val="000000"/>
                </a:solidFill>
              </a:rPr>
              <a:t> </a:t>
            </a:r>
            <a:pPr indent="0" marL="0">
              <a:lnSpc>
                <a:spcPct val="115000"/>
              </a:lnSpc>
              <a:buNone/>
            </a:pPr>
            <a:r>
              <a:rPr lang="en-US" sz="1700" dirty="0">
                <a:solidFill>
                  <a:srgbClr val="1E2B2A"/>
                </a:solidFill>
              </a:rPr>
              <a:t>Nutrient-poor tropical soils illustrate the general rule that </a:t>
            </a:r>
            <a:pPr indent="0" marL="0">
              <a:lnSpc>
                <a:spcPct val="115000"/>
              </a:lnSpc>
              <a:buNone/>
            </a:pPr>
            <a:r>
              <a:rPr lang="en-US" sz="1700" b="1" dirty="0">
                <a:solidFill>
                  <a:srgbClr val="EF5B3F"/>
                </a:solidFill>
              </a:rPr>
              <a:t>____________</a:t>
            </a:r>
            <a:pPr indent="0" marL="0">
              <a:lnSpc>
                <a:spcPct val="115000"/>
              </a:lnSpc>
              <a:buNone/>
            </a:pPr>
            <a:r>
              <a:rPr lang="en-US" sz="1700" dirty="0">
                <a:solidFill>
                  <a:srgbClr val="1E2B2A"/>
                </a:solidFill>
              </a:rPr>
              <a:t>.</a:t>
            </a:r>
            <a:endParaRPr lang="en-US" sz="1700" dirty="0"/>
          </a:p>
          <a:p>
            <a:pPr algn="r" indent="0" marL="0">
              <a:lnSpc>
                <a:spcPct val="115000"/>
              </a:lnSpc>
              <a:spcBef>
                <a:spcPts val="200"/>
              </a:spcBef>
              <a:buNone/>
            </a:pPr>
            <a:r>
              <a:rPr lang="en-US" sz="1100" i="1" dirty="0">
                <a:solidFill>
                  <a:srgbClr val="6E7F7C"/>
                </a:solidFill>
              </a:rPr>
              <a:t>* seep: 스며들다   ** leach out: ~을 스며나오게 하다   *** lush: 울창한</a:t>
            </a:r>
            <a:endParaRPr lang="en-US" sz="1700" dirty="0"/>
          </a:p>
          <a:p>
            <a:pPr indent="0" marL="0">
              <a:lnSpc>
                <a:spcPct val="115000"/>
              </a:lnSpc>
              <a:spcBef>
                <a:spcPts val="1000"/>
              </a:spcBef>
              <a:buNone/>
            </a:pPr>
            <a:r>
              <a:rPr lang="en-US" sz="1700" dirty="0">
                <a:solidFill>
                  <a:srgbClr val="14453D"/>
                </a:solidFill>
              </a:rPr>
              <a:t>①  not all growth leads to change</a:t>
            </a:r>
            <a:endParaRPr lang="en-US" sz="1700" dirty="0"/>
          </a:p>
          <a:p>
            <a:pPr indent="0" marL="0">
              <a:lnSpc>
                <a:spcPct val="115000"/>
              </a:lnSpc>
              <a:spcBef>
                <a:spcPts val="200"/>
              </a:spcBef>
              <a:buNone/>
            </a:pPr>
            <a:r>
              <a:rPr lang="en-US" sz="1700" dirty="0">
                <a:solidFill>
                  <a:srgbClr val="14453D"/>
                </a:solidFill>
              </a:rPr>
              <a:t>②  life depends on recycling past life</a:t>
            </a:r>
            <a:endParaRPr lang="en-US" sz="1700" dirty="0"/>
          </a:p>
          <a:p>
            <a:pPr indent="0" marL="0">
              <a:lnSpc>
                <a:spcPct val="115000"/>
              </a:lnSpc>
              <a:spcBef>
                <a:spcPts val="200"/>
              </a:spcBef>
              <a:buNone/>
            </a:pPr>
            <a:r>
              <a:rPr lang="en-US" sz="1700" dirty="0">
                <a:solidFill>
                  <a:srgbClr val="14453D"/>
                </a:solidFill>
              </a:rPr>
              <a:t>③  farming flourishes where roots run deep</a:t>
            </a:r>
            <a:endParaRPr lang="en-US" sz="1700" dirty="0"/>
          </a:p>
          <a:p>
            <a:pPr indent="0" marL="0">
              <a:lnSpc>
                <a:spcPct val="115000"/>
              </a:lnSpc>
              <a:spcBef>
                <a:spcPts val="200"/>
              </a:spcBef>
              <a:buNone/>
            </a:pPr>
            <a:r>
              <a:rPr lang="en-US" sz="1700" dirty="0">
                <a:solidFill>
                  <a:srgbClr val="14453D"/>
                </a:solidFill>
              </a:rPr>
              <a:t>④  rich vegetation always indicates fertile soil</a:t>
            </a:r>
            <a:endParaRPr lang="en-US" sz="1700" dirty="0"/>
          </a:p>
          <a:p>
            <a:pPr indent="0" marL="0">
              <a:lnSpc>
                <a:spcPct val="115000"/>
              </a:lnSpc>
              <a:spcBef>
                <a:spcPts val="200"/>
              </a:spcBef>
              <a:buNone/>
            </a:pPr>
            <a:r>
              <a:rPr lang="en-US" sz="1700" dirty="0">
                <a:solidFill>
                  <a:srgbClr val="14453D"/>
                </a:solidFill>
              </a:rPr>
              <a:t>⑤  soil always holds enough nutrients for farming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700" b="1" dirty="0">
                <a:solidFill>
                  <a:srgbClr val="1F7A64"/>
                </a:solidFill>
              </a:rPr>
              <a:t>(1) </a:t>
            </a:r>
            <a:pPr indent="0" marL="0">
              <a:lnSpc>
                <a:spcPct val="120000"/>
              </a:lnSpc>
              <a:buNone/>
            </a:pPr>
            <a:r>
              <a:rPr lang="en-US" sz="2000" dirty="0">
                <a:solidFill>
                  <a:srgbClr val="1E2B2A"/>
                </a:solidFill>
              </a:rPr>
              <a:t>Differences in geology and climate make soils in different regions more or less capable of sustained agriculture.</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(2) </a:t>
            </a:r>
            <a:pPr indent="0" marL="0">
              <a:lnSpc>
                <a:spcPct val="120000"/>
              </a:lnSpc>
              <a:buNone/>
            </a:pPr>
            <a:r>
              <a:rPr lang="en-US" sz="20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(3) </a:t>
            </a:r>
            <a:pPr indent="0" marL="0">
              <a:lnSpc>
                <a:spcPct val="120000"/>
              </a:lnSpc>
              <a:buNone/>
            </a:pPr>
            <a:r>
              <a:rPr lang="en-US" sz="2000" dirty="0">
                <a:solidFill>
                  <a:srgbClr val="1E2B2A"/>
                </a:solidFill>
                <a:highlight>
                  <a:srgbClr val="FFD45C"/>
                </a:highlight>
              </a:rPr>
              <a:t>Once this happens, the lush vegetation essentially feeds on itself, retaining and recycling nutrients inherited from rocks weathered long ago.</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(4) </a:t>
            </a:r>
            <a:pPr indent="0" marL="0">
              <a:lnSpc>
                <a:spcPct val="120000"/>
              </a:lnSpc>
              <a:buNone/>
            </a:pPr>
            <a:r>
              <a:rPr lang="en-US" sz="2000" dirty="0">
                <a:solidFill>
                  <a:srgbClr val="1E2B2A"/>
                </a:solidFill>
                <a:highlight>
                  <a:srgbClr val="FFD45C"/>
                </a:highlight>
              </a:rPr>
              <a:t>As most of the nutrients in these areas reside not in the soil but in the plants themselves, once the native vegetation disappears, so does the productive capacity of the soil.</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(5) </a:t>
            </a:r>
            <a:pPr indent="0" marL="0">
              <a:lnSpc>
                <a:spcPct val="120000"/>
              </a:lnSpc>
              <a:buNone/>
            </a:pPr>
            <a:r>
              <a:rPr lang="en-US" sz="2000" dirty="0">
                <a:solidFill>
                  <a:srgbClr val="1E2B2A"/>
                </a:solidFill>
              </a:rPr>
              <a:t>Often too few nutrients remain to support either crops or livestock within decades of deforestation.</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(6) </a:t>
            </a:r>
            <a:pPr indent="0" marL="0">
              <a:lnSpc>
                <a:spcPct val="120000"/>
              </a:lnSpc>
              <a:buNone/>
            </a:pPr>
            <a:r>
              <a:rPr lang="en-US" sz="2000" dirty="0">
                <a:solidFill>
                  <a:srgbClr val="1E2B2A"/>
                </a:solidFill>
              </a:rPr>
              <a:t>Nutrient-poor tropical soils illustrate the general rule that </a:t>
            </a:r>
            <a:pPr indent="0" marL="0">
              <a:lnSpc>
                <a:spcPct val="120000"/>
              </a:lnSpc>
              <a:buNone/>
            </a:pPr>
            <a:r>
              <a:rPr lang="en-US" sz="2000" b="1" dirty="0">
                <a:solidFill>
                  <a:srgbClr val="EF5B3F"/>
                </a:solidFill>
              </a:rPr>
              <a:t>____________</a:t>
            </a:r>
            <a:pPr indent="0" marL="0">
              <a:lnSpc>
                <a:spcPct val="120000"/>
              </a:lnSpc>
              <a:buNone/>
            </a:pPr>
            <a:r>
              <a:rPr lang="en-US" sz="2000" dirty="0">
                <a:solidFill>
                  <a:srgbClr val="1E2B2A"/>
                </a:solidFill>
              </a:rPr>
              <a:t>.</a:t>
            </a:r>
            <a:endParaRPr lang="en-US" sz="17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열대 토양과 영양분 순환</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Nutrient-poor tropical soils illustrate the general rule that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영양분이 부족한 열대 토양은 ______라는 일반 법칙을 보여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열대 토양 사례 → '일반 법칙'으로 바꾸기</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 lush vegetation essentially feeds on itself, retaining and recycling nutrients inherited from rocks weathered long ago.</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울창한 식생은 본질적으로 스스로를 먹고 살며, 오래전 풍화된 암석에서 물려받은 영양분을 보유·재활용한다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원인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열대: 많은 비 + 빠른 풍화 → 영양분이 땅에서 씻겨 나감</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현상</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울창한 숲이 스스로를 먹고 삶 (옛 영양분을 재활용)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영양분은 흙이 아니라 '식물 자체'에 있음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숲이 사라지면 → 땅의 생산력도 사라짐 (수십 년 내)</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life depends on recycling past life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생명은 과거 생명의 재활용에 의존 = recycling</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all growth leads to change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모든 성장이 변화로 이어지진 않음 → 무관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life depends on recycling past life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생명은 과거 생명의 재활용에 의존 = recycling</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farming flourishes where roots run deep</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뿌리 깊은 곳에서 농업 번성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rich vegetation always indicates fertile soil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울창한 숲 = 비옥한 땅? → 열대는 정반대!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soil always holds enough nutrients for farming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토양은 항상 충분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2400" b="1" dirty="0">
                <a:solidFill>
                  <a:schemeClr val="tx2"/>
                </a:solidFill>
              </a:rPr>
              <a:t>밑줄 친 부분의 의미로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a:t>
            </a:r>
            <a:endParaRPr lang="en-US" sz="1200" dirty="0"/>
          </a:p>
        </p:txBody>
      </p:sp>
      <p:sp>
        <p:nvSpPr>
          <p:cNvPr id="4" name="Shape 2"/>
          <p:cNvSpPr/>
          <p:nvPr/>
        </p:nvSpPr>
        <p:spPr>
          <a:xfrm>
            <a:off x="548640" y="1234440"/>
            <a:ext cx="11064240" cy="5074920"/>
          </a:xfrm>
          <a:prstGeom prst="roundRect">
            <a:avLst>
              <a:gd name="adj" fmla="val 1802"/>
            </a:avLst>
          </a:prstGeom>
          <a:solidFill>
            <a:schemeClr val="bg1"/>
          </a:solidFill>
          <a:ln w="19050">
            <a:solidFill>
              <a:schemeClr val="bg2"/>
            </a:solidFill>
            <a:prstDash val="solid"/>
          </a:ln>
        </p:spPr>
      </p:sp>
      <p:sp>
        <p:nvSpPr>
          <p:cNvPr id="5" name="Text 3"/>
          <p:cNvSpPr txBox="1"/>
          <p:nvPr/>
        </p:nvSpPr>
        <p:spPr>
          <a:xfrm>
            <a:off x="777240" y="1371600"/>
            <a:ext cx="10607040" cy="4846320"/>
          </a:xfrm>
          <a:prstGeom prst="rect">
            <a:avLst/>
          </a:prstGeom>
          <a:noFill/>
          <a:ln/>
        </p:spPr>
        <p:txBody>
          <a:bodyPr wrap="square" lIns="0" tIns="0" rIns="0" bIns="0" rtlCol="0" anchor="t"/>
          <a:lstStyle/>
          <a:p>
            <a:pPr indent="0" marL="0">
              <a:lnSpc>
                <a:spcPct val="115000"/>
              </a:lnSpc>
              <a:buNone/>
            </a:pPr>
            <a:r>
              <a:rPr lang="en-US" sz="1600" dirty="0">
                <a:solidFill>
                  <a:srgbClr val="1E2B2A"/>
                </a:solidFill>
              </a:rPr>
              <a:t>Knowledge is power.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And one way to measure the amount of trust on a team is by looking at how much information people keep to themselves (low trust) or share openly (high trust).</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Team leaders signal that they trust their team when they share privileged information with them.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This could be sharing the team's finances, or the budget handed down from higher-ups, so that the whole team knows what they're working with and where the priorities are.</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also be competitive data or customer trends that are widely available but rarely shared.</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It could even be passing on information shared by another team.</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In a meeting, any time someone says, "</a:t>
            </a:r>
            <a:pPr indent="0" marL="0">
              <a:lnSpc>
                <a:spcPct val="115000"/>
              </a:lnSpc>
              <a:buNone/>
            </a:pPr>
            <a:r>
              <a:rPr lang="en-US" sz="1600" b="1" u="sng" dirty="0">
                <a:solidFill>
                  <a:srgbClr val="1E2B2A"/>
                </a:solidFill>
              </a:rPr>
              <a:t>This stays here</a:t>
            </a:r>
            <a:pPr indent="0" marL="0">
              <a:lnSpc>
                <a:spcPct val="115000"/>
              </a:lnSpc>
              <a:buNone/>
            </a:pPr>
            <a:r>
              <a:rPr lang="en-US" sz="1600" dirty="0">
                <a:solidFill>
                  <a:srgbClr val="1E2B2A"/>
                </a:solidFill>
              </a:rPr>
              <a:t>," the atmosphere changes.</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know whatever follows is spoken in trust, and they respond to that feeling of being trusted with trustworthy behavior.</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People begin to feel like they're in the inner circle when they receive more information about their work or the environment than they usually do.</a:t>
            </a:r>
            <a:pPr indent="0" marL="0">
              <a:lnSpc>
                <a:spcPct val="115000"/>
              </a:lnSpc>
              <a:buNone/>
            </a:pPr>
            <a:r>
              <a:rPr lang="en-US" sz="1600" dirty="0">
                <a:solidFill>
                  <a:srgbClr val="000000"/>
                </a:solidFill>
              </a:rPr>
              <a:t> </a:t>
            </a:r>
            <a:pPr indent="0" marL="0">
              <a:lnSpc>
                <a:spcPct val="115000"/>
              </a:lnSpc>
              <a:buNone/>
            </a:pPr>
            <a:r>
              <a:rPr lang="en-US" sz="1600" dirty="0">
                <a:solidFill>
                  <a:srgbClr val="1E2B2A"/>
                </a:solidFill>
              </a:rPr>
              <a:t>They start to see how their work fits into the larger organizational whole.</a:t>
            </a:r>
            <a:endParaRPr lang="en-US" sz="1600" dirty="0"/>
          </a:p>
          <a:p>
            <a:pPr indent="0" marL="0">
              <a:lnSpc>
                <a:spcPct val="115000"/>
              </a:lnSpc>
              <a:spcBef>
                <a:spcPts val="1000"/>
              </a:spcBef>
              <a:buNone/>
            </a:pPr>
            <a:r>
              <a:rPr lang="en-US" sz="1600" dirty="0">
                <a:solidFill>
                  <a:srgbClr val="14453D"/>
                </a:solidFill>
              </a:rPr>
              <a:t>①  I am setting boundaries out of caution, not out of trust.</a:t>
            </a:r>
            <a:endParaRPr lang="en-US" sz="1600" dirty="0"/>
          </a:p>
          <a:p>
            <a:pPr indent="0" marL="0">
              <a:lnSpc>
                <a:spcPct val="115000"/>
              </a:lnSpc>
              <a:spcBef>
                <a:spcPts val="200"/>
              </a:spcBef>
              <a:buNone/>
            </a:pPr>
            <a:r>
              <a:rPr lang="en-US" sz="1600" dirty="0">
                <a:solidFill>
                  <a:srgbClr val="14453D"/>
                </a:solidFill>
              </a:rPr>
              <a:t>②  I think this is way too sensitive to discuss openly right now.</a:t>
            </a:r>
            <a:endParaRPr lang="en-US" sz="1600" dirty="0"/>
          </a:p>
          <a:p>
            <a:pPr indent="0" marL="0">
              <a:lnSpc>
                <a:spcPct val="115000"/>
              </a:lnSpc>
              <a:spcBef>
                <a:spcPts val="200"/>
              </a:spcBef>
              <a:buNone/>
            </a:pPr>
            <a:r>
              <a:rPr lang="en-US" sz="1600" dirty="0">
                <a:solidFill>
                  <a:srgbClr val="14453D"/>
                </a:solidFill>
              </a:rPr>
              <a:t>③  I feel uncomfortable with what I am about to say, so forget it.</a:t>
            </a:r>
            <a:endParaRPr lang="en-US" sz="1600" dirty="0"/>
          </a:p>
          <a:p>
            <a:pPr indent="0" marL="0">
              <a:lnSpc>
                <a:spcPct val="115000"/>
              </a:lnSpc>
              <a:spcBef>
                <a:spcPts val="200"/>
              </a:spcBef>
              <a:buNone/>
            </a:pPr>
            <a:r>
              <a:rPr lang="en-US" sz="1600" dirty="0">
                <a:solidFill>
                  <a:srgbClr val="14453D"/>
                </a:solidFill>
              </a:rPr>
              <a:t>④  I am unsure if I should speak freely, so I will keep this vague.</a:t>
            </a:r>
            <a:endParaRPr lang="en-US" sz="1600" dirty="0"/>
          </a:p>
          <a:p>
            <a:pPr indent="0" marL="0">
              <a:lnSpc>
                <a:spcPct val="115000"/>
              </a:lnSpc>
              <a:spcBef>
                <a:spcPts val="200"/>
              </a:spcBef>
              <a:buNone/>
            </a:pPr>
            <a:r>
              <a:rPr lang="en-US" sz="1600" dirty="0">
                <a:solidFill>
                  <a:srgbClr val="14453D"/>
                </a:solidFill>
              </a:rPr>
              <a:t>⑤  I will disclose sensitive information on the basis of mutual trust.</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근거 찾기</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근거</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Knowledge is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And one way to measure the amount of trust on a team is by looking at how much information people keep to themselves (low trust) or share openly (high trust).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Team leaders signal that they trust their team when they share privileged information with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could be sharing the team's finances, or the budget handed down from higher-ups, so that the whole team knows what they're working with and where the priorities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It could also be competitive data or customer trends that are widely available but rarely shared.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It could even be passing on information shared by another team.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In a meeting, any time someone says, "</a:t>
            </a:r>
            <a:pPr indent="0" marL="0">
              <a:lnSpc>
                <a:spcPct val="120000"/>
              </a:lnSpc>
              <a:buNone/>
            </a:pPr>
            <a:r>
              <a:rPr lang="en-US" sz="1800" b="1" u="sng" dirty="0">
                <a:solidFill>
                  <a:srgbClr val="1E2B2A"/>
                </a:solidFill>
              </a:rPr>
              <a:t>This stays here</a:t>
            </a:r>
            <a:pPr indent="0" marL="0">
              <a:lnSpc>
                <a:spcPct val="120000"/>
              </a:lnSpc>
              <a:buNone/>
            </a:pPr>
            <a:r>
              <a:rPr lang="en-US" sz="1800" dirty="0">
                <a:solidFill>
                  <a:srgbClr val="1E2B2A"/>
                </a:solidFill>
              </a:rPr>
              <a:t>," the atmosphere changes.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People know whatever follows is spoken in trust, and they respond to that feeling of being trusted with trustworthy behavior.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People begin to feel like they're in the inner circle when they receive more information about their work or the environment than they usually do.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They start to see how their work fits into the larger organizational whole.</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"This stays here"의 의미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…any time someone says, "This stays here," the atmosphere changes.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누군가 "이건 여기서만 하는 얘기야"라고 말할 때마다 분위기가 바뀐다.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이 말을 하는 사람의 '속뜻'은?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People know whatever follows is spoken in trust, and they respond to that feeling of being trusted with trustworthy behavior.</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사람들은 뒤따르는 말이 신뢰 속에서 하는 말임을 알고, 신뢰할 만한 행동으로 응답한다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정보를 얼마나 공유하는가 = 팀 신뢰의 척도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리더가 특별한 정보를 공유 = 팀을 믿는다는 신호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"This stays here" → 이후 말은 '신뢰 속에서' 하는 말</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사람들은 신뢰받는다고 느끼고 신뢰할 만한 행동으로 응답</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 will disclose sensitive information on the basis of mutual trust.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상호 신뢰를 바탕으로 민감한 정보를 공개하겠다</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setting boundaries out of caution, not out of trust.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신뢰가 아닌 경계심 → 정반대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think this is way too sensitive to discuss openly right now.</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너무 민감해서 말 못 함 → 실제로는 공개함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feel uncomfortable with what I am about to say, so forget it.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불편하니 잊어라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unsure if I should speak freely, so I will keep this vague.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모호하게 말하겠다 → 오히려 솔직히 공유</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accent6"/>
          </a:solidFill>
          <a:ln w="25400">
            <a:solidFill>
              <a:schemeClr val="accent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 will disclose sensitive information on the basis of mutual trust.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상호 신뢰를 바탕으로 민감한 정보를 공개하겠다</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12문제 정답 한눈에 보기</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502920"/>
                <a:gridCol w="685800"/>
                <a:gridCol w="685800"/>
                <a:gridCol w="3566160"/>
              </a:tblGrid>
              <a:tr h="713232">
                <a:tc>
                  <a:txBody>
                    <a:bodyPr/>
                    <a:lstStyle/>
                    <a:p>
                      <a:pPr algn="ctr" indent="0" marL="0">
                        <a:buNone/>
                      </a:pPr>
                      <a:r>
                        <a:rPr lang="en-US" sz="1400" b="1" dirty="0">
                          <a:solidFill>
                            <a:srgbClr val="FFFFFF"/>
                          </a:solidFill>
                        </a:rPr>
                        <a:t>Ex</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유형</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정답</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한 줄 핵심</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r>
              <a:tr h="713232">
                <a:tc>
                  <a:txBody>
                    <a:bodyPr/>
                    <a:lstStyle/>
                    <a:p>
                      <a:pPr algn="ctr" indent="0" marL="0">
                        <a:buNone/>
                      </a:pPr>
                      <a:r>
                        <a:rPr lang="en-US" sz="1400" b="1" dirty="0">
                          <a:solidFill>
                            <a:srgbClr val="1E2B2A"/>
                          </a:solidFill>
                        </a:rPr>
                        <a:t>1</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③</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자존감 낮음 = 자기평가가 오락가락</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2</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④</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문해력 없는 곳에 야만이 많다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3</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③</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문화가 '보는 방식(주의)'을 바꾼다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4</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①</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가격이 내려가면 숨은 수요가 드러난다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5</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①</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역사가는 증거로 이해 가능한 서사를 만든다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6</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함의</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④</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한 분야의 위신이 다른 분야로 번진다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502920"/>
                <a:gridCol w="685800"/>
                <a:gridCol w="685800"/>
                <a:gridCol w="3566160"/>
              </a:tblGrid>
              <a:tr h="713232">
                <a:tc>
                  <a:txBody>
                    <a:bodyPr/>
                    <a:lstStyle/>
                    <a:p>
                      <a:pPr algn="ctr" indent="0" marL="0">
                        <a:buNone/>
                      </a:pPr>
                      <a:r>
                        <a:rPr lang="en-US" sz="1400" b="1" dirty="0">
                          <a:solidFill>
                            <a:srgbClr val="FFFFFF"/>
                          </a:solidFill>
                        </a:rPr>
                        <a:t>Ex</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유형</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정답</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한 줄 핵심</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r>
              <a:tr h="713232">
                <a:tc>
                  <a:txBody>
                    <a:bodyPr/>
                    <a:lstStyle/>
                    <a:p>
                      <a:pPr algn="ctr" indent="0" marL="0">
                        <a:buNone/>
                      </a:pPr>
                      <a:r>
                        <a:rPr lang="en-US" sz="1400" b="1" dirty="0">
                          <a:solidFill>
                            <a:srgbClr val="1E2B2A"/>
                          </a:solidFill>
                        </a:rPr>
                        <a:t>7</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①</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감정의 '의미'는 우리가 정한다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8</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④</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물 통제 → 정치 권력과 위계</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9</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②</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교환(문명)은 문화의 적</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10</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②</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대표 = 단순화 → 결코 완벽하지 않다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11</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②</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숲은 과거 생명을 재활용해 산다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12</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함의</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"여기서만" = 신뢰 기반 정보 공개</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빈칸의 답은 언제나 지문 안에 있다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① 빈칸 문장 먼저   ② 같은 말 찾기   ③ 함정 지우기</a:t>
            </a:r>
            <a:endParaRPr lang="en-US" sz="2000" dirty="0"/>
          </a:p>
          <a:p>
            <a:pPr algn="l" indent="0" marL="0">
              <a:buNone/>
            </a:pPr>
            <a:r>
              <a:rPr lang="en-US" sz="2000" b="1" dirty="0">
                <a:solidFill>
                  <a:schemeClr val="accent3"/>
                </a:solidFill>
              </a:rPr>
              <a:t>복습 과제: 틀린 문제의 '결정적 단서' 문장에 밑줄 긋고 해석해 오기</a:t>
            </a:r>
            <a:endParaRPr lang="en-US" sz="2000" dirty="0"/>
          </a:p>
        </p:txBody>
      </p:sp>
    </p:spTree>
  </p:cSld>
  <p:clrMapOvr>
    <a:masterClrMapping/>
  </p:clrMapOvr>
</p:sld>
</file>

<file path=ppt/theme/theme1.xml><?xml version="1.0" encoding="utf-8"?>
<a:theme xmlns:a="http://schemas.openxmlformats.org/drawingml/2006/main" name="Blank Hunter">
  <a:themeElements>
    <a:clrScheme name="Blank Hunter">
      <a:dk1>
        <a:srgbClr val="1E2B2A"/>
      </a:dk1>
      <a:lt1>
        <a:srgbClr val="FFFFFF"/>
      </a:lt1>
      <a:dk2>
        <a:srgbClr val="14453D"/>
      </a:dk2>
      <a:lt2>
        <a:srgbClr val="E6F2ED"/>
      </a:lt2>
      <a:accent1>
        <a:srgbClr val="1F7A64"/>
      </a:accent1>
      <a:accent2>
        <a:srgbClr val="EF5B3F"/>
      </a:accent2>
      <a:accent3>
        <a:srgbClr val="FFD45C"/>
      </a:accent3>
      <a:accent4>
        <a:srgbClr val="6E7F7C"/>
      </a:accent4>
      <a:accent5>
        <a:srgbClr val="2C7DA0"/>
      </a:accent5>
      <a:accent6>
        <a:srgbClr val="F7E9E4"/>
      </a:accent6>
      <a:hlink>
        <a:srgbClr val="1F7A64"/>
      </a:hlink>
      <a:folHlink>
        <a:srgbClr val="6E7F7C"/>
      </a:folHlink>
    </a:clrScheme>
    <a:fontScheme name="Blank Hunt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수능특강 영어 03강 빈칸·함의 추론</dc:title>
  <dc:subject>PptxGenJS Presentation</dc:subject>
  <dc:creator>David</dc:creator>
  <cp:lastModifiedBy>David</cp:lastModifiedBy>
  <cp:revision>1</cp:revision>
  <dcterms:created xsi:type="dcterms:W3CDTF">2026-10-13T01:58:15Z</dcterms:created>
  <dcterms:modified xsi:type="dcterms:W3CDTF">2026-10-13T01:58:15Z</dcterms:modified>
</cp:coreProperties>
</file>