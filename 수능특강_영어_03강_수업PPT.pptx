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9a63fe8-bb55-1201-8ca8-87b1a2d06601}">
          <p14:sldIdLst>
            <p14:sldId id="256"/>
            <p14:sldId id="257"/>
            <p14:sldId id="258"/>
          </p14:sldIdLst>
        </p14:section>
        <p14:section name="풀이 공식" id="{c0bec918-ea47-e195-7c50-7712b04510a3}">
          <p14:sldIdLst>
            <p14:sldId id="259"/>
            <p14:sldId id="260"/>
            <p14:sldId id="261"/>
            <p14:sldId id="262"/>
          </p14:sldIdLst>
        </p14:section>
        <p14:section name="Part 1 · Ex 1–6" id="{3945b1df-f1a3-8fb9-3abd-3a4d4ae380e0}">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Part 2 · Ex 7–12" id="{6d8e3c40-ac11-b687-fdfa-5383bee7da71}">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정리" id="{75543f44-c577-f419-1d13-9044a1df3cfe}">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채점 + 풀이 공식 + Ex 1~6, 2차시 = Ex 7~12 + 정리.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1-③ 2-④ 3-③ 4-① 5-① 6-④ 7-① 8-④ 9-② 10-② 11-② 12-⑤ (6·12번은 함의 추론)
【한 줄 핵심】 1 자존감 낮음 = 자기평가가 오락가락 / 2 문해력 없는 곳에 야만 / 3 문화가 주의 방식을 바꿈 / 4 가격이 내려가면 숨은 수요가 드러남 / 5 역사가는 이해 가능한 서사를 만듦 / 6 위신은 다른 분야로 번짐 / 7 감정의 의미는 우리가 정함 / 8 물 통제 → 권력과 위계 / 9 교환은 문화의 적 / 10 대표는 완벽하지 않음 / 11 숲은 과거 생명을 재활용 / 12 '여기서만' = 신뢰 기반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6번)에서 멈춰 "여기가 정답 근거!"라고 강조하세요. 파란 굵은 글씨는 문법·내신 포인트로, 다음 슬라이드에서 정리합니다.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
【문장별 해석 · 선생님 참고용 (★ = 정답 근거)】
(1) 자존감이 낮은 사람들은 ______는 증거가 있다.
(2) ★ 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
(3) 자존감이 높은 피실험자들은 긍정적 형용사는 강하고 일관되게 인정하고, 부정적 형용사는 거부했다.
(4) 대조적으로, 자존감이 낮은 피실험자들은 부정적 형용사를 강하고 일관되게 인정하고 긍정적 형용사를 거부하지는 않았다.
(5) ★ 오히려 그들은 두 종류의 형용사 모두에 더 중간적이고 더 가변적인(들쭉날쭉한) 평가를 했다.
(6) ★ 그러므로 자존감이 낮은 사람과 높은 사람은 자기관의 평균적 긍정성뿐 아니라, 자기관들이 서로 평가적으로 일관된 정도에서도 다른 것으로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 재귀대명사: 의문사 how + 주어 + 동사 어순. 주어(subjects) = 목적어이므로 재귀대명사 themselves
• either A or B: 상관접속사: A와 B는 같은 형태(부사+형용사)로 병렬
• not only A but also B: A·B 모두 'in + 명사'로 병렬 → 어법·서술형 단골
• 전치사 + 관계대명사: to which 뒤에는 완전한 절. (the extent to which ~ = ~하는 정도)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5, 7번)에서 멈춰 "여기가 정답 근거!"라고 강조하세요. 파란 굵은 글씨는 문법·내신 포인트로, 다음 슬라이드에서 정리합니다.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
【문장별 해석 · 선생님 참고용 (★ = 정답 근거)】
(1) 문해 사회에서 글을 읽고 쓸 줄 아는 것의 힘과 가치는 전 세계에서 매일 드러나고 있다.
(2) 다른 이들이 그것을 당연하게 여기는 바로 그때에도, 많은 개인들, 그리고 실은 사회 전체가 문해력을 갖추기 위해 상당한 희생을 치른다.
(3) ★ 문해 행위를 실천하지 않는 사회는 흔히 지저분하고, 정신과 육체가 영양 결핍 상태이며, 인권과 존엄성을 억압하고, 잔인하며 가혹하다.
(4) 오늘날의 예를 열거하기는 쉽지만, 사실 이것은 언제나 그래 왔다.
(5) ★ 2세기도 더 전에 Samuel Johnson이 말했듯이, "인쇄가 없는 곳에서는 모든 민족의 대중이 야만적일 수밖에 없다."
(6) 우리는 다양한 형태의 '야만'이 모든 사회에서 발견될 수 있음을 인정하지만, 그것들은 ______한 곳에서 훨씬 더 널리 퍼져 있다.
(7) ★ 문해력과 삶의 질은 함께 간다.
(8) 문해력과 함께 특권 집단에 속하는 힘과 그 힘에서 나오는 자유가 온다.
(9) 노예로서 읽는 법을 배우려고 분투했던 Frederick Douglass는 이것을 가장 잘 표현했다. "일단 읽는 법을 배우면, 당신은 영원히 자유로울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주어-동사 수일치: 주어 The power and value(복수) → are. 수식어 of ~ society에 속지 말 것
• 주격 관계대명사 + 수일치: that절이 Societies를 수식, 본동사는 복수 are
• 부사구 도치: 부사구 With literacy + 동사 comes + 주어 the power … (주어가 길어서 도치)
• 계속적 용법 관계대명사: 콤마 + who: Frederick Douglass에 대한 부연 설명 (that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8번)에서 멈춰 "여기가 정답 근거!"라고 강조하세요. 파란 굵은 글씨는 문법·내신 포인트로, 다음 슬라이드에서 정리합니다.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
【문장별 해석 · 선생님 참고용 (★ = 정답 근거)】
(1) 문화적으로 공유된 자아관은 ______라고 제시되어 왔다.
(2) ★ 서양 문화에서 개인은 욕구와 개인적 목표 같은 내적 속성을 발견하도록 장려되며, 따라서 그런 욕구와 목표에 관련된 사건에 주의를 집중할 것으로 예상될 수 있다.
(3) 그 결과, 그들의 주의는 (한 곳에) 집중될 수 있다.
(4) 맥락 대신 초점 대상에 고정된 이러한 인지 방식은 '분석적'이라고 불려 왔다.
(5) ★ 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
(6) 이러한 인지 방식은 '총체적'이라고 불려 왔다.
(7) 이러한 예측은 입증되었다.
(8) ★ 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현재완료 수동태: suggest의 대상인 views → have been p.p. (be suggested to V: ~하는 것으로 제시되다)
• encourage O to V의 수동태: 능동 encourage individuals to discover → 수동 be encouraged to V
• 삽입절 · 수일치: 주어 This cognitive style ↔ 동사 has been called (삽입된 which절 건너뛰기). call O C의 수동태
• 분사구문: and they draw inferences의 의미 (동시동작·부대상황)
• 접속사 + 분사구문: when (they were) presented with ~ → 접속사를 남긴 수동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8번)에서 멈춰 "여기가 정답 근거!"라고 강조하세요. 파란 굵은 글씨는 문법·내신 포인트로, 다음 슬라이드에서 정리합니다.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
【문장별 해석 · 선생님 참고용 (★ = 정답 근거)】
(1) 환자가 구매를 선택하면 그 사람은 수요의 일부가 된다.
(2) (약, 성형수술, 인공 고관절 등을) 사고 싶지만 사지 않으면 그 잠재적 환자는 보이지 않는 상태, 즉 시장에 실질적으로 참여하지 않는 잠재 수요의 일부로 남는다.
(3) 그 추가 수요는 ______ 드러날 것이다.
(4) 예를 들어, 인공 심장의 개발을 생각해 보라.
(5) ★ 심장 하나에 100만 달러가 든다면, 그것은 생사가 걸린 문제에만 사용될 것이다.
(6) ★ 추가 개발로 인공 심장의 비용이 개당 10만 달러로 줄어든다면, 더 많은 사람이 그것을 얻게 될 것이다.
(7) 인공 심장은 여전히 중병 환자에게만 사용되겠지만, 사람의 원래 심장이 기능을 다하기 훨씬 전에 이식될 수도 있을 것이다.
(8) ★ 인공 심장 제작 비용이 100달러로 떨어진다면, 필요한 누구나 쉽게 구할 수 있을 것이다.
(9) 인공 심장 비용이 10달러로 떨어지고 15분짜리 진료 중에 쉽게 이식될 수 있다면 어떤 일이 일어날지 생각해 보라.
(10) 한 번도 아픈 적 없이 그저 걱정만 하던 사람들 중 일부는 새 심장을 이식받을지도 모른다.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동명사 주어 · leave O C: 동명사 주어는 단수 → leaves. 목적격 보어 자리에 형용사 invisible (부사 X)
• 주격 관계대명사 수일치: 선행사 latent demand(단수) → does
• 가정법 과거: If + S + 과거동사, S + would + 동사원형: 현재 사실의 가정
• 사역동사 have O p.p.: 심장이 '이식되는' 것 → 목적격 보어 과거분사 implanted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3번)에서 멈춰 "여기가 정답 근거!"라고 강조하세요. 파란 굵은 글씨는 문법·내신 포인트로, 다음 슬라이드에서 정리합니다.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
【문장별 해석 · 선생님 참고용 (★ = 정답 근거)】
(1) ★ 역사가는 증거를 선별하고 해석하는 것 이상의 일을 한다. 그들은 또한 이해할 수 있는 (그리고 그들이 바라기로는 설득력 있는) 서사를 만들기 위해 증거를 조직한다.
(2) 특히 변화의 원인이 핵심일 때 연대순은 일반적으로 역사를 그럴듯하게 만드는 요소의 일부이지만, 실제로 많은 역사 서술은 복잡한 이야기의 여러 가닥을 집어내기 위해 시간을 앞뒤로 오가야 한다.
(3) ★ 역사가는 또한 사건을 특정한 관점에서 비추거나 서사에 특정한 어조를 부여함으로써 사건을 이해할 수 있게 만든다.
(4) 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
(5) 역사가는 사건을 낭만화할 수도 있는데, 영웅적인 아서 왕과 원탁의 기사들에 관한 브로드웨이 뮤지컬을 암시하며 John F. Kennedy의 대통령 임기를 '카멜롯'이라고 묘사한 사람들이 그랬다.
(6) 마찬가지로, 어떤 역사가는 일련의 사건을 발전으로 보는 반면, 다른 역사가는 그것을 쇠퇴로 인식할 수 있다.
(7) 이것들은 ______하는 방식들 중 단지 몇 가지일 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by -ing 병렬: by + casting / giving: or로 연결된 동명사 병렬
• 전치사 + 관계대명사: in which = where, 뒤에 완전한 절 (선행사 nation building)
• as + 대동사 + 주어 도치: as did those = as those (romanticized events) did
• view / perceive A as B: A를 B로 여기다 (regard A as B 유형) — as 자리 어법 출제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7번)에서 멈춰 "여기가 정답 근거!"라고 강조하세요. 파란 굵은 글씨는 문법·내신 포인트로, 다음 슬라이드에서 정리합니다.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
【문장별 해석 · 선생님 참고용 (★ = 정답 근거)】
(1) 위신은 인간만이 인식하는 특별한 형태의 지위이다.
(2) 대부분의 동물은 가장 힘세거나 공격적인 개체가 되는 것 같은 지배의 이점을 따르며, 이것은 인간에게도 중요하다. 무시무시한 전사는 어디서나 찬양받는다.
(3) 위신은 거의 그 반대이다.
(4) 위신 있는 사람은 배울 가치가 있는 사람, 즉 전문가나 연장자이다.
(5) ★ 그리고 누군가 한 분야에서 위신을 가지면, 그들은 높은 지위의 사람이 되고 그들의 영향력은 그 분야에 한정되지 않는다. 우리는 그들의 모든 결정을 따라 할 가능성이 크다.
(6) 실제로 위신은 문화 전달의 이점을 높이는 방법으로 진화했을지도 모른다.
(7) ★ 삶의 한 영역에서의 성공은 그 사람에게 전반적인 여론 주도자의 지위를 부여한다.
(8) 우리는 성공한 사람들에게서 배우거나, 그저 어떤 식으로든 그들과 연관되기를 원하는데, 그들의 명성이 우리에게 옮아오도록 하기 위해서이다.
(9) 그래서 골프 영웅이 당신에게 시계를 팔 수 있는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recognize의 목적어가 빠진 불완전한 절 → that/which
• worthy of -ing · 전치사 잔류: ones = individuals. learn from them → learning from (전치사 from 남음)
• 4형식 afford IO DO: afford + 사람 + 사물: ~에게 …을 주다
• so that (목적): so that + S + V: ~하도록. rub off on: ~에게 옮아가다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5, 6번)에서 멈춰 "여기가 정답 근거!"라고 강조하세요. 파란 굵은 글씨는 문법·내신 포인트로, 다음 슬라이드에서 정리합니다.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
【문장별 해석 · 선생님 참고용 (★ = 정답 근거)】
(1) ★ 감정(emotion)은 무의식적인 신경생물학적 반응을 가리키는 데 쓰일 수 있는 반면, 느낌(feeling)은 우리가 그 감정에 부여하는 인지적 의미이다.
(2) 이것은 분명 훨씬 더 복잡한 역학 관계이며, 이 둘의 상호 작용을 설명하는 매우 상세한 정보가 아주 많다.
(3) 그러나 감정과 느낌의 구분이 가장 주목할 만하게 적용되는 점은, 인간이 바로 ______을 인지적으로 부여할, 즉 그것에 대해 생각하고 결정할 어느 정도의 능력이 있다는 것이다.
(4) 이것은 더 구체적인 예인 고대의 전쟁 북을 생각해 보면 더 쉽게 이해할 수 있다.
(5) ★ 대부분은 울리는 전쟁 북소리를 듣는다고 해서 어떤 갈등에서 편을 고르게 되지는 않는다는 데 동의할 것이다.
(6) ★ 울리는 전쟁 북은 처음에 선택한 쪽이 어느 쪽이든 그 편에서 더 힘차게 행진하도록 도울 뿐이다.
(7) 북소리의 청각적 감각이 일으킨 신경생물학적 경험은 사람이 주어진 목적을 향해 더 많은 에너지를 '느끼고' 더 빨리 걷게 만든다.
(8) 아마 셰익스피어는 Timon의 대사 "그대의 북을 따르라…"를 쓸 때 이것에 대해 무언가 알고 있었을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생략: assignments (that) we make ~: make의 목적어가 빠진 절
• 명사절 that (보어): the most noteworthy application … is that ~: that절이 보어
• lead O to V: 목적격 보어 자리에 to부정사 (lead/cause/allow O to V)
• 복합관계형용사: whichever + 명사: 어느 쪽 ~이든
• 과거분사 수식 · cause O to V: experience (which was) set off by ~ / 주어 experience → 단수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7번)에서 멈춰 "여기가 정답 근거!"라고 강조하세요. 파란 굵은 글씨는 문법·내신 포인트로, 다음 슬라이드에서 정리합니다.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
【문장별 해석 · 선생님 참고용 (★ = 정답 근거)】
(1) 메소포타미아의 농업 잠재력을 여는 열쇠는 관개에 있었다.
(2) 초기 메소포타미아인들, 특히 수메르인들은 정교한 관개 기술을 개발한 선구자였다.
(3) 그들은 강의 흐름을 통제하기 위해 운하, 제방, 저수지를 건설하여, 건기에는 물을 밭으로 돌리고 홍수로부터 정착지를 보호했다.
(4) ★ 이 거대한 노력은 이전에 없던 규모의 협력과 조직을 필요로 했고, 복잡한 사회 구조의 발달과 강력한 도시 국가의 부상으로 이어졌다.
(5) 초기 관개는 비교적 소규모였으며, 근처 밭으로 물을 돌리기 위해 단순한 수로를 파는 일이었다.
(6) 시간이 지나면서 이 체계는 더 정교해져, 먼 거리에 걸친 복잡한 운하망을 갖추게 되었다.
(7) ★ 이 체계를 건설하고 유지하는 데는 상당한 노동력이 필요했는데, 그것은 흔히 신전 사제나 강력한 지도자들이 조직하고 지휘했다.
(8) 물 자원에 대한 이러한 중앙 집중식 통제는 ______을 제공했다.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전치사 to + 동명사: the key to -ing (~의 열쇠). to부정사로 착각 금지
• 분사구문 병렬: diverting … and protecting …: 주절의 결과·부연 (and로 병렬)
• 결과의 분사구문: , leading to ~ = and it led to ~ (lead to + 명사)
• 계속적 용법 which + 수동: 선행사 a significant labor force(단수) → was, 조직'되는' 것이라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9, 10번)에서 멈춰 "여기가 정답 근거!"라고 강조하세요. 파란 굵은 글씨는 문법·내신 포인트로, 다음 슬라이드에서 정리합니다.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
【문장별 해석 · 선생님 참고용 (★ = 정답 근거)】
(1) ★ 문화가 그 은유적 기반을 농업에서 찾는다면, 문명은 그것을 교환에서 찾는다.
(2) 우리 사회가 다른 사회와 연결되면 우리는 다른 사람들과 연결되고, 갑자기 사물을 비교하고 서로와의 관계 속에서 판단할 수 있게 된다.
(3) 그 결과, 우리는 더 좋고 더 싼 선택지 중에서 고를 수 있게 되고, 새로운 것과 한 번도 시도해 보지 않은 것을 고를 수 있다.
(4) 그러한 선택은 우리의 시야를 넓히고 삶을 향상시킨다.
(5) 이것이 문명이 상품, 사람, 사상, 신앙, 생활 방식의 방해받지 않는 순환에 의존하는 이유이다.
(6) 그러한 상호 작용의 결과는 불안하게 할 수도 있지만, 해방감을 줄 수도 있다.
(7) 우리는 더 이상 우리 문화에 갇혀 그 짐을 질 필요가 없고, 더 이상 지금의 우리일 필요도 없다.
(8) 문명은 우리에게 탈출 수단을 제공한다.
(9) ★ 또는 달리 말하면, 교환은 문화의 적이다.
(10) ★ 대안이 주어지면 우리는 옛 방식을 버린다.
(11) 우리는 더 이상 예전에 하던 일을 하지 않고, 더 이상 예전과 꼭 같은 사람이 아니다.
(12) 이것이 ______하는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대명사 it: it = its metaphorical basis (앞 절과 대구 구조)
• This is why + 결과: 앞 내용이 원인, 뒤가 결과 (This is because와 구별)
• 공통관계: to와 of가 our culture를 공통 목적어로 공유
• 접속사 + 분사구문: When (we are) presented with ~: 수동 분사구문
• used to V: ~하곤 했다 (be used to -ing: ~에 익숙하다와 구별)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7번)에서 멈춰 "여기가 정답 근거!"라고 강조하세요. 파란 굵은 글씨는 문법·내신 포인트로, 다음 슬라이드에서 정리합니다.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
【문장별 해석 · 선생님 참고용 (★ = 정답 근거)】
(1) 과학과 민주주의는 지식과 권력에 대한 부당한 주장에 반대하는 중요한 원칙과 이상을 공유한다.
(2) 과학적 지식과 민주적 통치의 권위는 모두 대표(representation)에 의해 정당화된다.
(3) 이 대표가 정당하다고 받아들여질 때에만 그것은 제기된 지식 주장의 권위나 특정 형태의 통치의 권위를 뒷받침할 수 있다.
(4) 그러나 대표는 ______하다.
(5) ★ 과학적 실천과 민주적 통치는 모두 원칙적으로 잠재적인 대안적 대표를 인정하므로, 무엇이 대표되고 무엇이 대표되지 않는지를 두고 지속적인 다툼이 예견될 수 있다.
(6) ★ 대표한다는 것은 단순화한다는 뜻이며, 이는 대안, 즉 복잡한 문제를 단순화하는 다른 방식들이 존재함을 암시한다.
(7) ★ 이것은 나아가 과학과 민주주의 모두 개선을 위한 내장된 장치를 가지고 있다는 뜻이며, 그 장치는 기존 대표에 대한 비판적 평가에 기반한다.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주격 관계대명사 수일치: 선행사 principles and ideals(복수) → oppose
• It is ~ that 강조구문: only when ~ 부사절을 강조. that 뒤는 완전한 절
• since(이유) · both A and B: both A and B는 복수 → admit. 삽입구 in principle 건너뛰기
• 계속적 용법 which: 앞 절 전체(To represent means to simplify)를 받음 → 단수 implies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굵은 글씨는 문법·내신 포인트로, 다음 슬라이드에서 정리합니다.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
【문장별 해석 · 선생님 참고용 (★ = 정답 근거)】
(1) 지질과 기후의 차이 때문에 지역마다 토양이 지속적인 농업을 감당할 수 있는 정도가 다르다.
(2) 특히, 많은 열대 지형의 완만한 경사지에 내리는 풍부한 비와 높은 풍화율은, 충분한 시간이 지나면 땅속으로 스며든 빗물이 토양과 그 아래 풍화된 암석 모두에서 거의 모든 영양분을 씻어 낸다는 것을 의미한다.
(3) ★ 일단 이렇게 되면, 울창한 식생은 본질적으로 스스로를 먹고 살며, 오래전 풍화된 암석에서 물려받은 영양분을 보유하고 재활용한다.
(4) ★ 이 지역의 영양분 대부분은 토양이 아니라 식물 자체에 있기 때문에, 토착 식생이 사라지면 토양의 생산 능력도 사라진다.
(5) 흔히 삼림 벌채 후 수십 년 안에, 농작물이나 가축을 부양하기에는 너무 적은 영양분만 남게 된다.
(6) 영양분이 부족한 열대 토양은 ______라는 일반 법칙을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5형식 make O C: 목적격 보어 자리에 형용사 capable (부사 X)
• 현재분사 수식 · 수일치: rainfall (which is) seeping ~ → 주어 rainfall(단수) → leaches
• 분사구문 · 과거분사 수식: retaining and recycling: 분사구문 병렬 / nutrients (which were) inherited
• not A but B: A가 아니라 B: in the soil / in the plants 병렬
• so + V + S 도치: ~도 그렇다: so does + 주어 (앞 동사 disappears를 대신)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3, 8번)에서 멈춰 "여기가 정답 근거!"라고 강조하세요. 파란 굵은 글씨는 문법·내신 포인트로, 다음 슬라이드에서 정리합니다.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
【문장별 해석 · 선생님 참고용 (★ = 정답 근거)】
(1) 아는 것이 힘이다.
(2) ★ 그리고 팀 내 신뢰의 양을 측정하는 한 가지 방법은 사람들이 얼마나 많은 정보를 혼자 간직하는지(낮은 신뢰), 혹은 공개적으로 공유하는지(높은 신뢰)를 살펴보는 것이다.
(3) ★ 팀 리더는 특권 정보(일부만 아는 정보)를 팀원과 공유할 때 팀을 신뢰한다는 신호를 보낸다.
(4) 이것은 팀의 재정이나 윗선에서 내려온 예산을 공유하여, 팀 전체가 무엇을 가지고 일하는지, 우선순위가 어디에 있는지 알게 하는 것일 수 있다.
(5) 또한 널리 구할 수 있지만 거의 공유되지 않는 경쟁 데이터나 고객 동향일 수도 있다.
(6) 심지어 다른 팀이 공유한 정보를 전달하는 것일 수도 있다.
(7) 회의에서 누군가 "이건 여기서만 하는 얘기예요"라고 말할 때마다 분위기가 바뀐다.
(8) ★ 사람들은 뒤이어 나오는 말이 무엇이든 신뢰 속에서 하는 말임을 알고, 신뢰받는다는 그 느낌에 신뢰할 만한 행동으로 응답한다.
(9) 사람들은 자기 업무나 환경에 대해 평소보다 많은 정보를 받을 때 자신이 핵심층에 속해 있다고 느끼기 시작한다.
(10) 그들은 자신의 일이 더 큰 조직 전체에 어떻게 들어맞는지 보기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how much + 명사 + 주어 + 동사 어순
• so that (목적): so that + S + V: ~하도록. 주어 the whole team(단수) → knows
• 주격 관계대명사 수일치: 선행사 competitive data or customer trends → are (가까운 trends에 일치)
• 복합관계대명사 whatever: whatever = anything that, 명사절 주어 → 단수 is
• 비교급 · 대동사 do: do = receive information (반복을 피하는 대동사)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3.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채점부터! 정답 한눈에 보기</a:t>
            </a:r>
            <a:endParaRPr lang="en-US" sz="3000" dirty="0"/>
          </a:p>
        </p:txBody>
      </p:sp>
      <p:sp>
        <p:nvSpPr>
          <p:cNvPr id="3" name="Shape 1"/>
          <p:cNvSpPr/>
          <p:nvPr/>
        </p:nvSpPr>
        <p:spPr>
          <a:xfrm>
            <a:off x="548640" y="1325880"/>
            <a:ext cx="1700784" cy="2148840"/>
          </a:xfrm>
          <a:prstGeom prst="roundRect">
            <a:avLst>
              <a:gd name="adj" fmla="val 6452"/>
            </a:avLst>
          </a:prstGeom>
          <a:solidFill>
            <a:srgbClr val="E6F2ED"/>
          </a:solidFill>
          <a:ln w="12700">
            <a:solidFill>
              <a:srgbClr val="E6F2ED"/>
            </a:solidFill>
            <a:prstDash val="solid"/>
          </a:ln>
        </p:spPr>
      </p:sp>
      <p:sp>
        <p:nvSpPr>
          <p:cNvPr id="4" name="Text 2"/>
          <p:cNvSpPr txBox="1"/>
          <p:nvPr/>
        </p:nvSpPr>
        <p:spPr>
          <a:xfrm>
            <a:off x="54864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a:t>
            </a:r>
            <a:endParaRPr lang="en-US" sz="1800" dirty="0"/>
          </a:p>
        </p:txBody>
      </p:sp>
      <p:sp>
        <p:nvSpPr>
          <p:cNvPr id="5" name="Text 3"/>
          <p:cNvSpPr txBox="1"/>
          <p:nvPr/>
        </p:nvSpPr>
        <p:spPr>
          <a:xfrm>
            <a:off x="54864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6" name="Text 4"/>
          <p:cNvSpPr txBox="1"/>
          <p:nvPr/>
        </p:nvSpPr>
        <p:spPr>
          <a:xfrm>
            <a:off x="54864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7" name="Shape 5"/>
          <p:cNvSpPr/>
          <p:nvPr/>
        </p:nvSpPr>
        <p:spPr>
          <a:xfrm>
            <a:off x="2414016" y="1325880"/>
            <a:ext cx="1700784" cy="2148840"/>
          </a:xfrm>
          <a:prstGeom prst="roundRect">
            <a:avLst>
              <a:gd name="adj" fmla="val 6452"/>
            </a:avLst>
          </a:prstGeom>
          <a:solidFill>
            <a:srgbClr val="E6F2ED"/>
          </a:solidFill>
          <a:ln w="12700">
            <a:solidFill>
              <a:srgbClr val="E6F2ED"/>
            </a:solidFill>
            <a:prstDash val="solid"/>
          </a:ln>
        </p:spPr>
      </p:sp>
      <p:sp>
        <p:nvSpPr>
          <p:cNvPr id="8" name="Text 6"/>
          <p:cNvSpPr txBox="1"/>
          <p:nvPr/>
        </p:nvSpPr>
        <p:spPr>
          <a:xfrm>
            <a:off x="2414016"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2</a:t>
            </a:r>
            <a:endParaRPr lang="en-US" sz="1800" dirty="0"/>
          </a:p>
        </p:txBody>
      </p:sp>
      <p:sp>
        <p:nvSpPr>
          <p:cNvPr id="9" name="Text 7"/>
          <p:cNvSpPr txBox="1"/>
          <p:nvPr/>
        </p:nvSpPr>
        <p:spPr>
          <a:xfrm>
            <a:off x="2414016"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10" name="Text 8"/>
          <p:cNvSpPr txBox="1"/>
          <p:nvPr/>
        </p:nvSpPr>
        <p:spPr>
          <a:xfrm>
            <a:off x="2414016"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1" name="Shape 9"/>
          <p:cNvSpPr/>
          <p:nvPr/>
        </p:nvSpPr>
        <p:spPr>
          <a:xfrm>
            <a:off x="4279392" y="1325880"/>
            <a:ext cx="1700784" cy="2148840"/>
          </a:xfrm>
          <a:prstGeom prst="roundRect">
            <a:avLst>
              <a:gd name="adj" fmla="val 6452"/>
            </a:avLst>
          </a:prstGeom>
          <a:solidFill>
            <a:srgbClr val="E6F2ED"/>
          </a:solidFill>
          <a:ln w="12700">
            <a:solidFill>
              <a:srgbClr val="E6F2ED"/>
            </a:solidFill>
            <a:prstDash val="solid"/>
          </a:ln>
        </p:spPr>
      </p:sp>
      <p:sp>
        <p:nvSpPr>
          <p:cNvPr id="12" name="Text 10"/>
          <p:cNvSpPr txBox="1"/>
          <p:nvPr/>
        </p:nvSpPr>
        <p:spPr>
          <a:xfrm>
            <a:off x="4279392"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3</a:t>
            </a:r>
            <a:endParaRPr lang="en-US" sz="1800" dirty="0"/>
          </a:p>
        </p:txBody>
      </p:sp>
      <p:sp>
        <p:nvSpPr>
          <p:cNvPr id="13" name="Text 11"/>
          <p:cNvSpPr txBox="1"/>
          <p:nvPr/>
        </p:nvSpPr>
        <p:spPr>
          <a:xfrm>
            <a:off x="4279392"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14" name="Text 12"/>
          <p:cNvSpPr txBox="1"/>
          <p:nvPr/>
        </p:nvSpPr>
        <p:spPr>
          <a:xfrm>
            <a:off x="4279392"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5" name="Shape 13"/>
          <p:cNvSpPr/>
          <p:nvPr/>
        </p:nvSpPr>
        <p:spPr>
          <a:xfrm>
            <a:off x="6144768" y="1325880"/>
            <a:ext cx="1700784" cy="2148840"/>
          </a:xfrm>
          <a:prstGeom prst="roundRect">
            <a:avLst>
              <a:gd name="adj" fmla="val 6452"/>
            </a:avLst>
          </a:prstGeom>
          <a:solidFill>
            <a:srgbClr val="E6F2ED"/>
          </a:solidFill>
          <a:ln w="12700">
            <a:solidFill>
              <a:srgbClr val="E6F2ED"/>
            </a:solidFill>
            <a:prstDash val="solid"/>
          </a:ln>
        </p:spPr>
      </p:sp>
      <p:sp>
        <p:nvSpPr>
          <p:cNvPr id="16" name="Text 14"/>
          <p:cNvSpPr txBox="1"/>
          <p:nvPr/>
        </p:nvSpPr>
        <p:spPr>
          <a:xfrm>
            <a:off x="6144768"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4</a:t>
            </a:r>
            <a:endParaRPr lang="en-US" sz="1800" dirty="0"/>
          </a:p>
        </p:txBody>
      </p:sp>
      <p:sp>
        <p:nvSpPr>
          <p:cNvPr id="17" name="Text 15"/>
          <p:cNvSpPr txBox="1"/>
          <p:nvPr/>
        </p:nvSpPr>
        <p:spPr>
          <a:xfrm>
            <a:off x="6144768"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18" name="Text 16"/>
          <p:cNvSpPr txBox="1"/>
          <p:nvPr/>
        </p:nvSpPr>
        <p:spPr>
          <a:xfrm>
            <a:off x="6144768"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9" name="Shape 17"/>
          <p:cNvSpPr/>
          <p:nvPr/>
        </p:nvSpPr>
        <p:spPr>
          <a:xfrm>
            <a:off x="8010144" y="1325880"/>
            <a:ext cx="1700784" cy="2148840"/>
          </a:xfrm>
          <a:prstGeom prst="roundRect">
            <a:avLst>
              <a:gd name="adj" fmla="val 6452"/>
            </a:avLst>
          </a:prstGeom>
          <a:solidFill>
            <a:srgbClr val="E6F2ED"/>
          </a:solidFill>
          <a:ln w="12700">
            <a:solidFill>
              <a:srgbClr val="E6F2ED"/>
            </a:solidFill>
            <a:prstDash val="solid"/>
          </a:ln>
        </p:spPr>
      </p:sp>
      <p:sp>
        <p:nvSpPr>
          <p:cNvPr id="20" name="Text 18"/>
          <p:cNvSpPr txBox="1"/>
          <p:nvPr/>
        </p:nvSpPr>
        <p:spPr>
          <a:xfrm>
            <a:off x="8010144"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5</a:t>
            </a:r>
            <a:endParaRPr lang="en-US" sz="1800" dirty="0"/>
          </a:p>
        </p:txBody>
      </p:sp>
      <p:sp>
        <p:nvSpPr>
          <p:cNvPr id="21" name="Text 19"/>
          <p:cNvSpPr txBox="1"/>
          <p:nvPr/>
        </p:nvSpPr>
        <p:spPr>
          <a:xfrm>
            <a:off x="8010144"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22" name="Text 20"/>
          <p:cNvSpPr txBox="1"/>
          <p:nvPr/>
        </p:nvSpPr>
        <p:spPr>
          <a:xfrm>
            <a:off x="8010144"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23" name="Shape 21"/>
          <p:cNvSpPr/>
          <p:nvPr/>
        </p:nvSpPr>
        <p:spPr>
          <a:xfrm>
            <a:off x="9875520" y="1325880"/>
            <a:ext cx="1700784" cy="2148840"/>
          </a:xfrm>
          <a:prstGeom prst="roundRect">
            <a:avLst>
              <a:gd name="adj" fmla="val 6452"/>
            </a:avLst>
          </a:prstGeom>
          <a:solidFill>
            <a:srgbClr val="F7E9E4"/>
          </a:solidFill>
          <a:ln w="12700">
            <a:solidFill>
              <a:srgbClr val="EF5B3F"/>
            </a:solidFill>
            <a:prstDash val="solid"/>
          </a:ln>
        </p:spPr>
      </p:sp>
      <p:sp>
        <p:nvSpPr>
          <p:cNvPr id="24" name="Text 22"/>
          <p:cNvSpPr txBox="1"/>
          <p:nvPr/>
        </p:nvSpPr>
        <p:spPr>
          <a:xfrm>
            <a:off x="987552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6</a:t>
            </a:r>
            <a:endParaRPr lang="en-US" sz="1800" dirty="0"/>
          </a:p>
        </p:txBody>
      </p:sp>
      <p:sp>
        <p:nvSpPr>
          <p:cNvPr id="25" name="Text 23"/>
          <p:cNvSpPr txBox="1"/>
          <p:nvPr/>
        </p:nvSpPr>
        <p:spPr>
          <a:xfrm>
            <a:off x="987552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26" name="Text 24"/>
          <p:cNvSpPr txBox="1"/>
          <p:nvPr/>
        </p:nvSpPr>
        <p:spPr>
          <a:xfrm>
            <a:off x="987552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27" name="Shape 25"/>
          <p:cNvSpPr/>
          <p:nvPr/>
        </p:nvSpPr>
        <p:spPr>
          <a:xfrm>
            <a:off x="548640" y="3703320"/>
            <a:ext cx="1700784" cy="2148840"/>
          </a:xfrm>
          <a:prstGeom prst="roundRect">
            <a:avLst>
              <a:gd name="adj" fmla="val 6452"/>
            </a:avLst>
          </a:prstGeom>
          <a:solidFill>
            <a:srgbClr val="E6F2ED"/>
          </a:solidFill>
          <a:ln w="12700">
            <a:solidFill>
              <a:srgbClr val="E6F2ED"/>
            </a:solidFill>
            <a:prstDash val="solid"/>
          </a:ln>
        </p:spPr>
      </p:sp>
      <p:sp>
        <p:nvSpPr>
          <p:cNvPr id="28" name="Text 26"/>
          <p:cNvSpPr txBox="1"/>
          <p:nvPr/>
        </p:nvSpPr>
        <p:spPr>
          <a:xfrm>
            <a:off x="54864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7</a:t>
            </a:r>
            <a:endParaRPr lang="en-US" sz="1800" dirty="0"/>
          </a:p>
        </p:txBody>
      </p:sp>
      <p:sp>
        <p:nvSpPr>
          <p:cNvPr id="29" name="Text 27"/>
          <p:cNvSpPr txBox="1"/>
          <p:nvPr/>
        </p:nvSpPr>
        <p:spPr>
          <a:xfrm>
            <a:off x="54864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30" name="Text 28"/>
          <p:cNvSpPr txBox="1"/>
          <p:nvPr/>
        </p:nvSpPr>
        <p:spPr>
          <a:xfrm>
            <a:off x="54864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1" name="Shape 29"/>
          <p:cNvSpPr/>
          <p:nvPr/>
        </p:nvSpPr>
        <p:spPr>
          <a:xfrm>
            <a:off x="2414016" y="3703320"/>
            <a:ext cx="1700784" cy="2148840"/>
          </a:xfrm>
          <a:prstGeom prst="roundRect">
            <a:avLst>
              <a:gd name="adj" fmla="val 6452"/>
            </a:avLst>
          </a:prstGeom>
          <a:solidFill>
            <a:srgbClr val="E6F2ED"/>
          </a:solidFill>
          <a:ln w="12700">
            <a:solidFill>
              <a:srgbClr val="E6F2ED"/>
            </a:solidFill>
            <a:prstDash val="solid"/>
          </a:ln>
        </p:spPr>
      </p:sp>
      <p:sp>
        <p:nvSpPr>
          <p:cNvPr id="32" name="Text 30"/>
          <p:cNvSpPr txBox="1"/>
          <p:nvPr/>
        </p:nvSpPr>
        <p:spPr>
          <a:xfrm>
            <a:off x="2414016"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8</a:t>
            </a:r>
            <a:endParaRPr lang="en-US" sz="1800" dirty="0"/>
          </a:p>
        </p:txBody>
      </p:sp>
      <p:sp>
        <p:nvSpPr>
          <p:cNvPr id="33" name="Text 31"/>
          <p:cNvSpPr txBox="1"/>
          <p:nvPr/>
        </p:nvSpPr>
        <p:spPr>
          <a:xfrm>
            <a:off x="2414016"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34" name="Text 32"/>
          <p:cNvSpPr txBox="1"/>
          <p:nvPr/>
        </p:nvSpPr>
        <p:spPr>
          <a:xfrm>
            <a:off x="2414016"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5" name="Shape 33"/>
          <p:cNvSpPr/>
          <p:nvPr/>
        </p:nvSpPr>
        <p:spPr>
          <a:xfrm>
            <a:off x="4279392" y="3703320"/>
            <a:ext cx="1700784" cy="2148840"/>
          </a:xfrm>
          <a:prstGeom prst="roundRect">
            <a:avLst>
              <a:gd name="adj" fmla="val 6452"/>
            </a:avLst>
          </a:prstGeom>
          <a:solidFill>
            <a:srgbClr val="E6F2ED"/>
          </a:solidFill>
          <a:ln w="12700">
            <a:solidFill>
              <a:srgbClr val="E6F2ED"/>
            </a:solidFill>
            <a:prstDash val="solid"/>
          </a:ln>
        </p:spPr>
      </p:sp>
      <p:sp>
        <p:nvSpPr>
          <p:cNvPr id="36" name="Text 34"/>
          <p:cNvSpPr txBox="1"/>
          <p:nvPr/>
        </p:nvSpPr>
        <p:spPr>
          <a:xfrm>
            <a:off x="4279392"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9</a:t>
            </a:r>
            <a:endParaRPr lang="en-US" sz="1800" dirty="0"/>
          </a:p>
        </p:txBody>
      </p:sp>
      <p:sp>
        <p:nvSpPr>
          <p:cNvPr id="37" name="Text 35"/>
          <p:cNvSpPr txBox="1"/>
          <p:nvPr/>
        </p:nvSpPr>
        <p:spPr>
          <a:xfrm>
            <a:off x="4279392"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38" name="Text 36"/>
          <p:cNvSpPr txBox="1"/>
          <p:nvPr/>
        </p:nvSpPr>
        <p:spPr>
          <a:xfrm>
            <a:off x="4279392"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9" name="Shape 37"/>
          <p:cNvSpPr/>
          <p:nvPr/>
        </p:nvSpPr>
        <p:spPr>
          <a:xfrm>
            <a:off x="6144768" y="3703320"/>
            <a:ext cx="1700784" cy="2148840"/>
          </a:xfrm>
          <a:prstGeom prst="roundRect">
            <a:avLst>
              <a:gd name="adj" fmla="val 6452"/>
            </a:avLst>
          </a:prstGeom>
          <a:solidFill>
            <a:srgbClr val="E6F2ED"/>
          </a:solidFill>
          <a:ln w="12700">
            <a:solidFill>
              <a:srgbClr val="E6F2ED"/>
            </a:solidFill>
            <a:prstDash val="solid"/>
          </a:ln>
        </p:spPr>
      </p:sp>
      <p:sp>
        <p:nvSpPr>
          <p:cNvPr id="40" name="Text 38"/>
          <p:cNvSpPr txBox="1"/>
          <p:nvPr/>
        </p:nvSpPr>
        <p:spPr>
          <a:xfrm>
            <a:off x="6144768"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10</a:t>
            </a:r>
            <a:endParaRPr lang="en-US" sz="1800" dirty="0"/>
          </a:p>
        </p:txBody>
      </p:sp>
      <p:sp>
        <p:nvSpPr>
          <p:cNvPr id="41" name="Text 39"/>
          <p:cNvSpPr txBox="1"/>
          <p:nvPr/>
        </p:nvSpPr>
        <p:spPr>
          <a:xfrm>
            <a:off x="6144768"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2" name="Text 40"/>
          <p:cNvSpPr txBox="1"/>
          <p:nvPr/>
        </p:nvSpPr>
        <p:spPr>
          <a:xfrm>
            <a:off x="6144768"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3" name="Shape 41"/>
          <p:cNvSpPr/>
          <p:nvPr/>
        </p:nvSpPr>
        <p:spPr>
          <a:xfrm>
            <a:off x="8010144" y="3703320"/>
            <a:ext cx="1700784" cy="2148840"/>
          </a:xfrm>
          <a:prstGeom prst="roundRect">
            <a:avLst>
              <a:gd name="adj" fmla="val 6452"/>
            </a:avLst>
          </a:prstGeom>
          <a:solidFill>
            <a:srgbClr val="E6F2ED"/>
          </a:solidFill>
          <a:ln w="12700">
            <a:solidFill>
              <a:srgbClr val="E6F2ED"/>
            </a:solidFill>
            <a:prstDash val="solid"/>
          </a:ln>
        </p:spPr>
      </p:sp>
      <p:sp>
        <p:nvSpPr>
          <p:cNvPr id="44" name="Text 42"/>
          <p:cNvSpPr txBox="1"/>
          <p:nvPr/>
        </p:nvSpPr>
        <p:spPr>
          <a:xfrm>
            <a:off x="8010144"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11</a:t>
            </a:r>
            <a:endParaRPr lang="en-US" sz="1800" dirty="0"/>
          </a:p>
        </p:txBody>
      </p:sp>
      <p:sp>
        <p:nvSpPr>
          <p:cNvPr id="45" name="Text 43"/>
          <p:cNvSpPr txBox="1"/>
          <p:nvPr/>
        </p:nvSpPr>
        <p:spPr>
          <a:xfrm>
            <a:off x="8010144"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6" name="Text 44"/>
          <p:cNvSpPr txBox="1"/>
          <p:nvPr/>
        </p:nvSpPr>
        <p:spPr>
          <a:xfrm>
            <a:off x="8010144"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7" name="Shape 45"/>
          <p:cNvSpPr/>
          <p:nvPr/>
        </p:nvSpPr>
        <p:spPr>
          <a:xfrm>
            <a:off x="9875520" y="3703320"/>
            <a:ext cx="1700784" cy="2148840"/>
          </a:xfrm>
          <a:prstGeom prst="roundRect">
            <a:avLst>
              <a:gd name="adj" fmla="val 6452"/>
            </a:avLst>
          </a:prstGeom>
          <a:solidFill>
            <a:srgbClr val="F7E9E4"/>
          </a:solidFill>
          <a:ln w="12700">
            <a:solidFill>
              <a:srgbClr val="EF5B3F"/>
            </a:solidFill>
            <a:prstDash val="solid"/>
          </a:ln>
        </p:spPr>
      </p:sp>
      <p:sp>
        <p:nvSpPr>
          <p:cNvPr id="48" name="Text 46"/>
          <p:cNvSpPr txBox="1"/>
          <p:nvPr/>
        </p:nvSpPr>
        <p:spPr>
          <a:xfrm>
            <a:off x="987552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12</a:t>
            </a:r>
            <a:endParaRPr lang="en-US" sz="1800" dirty="0"/>
          </a:p>
        </p:txBody>
      </p:sp>
      <p:sp>
        <p:nvSpPr>
          <p:cNvPr id="49" name="Text 47"/>
          <p:cNvSpPr txBox="1"/>
          <p:nvPr/>
        </p:nvSpPr>
        <p:spPr>
          <a:xfrm>
            <a:off x="987552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⑤</a:t>
            </a:r>
            <a:endParaRPr lang="en-US" sz="6000" dirty="0"/>
          </a:p>
        </p:txBody>
      </p:sp>
      <p:sp>
        <p:nvSpPr>
          <p:cNvPr id="50" name="Text 48"/>
          <p:cNvSpPr txBox="1"/>
          <p:nvPr/>
        </p:nvSpPr>
        <p:spPr>
          <a:xfrm>
            <a:off x="987552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51" name="Text 49"/>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chemeClr val="accent1"/>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지문+보기 → 근거·문법 → 흐름 → 정답·오답</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There is evidence that low self-esteem people are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High self-esteem subjects strongly and consistently endorsed the positive adjectives and rejected the negative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Low self-esteem subjects did not, in contrast, strongly and consistently endorse the negative adjectives and reject the positive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Rather, they gave more intermediate ratings and more variable ratings to both types of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Therefore, it appears that low and high self-esteem individuals differ not only in the average positivity of their self-views, but also in the extent to which their self-views are evaluatively consistent with one another.</a:t>
            </a:r>
            <a:endParaRPr lang="en-US" sz="1600" dirty="0"/>
          </a:p>
          <a:p>
            <a:pPr algn="r" indent="0" marL="0">
              <a:lnSpc>
                <a:spcPct val="115000"/>
              </a:lnSpc>
              <a:spcBef>
                <a:spcPts val="200"/>
              </a:spcBef>
              <a:buNone/>
            </a:pPr>
            <a:r>
              <a:rPr lang="en-US" sz="1100" i="1" dirty="0">
                <a:solidFill>
                  <a:srgbClr val="6E7F7C"/>
                </a:solidFill>
              </a:rPr>
              <a:t>* variance: 분산   ** endorse: 인정하다</a:t>
            </a:r>
            <a:endParaRPr lang="en-US" sz="1600" dirty="0"/>
          </a:p>
          <a:p>
            <a:pPr indent="0" marL="0">
              <a:lnSpc>
                <a:spcPct val="115000"/>
              </a:lnSpc>
              <a:spcBef>
                <a:spcPts val="1000"/>
              </a:spcBef>
              <a:buNone/>
            </a:pPr>
            <a:r>
              <a:rPr lang="en-US" sz="1600" dirty="0">
                <a:solidFill>
                  <a:srgbClr val="14453D"/>
                </a:solidFill>
              </a:rPr>
              <a:t>①  inherently sensitive to their own interpretations of situations</a:t>
            </a:r>
            <a:endParaRPr lang="en-US" sz="1600" dirty="0"/>
          </a:p>
          <a:p>
            <a:pPr indent="0" marL="0">
              <a:lnSpc>
                <a:spcPct val="115000"/>
              </a:lnSpc>
              <a:spcBef>
                <a:spcPts val="200"/>
              </a:spcBef>
              <a:buNone/>
            </a:pPr>
            <a:r>
              <a:rPr lang="en-US" sz="1600" dirty="0">
                <a:solidFill>
                  <a:srgbClr val="14453D"/>
                </a:solidFill>
              </a:rPr>
              <a:t>②  relatively stable despite changes in interpersonal dynamics</a:t>
            </a:r>
            <a:endParaRPr lang="en-US" sz="1600" dirty="0"/>
          </a:p>
          <a:p>
            <a:pPr indent="0" marL="0">
              <a:lnSpc>
                <a:spcPct val="115000"/>
              </a:lnSpc>
              <a:spcBef>
                <a:spcPts val="200"/>
              </a:spcBef>
              <a:buNone/>
            </a:pPr>
            <a:r>
              <a:rPr lang="en-US" sz="1600" dirty="0">
                <a:solidFill>
                  <a:srgbClr val="14453D"/>
                </a:solidFill>
              </a:rPr>
              <a:t>③  less evaluatively consistent in their self-descriptions</a:t>
            </a:r>
            <a:endParaRPr lang="en-US" sz="1600" dirty="0"/>
          </a:p>
          <a:p>
            <a:pPr indent="0" marL="0">
              <a:lnSpc>
                <a:spcPct val="115000"/>
              </a:lnSpc>
              <a:spcBef>
                <a:spcPts val="200"/>
              </a:spcBef>
              <a:buNone/>
            </a:pPr>
            <a:r>
              <a:rPr lang="en-US" sz="1600" dirty="0">
                <a:solidFill>
                  <a:srgbClr val="14453D"/>
                </a:solidFill>
              </a:rPr>
              <a:t>④  consistently refined in response to evolving self-perceptions</a:t>
            </a:r>
            <a:endParaRPr lang="en-US" sz="1600" dirty="0"/>
          </a:p>
          <a:p>
            <a:pPr indent="0" marL="0">
              <a:lnSpc>
                <a:spcPct val="115000"/>
              </a:lnSpc>
              <a:spcBef>
                <a:spcPts val="200"/>
              </a:spcBef>
              <a:buNone/>
            </a:pPr>
            <a:r>
              <a:rPr lang="en-US" sz="1600" dirty="0">
                <a:solidFill>
                  <a:srgbClr val="14453D"/>
                </a:solidFill>
              </a:rPr>
              <a:t>⑤  solely dependent on validation from peers and significant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There is evidence that low </a:t>
            </a:r>
            <a:pPr indent="0" marL="0">
              <a:lnSpc>
                <a:spcPct val="120000"/>
              </a:lnSpc>
              <a:buNone/>
            </a:pPr>
            <a:r>
              <a:rPr lang="en-US" sz="1700" u="dotted" dirty="0">
                <a:solidFill>
                  <a:srgbClr val="1F7A64"/>
                </a:solidFill>
                <a:uFill>
                  <a:solidFill>
                    <a:srgbClr val="1F7A64"/>
                  </a:solidFill>
                </a:uFill>
              </a:rPr>
              <a:t>self-esteem</a:t>
            </a:r>
            <a:pPr indent="0" marL="0">
              <a:lnSpc>
                <a:spcPct val="120000"/>
              </a:lnSpc>
              <a:buNone/>
            </a:pPr>
            <a:r>
              <a:rPr lang="en-US" sz="1700" dirty="0">
                <a:solidFill>
                  <a:srgbClr val="1E2B2A"/>
                </a:solidFill>
              </a:rPr>
              <a:t> people are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When Campbell and Fehr examined </a:t>
            </a:r>
            <a:pPr indent="0" marL="0">
              <a:lnSpc>
                <a:spcPct val="120000"/>
              </a:lnSpc>
              <a:buNone/>
            </a:pPr>
            <a:r>
              <a:rPr lang="en-US" sz="1700" b="1" dirty="0">
                <a:solidFill>
                  <a:srgbClr val="2C7DA0"/>
                </a:solidFill>
                <a:highlight>
                  <a:srgbClr val="FFD45C"/>
                </a:highlight>
              </a:rPr>
              <a:t>how subjects rated themselves</a:t>
            </a:r>
            <a:pPr indent="0" marL="0">
              <a:lnSpc>
                <a:spcPct val="120000"/>
              </a:lnSpc>
              <a:buNone/>
            </a:pPr>
            <a:r>
              <a:rPr lang="en-US" sz="1700" dirty="0">
                <a:solidFill>
                  <a:srgbClr val="1E2B2A"/>
                </a:solidFill>
                <a:highlight>
                  <a:srgbClr val="FFD45C"/>
                </a:highlight>
              </a:rPr>
              <a:t> on sets of adjectives that were </a:t>
            </a:r>
            <a:pPr indent="0" marL="0">
              <a:lnSpc>
                <a:spcPct val="120000"/>
              </a:lnSpc>
              <a:buNone/>
            </a:pPr>
            <a:r>
              <a:rPr lang="en-US" sz="1700" b="1" dirty="0">
                <a:solidFill>
                  <a:srgbClr val="2C7DA0"/>
                </a:solidFill>
                <a:highlight>
                  <a:srgbClr val="FFD45C"/>
                </a:highlight>
              </a:rPr>
              <a:t>either </a:t>
            </a:r>
            <a:pPr indent="0" marL="0">
              <a:lnSpc>
                <a:spcPct val="120000"/>
              </a:lnSpc>
              <a:buNone/>
            </a:pPr>
            <a:r>
              <a:rPr lang="en-US" sz="1700" b="1" u="dotted" dirty="0">
                <a:solidFill>
                  <a:srgbClr val="2C7DA0"/>
                </a:solidFill>
                <a:highlight>
                  <a:srgbClr val="FFD45C"/>
                </a:highlight>
                <a:uFill>
                  <a:solidFill>
                    <a:srgbClr val="1F7A64"/>
                  </a:solidFill>
                </a:uFill>
              </a:rPr>
              <a:t>uniformly</a:t>
            </a:r>
            <a:pPr indent="0" marL="0">
              <a:lnSpc>
                <a:spcPct val="120000"/>
              </a:lnSpc>
              <a:buNone/>
            </a:pPr>
            <a:r>
              <a:rPr lang="en-US" sz="1700" b="1" dirty="0">
                <a:solidFill>
                  <a:srgbClr val="2C7DA0"/>
                </a:solidFill>
                <a:highlight>
                  <a:srgbClr val="FFD45C"/>
                </a:highlight>
              </a:rPr>
              <a:t> positive or uniformly negative</a:t>
            </a:r>
            <a:pPr indent="0" marL="0">
              <a:lnSpc>
                <a:spcPct val="120000"/>
              </a:lnSpc>
              <a:buNone/>
            </a:pPr>
            <a:r>
              <a:rPr lang="en-US" sz="1700" dirty="0">
                <a:solidFill>
                  <a:srgbClr val="1E2B2A"/>
                </a:solidFill>
                <a:highlight>
                  <a:srgbClr val="FFD45C"/>
                </a:highlight>
              </a:rPr>
              <a:t>, subjects with low self-esteem not only gave ratings that were (on average) less positive or more negative, but their ratings within each set exhibited more individual </a:t>
            </a:r>
            <a:pPr indent="0" marL="0">
              <a:lnSpc>
                <a:spcPct val="120000"/>
              </a:lnSpc>
              <a:buNone/>
            </a:pPr>
            <a:r>
              <a:rPr lang="en-US" sz="1700" u="dotted" dirty="0">
                <a:solidFill>
                  <a:srgbClr val="1F7A64"/>
                </a:solidFill>
                <a:highlight>
                  <a:srgbClr val="FFD45C"/>
                </a:highlight>
                <a:uFill>
                  <a:solidFill>
                    <a:srgbClr val="1F7A64"/>
                  </a:solidFill>
                </a:uFill>
              </a:rPr>
              <a:t>scatter</a:t>
            </a:r>
            <a:pPr indent="0" marL="0">
              <a:lnSpc>
                <a:spcPct val="120000"/>
              </a:lnSpc>
              <a:buNone/>
            </a:pPr>
            <a:r>
              <a:rPr lang="en-US" sz="1700" dirty="0">
                <a:solidFill>
                  <a:srgbClr val="1E2B2A"/>
                </a:solidFill>
                <a:highlight>
                  <a:srgbClr val="FFD45C"/>
                </a:highlight>
              </a:rPr>
              <a:t> or greater variance.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High self-esteem subjects strongly and </a:t>
            </a:r>
            <a:pPr indent="0" marL="0">
              <a:lnSpc>
                <a:spcPct val="120000"/>
              </a:lnSpc>
              <a:buNone/>
            </a:pPr>
            <a:r>
              <a:rPr lang="en-US" sz="1700" u="dotted" dirty="0">
                <a:solidFill>
                  <a:srgbClr val="1F7A64"/>
                </a:solidFill>
                <a:uFill>
                  <a:solidFill>
                    <a:srgbClr val="1F7A64"/>
                  </a:solidFill>
                </a:uFill>
              </a:rPr>
              <a:t>consistently</a:t>
            </a:r>
            <a:pPr indent="0" marL="0">
              <a:lnSpc>
                <a:spcPct val="120000"/>
              </a:lnSpc>
              <a:buNone/>
            </a:pPr>
            <a:r>
              <a:rPr lang="en-US" sz="1700" dirty="0">
                <a:solidFill>
                  <a:srgbClr val="1E2B2A"/>
                </a:solidFill>
              </a:rPr>
              <a:t> endorsed the positive adjectives and rejected the negative adjectives.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Rather, they gave more </a:t>
            </a:r>
            <a:pPr indent="0" marL="0">
              <a:lnSpc>
                <a:spcPct val="120000"/>
              </a:lnSpc>
              <a:buNone/>
            </a:pPr>
            <a:r>
              <a:rPr lang="en-US" sz="1700" u="dotted" dirty="0">
                <a:solidFill>
                  <a:srgbClr val="1F7A64"/>
                </a:solidFill>
                <a:highlight>
                  <a:srgbClr val="FFD45C"/>
                </a:highlight>
                <a:uFill>
                  <a:solidFill>
                    <a:srgbClr val="1F7A64"/>
                  </a:solidFill>
                </a:uFill>
              </a:rPr>
              <a:t>intermediate</a:t>
            </a:r>
            <a:pPr indent="0" marL="0">
              <a:lnSpc>
                <a:spcPct val="120000"/>
              </a:lnSpc>
              <a:buNone/>
            </a:pPr>
            <a:r>
              <a:rPr lang="en-US" sz="1700" dirty="0">
                <a:solidFill>
                  <a:srgbClr val="1E2B2A"/>
                </a:solidFill>
                <a:highlight>
                  <a:srgbClr val="FFD45C"/>
                </a:highlight>
              </a:rPr>
              <a:t> ratings and more </a:t>
            </a:r>
            <a:pPr indent="0" marL="0">
              <a:lnSpc>
                <a:spcPct val="120000"/>
              </a:lnSpc>
              <a:buNone/>
            </a:pPr>
            <a:r>
              <a:rPr lang="en-US" sz="1700" u="dotted" dirty="0">
                <a:solidFill>
                  <a:srgbClr val="1F7A64"/>
                </a:solidFill>
                <a:highlight>
                  <a:srgbClr val="FFD45C"/>
                </a:highlight>
                <a:uFill>
                  <a:solidFill>
                    <a:srgbClr val="1F7A64"/>
                  </a:solidFill>
                </a:uFill>
              </a:rPr>
              <a:t>variable</a:t>
            </a:r>
            <a:pPr indent="0" marL="0">
              <a:lnSpc>
                <a:spcPct val="120000"/>
              </a:lnSpc>
              <a:buNone/>
            </a:pPr>
            <a:r>
              <a:rPr lang="en-US" sz="1700" dirty="0">
                <a:solidFill>
                  <a:srgbClr val="1E2B2A"/>
                </a:solidFill>
                <a:highlight>
                  <a:srgbClr val="FFD45C"/>
                </a:highlight>
              </a:rPr>
              <a:t> ratings to both types of adjectives.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Therefore, it appears that low and high self-esteem individuals differ </a:t>
            </a:r>
            <a:pPr indent="0" marL="0">
              <a:lnSpc>
                <a:spcPct val="120000"/>
              </a:lnSpc>
              <a:buNone/>
            </a:pPr>
            <a:r>
              <a:rPr lang="en-US" sz="1700" b="1" dirty="0">
                <a:solidFill>
                  <a:srgbClr val="2C7DA0"/>
                </a:solidFill>
                <a:highlight>
                  <a:srgbClr val="FFD45C"/>
                </a:highlight>
              </a:rPr>
              <a:t>not only in the average positivity of their self-views, but also in</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b="1" dirty="0">
                <a:solidFill>
                  <a:srgbClr val="2C7DA0"/>
                </a:solidFill>
                <a:highlight>
                  <a:srgbClr val="FFD45C"/>
                </a:highlight>
              </a:rPr>
              <a:t>the extent to which their self-views are</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u="dotted" dirty="0">
                <a:solidFill>
                  <a:srgbClr val="1F7A64"/>
                </a:solidFill>
                <a:highlight>
                  <a:srgbClr val="FFD45C"/>
                </a:highlight>
                <a:uFill>
                  <a:solidFill>
                    <a:srgbClr val="1F7A64"/>
                  </a:solidFill>
                </a:uFill>
              </a:rPr>
              <a:t>evaluatively</a:t>
            </a:r>
            <a:pPr indent="0" marL="0">
              <a:lnSpc>
                <a:spcPct val="120000"/>
              </a:lnSpc>
              <a:buNone/>
            </a:pPr>
            <a:r>
              <a:rPr lang="en-US" sz="1700" dirty="0">
                <a:solidFill>
                  <a:srgbClr val="1E2B2A"/>
                </a:solidFill>
                <a:highlight>
                  <a:srgbClr val="FFD45C"/>
                </a:highlight>
              </a:rPr>
              <a:t> consistent with one another.</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self-esteem </a:t>
            </a:r>
            <a:pPr indent="0" marL="0">
              <a:lnSpc>
                <a:spcPct val="110000"/>
              </a:lnSpc>
              <a:buNone/>
            </a:pPr>
            <a:r>
              <a:rPr lang="en-US" sz="1400" dirty="0">
                <a:solidFill>
                  <a:srgbClr val="1E2B2A"/>
                </a:solidFill>
              </a:rPr>
              <a:t>자존감   ·   </a:t>
            </a:r>
            <a:pPr indent="0" marL="0">
              <a:lnSpc>
                <a:spcPct val="110000"/>
              </a:lnSpc>
              <a:buNone/>
            </a:pPr>
            <a:r>
              <a:rPr lang="en-US" sz="1400" b="1" dirty="0">
                <a:solidFill>
                  <a:srgbClr val="1F7A64"/>
                </a:solidFill>
              </a:rPr>
              <a:t>uniformly </a:t>
            </a:r>
            <a:pPr indent="0" marL="0">
              <a:lnSpc>
                <a:spcPct val="110000"/>
              </a:lnSpc>
              <a:buNone/>
            </a:pPr>
            <a:r>
              <a:rPr lang="en-US" sz="1400" dirty="0">
                <a:solidFill>
                  <a:srgbClr val="1E2B2A"/>
                </a:solidFill>
              </a:rPr>
              <a:t>한결같이   ·   </a:t>
            </a:r>
            <a:pPr indent="0" marL="0">
              <a:lnSpc>
                <a:spcPct val="110000"/>
              </a:lnSpc>
              <a:buNone/>
            </a:pPr>
            <a:r>
              <a:rPr lang="en-US" sz="1400" b="1" dirty="0">
                <a:solidFill>
                  <a:srgbClr val="1F7A64"/>
                </a:solidFill>
              </a:rPr>
              <a:t>scatter </a:t>
            </a:r>
            <a:pPr indent="0" marL="0">
              <a:lnSpc>
                <a:spcPct val="110000"/>
              </a:lnSpc>
              <a:buNone/>
            </a:pPr>
            <a:r>
              <a:rPr lang="en-US" sz="1400" dirty="0">
                <a:solidFill>
                  <a:srgbClr val="1E2B2A"/>
                </a:solidFill>
              </a:rPr>
              <a:t>흩어짐   ·   </a:t>
            </a:r>
            <a:pPr indent="0" marL="0">
              <a:lnSpc>
                <a:spcPct val="110000"/>
              </a:lnSpc>
              <a:buNone/>
            </a:pPr>
            <a:r>
              <a:rPr lang="en-US" sz="1400" b="1" dirty="0">
                <a:solidFill>
                  <a:srgbClr val="1F7A64"/>
                </a:solidFill>
              </a:rPr>
              <a:t>consistently </a:t>
            </a:r>
            <a:pPr indent="0" marL="0">
              <a:lnSpc>
                <a:spcPct val="110000"/>
              </a:lnSpc>
              <a:buNone/>
            </a:pPr>
            <a:r>
              <a:rPr lang="en-US" sz="1400" dirty="0">
                <a:solidFill>
                  <a:srgbClr val="1E2B2A"/>
                </a:solidFill>
              </a:rPr>
              <a:t>일관되게   ·   </a:t>
            </a:r>
            <a:pPr indent="0" marL="0">
              <a:lnSpc>
                <a:spcPct val="110000"/>
              </a:lnSpc>
              <a:buNone/>
            </a:pPr>
            <a:r>
              <a:rPr lang="en-US" sz="1400" b="1" dirty="0">
                <a:solidFill>
                  <a:srgbClr val="1F7A64"/>
                </a:solidFill>
              </a:rPr>
              <a:t>intermediate </a:t>
            </a:r>
            <a:pPr indent="0" marL="0">
              <a:lnSpc>
                <a:spcPct val="110000"/>
              </a:lnSpc>
              <a:buNone/>
            </a:pPr>
            <a:r>
              <a:rPr lang="en-US" sz="1400" dirty="0">
                <a:solidFill>
                  <a:srgbClr val="1E2B2A"/>
                </a:solidFill>
              </a:rPr>
              <a:t>중간의   ·   </a:t>
            </a:r>
            <a:pPr indent="0" marL="0">
              <a:lnSpc>
                <a:spcPct val="110000"/>
              </a:lnSpc>
              <a:buNone/>
            </a:pPr>
            <a:r>
              <a:rPr lang="en-US" sz="1400" b="1" dirty="0">
                <a:solidFill>
                  <a:srgbClr val="1F7A64"/>
                </a:solidFill>
              </a:rPr>
              <a:t>variable </a:t>
            </a:r>
            <a:pPr indent="0" marL="0">
              <a:lnSpc>
                <a:spcPct val="110000"/>
              </a:lnSpc>
              <a:buNone/>
            </a:pPr>
            <a:r>
              <a:rPr lang="en-US" sz="1400" dirty="0">
                <a:solidFill>
                  <a:srgbClr val="1E2B2A"/>
                </a:solidFill>
              </a:rPr>
              <a:t>가변적인   ·   </a:t>
            </a:r>
            <a:pPr indent="0" marL="0">
              <a:lnSpc>
                <a:spcPct val="110000"/>
              </a:lnSpc>
              <a:buNone/>
            </a:pPr>
            <a:r>
              <a:rPr lang="en-US" sz="1400" b="1" dirty="0">
                <a:solidFill>
                  <a:srgbClr val="1F7A64"/>
                </a:solidFill>
              </a:rPr>
              <a:t>evaluatively </a:t>
            </a:r>
            <a:pPr indent="0" marL="0">
              <a:lnSpc>
                <a:spcPct val="110000"/>
              </a:lnSpc>
              <a:buNone/>
            </a:pPr>
            <a:r>
              <a:rPr lang="en-US" sz="1400" dirty="0">
                <a:solidFill>
                  <a:srgbClr val="1E2B2A"/>
                </a:solidFill>
              </a:rPr>
              <a:t>평가적으로</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how subjects rated themselves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재귀대명사</a:t>
            </a:r>
            <a:endParaRPr lang="en-US" sz="1700" dirty="0"/>
          </a:p>
          <a:p>
            <a:pPr indent="0" marL="0">
              <a:spcAft>
                <a:spcPts val="200"/>
              </a:spcAft>
              <a:buNone/>
            </a:pPr>
            <a:r>
              <a:rPr lang="en-US" sz="1400" dirty="0">
                <a:solidFill>
                  <a:srgbClr val="1E2B2A"/>
                </a:solidFill>
              </a:rPr>
              <a:t>의문사 how + 주어 + 동사 어순. 주어(subjects) = 목적어이므로 재귀대명사 themselves</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either uniformly positive or uniformly negative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either A or B</a:t>
            </a:r>
            <a:endParaRPr lang="en-US" sz="1700" dirty="0"/>
          </a:p>
          <a:p>
            <a:pPr indent="0" marL="0">
              <a:spcAft>
                <a:spcPts val="200"/>
              </a:spcAft>
              <a:buNone/>
            </a:pPr>
            <a:r>
              <a:rPr lang="en-US" sz="1400" dirty="0">
                <a:solidFill>
                  <a:srgbClr val="1E2B2A"/>
                </a:solidFill>
              </a:rPr>
              <a:t>상관접속사: A와 B는 같은 형태(부사+형용사)로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not only in the average positivity of their self-views, but also in</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A·B 모두 'in + 명사'로 병렬 → 어법·서술형 단골</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extent to which their self-views are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to which 뒤에는 완전한 절. (the extent to which ~ = ~하는 정도)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power and value of being literate in a literate society are played out every day around the world.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Many individuals, and in fact whole societies, make considerable sacrifices to become literate just as others take it for granted.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Societies that do not practice literate behavior are often squalid, undernourished in mind and body, repressive of human rights and dignity, brutal, and harsh.</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Present-day examples are easy to list, but in fact this has always been the case.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Samuel Johnson observed more than two centuries ago, "The mass of every people must be barbarous where there is no printing."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admit that various forms of "barbarity" can be found in all societies, but they are much more prevalent where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Literacy and quality of life go hand in hand.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With literacy comes the power of belonging to a privileged group and the freedom that derives from that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Frederick Douglass, who struggled as a slave to learn to read, said it best: "Once you learn to read, you will be forever free."</a:t>
            </a:r>
            <a:endParaRPr lang="en-US" sz="1600" dirty="0"/>
          </a:p>
          <a:p>
            <a:pPr algn="r" indent="0" marL="0">
              <a:lnSpc>
                <a:spcPct val="115000"/>
              </a:lnSpc>
              <a:spcBef>
                <a:spcPts val="200"/>
              </a:spcBef>
              <a:buNone/>
            </a:pPr>
            <a:r>
              <a:rPr lang="en-US" sz="1100" i="1" dirty="0">
                <a:solidFill>
                  <a:srgbClr val="6E7F7C"/>
                </a:solidFill>
              </a:rPr>
              <a:t>* squalid: 지저분한</a:t>
            </a:r>
            <a:endParaRPr lang="en-US" sz="1600" dirty="0"/>
          </a:p>
          <a:p>
            <a:pPr indent="0" marL="0">
              <a:lnSpc>
                <a:spcPct val="115000"/>
              </a:lnSpc>
              <a:spcBef>
                <a:spcPts val="1000"/>
              </a:spcBef>
              <a:buNone/>
            </a:pPr>
            <a:r>
              <a:rPr lang="en-US" sz="1600" dirty="0">
                <a:solidFill>
                  <a:srgbClr val="14453D"/>
                </a:solidFill>
              </a:rPr>
              <a:t>①  literacy rates remain constant</a:t>
            </a:r>
            <a:endParaRPr lang="en-US" sz="1600" dirty="0"/>
          </a:p>
          <a:p>
            <a:pPr indent="0" marL="0">
              <a:lnSpc>
                <a:spcPct val="115000"/>
              </a:lnSpc>
              <a:spcBef>
                <a:spcPts val="200"/>
              </a:spcBef>
              <a:buNone/>
            </a:pPr>
            <a:r>
              <a:rPr lang="en-US" sz="1600" dirty="0">
                <a:solidFill>
                  <a:srgbClr val="14453D"/>
                </a:solidFill>
              </a:rPr>
              <a:t>②  moral values are disregarded</a:t>
            </a:r>
            <a:endParaRPr lang="en-US" sz="1600" dirty="0"/>
          </a:p>
          <a:p>
            <a:pPr indent="0" marL="0">
              <a:lnSpc>
                <a:spcPct val="115000"/>
              </a:lnSpc>
              <a:spcBef>
                <a:spcPts val="200"/>
              </a:spcBef>
              <a:buNone/>
            </a:pPr>
            <a:r>
              <a:rPr lang="en-US" sz="1600" dirty="0">
                <a:solidFill>
                  <a:srgbClr val="14453D"/>
                </a:solidFill>
              </a:rPr>
              <a:t>③  economic inequality prevails</a:t>
            </a:r>
            <a:endParaRPr lang="en-US" sz="1600" dirty="0"/>
          </a:p>
          <a:p>
            <a:pPr indent="0" marL="0">
              <a:lnSpc>
                <a:spcPct val="115000"/>
              </a:lnSpc>
              <a:spcBef>
                <a:spcPts val="200"/>
              </a:spcBef>
              <a:buNone/>
            </a:pPr>
            <a:r>
              <a:rPr lang="en-US" sz="1600" dirty="0">
                <a:solidFill>
                  <a:srgbClr val="14453D"/>
                </a:solidFill>
              </a:rPr>
              <a:t>④  literate behavior is absent</a:t>
            </a:r>
            <a:endParaRPr lang="en-US" sz="1600" dirty="0"/>
          </a:p>
          <a:p>
            <a:pPr indent="0" marL="0">
              <a:lnSpc>
                <a:spcPct val="115000"/>
              </a:lnSpc>
              <a:spcBef>
                <a:spcPts val="200"/>
              </a:spcBef>
              <a:buNone/>
            </a:pPr>
            <a:r>
              <a:rPr lang="en-US" sz="1600" dirty="0">
                <a:solidFill>
                  <a:srgbClr val="14453D"/>
                </a:solidFill>
              </a:rPr>
              <a:t>⑤  societal stability is fragile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b="1" dirty="0">
                <a:solidFill>
                  <a:srgbClr val="2C7DA0"/>
                </a:solidFill>
              </a:rPr>
              <a:t>The power and value of being </a:t>
            </a:r>
            <a:pPr indent="0" marL="0">
              <a:lnSpc>
                <a:spcPct val="120000"/>
              </a:lnSpc>
              <a:buNone/>
            </a:pPr>
            <a:r>
              <a:rPr lang="en-US" sz="1700" b="1" u="dotted" dirty="0">
                <a:solidFill>
                  <a:srgbClr val="2C7DA0"/>
                </a:solidFill>
                <a:uFill>
                  <a:solidFill>
                    <a:srgbClr val="1F7A64"/>
                  </a:solidFill>
                </a:uFill>
              </a:rPr>
              <a:t>literate</a:t>
            </a:r>
            <a:pPr indent="0" marL="0">
              <a:lnSpc>
                <a:spcPct val="120000"/>
              </a:lnSpc>
              <a:buNone/>
            </a:pPr>
            <a:r>
              <a:rPr lang="en-US" sz="1700" b="1" dirty="0">
                <a:solidFill>
                  <a:srgbClr val="2C7DA0"/>
                </a:solidFill>
              </a:rPr>
              <a:t> in a literate society are</a:t>
            </a:r>
            <a:pPr indent="0" marL="0">
              <a:lnSpc>
                <a:spcPct val="120000"/>
              </a:lnSpc>
              <a:buNone/>
            </a:pPr>
            <a:r>
              <a:rPr lang="en-US" sz="1700" dirty="0">
                <a:solidFill>
                  <a:srgbClr val="1E2B2A"/>
                </a:solidFill>
              </a:rPr>
              <a:t> played out every day around the world.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Many individuals, and in fact whole societies, make </a:t>
            </a:r>
            <a:pPr indent="0" marL="0">
              <a:lnSpc>
                <a:spcPct val="120000"/>
              </a:lnSpc>
              <a:buNone/>
            </a:pPr>
            <a:r>
              <a:rPr lang="en-US" sz="1700" u="dotted" dirty="0">
                <a:solidFill>
                  <a:srgbClr val="1F7A64"/>
                </a:solidFill>
                <a:uFill>
                  <a:solidFill>
                    <a:srgbClr val="1F7A64"/>
                  </a:solidFill>
                </a:uFill>
              </a:rPr>
              <a:t>considerable</a:t>
            </a:r>
            <a:pPr indent="0" marL="0">
              <a:lnSpc>
                <a:spcPct val="120000"/>
              </a:lnSpc>
              <a:buNone/>
            </a:pPr>
            <a:r>
              <a:rPr lang="en-US" sz="1700" dirty="0">
                <a:solidFill>
                  <a:srgbClr val="1E2B2A"/>
                </a:solidFill>
              </a:rPr>
              <a:t> sacrifices to become literate just as others take it for granted.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b="1" dirty="0">
                <a:solidFill>
                  <a:srgbClr val="2C7DA0"/>
                </a:solidFill>
                <a:highlight>
                  <a:srgbClr val="FFD45C"/>
                </a:highlight>
              </a:rPr>
              <a:t>Societies that do not practice literate behavior are</a:t>
            </a:r>
            <a:pPr indent="0" marL="0">
              <a:lnSpc>
                <a:spcPct val="120000"/>
              </a:lnSpc>
              <a:buNone/>
            </a:pPr>
            <a:r>
              <a:rPr lang="en-US" sz="1700" dirty="0">
                <a:solidFill>
                  <a:srgbClr val="1E2B2A"/>
                </a:solidFill>
                <a:highlight>
                  <a:srgbClr val="FFD45C"/>
                </a:highlight>
              </a:rPr>
              <a:t> often squalid, </a:t>
            </a:r>
            <a:pPr indent="0" marL="0">
              <a:lnSpc>
                <a:spcPct val="120000"/>
              </a:lnSpc>
              <a:buNone/>
            </a:pPr>
            <a:r>
              <a:rPr lang="en-US" sz="1700" u="dotted" dirty="0">
                <a:solidFill>
                  <a:srgbClr val="1F7A64"/>
                </a:solidFill>
                <a:highlight>
                  <a:srgbClr val="FFD45C"/>
                </a:highlight>
                <a:uFill>
                  <a:solidFill>
                    <a:srgbClr val="1F7A64"/>
                  </a:solidFill>
                </a:uFill>
              </a:rPr>
              <a:t>undernourished</a:t>
            </a:r>
            <a:pPr indent="0" marL="0">
              <a:lnSpc>
                <a:spcPct val="120000"/>
              </a:lnSpc>
              <a:buNone/>
            </a:pPr>
            <a:r>
              <a:rPr lang="en-US" sz="1700" dirty="0">
                <a:solidFill>
                  <a:srgbClr val="1E2B2A"/>
                </a:solidFill>
                <a:highlight>
                  <a:srgbClr val="FFD45C"/>
                </a:highlight>
              </a:rPr>
              <a:t> in mind and body, </a:t>
            </a:r>
            <a:pPr indent="0" marL="0">
              <a:lnSpc>
                <a:spcPct val="120000"/>
              </a:lnSpc>
              <a:buNone/>
            </a:pPr>
            <a:r>
              <a:rPr lang="en-US" sz="1700" u="dotted" dirty="0">
                <a:solidFill>
                  <a:srgbClr val="1F7A64"/>
                </a:solidFill>
                <a:highlight>
                  <a:srgbClr val="FFD45C"/>
                </a:highlight>
                <a:uFill>
                  <a:solidFill>
                    <a:srgbClr val="1F7A64"/>
                  </a:solidFill>
                </a:uFill>
              </a:rPr>
              <a:t>repressive</a:t>
            </a:r>
            <a:pPr indent="0" marL="0">
              <a:lnSpc>
                <a:spcPct val="120000"/>
              </a:lnSpc>
              <a:buNone/>
            </a:pPr>
            <a:r>
              <a:rPr lang="en-US" sz="1700" dirty="0">
                <a:solidFill>
                  <a:srgbClr val="1E2B2A"/>
                </a:solidFill>
                <a:highlight>
                  <a:srgbClr val="FFD45C"/>
                </a:highlight>
              </a:rPr>
              <a:t> of human rights and </a:t>
            </a:r>
            <a:pPr indent="0" marL="0">
              <a:lnSpc>
                <a:spcPct val="120000"/>
              </a:lnSpc>
              <a:buNone/>
            </a:pPr>
            <a:r>
              <a:rPr lang="en-US" sz="1700" u="dotted" dirty="0">
                <a:solidFill>
                  <a:srgbClr val="1F7A64"/>
                </a:solidFill>
                <a:highlight>
                  <a:srgbClr val="FFD45C"/>
                </a:highlight>
                <a:uFill>
                  <a:solidFill>
                    <a:srgbClr val="1F7A64"/>
                  </a:solidFill>
                </a:uFill>
              </a:rPr>
              <a:t>dignity</a:t>
            </a:r>
            <a:pPr indent="0" marL="0">
              <a:lnSpc>
                <a:spcPct val="120000"/>
              </a:lnSpc>
              <a:buNone/>
            </a:pPr>
            <a:r>
              <a:rPr lang="en-US" sz="1700" dirty="0">
                <a:solidFill>
                  <a:srgbClr val="1E2B2A"/>
                </a:solidFill>
                <a:highlight>
                  <a:srgbClr val="FFD45C"/>
                </a:highlight>
              </a:rPr>
              <a:t>, brutal, and harsh.</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Present-day examples are easy to list, but in fact this has always been the case.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As Samuel Johnson observed more than two centuries ago, "The mass of every people must be </a:t>
            </a:r>
            <a:pPr indent="0" marL="0">
              <a:lnSpc>
                <a:spcPct val="120000"/>
              </a:lnSpc>
              <a:buNone/>
            </a:pPr>
            <a:r>
              <a:rPr lang="en-US" sz="1700" u="dotted" dirty="0">
                <a:solidFill>
                  <a:srgbClr val="1F7A64"/>
                </a:solidFill>
                <a:highlight>
                  <a:srgbClr val="FFD45C"/>
                </a:highlight>
                <a:uFill>
                  <a:solidFill>
                    <a:srgbClr val="1F7A64"/>
                  </a:solidFill>
                </a:uFill>
              </a:rPr>
              <a:t>barbarous</a:t>
            </a:r>
            <a:pPr indent="0" marL="0">
              <a:lnSpc>
                <a:spcPct val="120000"/>
              </a:lnSpc>
              <a:buNone/>
            </a:pPr>
            <a:r>
              <a:rPr lang="en-US" sz="1700" dirty="0">
                <a:solidFill>
                  <a:srgbClr val="1E2B2A"/>
                </a:solidFill>
                <a:highlight>
                  <a:srgbClr val="FFD45C"/>
                </a:highlight>
              </a:rPr>
              <a:t> where there is no printing."</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We admit that various forms of "barbarity" can be found in all societies, but they are much more </a:t>
            </a:r>
            <a:pPr indent="0" marL="0">
              <a:lnSpc>
                <a:spcPct val="120000"/>
              </a:lnSpc>
              <a:buNone/>
            </a:pPr>
            <a:r>
              <a:rPr lang="en-US" sz="1700" u="dotted" dirty="0">
                <a:solidFill>
                  <a:srgbClr val="1F7A64"/>
                </a:solidFill>
                <a:uFill>
                  <a:solidFill>
                    <a:srgbClr val="1F7A64"/>
                  </a:solidFill>
                </a:uFill>
              </a:rPr>
              <a:t>prevalent</a:t>
            </a:r>
            <a:pPr indent="0" marL="0">
              <a:lnSpc>
                <a:spcPct val="120000"/>
              </a:lnSpc>
              <a:buNone/>
            </a:pPr>
            <a:r>
              <a:rPr lang="en-US" sz="1700" dirty="0">
                <a:solidFill>
                  <a:srgbClr val="1E2B2A"/>
                </a:solidFill>
              </a:rPr>
              <a:t> where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Literacy and quality of life go hand in hand.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b="1" dirty="0">
                <a:solidFill>
                  <a:srgbClr val="2C7DA0"/>
                </a:solidFill>
              </a:rPr>
              <a:t>With literacy comes</a:t>
            </a:r>
            <a:pPr indent="0" marL="0">
              <a:lnSpc>
                <a:spcPct val="120000"/>
              </a:lnSpc>
              <a:buNone/>
            </a:pPr>
            <a:r>
              <a:rPr lang="en-US" sz="1700" dirty="0">
                <a:solidFill>
                  <a:srgbClr val="1E2B2A"/>
                </a:solidFill>
              </a:rPr>
              <a:t> the power of belonging to a </a:t>
            </a:r>
            <a:pPr indent="0" marL="0">
              <a:lnSpc>
                <a:spcPct val="120000"/>
              </a:lnSpc>
              <a:buNone/>
            </a:pPr>
            <a:r>
              <a:rPr lang="en-US" sz="1700" u="dotted" dirty="0">
                <a:solidFill>
                  <a:srgbClr val="1F7A64"/>
                </a:solidFill>
                <a:uFill>
                  <a:solidFill>
                    <a:srgbClr val="1F7A64"/>
                  </a:solidFill>
                </a:uFill>
              </a:rPr>
              <a:t>privileged</a:t>
            </a:r>
            <a:pPr indent="0" marL="0">
              <a:lnSpc>
                <a:spcPct val="120000"/>
              </a:lnSpc>
              <a:buNone/>
            </a:pPr>
            <a:r>
              <a:rPr lang="en-US" sz="1700" dirty="0">
                <a:solidFill>
                  <a:srgbClr val="1E2B2A"/>
                </a:solidFill>
              </a:rPr>
              <a:t> group and the freedom that </a:t>
            </a:r>
            <a:pPr indent="0" marL="0">
              <a:lnSpc>
                <a:spcPct val="120000"/>
              </a:lnSpc>
              <a:buNone/>
            </a:pPr>
            <a:r>
              <a:rPr lang="en-US" sz="1700" u="dotted" dirty="0">
                <a:solidFill>
                  <a:srgbClr val="1F7A64"/>
                </a:solidFill>
                <a:uFill>
                  <a:solidFill>
                    <a:srgbClr val="1F7A64"/>
                  </a:solidFill>
                </a:uFill>
              </a:rPr>
              <a:t>derives</a:t>
            </a:r>
            <a:pPr indent="0" marL="0">
              <a:lnSpc>
                <a:spcPct val="120000"/>
              </a:lnSpc>
              <a:buNone/>
            </a:pPr>
            <a:r>
              <a:rPr lang="en-US" sz="1700" dirty="0">
                <a:solidFill>
                  <a:srgbClr val="1E2B2A"/>
                </a:solidFill>
              </a:rPr>
              <a:t> from that power.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(9) </a:t>
            </a:r>
            <a:pPr indent="0" marL="0">
              <a:lnSpc>
                <a:spcPct val="120000"/>
              </a:lnSpc>
              <a:buNone/>
            </a:pPr>
            <a:r>
              <a:rPr lang="en-US" sz="1700" dirty="0">
                <a:solidFill>
                  <a:srgbClr val="1E2B2A"/>
                </a:solidFill>
              </a:rPr>
              <a:t>Frederick Douglass</a:t>
            </a:r>
            <a:pPr indent="0" marL="0">
              <a:lnSpc>
                <a:spcPct val="120000"/>
              </a:lnSpc>
              <a:buNone/>
            </a:pPr>
            <a:r>
              <a:rPr lang="en-US" sz="1700" b="1" dirty="0">
                <a:solidFill>
                  <a:srgbClr val="2C7DA0"/>
                </a:solidFill>
              </a:rPr>
              <a:t>, who struggled as a slave</a:t>
            </a:r>
            <a:pPr indent="0" marL="0">
              <a:lnSpc>
                <a:spcPct val="120000"/>
              </a:lnSpc>
              <a:buNone/>
            </a:pPr>
            <a:r>
              <a:rPr lang="en-US" sz="1700" dirty="0">
                <a:solidFill>
                  <a:srgbClr val="1E2B2A"/>
                </a:solidFill>
              </a:rPr>
              <a:t> to learn to read, said it best: "Once you learn to read, you will be forever free."</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literate </a:t>
            </a:r>
            <a:pPr indent="0" marL="0">
              <a:lnSpc>
                <a:spcPct val="110000"/>
              </a:lnSpc>
              <a:buNone/>
            </a:pPr>
            <a:r>
              <a:rPr lang="en-US" sz="1400" dirty="0">
                <a:solidFill>
                  <a:srgbClr val="1E2B2A"/>
                </a:solidFill>
              </a:rPr>
              <a:t>글을 읽고 쓸 줄 아는   ·   </a:t>
            </a:r>
            <a:pPr indent="0" marL="0">
              <a:lnSpc>
                <a:spcPct val="110000"/>
              </a:lnSpc>
              <a:buNone/>
            </a:pPr>
            <a:r>
              <a:rPr lang="en-US" sz="1400" b="1" dirty="0">
                <a:solidFill>
                  <a:srgbClr val="1F7A64"/>
                </a:solidFill>
              </a:rPr>
              <a:t>considerable </a:t>
            </a:r>
            <a:pPr indent="0" marL="0">
              <a:lnSpc>
                <a:spcPct val="110000"/>
              </a:lnSpc>
              <a:buNone/>
            </a:pPr>
            <a:r>
              <a:rPr lang="en-US" sz="1400" dirty="0">
                <a:solidFill>
                  <a:srgbClr val="1E2B2A"/>
                </a:solidFill>
              </a:rPr>
              <a:t>상당한   ·   </a:t>
            </a:r>
            <a:pPr indent="0" marL="0">
              <a:lnSpc>
                <a:spcPct val="110000"/>
              </a:lnSpc>
              <a:buNone/>
            </a:pPr>
            <a:r>
              <a:rPr lang="en-US" sz="1400" b="1" dirty="0">
                <a:solidFill>
                  <a:srgbClr val="1F7A64"/>
                </a:solidFill>
              </a:rPr>
              <a:t>undernourished </a:t>
            </a:r>
            <a:pPr indent="0" marL="0">
              <a:lnSpc>
                <a:spcPct val="110000"/>
              </a:lnSpc>
              <a:buNone/>
            </a:pPr>
            <a:r>
              <a:rPr lang="en-US" sz="1400" dirty="0">
                <a:solidFill>
                  <a:srgbClr val="1E2B2A"/>
                </a:solidFill>
              </a:rPr>
              <a:t>영양 부족의   ·   </a:t>
            </a:r>
            <a:pPr indent="0" marL="0">
              <a:lnSpc>
                <a:spcPct val="110000"/>
              </a:lnSpc>
              <a:buNone/>
            </a:pPr>
            <a:r>
              <a:rPr lang="en-US" sz="1400" b="1" dirty="0">
                <a:solidFill>
                  <a:srgbClr val="1F7A64"/>
                </a:solidFill>
              </a:rPr>
              <a:t>repressive </a:t>
            </a:r>
            <a:pPr indent="0" marL="0">
              <a:lnSpc>
                <a:spcPct val="110000"/>
              </a:lnSpc>
              <a:buNone/>
            </a:pPr>
            <a:r>
              <a:rPr lang="en-US" sz="1400" dirty="0">
                <a:solidFill>
                  <a:srgbClr val="1E2B2A"/>
                </a:solidFill>
              </a:rPr>
              <a:t>억압적인   ·   </a:t>
            </a:r>
            <a:pPr indent="0" marL="0">
              <a:lnSpc>
                <a:spcPct val="110000"/>
              </a:lnSpc>
              <a:buNone/>
            </a:pPr>
            <a:r>
              <a:rPr lang="en-US" sz="1400" b="1" dirty="0">
                <a:solidFill>
                  <a:srgbClr val="1F7A64"/>
                </a:solidFill>
              </a:rPr>
              <a:t>dignity </a:t>
            </a:r>
            <a:pPr indent="0" marL="0">
              <a:lnSpc>
                <a:spcPct val="110000"/>
              </a:lnSpc>
              <a:buNone/>
            </a:pPr>
            <a:r>
              <a:rPr lang="en-US" sz="1400" dirty="0">
                <a:solidFill>
                  <a:srgbClr val="1E2B2A"/>
                </a:solidFill>
              </a:rPr>
              <a:t>존엄성   ·   </a:t>
            </a:r>
            <a:pPr indent="0" marL="0">
              <a:lnSpc>
                <a:spcPct val="110000"/>
              </a:lnSpc>
              <a:buNone/>
            </a:pPr>
            <a:r>
              <a:rPr lang="en-US" sz="1400" b="1" dirty="0">
                <a:solidFill>
                  <a:srgbClr val="1F7A64"/>
                </a:solidFill>
              </a:rPr>
              <a:t>barbarous </a:t>
            </a:r>
            <a:pPr indent="0" marL="0">
              <a:lnSpc>
                <a:spcPct val="110000"/>
              </a:lnSpc>
              <a:buNone/>
            </a:pPr>
            <a:r>
              <a:rPr lang="en-US" sz="1400" dirty="0">
                <a:solidFill>
                  <a:srgbClr val="1E2B2A"/>
                </a:solidFill>
              </a:rPr>
              <a:t>야만적인   ·   </a:t>
            </a:r>
            <a:pPr indent="0" marL="0">
              <a:lnSpc>
                <a:spcPct val="110000"/>
              </a:lnSpc>
              <a:buNone/>
            </a:pPr>
            <a:r>
              <a:rPr lang="en-US" sz="1400" b="1" dirty="0">
                <a:solidFill>
                  <a:srgbClr val="1F7A64"/>
                </a:solidFill>
              </a:rPr>
              <a:t>prevalent </a:t>
            </a:r>
            <a:pPr indent="0" marL="0">
              <a:lnSpc>
                <a:spcPct val="110000"/>
              </a:lnSpc>
              <a:buNone/>
            </a:pPr>
            <a:r>
              <a:rPr lang="en-US" sz="1400" dirty="0">
                <a:solidFill>
                  <a:srgbClr val="1E2B2A"/>
                </a:solidFill>
              </a:rPr>
              <a:t>널리 퍼진   ·   </a:t>
            </a:r>
            <a:pPr indent="0" marL="0">
              <a:lnSpc>
                <a:spcPct val="110000"/>
              </a:lnSpc>
              <a:buNone/>
            </a:pPr>
            <a:r>
              <a:rPr lang="en-US" sz="1400" b="1" dirty="0">
                <a:solidFill>
                  <a:srgbClr val="1F7A64"/>
                </a:solidFill>
              </a:rPr>
              <a:t>privileged </a:t>
            </a:r>
            <a:pPr indent="0" marL="0">
              <a:lnSpc>
                <a:spcPct val="110000"/>
              </a:lnSpc>
              <a:buNone/>
            </a:pPr>
            <a:r>
              <a:rPr lang="en-US" sz="1400" dirty="0">
                <a:solidFill>
                  <a:srgbClr val="1E2B2A"/>
                </a:solidFill>
              </a:rPr>
              <a:t>특권을 가진   ·   </a:t>
            </a:r>
            <a:pPr indent="0" marL="0">
              <a:lnSpc>
                <a:spcPct val="110000"/>
              </a:lnSpc>
              <a:buNone/>
            </a:pPr>
            <a:r>
              <a:rPr lang="en-US" sz="1400" b="1" dirty="0">
                <a:solidFill>
                  <a:srgbClr val="1F7A64"/>
                </a:solidFill>
              </a:rPr>
              <a:t>derives </a:t>
            </a:r>
            <a:pPr indent="0" marL="0">
              <a:lnSpc>
                <a:spcPct val="110000"/>
              </a:lnSpc>
              <a:buNone/>
            </a:pPr>
            <a:r>
              <a:rPr lang="en-US" sz="1400" dirty="0">
                <a:solidFill>
                  <a:srgbClr val="1E2B2A"/>
                </a:solidFill>
              </a:rPr>
              <a:t>비롯되다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power and value of being literate in a literate society are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The power and value(복수) → are. 수식어 of ~ society에 속지 말 것</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Societies that do not practice literate behavior are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수일치</a:t>
            </a:r>
            <a:endParaRPr lang="en-US" sz="1700" dirty="0"/>
          </a:p>
          <a:p>
            <a:pPr indent="0" marL="0">
              <a:spcAft>
                <a:spcPts val="200"/>
              </a:spcAft>
              <a:buNone/>
            </a:pPr>
            <a:r>
              <a:rPr lang="en-US" sz="1400" dirty="0">
                <a:solidFill>
                  <a:srgbClr val="1E2B2A"/>
                </a:solidFill>
              </a:rPr>
              <a:t>that절이 Societies를 수식, 본동사는 복수 are</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With literacy comes</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With literacy + 동사 comes + 주어 the power … (주어가 길어서 도치)</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who struggled as a slave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관계대명사</a:t>
            </a:r>
            <a:endParaRPr lang="en-US" sz="1700" dirty="0"/>
          </a:p>
          <a:p>
            <a:pPr indent="0" marL="0">
              <a:spcAft>
                <a:spcPts val="200"/>
              </a:spcAft>
              <a:buNone/>
            </a:pPr>
            <a:r>
              <a:rPr lang="en-US" sz="1400" dirty="0">
                <a:solidFill>
                  <a:srgbClr val="1E2B2A"/>
                </a:solidFill>
              </a:rPr>
              <a:t>콤마 + who: Frederick Douglass에 대한 부연 설명 (that 불가)</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Culturally shared views of the self have been suggested </a:t>
            </a:r>
            <a:pPr indent="0" marL="0">
              <a:lnSpc>
                <a:spcPct val="115000"/>
              </a:lnSpc>
              <a:buNone/>
            </a:pPr>
            <a:r>
              <a:rPr lang="en-US" sz="1500" b="1" dirty="0">
                <a:solidFill>
                  <a:srgbClr val="EF5B3F"/>
                </a:solidFill>
              </a:rPr>
              <a:t>____________</a:t>
            </a:r>
            <a:pPr indent="0" marL="0">
              <a:lnSpc>
                <a:spcPct val="115000"/>
              </a:lnSpc>
              <a:buNone/>
            </a:pPr>
            <a:r>
              <a:rPr lang="en-US" sz="1500" dirty="0">
                <a:solidFill>
                  <a:srgbClr val="1E2B2A"/>
                </a:solidFill>
              </a:rPr>
              <a: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a result, their attention may become focused.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cognitive style, which is anchored in a focal object in lieu of its context, has been called analytic.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mode of cognition has been called holistic.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These predictions have been borne out.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500" dirty="0"/>
          </a:p>
          <a:p>
            <a:pPr algn="r" indent="0" marL="0">
              <a:lnSpc>
                <a:spcPct val="115000"/>
              </a:lnSpc>
              <a:spcBef>
                <a:spcPts val="200"/>
              </a:spcBef>
              <a:buNone/>
            </a:pPr>
            <a:r>
              <a:rPr lang="en-US" sz="1100" i="1" dirty="0">
                <a:solidFill>
                  <a:srgbClr val="6E7F7C"/>
                </a:solidFill>
              </a:rPr>
              <a:t>* in lieu of: ~대신에   ** holistic: 총체적인   *** vignette: 짤막한 장면</a:t>
            </a:r>
            <a:endParaRPr lang="en-US" sz="1500" dirty="0"/>
          </a:p>
          <a:p>
            <a:pPr indent="0" marL="0">
              <a:lnSpc>
                <a:spcPct val="115000"/>
              </a:lnSpc>
              <a:spcBef>
                <a:spcPts val="1000"/>
              </a:spcBef>
              <a:buNone/>
            </a:pPr>
            <a:r>
              <a:rPr lang="en-US" sz="1500" dirty="0">
                <a:solidFill>
                  <a:srgbClr val="14453D"/>
                </a:solidFill>
              </a:rPr>
              <a:t>①  to distort cognitive interpretations of social interaction</a:t>
            </a:r>
            <a:endParaRPr lang="en-US" sz="1500" dirty="0"/>
          </a:p>
          <a:p>
            <a:pPr indent="0" marL="0">
              <a:lnSpc>
                <a:spcPct val="115000"/>
              </a:lnSpc>
              <a:spcBef>
                <a:spcPts val="200"/>
              </a:spcBef>
              <a:buNone/>
            </a:pPr>
            <a:r>
              <a:rPr lang="en-US" sz="1500" dirty="0">
                <a:solidFill>
                  <a:srgbClr val="14453D"/>
                </a:solidFill>
              </a:rPr>
              <a:t>②  to address social issues that persist through generations</a:t>
            </a:r>
            <a:endParaRPr lang="en-US" sz="1500" dirty="0"/>
          </a:p>
          <a:p>
            <a:pPr indent="0" marL="0">
              <a:lnSpc>
                <a:spcPct val="115000"/>
              </a:lnSpc>
              <a:spcBef>
                <a:spcPts val="200"/>
              </a:spcBef>
              <a:buNone/>
            </a:pPr>
            <a:r>
              <a:rPr lang="en-US" sz="1500" dirty="0">
                <a:solidFill>
                  <a:srgbClr val="14453D"/>
                </a:solidFill>
              </a:rPr>
              <a:t>③  to have profound influences on basic attention processes</a:t>
            </a:r>
            <a:endParaRPr lang="en-US" sz="1500" dirty="0"/>
          </a:p>
          <a:p>
            <a:pPr indent="0" marL="0">
              <a:lnSpc>
                <a:spcPct val="115000"/>
              </a:lnSpc>
              <a:spcBef>
                <a:spcPts val="200"/>
              </a:spcBef>
              <a:buNone/>
            </a:pPr>
            <a:r>
              <a:rPr lang="en-US" sz="1500" dirty="0">
                <a:solidFill>
                  <a:srgbClr val="14453D"/>
                </a:solidFill>
              </a:rPr>
              <a:t>④  to exert minimal effects on advanced cognitive functions</a:t>
            </a:r>
            <a:endParaRPr lang="en-US" sz="1500" dirty="0"/>
          </a:p>
          <a:p>
            <a:pPr indent="0" marL="0">
              <a:lnSpc>
                <a:spcPct val="115000"/>
              </a:lnSpc>
              <a:spcBef>
                <a:spcPts val="200"/>
              </a:spcBef>
              <a:buNone/>
            </a:pPr>
            <a:r>
              <a:rPr lang="en-US" sz="1500" dirty="0">
                <a:solidFill>
                  <a:srgbClr val="14453D"/>
                </a:solidFill>
              </a:rPr>
              <a:t>⑤  to prompt overall changes in social attitude and behavior</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300" b="1" dirty="0">
                <a:solidFill>
                  <a:srgbClr val="1F7A64"/>
                </a:solidFill>
              </a:rPr>
              <a:t>(1) </a:t>
            </a:r>
            <a:pPr indent="0" marL="0">
              <a:lnSpc>
                <a:spcPct val="120000"/>
              </a:lnSpc>
              <a:buNone/>
            </a:pPr>
            <a:r>
              <a:rPr lang="en-US" sz="1600" dirty="0">
                <a:solidFill>
                  <a:srgbClr val="1E2B2A"/>
                </a:solidFill>
              </a:rPr>
              <a:t>Culturally shared views of the self </a:t>
            </a:r>
            <a:pPr indent="0" marL="0">
              <a:lnSpc>
                <a:spcPct val="120000"/>
              </a:lnSpc>
              <a:buNone/>
            </a:pPr>
            <a:r>
              <a:rPr lang="en-US" sz="1600" b="1" dirty="0">
                <a:solidFill>
                  <a:srgbClr val="2C7DA0"/>
                </a:solidFill>
              </a:rPr>
              <a:t>have been suggested</a:t>
            </a:r>
            <a:pPr indent="0" marL="0">
              <a:lnSpc>
                <a:spcPct val="120000"/>
              </a:lnSpc>
              <a:buNone/>
            </a:pPr>
            <a:r>
              <a:rPr lang="en-US" sz="1600" dirty="0">
                <a:solidFill>
                  <a:srgbClr val="1E2B2A"/>
                </a:solidFill>
              </a:rPr>
              <a:t> </a:t>
            </a:r>
            <a:pPr indent="0" marL="0">
              <a:lnSpc>
                <a:spcPct val="120000"/>
              </a:lnSpc>
              <a:buNone/>
            </a:pPr>
            <a:r>
              <a:rPr lang="en-US" sz="1600" b="1" dirty="0">
                <a:solidFill>
                  <a:srgbClr val="EF5B3F"/>
                </a:solidFill>
              </a:rPr>
              <a:t>____________</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(2) </a:t>
            </a:r>
            <a:pPr indent="0" marL="0">
              <a:lnSpc>
                <a:spcPct val="120000"/>
              </a:lnSpc>
              <a:buNone/>
            </a:pPr>
            <a:r>
              <a:rPr lang="en-US" sz="1600" dirty="0">
                <a:solidFill>
                  <a:srgbClr val="1E2B2A"/>
                </a:solidFill>
                <a:highlight>
                  <a:srgbClr val="FFD45C"/>
                </a:highlight>
              </a:rPr>
              <a:t>In Western cultures, individuals </a:t>
            </a:r>
            <a:pPr indent="0" marL="0">
              <a:lnSpc>
                <a:spcPct val="120000"/>
              </a:lnSpc>
              <a:buNone/>
            </a:pPr>
            <a:r>
              <a:rPr lang="en-US" sz="1600" b="1" dirty="0">
                <a:solidFill>
                  <a:srgbClr val="2C7DA0"/>
                </a:solidFill>
                <a:highlight>
                  <a:srgbClr val="FFD45C"/>
                </a:highlight>
              </a:rPr>
              <a:t>are encouraged to discover</a:t>
            </a:r>
            <a:pPr indent="0" marL="0">
              <a:lnSpc>
                <a:spcPct val="120000"/>
              </a:lnSpc>
              <a:buNone/>
            </a:pPr>
            <a:r>
              <a:rPr lang="en-US" sz="1600" dirty="0">
                <a:solidFill>
                  <a:srgbClr val="1E2B2A"/>
                </a:solidFill>
                <a:highlight>
                  <a:srgbClr val="FFD45C"/>
                </a:highlight>
              </a:rPr>
              <a:t> their internal </a:t>
            </a:r>
            <a:pPr indent="0" marL="0">
              <a:lnSpc>
                <a:spcPct val="120000"/>
              </a:lnSpc>
              <a:buNone/>
            </a:pPr>
            <a:r>
              <a:rPr lang="en-US" sz="1600" u="dotted" dirty="0">
                <a:solidFill>
                  <a:srgbClr val="1F7A64"/>
                </a:solidFill>
                <a:highlight>
                  <a:srgbClr val="FFD45C"/>
                </a:highlight>
                <a:uFill>
                  <a:solidFill>
                    <a:srgbClr val="1F7A64"/>
                  </a:solidFill>
                </a:uFill>
              </a:rPr>
              <a:t>attributes</a:t>
            </a:r>
            <a:pPr indent="0" marL="0">
              <a:lnSpc>
                <a:spcPct val="120000"/>
              </a:lnSpc>
              <a:buNone/>
            </a:pPr>
            <a:r>
              <a:rPr lang="en-US" sz="1600" dirty="0">
                <a:solidFill>
                  <a:srgbClr val="1E2B2A"/>
                </a:solidFill>
                <a:highlight>
                  <a:srgbClr val="FFD45C"/>
                </a:highlight>
              </a:rPr>
              <a:t> such as desires and personal goals, and therefore they may be expected to focus their attention on events that are relevant to such desires and goals.</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(3) </a:t>
            </a:r>
            <a:pPr indent="0" marL="0">
              <a:lnSpc>
                <a:spcPct val="120000"/>
              </a:lnSpc>
              <a:buNone/>
            </a:pPr>
            <a:r>
              <a:rPr lang="en-US" sz="1600" dirty="0">
                <a:solidFill>
                  <a:srgbClr val="1E2B2A"/>
                </a:solidFill>
              </a:rPr>
              <a:t>As a result, their attention may become focused.</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(4) </a:t>
            </a:r>
            <a:pPr indent="0" marL="0">
              <a:lnSpc>
                <a:spcPct val="120000"/>
              </a:lnSpc>
              <a:buNone/>
            </a:pPr>
            <a:r>
              <a:rPr lang="en-US" sz="1600" dirty="0">
                <a:solidFill>
                  <a:srgbClr val="1E2B2A"/>
                </a:solidFill>
              </a:rPr>
              <a:t>This cognitive style</a:t>
            </a:r>
            <a:pPr indent="0" marL="0">
              <a:lnSpc>
                <a:spcPct val="120000"/>
              </a:lnSpc>
              <a:buNone/>
            </a:pPr>
            <a:r>
              <a:rPr lang="en-US" sz="1600" b="1" dirty="0">
                <a:solidFill>
                  <a:srgbClr val="2C7DA0"/>
                </a:solidFill>
              </a:rPr>
              <a:t>, which is </a:t>
            </a:r>
            <a:pPr indent="0" marL="0">
              <a:lnSpc>
                <a:spcPct val="120000"/>
              </a:lnSpc>
              <a:buNone/>
            </a:pPr>
            <a:r>
              <a:rPr lang="en-US" sz="1600" b="1" u="dotted" dirty="0">
                <a:solidFill>
                  <a:srgbClr val="2C7DA0"/>
                </a:solidFill>
                <a:uFill>
                  <a:solidFill>
                    <a:srgbClr val="1F7A64"/>
                  </a:solidFill>
                </a:uFill>
              </a:rPr>
              <a:t>anchored</a:t>
            </a:r>
            <a:pPr indent="0" marL="0">
              <a:lnSpc>
                <a:spcPct val="120000"/>
              </a:lnSpc>
              <a:buNone/>
            </a:pPr>
            <a:r>
              <a:rPr lang="en-US" sz="1600" b="1" dirty="0">
                <a:solidFill>
                  <a:srgbClr val="2C7DA0"/>
                </a:solidFill>
              </a:rPr>
              <a:t> in a </a:t>
            </a:r>
            <a:pPr indent="0" marL="0">
              <a:lnSpc>
                <a:spcPct val="120000"/>
              </a:lnSpc>
              <a:buNone/>
            </a:pPr>
            <a:r>
              <a:rPr lang="en-US" sz="1600" b="1" u="dotted" dirty="0">
                <a:solidFill>
                  <a:srgbClr val="2C7DA0"/>
                </a:solidFill>
                <a:uFill>
                  <a:solidFill>
                    <a:srgbClr val="1F7A64"/>
                  </a:solidFill>
                </a:uFill>
              </a:rPr>
              <a:t>focal</a:t>
            </a:r>
            <a:pPr indent="0" marL="0">
              <a:lnSpc>
                <a:spcPct val="120000"/>
              </a:lnSpc>
              <a:buNone/>
            </a:pPr>
            <a:r>
              <a:rPr lang="en-US" sz="1600" b="1" dirty="0">
                <a:solidFill>
                  <a:srgbClr val="2C7DA0"/>
                </a:solidFill>
              </a:rPr>
              <a:t> object in lieu of its context,</a:t>
            </a:r>
            <a:pPr indent="0" marL="0">
              <a:lnSpc>
                <a:spcPct val="120000"/>
              </a:lnSpc>
              <a:buNone/>
            </a:pPr>
            <a:r>
              <a:rPr lang="en-US" sz="1600" dirty="0">
                <a:solidFill>
                  <a:srgbClr val="1E2B2A"/>
                </a:solidFill>
              </a:rPr>
              <a:t> </a:t>
            </a:r>
            <a:pPr indent="0" marL="0">
              <a:lnSpc>
                <a:spcPct val="120000"/>
              </a:lnSpc>
              <a:buNone/>
            </a:pPr>
            <a:r>
              <a:rPr lang="en-US" sz="1600" b="1" dirty="0">
                <a:solidFill>
                  <a:srgbClr val="2C7DA0"/>
                </a:solidFill>
              </a:rPr>
              <a:t>has been called analytic</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(5) </a:t>
            </a:r>
            <a:pPr indent="0" marL="0">
              <a:lnSpc>
                <a:spcPct val="120000"/>
              </a:lnSpc>
              <a:buNone/>
            </a:pPr>
            <a:r>
              <a:rPr lang="en-US" sz="1600" dirty="0">
                <a:solidFill>
                  <a:srgbClr val="1E2B2A"/>
                </a:solidFill>
                <a:highlight>
                  <a:srgbClr val="FFD45C"/>
                </a:highlight>
              </a:rPr>
              <a:t>In contrast, in Eastern cultures individuals are more </a:t>
            </a:r>
            <a:pPr indent="0" marL="0">
              <a:lnSpc>
                <a:spcPct val="120000"/>
              </a:lnSpc>
              <a:buNone/>
            </a:pPr>
            <a:r>
              <a:rPr lang="en-US" sz="1600" u="dotted" dirty="0">
                <a:solidFill>
                  <a:srgbClr val="1F7A64"/>
                </a:solidFill>
                <a:highlight>
                  <a:srgbClr val="FFD45C"/>
                </a:highlight>
                <a:uFill>
                  <a:solidFill>
                    <a:srgbClr val="1F7A64"/>
                  </a:solidFill>
                </a:uFill>
              </a:rPr>
              <a:t>attuned</a:t>
            </a:r>
            <a:pPr indent="0" marL="0">
              <a:lnSpc>
                <a:spcPct val="120000"/>
              </a:lnSpc>
              <a:buNone/>
            </a:pPr>
            <a:r>
              <a:rPr lang="en-US" sz="1600" dirty="0">
                <a:solidFill>
                  <a:srgbClr val="1E2B2A"/>
                </a:solidFill>
                <a:highlight>
                  <a:srgbClr val="FFD45C"/>
                </a:highlight>
              </a:rPr>
              <a:t> to various aspects of ever-important social relations and, as a consequence, they may be expected to attend more broadly to a focal object as well as to its surrounding context, </a:t>
            </a:r>
            <a:pPr indent="0" marL="0">
              <a:lnSpc>
                <a:spcPct val="120000"/>
              </a:lnSpc>
              <a:buNone/>
            </a:pPr>
            <a:r>
              <a:rPr lang="en-US" sz="1600" b="1" dirty="0">
                <a:solidFill>
                  <a:srgbClr val="2C7DA0"/>
                </a:solidFill>
                <a:highlight>
                  <a:srgbClr val="FFD45C"/>
                </a:highlight>
              </a:rPr>
              <a:t>drawing </a:t>
            </a:r>
            <a:pPr indent="0" marL="0">
              <a:lnSpc>
                <a:spcPct val="120000"/>
              </a:lnSpc>
              <a:buNone/>
            </a:pPr>
            <a:r>
              <a:rPr lang="en-US" sz="1600" b="1" u="dotted" dirty="0">
                <a:solidFill>
                  <a:srgbClr val="2C7DA0"/>
                </a:solidFill>
                <a:highlight>
                  <a:srgbClr val="FFD45C"/>
                </a:highlight>
                <a:uFill>
                  <a:solidFill>
                    <a:srgbClr val="1F7A64"/>
                  </a:solidFill>
                </a:uFill>
              </a:rPr>
              <a:t>inferences</a:t>
            </a:r>
            <a:pPr indent="0" marL="0">
              <a:lnSpc>
                <a:spcPct val="120000"/>
              </a:lnSpc>
              <a:buNone/>
            </a:pPr>
            <a:r>
              <a:rPr lang="en-US" sz="1600" dirty="0">
                <a:solidFill>
                  <a:srgbClr val="1E2B2A"/>
                </a:solidFill>
                <a:highlight>
                  <a:srgbClr val="FFD45C"/>
                </a:highlight>
              </a:rPr>
              <a:t> about the relationship between the object and its context.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(6) </a:t>
            </a:r>
            <a:pPr indent="0" marL="0">
              <a:lnSpc>
                <a:spcPct val="120000"/>
              </a:lnSpc>
              <a:buNone/>
            </a:pPr>
            <a:r>
              <a:rPr lang="en-US" sz="1600" dirty="0">
                <a:solidFill>
                  <a:srgbClr val="1E2B2A"/>
                </a:solidFill>
              </a:rPr>
              <a:t>This mode of </a:t>
            </a:r>
            <a:pPr indent="0" marL="0">
              <a:lnSpc>
                <a:spcPct val="120000"/>
              </a:lnSpc>
              <a:buNone/>
            </a:pPr>
            <a:r>
              <a:rPr lang="en-US" sz="1600" u="dotted" dirty="0">
                <a:solidFill>
                  <a:srgbClr val="1F7A64"/>
                </a:solidFill>
                <a:uFill>
                  <a:solidFill>
                    <a:srgbClr val="1F7A64"/>
                  </a:solidFill>
                </a:uFill>
              </a:rPr>
              <a:t>cognition</a:t>
            </a:r>
            <a:pPr indent="0" marL="0">
              <a:lnSpc>
                <a:spcPct val="120000"/>
              </a:lnSpc>
              <a:buNone/>
            </a:pPr>
            <a:r>
              <a:rPr lang="en-US" sz="1600" dirty="0">
                <a:solidFill>
                  <a:srgbClr val="1E2B2A"/>
                </a:solidFill>
              </a:rPr>
              <a:t> has been called holistic.</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(7) </a:t>
            </a:r>
            <a:pPr indent="0" marL="0">
              <a:lnSpc>
                <a:spcPct val="120000"/>
              </a:lnSpc>
              <a:buNone/>
            </a:pPr>
            <a:r>
              <a:rPr lang="en-US" sz="1600" dirty="0">
                <a:solidFill>
                  <a:srgbClr val="1E2B2A"/>
                </a:solidFill>
              </a:rPr>
              <a:t>These predictions have been </a:t>
            </a:r>
            <a:pPr indent="0" marL="0">
              <a:lnSpc>
                <a:spcPct val="120000"/>
              </a:lnSpc>
              <a:buNone/>
            </a:pPr>
            <a:r>
              <a:rPr lang="en-US" sz="1600" u="dotted" dirty="0">
                <a:solidFill>
                  <a:srgbClr val="1F7A64"/>
                </a:solidFill>
                <a:uFill>
                  <a:solidFill>
                    <a:srgbClr val="1F7A64"/>
                  </a:solidFill>
                </a:uFill>
              </a:rPr>
              <a:t>borne out</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(8) </a:t>
            </a:r>
            <a:pPr indent="0" marL="0">
              <a:lnSpc>
                <a:spcPct val="120000"/>
              </a:lnSpc>
              <a:buNone/>
            </a:pPr>
            <a:r>
              <a:rPr lang="en-US" sz="1600" dirty="0">
                <a:solidFill>
                  <a:srgbClr val="1E2B2A"/>
                </a:solidFill>
                <a:highlight>
                  <a:srgbClr val="FFD45C"/>
                </a:highlight>
              </a:rPr>
              <a:t>For example, </a:t>
            </a:r>
            <a:pPr indent="0" marL="0">
              <a:lnSpc>
                <a:spcPct val="120000"/>
              </a:lnSpc>
              <a:buNone/>
            </a:pPr>
            <a:r>
              <a:rPr lang="en-US" sz="1600" b="1" dirty="0">
                <a:solidFill>
                  <a:srgbClr val="2C7DA0"/>
                </a:solidFill>
                <a:highlight>
                  <a:srgbClr val="FFD45C"/>
                </a:highlight>
              </a:rPr>
              <a:t>when presented with</a:t>
            </a:r>
            <a:pPr indent="0" marL="0">
              <a:lnSpc>
                <a:spcPct val="120000"/>
              </a:lnSpc>
              <a:buNone/>
            </a:pPr>
            <a:r>
              <a:rPr lang="en-US" sz="1600" dirty="0">
                <a:solidFill>
                  <a:srgbClr val="1E2B2A"/>
                </a:solidFill>
                <a:highlight>
                  <a:srgbClr val="FFD45C"/>
                </a:highlight>
              </a:rPr>
              <a:t> an animated vignette of an underwater scene and </a:t>
            </a:r>
            <a:pPr indent="0" marL="0">
              <a:lnSpc>
                <a:spcPct val="120000"/>
              </a:lnSpc>
              <a:buNone/>
            </a:pPr>
            <a:r>
              <a:rPr lang="en-US" sz="1600" u="dotted" dirty="0">
                <a:solidFill>
                  <a:srgbClr val="1F7A64"/>
                </a:solidFill>
                <a:highlight>
                  <a:srgbClr val="FFD45C"/>
                </a:highlight>
                <a:uFill>
                  <a:solidFill>
                    <a:srgbClr val="1F7A64"/>
                  </a:solidFill>
                </a:uFill>
              </a:rPr>
              <a:t>subsequently</a:t>
            </a:r>
            <a:pPr indent="0" marL="0">
              <a:lnSpc>
                <a:spcPct val="120000"/>
              </a:lnSpc>
              <a:buNone/>
            </a:pPr>
            <a:r>
              <a:rPr lang="en-US" sz="1600" dirty="0">
                <a:solidFill>
                  <a:srgbClr val="1E2B2A"/>
                </a:solidFill>
                <a:highlight>
                  <a:srgbClr val="FFD45C"/>
                </a:highlight>
              </a:rPr>
              <a:t> asked to remember what they saw, European Americans were more likely to recall focal objects, whereas Japanese were more likely to refer to contextual information as well as relationships between the focal objects.</a:t>
            </a:r>
            <a:endParaRPr lang="en-US" sz="13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attributes </a:t>
            </a:r>
            <a:pPr indent="0" marL="0">
              <a:lnSpc>
                <a:spcPct val="110000"/>
              </a:lnSpc>
              <a:buNone/>
            </a:pPr>
            <a:r>
              <a:rPr lang="en-US" sz="1400" dirty="0">
                <a:solidFill>
                  <a:srgbClr val="1E2B2A"/>
                </a:solidFill>
              </a:rPr>
              <a:t>속성   ·   </a:t>
            </a:r>
            <a:pPr indent="0" marL="0">
              <a:lnSpc>
                <a:spcPct val="110000"/>
              </a:lnSpc>
              <a:buNone/>
            </a:pPr>
            <a:r>
              <a:rPr lang="en-US" sz="1400" b="1" dirty="0">
                <a:solidFill>
                  <a:srgbClr val="1F7A64"/>
                </a:solidFill>
              </a:rPr>
              <a:t>anchored </a:t>
            </a:r>
            <a:pPr indent="0" marL="0">
              <a:lnSpc>
                <a:spcPct val="110000"/>
              </a:lnSpc>
              <a:buNone/>
            </a:pPr>
            <a:r>
              <a:rPr lang="en-US" sz="1400" dirty="0">
                <a:solidFill>
                  <a:srgbClr val="1E2B2A"/>
                </a:solidFill>
              </a:rPr>
              <a:t>고정된   ·   </a:t>
            </a:r>
            <a:pPr indent="0" marL="0">
              <a:lnSpc>
                <a:spcPct val="110000"/>
              </a:lnSpc>
              <a:buNone/>
            </a:pPr>
            <a:r>
              <a:rPr lang="en-US" sz="1400" b="1" dirty="0">
                <a:solidFill>
                  <a:srgbClr val="1F7A64"/>
                </a:solidFill>
              </a:rPr>
              <a:t>focal </a:t>
            </a:r>
            <a:pPr indent="0" marL="0">
              <a:lnSpc>
                <a:spcPct val="110000"/>
              </a:lnSpc>
              <a:buNone/>
            </a:pPr>
            <a:r>
              <a:rPr lang="en-US" sz="1400" dirty="0">
                <a:solidFill>
                  <a:srgbClr val="1E2B2A"/>
                </a:solidFill>
              </a:rPr>
              <a:t>초점의   ·   </a:t>
            </a:r>
            <a:pPr indent="0" marL="0">
              <a:lnSpc>
                <a:spcPct val="110000"/>
              </a:lnSpc>
              <a:buNone/>
            </a:pPr>
            <a:r>
              <a:rPr lang="en-US" sz="1400" b="1" dirty="0">
                <a:solidFill>
                  <a:srgbClr val="1F7A64"/>
                </a:solidFill>
              </a:rPr>
              <a:t>attuned </a:t>
            </a:r>
            <a:pPr indent="0" marL="0">
              <a:lnSpc>
                <a:spcPct val="110000"/>
              </a:lnSpc>
              <a:buNone/>
            </a:pPr>
            <a:r>
              <a:rPr lang="en-US" sz="1400" dirty="0">
                <a:solidFill>
                  <a:srgbClr val="1E2B2A"/>
                </a:solidFill>
              </a:rPr>
              <a:t>맞춰진   ·   </a:t>
            </a:r>
            <a:pPr indent="0" marL="0">
              <a:lnSpc>
                <a:spcPct val="110000"/>
              </a:lnSpc>
              <a:buNone/>
            </a:pPr>
            <a:r>
              <a:rPr lang="en-US" sz="1400" b="1" dirty="0">
                <a:solidFill>
                  <a:srgbClr val="1F7A64"/>
                </a:solidFill>
              </a:rPr>
              <a:t>inferences </a:t>
            </a:r>
            <a:pPr indent="0" marL="0">
              <a:lnSpc>
                <a:spcPct val="110000"/>
              </a:lnSpc>
              <a:buNone/>
            </a:pPr>
            <a:r>
              <a:rPr lang="en-US" sz="1400" dirty="0">
                <a:solidFill>
                  <a:srgbClr val="1E2B2A"/>
                </a:solidFill>
              </a:rPr>
              <a:t>추론   ·   </a:t>
            </a:r>
            <a:pPr indent="0" marL="0">
              <a:lnSpc>
                <a:spcPct val="110000"/>
              </a:lnSpc>
              <a:buNone/>
            </a:pPr>
            <a:r>
              <a:rPr lang="en-US" sz="1400" b="1" dirty="0">
                <a:solidFill>
                  <a:srgbClr val="1F7A64"/>
                </a:solidFill>
              </a:rPr>
              <a:t>cognition </a:t>
            </a:r>
            <a:pPr indent="0" marL="0">
              <a:lnSpc>
                <a:spcPct val="110000"/>
              </a:lnSpc>
              <a:buNone/>
            </a:pPr>
            <a:r>
              <a:rPr lang="en-US" sz="1400" dirty="0">
                <a:solidFill>
                  <a:srgbClr val="1E2B2A"/>
                </a:solidFill>
              </a:rPr>
              <a:t>인지   ·   </a:t>
            </a:r>
            <a:pPr indent="0" marL="0">
              <a:lnSpc>
                <a:spcPct val="110000"/>
              </a:lnSpc>
              <a:buNone/>
            </a:pPr>
            <a:r>
              <a:rPr lang="en-US" sz="1400" b="1" dirty="0">
                <a:solidFill>
                  <a:srgbClr val="1F7A64"/>
                </a:solidFill>
              </a:rPr>
              <a:t>borne out </a:t>
            </a:r>
            <a:pPr indent="0" marL="0">
              <a:lnSpc>
                <a:spcPct val="110000"/>
              </a:lnSpc>
              <a:buNone/>
            </a:pPr>
            <a:r>
              <a:rPr lang="en-US" sz="1400" dirty="0">
                <a:solidFill>
                  <a:srgbClr val="1E2B2A"/>
                </a:solidFill>
              </a:rPr>
              <a:t>입증된   ·   </a:t>
            </a:r>
            <a:pPr indent="0" marL="0">
              <a:lnSpc>
                <a:spcPct val="110000"/>
              </a:lnSpc>
              <a:buNone/>
            </a:pPr>
            <a:r>
              <a:rPr lang="en-US" sz="1400" b="1" dirty="0">
                <a:solidFill>
                  <a:srgbClr val="1F7A64"/>
                </a:solidFill>
              </a:rPr>
              <a:t>subsequently </a:t>
            </a:r>
            <a:pPr indent="0" marL="0">
              <a:lnSpc>
                <a:spcPct val="110000"/>
              </a:lnSpc>
              <a:buNone/>
            </a:pPr>
            <a:r>
              <a:rPr lang="en-US" sz="1400" dirty="0">
                <a:solidFill>
                  <a:srgbClr val="1E2B2A"/>
                </a:solidFill>
              </a:rPr>
              <a:t>그 후에</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have been suggested</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현재완료 수동태</a:t>
            </a:r>
            <a:endParaRPr lang="en-US" sz="1700" dirty="0"/>
          </a:p>
          <a:p>
            <a:pPr indent="0" marL="0">
              <a:spcAft>
                <a:spcPts val="200"/>
              </a:spcAft>
              <a:buNone/>
            </a:pPr>
            <a:r>
              <a:rPr lang="en-US" sz="1400" dirty="0">
                <a:solidFill>
                  <a:srgbClr val="1E2B2A"/>
                </a:solidFill>
              </a:rPr>
              <a:t>suggest의 대상인 views → have been p.p. (be suggested to V: ~하는 것으로 제시되다)</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are encouraged to discover</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encourage O to V의 수동태</a:t>
            </a:r>
            <a:endParaRPr lang="en-US" sz="1700" dirty="0"/>
          </a:p>
          <a:p>
            <a:pPr indent="0" marL="0">
              <a:spcAft>
                <a:spcPts val="200"/>
              </a:spcAft>
              <a:buNone/>
            </a:pPr>
            <a:r>
              <a:rPr lang="en-US" sz="1400" dirty="0">
                <a:solidFill>
                  <a:srgbClr val="1E2B2A"/>
                </a:solidFill>
              </a:rPr>
              <a:t>능동 encourage individuals to discover → 수동 be encouraged to V</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 which is anchored in a focal object in lieu of its context,  …  has been called analytic</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삽입절 · 수일치</a:t>
            </a:r>
            <a:endParaRPr lang="en-US" sz="1700" dirty="0"/>
          </a:p>
          <a:p>
            <a:pPr indent="0" marL="0">
              <a:spcAft>
                <a:spcPts val="200"/>
              </a:spcAft>
              <a:buNone/>
            </a:pPr>
            <a:r>
              <a:rPr lang="en-US" sz="1400" dirty="0">
                <a:solidFill>
                  <a:srgbClr val="1E2B2A"/>
                </a:solidFill>
              </a:rPr>
              <a:t>주어 This cognitive style ↔ 동사 has been called (삽입된 which절 건너뛰기). call O C의 수동태</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drawing inferences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draw inferences의 의미 (동시동작·부대상황)</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(they were) presented with ~ → 접속사를 남긴 수동 분사구문</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When a patient chooses to buy he or she becomes a part of demand.</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That extra demand will be revealed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For example, consider the development of an artificial heart.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each heart costs $1 million, they would only be used in matters of life and death.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further development reduced the cost of artificial hearts to $100,000 each, more people would get them.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artificial hearts would still be used only for people with serious illnesses, but they might be implanted long before a person's natural heart gave out.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the cost of making an artificial heart dropped to $100, one would be readily available to anyone who needed it.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Consider what would happen if the cost of an artificial heart dropped to $10 and could be easily implanted during a 15-minute visit to the doctor.</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Some people who had never been ill but were just worried might have new hearts implanted.</a:t>
            </a:r>
            <a:endParaRPr lang="en-US" sz="1550" dirty="0"/>
          </a:p>
          <a:p>
            <a:pPr algn="r" indent="0" marL="0">
              <a:lnSpc>
                <a:spcPct val="115000"/>
              </a:lnSpc>
              <a:spcBef>
                <a:spcPts val="200"/>
              </a:spcBef>
              <a:buNone/>
            </a:pPr>
            <a:r>
              <a:rPr lang="en-US" sz="1100" i="1" dirty="0">
                <a:solidFill>
                  <a:srgbClr val="6E7F7C"/>
                </a:solidFill>
              </a:rPr>
              <a:t>* latent: 잠재하는</a:t>
            </a:r>
            <a:endParaRPr lang="en-US" sz="1550" dirty="0"/>
          </a:p>
          <a:p>
            <a:pPr indent="0" marL="0">
              <a:lnSpc>
                <a:spcPct val="115000"/>
              </a:lnSpc>
              <a:spcBef>
                <a:spcPts val="1000"/>
              </a:spcBef>
              <a:buNone/>
            </a:pPr>
            <a:r>
              <a:rPr lang="en-US" sz="1550" dirty="0">
                <a:solidFill>
                  <a:srgbClr val="14453D"/>
                </a:solidFill>
              </a:rPr>
              <a:t>①  if the price goes low enough</a:t>
            </a:r>
            <a:endParaRPr lang="en-US" sz="1550" dirty="0"/>
          </a:p>
          <a:p>
            <a:pPr indent="0" marL="0">
              <a:lnSpc>
                <a:spcPct val="115000"/>
              </a:lnSpc>
              <a:spcBef>
                <a:spcPts val="200"/>
              </a:spcBef>
              <a:buNone/>
            </a:pPr>
            <a:r>
              <a:rPr lang="en-US" sz="1550" dirty="0">
                <a:solidFill>
                  <a:srgbClr val="14453D"/>
                </a:solidFill>
              </a:rPr>
              <a:t>②  once consumer incomes rise</a:t>
            </a:r>
            <a:endParaRPr lang="en-US" sz="1550" dirty="0"/>
          </a:p>
          <a:p>
            <a:pPr indent="0" marL="0">
              <a:lnSpc>
                <a:spcPct val="115000"/>
              </a:lnSpc>
              <a:spcBef>
                <a:spcPts val="200"/>
              </a:spcBef>
              <a:buNone/>
            </a:pPr>
            <a:r>
              <a:rPr lang="en-US" sz="1550" dirty="0">
                <a:solidFill>
                  <a:srgbClr val="14453D"/>
                </a:solidFill>
              </a:rPr>
              <a:t>③  when society deems it necessary</a:t>
            </a:r>
            <a:endParaRPr lang="en-US" sz="1550" dirty="0"/>
          </a:p>
          <a:p>
            <a:pPr indent="0" marL="0">
              <a:lnSpc>
                <a:spcPct val="115000"/>
              </a:lnSpc>
              <a:spcBef>
                <a:spcPts val="200"/>
              </a:spcBef>
              <a:buNone/>
            </a:pPr>
            <a:r>
              <a:rPr lang="en-US" sz="1550" dirty="0">
                <a:solidFill>
                  <a:srgbClr val="14453D"/>
                </a:solidFill>
              </a:rPr>
              <a:t>④  when the rules are applied correctly</a:t>
            </a:r>
            <a:endParaRPr lang="en-US" sz="1550" dirty="0"/>
          </a:p>
          <a:p>
            <a:pPr indent="0" marL="0">
              <a:lnSpc>
                <a:spcPct val="115000"/>
              </a:lnSpc>
              <a:spcBef>
                <a:spcPts val="200"/>
              </a:spcBef>
              <a:buNone/>
            </a:pPr>
            <a:r>
              <a:rPr lang="en-US" sz="1550" dirty="0">
                <a:solidFill>
                  <a:srgbClr val="14453D"/>
                </a:solidFill>
              </a:rPr>
              <a:t>⑤  if an artificial organ becomes risk-free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300" b="1" dirty="0">
                <a:solidFill>
                  <a:srgbClr val="1F7A64"/>
                </a:solidFill>
              </a:rPr>
              <a:t>(1) </a:t>
            </a:r>
            <a:pPr indent="0" marL="0">
              <a:lnSpc>
                <a:spcPct val="120000"/>
              </a:lnSpc>
              <a:buNone/>
            </a:pPr>
            <a:r>
              <a:rPr lang="en-US" sz="1600" dirty="0">
                <a:solidFill>
                  <a:srgbClr val="1E2B2A"/>
                </a:solidFill>
              </a:rPr>
              <a:t>When a patient chooses to buy he or she becomes a part of demand.</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(2) </a:t>
            </a:r>
            <a:pPr indent="0" marL="0">
              <a:lnSpc>
                <a:spcPct val="120000"/>
              </a:lnSpc>
              <a:buNone/>
            </a:pPr>
            <a:r>
              <a:rPr lang="en-US" sz="1600" b="1" dirty="0">
                <a:solidFill>
                  <a:srgbClr val="2C7DA0"/>
                </a:solidFill>
              </a:rPr>
              <a:t>Wanting to buy</a:t>
            </a:r>
            <a:pPr indent="0" marL="0">
              <a:lnSpc>
                <a:spcPct val="120000"/>
              </a:lnSpc>
              <a:buNone/>
            </a:pPr>
            <a:r>
              <a:rPr lang="en-US" sz="1600" dirty="0">
                <a:solidFill>
                  <a:srgbClr val="1E2B2A"/>
                </a:solidFill>
              </a:rPr>
              <a:t> (drugs, plastic surgery, </a:t>
            </a:r>
            <a:pPr indent="0" marL="0">
              <a:lnSpc>
                <a:spcPct val="120000"/>
              </a:lnSpc>
              <a:buNone/>
            </a:pPr>
            <a:r>
              <a:rPr lang="en-US" sz="1600" u="dotted" dirty="0">
                <a:solidFill>
                  <a:srgbClr val="1F7A64"/>
                </a:solidFill>
                <a:uFill>
                  <a:solidFill>
                    <a:srgbClr val="1F7A64"/>
                  </a:solidFill>
                </a:uFill>
              </a:rPr>
              <a:t>artificial</a:t>
            </a:r>
            <a:pPr indent="0" marL="0">
              <a:lnSpc>
                <a:spcPct val="120000"/>
              </a:lnSpc>
              <a:buNone/>
            </a:pPr>
            <a:r>
              <a:rPr lang="en-US" sz="1600" dirty="0">
                <a:solidFill>
                  <a:srgbClr val="1E2B2A"/>
                </a:solidFill>
              </a:rPr>
              <a:t> hip, etc.) but not doing so </a:t>
            </a:r>
            <a:pPr indent="0" marL="0">
              <a:lnSpc>
                <a:spcPct val="120000"/>
              </a:lnSpc>
              <a:buNone/>
            </a:pPr>
            <a:r>
              <a:rPr lang="en-US" sz="1600" b="1" dirty="0">
                <a:solidFill>
                  <a:srgbClr val="2C7DA0"/>
                </a:solidFill>
              </a:rPr>
              <a:t>leaves that </a:t>
            </a:r>
            <a:pPr indent="0" marL="0">
              <a:lnSpc>
                <a:spcPct val="120000"/>
              </a:lnSpc>
              <a:buNone/>
            </a:pPr>
            <a:r>
              <a:rPr lang="en-US" sz="1600" b="1" u="dotted" dirty="0">
                <a:solidFill>
                  <a:srgbClr val="2C7DA0"/>
                </a:solidFill>
                <a:uFill>
                  <a:solidFill>
                    <a:srgbClr val="1F7A64"/>
                  </a:solidFill>
                </a:uFill>
              </a:rPr>
              <a:t>potential</a:t>
            </a:r>
            <a:pPr indent="0" marL="0">
              <a:lnSpc>
                <a:spcPct val="120000"/>
              </a:lnSpc>
              <a:buNone/>
            </a:pPr>
            <a:r>
              <a:rPr lang="en-US" sz="1600" b="1" dirty="0">
                <a:solidFill>
                  <a:srgbClr val="2C7DA0"/>
                </a:solidFill>
              </a:rPr>
              <a:t> patient </a:t>
            </a:r>
            <a:pPr indent="0" marL="0">
              <a:lnSpc>
                <a:spcPct val="120000"/>
              </a:lnSpc>
              <a:buNone/>
            </a:pPr>
            <a:r>
              <a:rPr lang="en-US" sz="1600" b="1" u="dotted" dirty="0">
                <a:solidFill>
                  <a:srgbClr val="2C7DA0"/>
                </a:solidFill>
                <a:uFill>
                  <a:solidFill>
                    <a:srgbClr val="1F7A64"/>
                  </a:solidFill>
                </a:uFill>
              </a:rPr>
              <a:t>invisible</a:t>
            </a:r>
            <a:pPr indent="0" marL="0">
              <a:lnSpc>
                <a:spcPct val="120000"/>
              </a:lnSpc>
              <a:buNone/>
            </a:pPr>
            <a:r>
              <a:rPr lang="en-US" sz="1600" dirty="0">
                <a:solidFill>
                  <a:srgbClr val="1E2B2A"/>
                </a:solidFill>
              </a:rPr>
              <a:t>, part of latent demand </a:t>
            </a:r>
            <a:pPr indent="0" marL="0">
              <a:lnSpc>
                <a:spcPct val="120000"/>
              </a:lnSpc>
              <a:buNone/>
            </a:pPr>
            <a:r>
              <a:rPr lang="en-US" sz="1600" b="1" dirty="0">
                <a:solidFill>
                  <a:srgbClr val="2C7DA0"/>
                </a:solidFill>
              </a:rPr>
              <a:t>that does not effectively participate</a:t>
            </a:r>
            <a:pPr indent="0" marL="0">
              <a:lnSpc>
                <a:spcPct val="120000"/>
              </a:lnSpc>
              <a:buNone/>
            </a:pPr>
            <a:r>
              <a:rPr lang="en-US" sz="1600" dirty="0">
                <a:solidFill>
                  <a:srgbClr val="1E2B2A"/>
                </a:solidFill>
              </a:rPr>
              <a:t> in the market.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(3) </a:t>
            </a:r>
            <a:pPr indent="0" marL="0">
              <a:lnSpc>
                <a:spcPct val="120000"/>
              </a:lnSpc>
              <a:buNone/>
            </a:pPr>
            <a:r>
              <a:rPr lang="en-US" sz="1600" dirty="0">
                <a:solidFill>
                  <a:srgbClr val="1E2B2A"/>
                </a:solidFill>
              </a:rPr>
              <a:t>That extra demand will be revealed </a:t>
            </a:r>
            <a:pPr indent="0" marL="0">
              <a:lnSpc>
                <a:spcPct val="120000"/>
              </a:lnSpc>
              <a:buNone/>
            </a:pPr>
            <a:r>
              <a:rPr lang="en-US" sz="1600" b="1" dirty="0">
                <a:solidFill>
                  <a:srgbClr val="EF5B3F"/>
                </a:solidFill>
              </a:rPr>
              <a:t>____________</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(4) </a:t>
            </a:r>
            <a:pPr indent="0" marL="0">
              <a:lnSpc>
                <a:spcPct val="120000"/>
              </a:lnSpc>
              <a:buNone/>
            </a:pPr>
            <a:r>
              <a:rPr lang="en-US" sz="1600" dirty="0">
                <a:solidFill>
                  <a:srgbClr val="1E2B2A"/>
                </a:solidFill>
              </a:rPr>
              <a:t>For example, consider the development of an artificial heart.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(5) </a:t>
            </a:r>
            <a:pPr indent="0" marL="0">
              <a:lnSpc>
                <a:spcPct val="120000"/>
              </a:lnSpc>
              <a:buNone/>
            </a:pPr>
            <a:r>
              <a:rPr lang="en-US" sz="1600" dirty="0">
                <a:solidFill>
                  <a:srgbClr val="1E2B2A"/>
                </a:solidFill>
                <a:highlight>
                  <a:srgbClr val="FFD45C"/>
                </a:highlight>
              </a:rPr>
              <a:t>If each heart costs $1 million, they would only be used in matters of life and death.</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(6) </a:t>
            </a:r>
            <a:pPr indent="0" marL="0">
              <a:lnSpc>
                <a:spcPct val="120000"/>
              </a:lnSpc>
              <a:buNone/>
            </a:pPr>
            <a:r>
              <a:rPr lang="en-US" sz="1600" b="1" dirty="0">
                <a:solidFill>
                  <a:srgbClr val="2C7DA0"/>
                </a:solidFill>
                <a:highlight>
                  <a:srgbClr val="FFD45C"/>
                </a:highlight>
              </a:rPr>
              <a:t>If further development reduced</a:t>
            </a:r>
            <a:pPr indent="0" marL="0">
              <a:lnSpc>
                <a:spcPct val="120000"/>
              </a:lnSpc>
              <a:buNone/>
            </a:pPr>
            <a:r>
              <a:rPr lang="en-US" sz="1600" dirty="0">
                <a:solidFill>
                  <a:srgbClr val="1E2B2A"/>
                </a:solidFill>
                <a:highlight>
                  <a:srgbClr val="FFD45C"/>
                </a:highlight>
              </a:rPr>
              <a:t> the cost of artificial hearts to $100,000 each, </a:t>
            </a:r>
            <a:pPr indent="0" marL="0">
              <a:lnSpc>
                <a:spcPct val="120000"/>
              </a:lnSpc>
              <a:buNone/>
            </a:pPr>
            <a:r>
              <a:rPr lang="en-US" sz="1600" b="1" dirty="0">
                <a:solidFill>
                  <a:srgbClr val="2C7DA0"/>
                </a:solidFill>
                <a:highlight>
                  <a:srgbClr val="FFD45C"/>
                </a:highlight>
              </a:rPr>
              <a:t>more people would get them</a:t>
            </a:r>
            <a:pPr indent="0" marL="0">
              <a:lnSpc>
                <a:spcPct val="120000"/>
              </a:lnSpc>
              <a:buNone/>
            </a:pPr>
            <a:r>
              <a:rPr lang="en-US" sz="1600" dirty="0">
                <a:solidFill>
                  <a:srgbClr val="1E2B2A"/>
                </a:solidFill>
                <a:highlight>
                  <a:srgbClr val="FFD45C"/>
                </a:highlight>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(7) </a:t>
            </a:r>
            <a:pPr indent="0" marL="0">
              <a:lnSpc>
                <a:spcPct val="120000"/>
              </a:lnSpc>
              <a:buNone/>
            </a:pPr>
            <a:r>
              <a:rPr lang="en-US" sz="1600" dirty="0">
                <a:solidFill>
                  <a:srgbClr val="1E2B2A"/>
                </a:solidFill>
              </a:rPr>
              <a:t>The artificial hearts would still be used only for people with serious illnesses, but they might be </a:t>
            </a:r>
            <a:pPr indent="0" marL="0">
              <a:lnSpc>
                <a:spcPct val="120000"/>
              </a:lnSpc>
              <a:buNone/>
            </a:pPr>
            <a:r>
              <a:rPr lang="en-US" sz="1600" u="dotted" dirty="0">
                <a:solidFill>
                  <a:srgbClr val="1F7A64"/>
                </a:solidFill>
                <a:uFill>
                  <a:solidFill>
                    <a:srgbClr val="1F7A64"/>
                  </a:solidFill>
                </a:uFill>
              </a:rPr>
              <a:t>implanted</a:t>
            </a:r>
            <a:pPr indent="0" marL="0">
              <a:lnSpc>
                <a:spcPct val="120000"/>
              </a:lnSpc>
              <a:buNone/>
            </a:pPr>
            <a:r>
              <a:rPr lang="en-US" sz="1600" dirty="0">
                <a:solidFill>
                  <a:srgbClr val="1E2B2A"/>
                </a:solidFill>
              </a:rPr>
              <a:t> long before a person's natural heart </a:t>
            </a:r>
            <a:pPr indent="0" marL="0">
              <a:lnSpc>
                <a:spcPct val="120000"/>
              </a:lnSpc>
              <a:buNone/>
            </a:pPr>
            <a:r>
              <a:rPr lang="en-US" sz="1600" u="dotted" dirty="0">
                <a:solidFill>
                  <a:srgbClr val="1F7A64"/>
                </a:solidFill>
                <a:uFill>
                  <a:solidFill>
                    <a:srgbClr val="1F7A64"/>
                  </a:solidFill>
                </a:uFill>
              </a:rPr>
              <a:t>gave out</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(8) </a:t>
            </a:r>
            <a:pPr indent="0" marL="0">
              <a:lnSpc>
                <a:spcPct val="120000"/>
              </a:lnSpc>
              <a:buNone/>
            </a:pPr>
            <a:r>
              <a:rPr lang="en-US" sz="1600" dirty="0">
                <a:solidFill>
                  <a:srgbClr val="1E2B2A"/>
                </a:solidFill>
                <a:highlight>
                  <a:srgbClr val="FFD45C"/>
                </a:highlight>
              </a:rPr>
              <a:t>If the cost of making an artificial heart dropped to $100, one would be </a:t>
            </a:r>
            <a:pPr indent="0" marL="0">
              <a:lnSpc>
                <a:spcPct val="120000"/>
              </a:lnSpc>
              <a:buNone/>
            </a:pPr>
            <a:r>
              <a:rPr lang="en-US" sz="1600" u="dotted" dirty="0">
                <a:solidFill>
                  <a:srgbClr val="1F7A64"/>
                </a:solidFill>
                <a:highlight>
                  <a:srgbClr val="FFD45C"/>
                </a:highlight>
                <a:uFill>
                  <a:solidFill>
                    <a:srgbClr val="1F7A64"/>
                  </a:solidFill>
                </a:uFill>
              </a:rPr>
              <a:t>readily</a:t>
            </a:r>
            <a:pPr indent="0" marL="0">
              <a:lnSpc>
                <a:spcPct val="120000"/>
              </a:lnSpc>
              <a:buNone/>
            </a:pPr>
            <a:r>
              <a:rPr lang="en-US" sz="1600" dirty="0">
                <a:solidFill>
                  <a:srgbClr val="1E2B2A"/>
                </a:solidFill>
                <a:highlight>
                  <a:srgbClr val="FFD45C"/>
                </a:highlight>
              </a:rPr>
              <a:t> available to anyone who needed it.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(9) </a:t>
            </a:r>
            <a:pPr indent="0" marL="0">
              <a:lnSpc>
                <a:spcPct val="120000"/>
              </a:lnSpc>
              <a:buNone/>
            </a:pPr>
            <a:r>
              <a:rPr lang="en-US" sz="16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(10) </a:t>
            </a:r>
            <a:pPr indent="0" marL="0">
              <a:lnSpc>
                <a:spcPct val="120000"/>
              </a:lnSpc>
              <a:buNone/>
            </a:pPr>
            <a:r>
              <a:rPr lang="en-US" sz="1600" dirty="0">
                <a:solidFill>
                  <a:srgbClr val="1E2B2A"/>
                </a:solidFill>
              </a:rPr>
              <a:t>Some people who had never been ill but were just worried might </a:t>
            </a:r>
            <a:pPr indent="0" marL="0">
              <a:lnSpc>
                <a:spcPct val="120000"/>
              </a:lnSpc>
              <a:buNone/>
            </a:pPr>
            <a:r>
              <a:rPr lang="en-US" sz="1600" b="1" dirty="0">
                <a:solidFill>
                  <a:srgbClr val="2C7DA0"/>
                </a:solidFill>
              </a:rPr>
              <a:t>have new hearts implanted</a:t>
            </a:r>
            <a:pPr indent="0" marL="0">
              <a:lnSpc>
                <a:spcPct val="120000"/>
              </a:lnSpc>
              <a:buNone/>
            </a:pPr>
            <a:r>
              <a:rPr lang="en-US" sz="1600" dirty="0">
                <a:solidFill>
                  <a:srgbClr val="1E2B2A"/>
                </a:solidFill>
              </a:rPr>
              <a:t>.</a:t>
            </a:r>
            <a:endParaRPr lang="en-US" sz="13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potential </a:t>
            </a:r>
            <a:pPr indent="0" marL="0">
              <a:lnSpc>
                <a:spcPct val="110000"/>
              </a:lnSpc>
              <a:buNone/>
            </a:pPr>
            <a:r>
              <a:rPr lang="en-US" sz="1400" dirty="0">
                <a:solidFill>
                  <a:srgbClr val="1E2B2A"/>
                </a:solidFill>
              </a:rPr>
              <a:t>잠재적인   ·   </a:t>
            </a:r>
            <a:pPr indent="0" marL="0">
              <a:lnSpc>
                <a:spcPct val="110000"/>
              </a:lnSpc>
              <a:buNone/>
            </a:pPr>
            <a:r>
              <a:rPr lang="en-US" sz="1400" b="1" dirty="0">
                <a:solidFill>
                  <a:srgbClr val="1F7A64"/>
                </a:solidFill>
              </a:rPr>
              <a:t>invisible </a:t>
            </a:r>
            <a:pPr indent="0" marL="0">
              <a:lnSpc>
                <a:spcPct val="110000"/>
              </a:lnSpc>
              <a:buNone/>
            </a:pPr>
            <a:r>
              <a:rPr lang="en-US" sz="1400" dirty="0">
                <a:solidFill>
                  <a:srgbClr val="1E2B2A"/>
                </a:solidFill>
              </a:rPr>
              <a:t>보이지 않는   ·   </a:t>
            </a:r>
            <a:pPr indent="0" marL="0">
              <a:lnSpc>
                <a:spcPct val="110000"/>
              </a:lnSpc>
              <a:buNone/>
            </a:pPr>
            <a:r>
              <a:rPr lang="en-US" sz="1400" b="1" dirty="0">
                <a:solidFill>
                  <a:srgbClr val="1F7A64"/>
                </a:solidFill>
              </a:rPr>
              <a:t>artificial </a:t>
            </a:r>
            <a:pPr indent="0" marL="0">
              <a:lnSpc>
                <a:spcPct val="110000"/>
              </a:lnSpc>
              <a:buNone/>
            </a:pPr>
            <a:r>
              <a:rPr lang="en-US" sz="1400" dirty="0">
                <a:solidFill>
                  <a:srgbClr val="1E2B2A"/>
                </a:solidFill>
              </a:rPr>
              <a:t>인공의   ·   </a:t>
            </a:r>
            <a:pPr indent="0" marL="0">
              <a:lnSpc>
                <a:spcPct val="110000"/>
              </a:lnSpc>
              <a:buNone/>
            </a:pPr>
            <a:r>
              <a:rPr lang="en-US" sz="1400" b="1" dirty="0">
                <a:solidFill>
                  <a:srgbClr val="1F7A64"/>
                </a:solidFill>
              </a:rPr>
              <a:t>implanted </a:t>
            </a:r>
            <a:pPr indent="0" marL="0">
              <a:lnSpc>
                <a:spcPct val="110000"/>
              </a:lnSpc>
              <a:buNone/>
            </a:pPr>
            <a:r>
              <a:rPr lang="en-US" sz="1400" dirty="0">
                <a:solidFill>
                  <a:srgbClr val="1E2B2A"/>
                </a:solidFill>
              </a:rPr>
              <a:t>이식된   ·   </a:t>
            </a:r>
            <a:pPr indent="0" marL="0">
              <a:lnSpc>
                <a:spcPct val="110000"/>
              </a:lnSpc>
              <a:buNone/>
            </a:pPr>
            <a:r>
              <a:rPr lang="en-US" sz="1400" b="1" dirty="0">
                <a:solidFill>
                  <a:srgbClr val="1F7A64"/>
                </a:solidFill>
              </a:rPr>
              <a:t>gave out </a:t>
            </a:r>
            <a:pPr indent="0" marL="0">
              <a:lnSpc>
                <a:spcPct val="110000"/>
              </a:lnSpc>
              <a:buNone/>
            </a:pPr>
            <a:r>
              <a:rPr lang="en-US" sz="1400" dirty="0">
                <a:solidFill>
                  <a:srgbClr val="1E2B2A"/>
                </a:solidFill>
              </a:rPr>
              <a:t>기능을 다했다   ·   </a:t>
            </a:r>
            <a:pPr indent="0" marL="0">
              <a:lnSpc>
                <a:spcPct val="110000"/>
              </a:lnSpc>
              <a:buNone/>
            </a:pPr>
            <a:r>
              <a:rPr lang="en-US" sz="1400" b="1" dirty="0">
                <a:solidFill>
                  <a:srgbClr val="1F7A64"/>
                </a:solidFill>
              </a:rPr>
              <a:t>readily </a:t>
            </a:r>
            <a:pPr indent="0" marL="0">
              <a:lnSpc>
                <a:spcPct val="110000"/>
              </a:lnSpc>
              <a:buNone/>
            </a:pPr>
            <a:r>
              <a:rPr lang="en-US" sz="1400" dirty="0">
                <a:solidFill>
                  <a:srgbClr val="1E2B2A"/>
                </a:solidFill>
              </a:rPr>
              <a:t>쉽게</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Wanting to buy  …  leaves that potential patient invisible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leave O C</a:t>
            </a:r>
            <a:endParaRPr lang="en-US" sz="1700" dirty="0"/>
          </a:p>
          <a:p>
            <a:pPr indent="0" marL="0">
              <a:spcAft>
                <a:spcPts val="200"/>
              </a:spcAft>
              <a:buNone/>
            </a:pPr>
            <a:r>
              <a:rPr lang="en-US" sz="1400" dirty="0">
                <a:solidFill>
                  <a:srgbClr val="1E2B2A"/>
                </a:solidFill>
              </a:rPr>
              <a:t>동명사 주어는 단수 → leaves. 목적격 보어 자리에 형용사 invisible (부사 X)</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does not effectively participate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latent demand(단수) → does</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If further development reduced  …  more people would get them</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가정법 과거</a:t>
            </a:r>
            <a:endParaRPr lang="en-US" sz="1700" dirty="0"/>
          </a:p>
          <a:p>
            <a:pPr indent="0" marL="0">
              <a:spcAft>
                <a:spcPts val="200"/>
              </a:spcAft>
              <a:buNone/>
            </a:pPr>
            <a:r>
              <a:rPr lang="en-US" sz="1400" dirty="0">
                <a:solidFill>
                  <a:srgbClr val="1E2B2A"/>
                </a:solidFill>
              </a:rPr>
              <a:t>If + S + 과거동사, S + would + 동사원형: 현재 사실의 가정</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have new hearts implanted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p.p.</a:t>
            </a:r>
            <a:endParaRPr lang="en-US" sz="1700" dirty="0"/>
          </a:p>
          <a:p>
            <a:pPr indent="0" marL="0">
              <a:spcAft>
                <a:spcPts val="200"/>
              </a:spcAft>
              <a:buNone/>
            </a:pPr>
            <a:r>
              <a:rPr lang="en-US" sz="1400" dirty="0">
                <a:solidFill>
                  <a:srgbClr val="1E2B2A"/>
                </a:solidFill>
              </a:rPr>
              <a:t>심장이 '이식되는' 것 → 목적격 보어 과거분사 implanted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Historians do more than select and interpret evidence: they also organize the evidence in order to create an understandable (and, they hope, persuasive) narrative.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also make events understandable by casting them in a particular light or giving their narrative a particular tone.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Similarly, one historian may view a certain chain of events as improvement, while another may perceive it as a decline.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These are just a few of the ways </a:t>
            </a:r>
            <a:pPr indent="0" marL="0">
              <a:lnSpc>
                <a:spcPct val="115000"/>
              </a:lnSpc>
              <a:buNone/>
            </a:pPr>
            <a:r>
              <a:rPr lang="en-US" sz="1450" b="1" dirty="0">
                <a:solidFill>
                  <a:srgbClr val="EF5B3F"/>
                </a:solidFill>
              </a:rPr>
              <a:t>____________</a:t>
            </a:r>
            <a:pPr indent="0" marL="0">
              <a:lnSpc>
                <a:spcPct val="115000"/>
              </a:lnSpc>
              <a:buNone/>
            </a:pPr>
            <a:r>
              <a:rPr lang="en-US" sz="1450" dirty="0">
                <a:solidFill>
                  <a:srgbClr val="1E2B2A"/>
                </a:solidFill>
              </a:rPr>
              <a:t>.</a:t>
            </a:r>
            <a:endParaRPr lang="en-US" sz="1450" dirty="0"/>
          </a:p>
          <a:p>
            <a:pPr algn="r" indent="0" marL="0">
              <a:lnSpc>
                <a:spcPct val="115000"/>
              </a:lnSpc>
              <a:spcBef>
                <a:spcPts val="200"/>
              </a:spcBef>
              <a:buNone/>
            </a:pPr>
            <a:r>
              <a:rPr lang="en-US" sz="1100" i="1" dirty="0">
                <a:solidFill>
                  <a:srgbClr val="6E7F7C"/>
                </a:solidFill>
              </a:rPr>
              <a:t>* plausible: 그럴듯한   ** allude to: ~을 넌지시 암시하다</a:t>
            </a:r>
            <a:endParaRPr lang="en-US" sz="1450" dirty="0"/>
          </a:p>
          <a:p>
            <a:pPr indent="0" marL="0">
              <a:lnSpc>
                <a:spcPct val="115000"/>
              </a:lnSpc>
              <a:spcBef>
                <a:spcPts val="1000"/>
              </a:spcBef>
              <a:buNone/>
            </a:pPr>
            <a:r>
              <a:rPr lang="en-US" sz="1450" dirty="0">
                <a:solidFill>
                  <a:srgbClr val="14453D"/>
                </a:solidFill>
              </a:rPr>
              <a:t>①  historians may make narrative sense of history</a:t>
            </a:r>
            <a:endParaRPr lang="en-US" sz="1450" dirty="0"/>
          </a:p>
          <a:p>
            <a:pPr indent="0" marL="0">
              <a:lnSpc>
                <a:spcPct val="115000"/>
              </a:lnSpc>
              <a:spcBef>
                <a:spcPts val="200"/>
              </a:spcBef>
              <a:buNone/>
            </a:pPr>
            <a:r>
              <a:rPr lang="en-US" sz="1450" dirty="0">
                <a:solidFill>
                  <a:srgbClr val="14453D"/>
                </a:solidFill>
              </a:rPr>
              <a:t>②  historical research is driven and communicated</a:t>
            </a:r>
            <a:endParaRPr lang="en-US" sz="1450" dirty="0"/>
          </a:p>
          <a:p>
            <a:pPr indent="0" marL="0">
              <a:lnSpc>
                <a:spcPct val="115000"/>
              </a:lnSpc>
              <a:spcBef>
                <a:spcPts val="200"/>
              </a:spcBef>
              <a:buNone/>
            </a:pPr>
            <a:r>
              <a:rPr lang="en-US" sz="1450" dirty="0">
                <a:solidFill>
                  <a:srgbClr val="14453D"/>
                </a:solidFill>
              </a:rPr>
              <a:t>③  historical approaches enrich and diversify knowledge</a:t>
            </a:r>
            <a:endParaRPr lang="en-US" sz="1450" dirty="0"/>
          </a:p>
          <a:p>
            <a:pPr indent="0" marL="0">
              <a:lnSpc>
                <a:spcPct val="115000"/>
              </a:lnSpc>
              <a:spcBef>
                <a:spcPts val="200"/>
              </a:spcBef>
              <a:buNone/>
            </a:pPr>
            <a:r>
              <a:rPr lang="en-US" sz="1450" dirty="0">
                <a:solidFill>
                  <a:srgbClr val="14453D"/>
                </a:solidFill>
              </a:rPr>
              <a:t>④  historical narratives can be used as an instructive resource</a:t>
            </a:r>
            <a:endParaRPr lang="en-US" sz="1450" dirty="0"/>
          </a:p>
          <a:p>
            <a:pPr indent="0" marL="0">
              <a:lnSpc>
                <a:spcPct val="115000"/>
              </a:lnSpc>
              <a:spcBef>
                <a:spcPts val="200"/>
              </a:spcBef>
              <a:buNone/>
            </a:pPr>
            <a:r>
              <a:rPr lang="en-US" sz="1450" dirty="0">
                <a:solidFill>
                  <a:srgbClr val="14453D"/>
                </a:solidFill>
              </a:rPr>
              <a:t>⑤  historians use fiction to inspire empathy for past generations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200" b="1" dirty="0">
                <a:solidFill>
                  <a:srgbClr val="1F7A64"/>
                </a:solidFill>
              </a:rPr>
              <a:t>(1) </a:t>
            </a:r>
            <a:pPr indent="0" marL="0">
              <a:lnSpc>
                <a:spcPct val="120000"/>
              </a:lnSpc>
              <a:buNone/>
            </a:pPr>
            <a:r>
              <a:rPr lang="en-US" sz="1500" dirty="0">
                <a:solidFill>
                  <a:srgbClr val="1E2B2A"/>
                </a:solidFill>
                <a:highlight>
                  <a:srgbClr val="FFD45C"/>
                </a:highlight>
              </a:rPr>
              <a:t>Historians do more than select and </a:t>
            </a:r>
            <a:pPr indent="0" marL="0">
              <a:lnSpc>
                <a:spcPct val="120000"/>
              </a:lnSpc>
              <a:buNone/>
            </a:pPr>
            <a:r>
              <a:rPr lang="en-US" sz="1500" u="dotted" dirty="0">
                <a:solidFill>
                  <a:srgbClr val="1F7A64"/>
                </a:solidFill>
                <a:highlight>
                  <a:srgbClr val="FFD45C"/>
                </a:highlight>
                <a:uFill>
                  <a:solidFill>
                    <a:srgbClr val="1F7A64"/>
                  </a:solidFill>
                </a:uFill>
              </a:rPr>
              <a:t>interpret</a:t>
            </a:r>
            <a:pPr indent="0" marL="0">
              <a:lnSpc>
                <a:spcPct val="120000"/>
              </a:lnSpc>
              <a:buNone/>
            </a:pPr>
            <a:r>
              <a:rPr lang="en-US" sz="1500" dirty="0">
                <a:solidFill>
                  <a:srgbClr val="1E2B2A"/>
                </a:solidFill>
                <a:highlight>
                  <a:srgbClr val="FFD45C"/>
                </a:highlight>
              </a:rPr>
              <a:t> evidence: they also organize the evidence in order to create an understandable (and, they hope, </a:t>
            </a:r>
            <a:pPr indent="0" marL="0">
              <a:lnSpc>
                <a:spcPct val="120000"/>
              </a:lnSpc>
              <a:buNone/>
            </a:pPr>
            <a:r>
              <a:rPr lang="en-US" sz="1500" u="dotted" dirty="0">
                <a:solidFill>
                  <a:srgbClr val="1F7A64"/>
                </a:solidFill>
                <a:highlight>
                  <a:srgbClr val="FFD45C"/>
                </a:highlight>
                <a:uFill>
                  <a:solidFill>
                    <a:srgbClr val="1F7A64"/>
                  </a:solidFill>
                </a:uFill>
              </a:rPr>
              <a:t>persuasive</a:t>
            </a:r>
            <a:pPr indent="0" marL="0">
              <a:lnSpc>
                <a:spcPct val="120000"/>
              </a:lnSpc>
              <a:buNone/>
            </a:pPr>
            <a:r>
              <a:rPr lang="en-US" sz="1500" dirty="0">
                <a:solidFill>
                  <a:srgbClr val="1E2B2A"/>
                </a:solidFill>
                <a:highlight>
                  <a:srgbClr val="FFD45C"/>
                </a:highlight>
              </a:rPr>
              <a:t>) </a:t>
            </a:r>
            <a:pPr indent="0" marL="0">
              <a:lnSpc>
                <a:spcPct val="120000"/>
              </a:lnSpc>
              <a:buNone/>
            </a:pPr>
            <a:r>
              <a:rPr lang="en-US" sz="1500" u="dotted" dirty="0">
                <a:solidFill>
                  <a:srgbClr val="1F7A64"/>
                </a:solidFill>
                <a:highlight>
                  <a:srgbClr val="FFD45C"/>
                </a:highlight>
                <a:uFill>
                  <a:solidFill>
                    <a:srgbClr val="1F7A64"/>
                  </a:solidFill>
                </a:uFill>
              </a:rPr>
              <a:t>narrative</a:t>
            </a:r>
            <a:pPr indent="0" marL="0">
              <a:lnSpc>
                <a:spcPct val="120000"/>
              </a:lnSpc>
              <a:buNone/>
            </a:pPr>
            <a:r>
              <a:rPr lang="en-US" sz="1500" dirty="0">
                <a:solidFill>
                  <a:srgbClr val="1E2B2A"/>
                </a:solidFill>
                <a:highlight>
                  <a:srgbClr val="FFD45C"/>
                </a:highlight>
              </a:rPr>
              <a:t>.</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(2) </a:t>
            </a:r>
            <a:pPr indent="0" marL="0">
              <a:lnSpc>
                <a:spcPct val="120000"/>
              </a:lnSpc>
              <a:buNone/>
            </a:pPr>
            <a:r>
              <a:rPr lang="en-US" sz="1500" u="dotted" dirty="0">
                <a:solidFill>
                  <a:srgbClr val="1F7A64"/>
                </a:solidFill>
                <a:uFill>
                  <a:solidFill>
                    <a:srgbClr val="1F7A64"/>
                  </a:solidFill>
                </a:uFill>
              </a:rPr>
              <a:t>Chronological</a:t>
            </a:r>
            <a:pPr indent="0" marL="0">
              <a:lnSpc>
                <a:spcPct val="120000"/>
              </a:lnSpc>
              <a:buNone/>
            </a:pPr>
            <a:r>
              <a:rPr lang="en-US" sz="1500" dirty="0">
                <a:solidFill>
                  <a:srgbClr val="1E2B2A"/>
                </a:solidFill>
              </a:rPr>
              <a:t> order is generally part of making history plausible, especially when the causes of change are central, although in practice much historical writing must go back and forth in time in order to pick up various </a:t>
            </a:r>
            <a:pPr indent="0" marL="0">
              <a:lnSpc>
                <a:spcPct val="120000"/>
              </a:lnSpc>
              <a:buNone/>
            </a:pPr>
            <a:r>
              <a:rPr lang="en-US" sz="1500" u="dotted" dirty="0">
                <a:solidFill>
                  <a:srgbClr val="1F7A64"/>
                </a:solidFill>
                <a:uFill>
                  <a:solidFill>
                    <a:srgbClr val="1F7A64"/>
                  </a:solidFill>
                </a:uFill>
              </a:rPr>
              <a:t>threads</a:t>
            </a:r>
            <a:pPr indent="0" marL="0">
              <a:lnSpc>
                <a:spcPct val="120000"/>
              </a:lnSpc>
              <a:buNone/>
            </a:pPr>
            <a:r>
              <a:rPr lang="en-US" sz="1500" dirty="0">
                <a:solidFill>
                  <a:srgbClr val="1E2B2A"/>
                </a:solidFill>
              </a:rPr>
              <a:t> of a complex story.</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(3) </a:t>
            </a:r>
            <a:pPr indent="0" marL="0">
              <a:lnSpc>
                <a:spcPct val="120000"/>
              </a:lnSpc>
              <a:buNone/>
            </a:pPr>
            <a:r>
              <a:rPr lang="en-US" sz="1500" dirty="0">
                <a:solidFill>
                  <a:srgbClr val="1E2B2A"/>
                </a:solidFill>
                <a:highlight>
                  <a:srgbClr val="FFD45C"/>
                </a:highlight>
              </a:rPr>
              <a:t>Historians also make events understandable </a:t>
            </a:r>
            <a:pPr indent="0" marL="0">
              <a:lnSpc>
                <a:spcPct val="120000"/>
              </a:lnSpc>
              <a:buNone/>
            </a:pPr>
            <a:r>
              <a:rPr lang="en-US" sz="1500" b="1" dirty="0">
                <a:solidFill>
                  <a:srgbClr val="2C7DA0"/>
                </a:solidFill>
                <a:highlight>
                  <a:srgbClr val="FFD45C"/>
                </a:highlight>
              </a:rPr>
              <a:t>by casting them in a particular light or giving</a:t>
            </a:r>
            <a:pPr indent="0" marL="0">
              <a:lnSpc>
                <a:spcPct val="120000"/>
              </a:lnSpc>
              <a:buNone/>
            </a:pPr>
            <a:r>
              <a:rPr lang="en-US" sz="1500" dirty="0">
                <a:solidFill>
                  <a:srgbClr val="1E2B2A"/>
                </a:solidFill>
                <a:highlight>
                  <a:srgbClr val="FFD45C"/>
                </a:highlight>
              </a:rPr>
              <a:t> their narrative a particular tone.</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(4) </a:t>
            </a:r>
            <a:pPr indent="0" marL="0">
              <a:lnSpc>
                <a:spcPct val="120000"/>
              </a:lnSpc>
              <a:buNone/>
            </a:pPr>
            <a:r>
              <a:rPr lang="en-US" sz="1500" dirty="0">
                <a:solidFill>
                  <a:srgbClr val="1E2B2A"/>
                </a:solidFill>
              </a:rPr>
              <a:t>For example, a historian might highlight historical </a:t>
            </a:r>
            <a:pPr indent="0" marL="0">
              <a:lnSpc>
                <a:spcPct val="120000"/>
              </a:lnSpc>
              <a:buNone/>
            </a:pPr>
            <a:r>
              <a:rPr lang="en-US" sz="1500" u="dotted" dirty="0">
                <a:solidFill>
                  <a:srgbClr val="1F7A64"/>
                </a:solidFill>
                <a:uFill>
                  <a:solidFill>
                    <a:srgbClr val="1F7A64"/>
                  </a:solidFill>
                </a:uFill>
              </a:rPr>
              <a:t>ironies</a:t>
            </a:r>
            <a:pPr indent="0" marL="0">
              <a:lnSpc>
                <a:spcPct val="120000"/>
              </a:lnSpc>
              <a:buNone/>
            </a:pPr>
            <a:r>
              <a:rPr lang="en-US" sz="1500" dirty="0">
                <a:solidFill>
                  <a:srgbClr val="1E2B2A"/>
                </a:solidFill>
              </a:rPr>
              <a:t>, such as the way President George W. Bush once criticized "nation building," </a:t>
            </a:r>
            <a:pPr indent="0" marL="0">
              <a:lnSpc>
                <a:spcPct val="120000"/>
              </a:lnSpc>
              <a:buNone/>
            </a:pPr>
            <a:r>
              <a:rPr lang="en-US" sz="1500" b="1" dirty="0">
                <a:solidFill>
                  <a:srgbClr val="2C7DA0"/>
                </a:solidFill>
              </a:rPr>
              <a:t>in which the U.S. rebuilds</a:t>
            </a:r>
            <a:pPr indent="0" marL="0">
              <a:lnSpc>
                <a:spcPct val="120000"/>
              </a:lnSpc>
              <a:buNone/>
            </a:pPr>
            <a:r>
              <a:rPr lang="en-US" sz="1500" dirty="0">
                <a:solidFill>
                  <a:srgbClr val="1E2B2A"/>
                </a:solidFill>
              </a:rPr>
              <a:t> a country's economic and political structure when its government fails; but later, as a consequence of launching a war in Iraq, Bush had to attempt exactly that.</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(5) </a:t>
            </a:r>
            <a:pPr indent="0" marL="0">
              <a:lnSpc>
                <a:spcPct val="120000"/>
              </a:lnSpc>
              <a:buNone/>
            </a:pPr>
            <a:r>
              <a:rPr lang="en-US" sz="1500" dirty="0">
                <a:solidFill>
                  <a:srgbClr val="1E2B2A"/>
                </a:solidFill>
              </a:rPr>
              <a:t>Historians can also </a:t>
            </a:r>
            <a:pPr indent="0" marL="0">
              <a:lnSpc>
                <a:spcPct val="120000"/>
              </a:lnSpc>
              <a:buNone/>
            </a:pPr>
            <a:r>
              <a:rPr lang="en-US" sz="1500" u="dotted" dirty="0">
                <a:solidFill>
                  <a:srgbClr val="1F7A64"/>
                </a:solidFill>
                <a:uFill>
                  <a:solidFill>
                    <a:srgbClr val="1F7A64"/>
                  </a:solidFill>
                </a:uFill>
              </a:rPr>
              <a:t>romanticize</a:t>
            </a:r>
            <a:pPr indent="0" marL="0">
              <a:lnSpc>
                <a:spcPct val="120000"/>
              </a:lnSpc>
              <a:buNone/>
            </a:pPr>
            <a:r>
              <a:rPr lang="en-US" sz="1500" dirty="0">
                <a:solidFill>
                  <a:srgbClr val="1E2B2A"/>
                </a:solidFill>
              </a:rPr>
              <a:t> events, </a:t>
            </a:r>
            <a:pPr indent="0" marL="0">
              <a:lnSpc>
                <a:spcPct val="120000"/>
              </a:lnSpc>
              <a:buNone/>
            </a:pPr>
            <a:r>
              <a:rPr lang="en-US" sz="1500" b="1" dirty="0">
                <a:solidFill>
                  <a:srgbClr val="2C7DA0"/>
                </a:solidFill>
              </a:rPr>
              <a:t>as did those who described</a:t>
            </a:r>
            <a:pPr indent="0" marL="0">
              <a:lnSpc>
                <a:spcPct val="120000"/>
              </a:lnSpc>
              <a:buNone/>
            </a:pPr>
            <a:r>
              <a:rPr lang="en-US" sz="1500" dirty="0">
                <a:solidFill>
                  <a:srgbClr val="1E2B2A"/>
                </a:solidFill>
              </a:rPr>
              <a:t> John F. Kennedy's term as President as "Camelot," alluding to a Broadway musical about the heroic King Arthur and the Knights of the Round Table.</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(6) </a:t>
            </a:r>
            <a:pPr indent="0" marL="0">
              <a:lnSpc>
                <a:spcPct val="120000"/>
              </a:lnSpc>
              <a:buNone/>
            </a:pPr>
            <a:r>
              <a:rPr lang="en-US" sz="1500" dirty="0">
                <a:solidFill>
                  <a:srgbClr val="1E2B2A"/>
                </a:solidFill>
              </a:rPr>
              <a:t>Similarly, one historian may </a:t>
            </a:r>
            <a:pPr indent="0" marL="0">
              <a:lnSpc>
                <a:spcPct val="120000"/>
              </a:lnSpc>
              <a:buNone/>
            </a:pPr>
            <a:r>
              <a:rPr lang="en-US" sz="1500" b="1" dirty="0">
                <a:solidFill>
                  <a:srgbClr val="2C7DA0"/>
                </a:solidFill>
              </a:rPr>
              <a:t>view a certain chain of events as</a:t>
            </a:r>
            <a:pPr indent="0" marL="0">
              <a:lnSpc>
                <a:spcPct val="120000"/>
              </a:lnSpc>
              <a:buNone/>
            </a:pPr>
            <a:r>
              <a:rPr lang="en-US" sz="1500" dirty="0">
                <a:solidFill>
                  <a:srgbClr val="1E2B2A"/>
                </a:solidFill>
              </a:rPr>
              <a:t> improvement, while another may </a:t>
            </a:r>
            <a:pPr indent="0" marL="0">
              <a:lnSpc>
                <a:spcPct val="120000"/>
              </a:lnSpc>
              <a:buNone/>
            </a:pPr>
            <a:r>
              <a:rPr lang="en-US" sz="1500" b="1" dirty="0">
                <a:solidFill>
                  <a:srgbClr val="2C7DA0"/>
                </a:solidFill>
              </a:rPr>
              <a:t>perceive it as</a:t>
            </a:r>
            <a:pPr indent="0" marL="0">
              <a:lnSpc>
                <a:spcPct val="120000"/>
              </a:lnSpc>
              <a:buNone/>
            </a:pPr>
            <a:r>
              <a:rPr lang="en-US" sz="1500" dirty="0">
                <a:solidFill>
                  <a:srgbClr val="1E2B2A"/>
                </a:solidFill>
              </a:rPr>
              <a:t> a </a:t>
            </a:r>
            <a:pPr indent="0" marL="0">
              <a:lnSpc>
                <a:spcPct val="120000"/>
              </a:lnSpc>
              <a:buNone/>
            </a:pPr>
            <a:r>
              <a:rPr lang="en-US" sz="1500" u="dotted" dirty="0">
                <a:solidFill>
                  <a:srgbClr val="1F7A64"/>
                </a:solidFill>
                <a:uFill>
                  <a:solidFill>
                    <a:srgbClr val="1F7A64"/>
                  </a:solidFill>
                </a:uFill>
              </a:rPr>
              <a:t>decline</a:t>
            </a:r>
            <a:pPr indent="0" marL="0">
              <a:lnSpc>
                <a:spcPct val="120000"/>
              </a:lnSpc>
              <a:buNone/>
            </a:pPr>
            <a:r>
              <a:rPr lang="en-US" sz="1500" dirty="0">
                <a:solidFill>
                  <a:srgbClr val="1E2B2A"/>
                </a:solidFill>
              </a:rPr>
              <a:t>.</a:t>
            </a:r>
            <a:pPr indent="0" marL="0">
              <a:lnSpc>
                <a:spcPct val="120000"/>
              </a:lnSpc>
              <a:buNone/>
            </a:pPr>
            <a:r>
              <a:rPr lang="en-US" sz="1500" dirty="0">
                <a:solidFill>
                  <a:srgbClr val="000000"/>
                </a:solidFill>
              </a:rPr>
              <a:t> </a:t>
            </a:r>
            <a:pPr indent="0" marL="0">
              <a:lnSpc>
                <a:spcPct val="120000"/>
              </a:lnSpc>
              <a:buNone/>
            </a:pPr>
            <a:r>
              <a:rPr lang="en-US" sz="1200" b="1" dirty="0">
                <a:solidFill>
                  <a:srgbClr val="1F7A64"/>
                </a:solidFill>
              </a:rPr>
              <a:t>(7) </a:t>
            </a:r>
            <a:pPr indent="0" marL="0">
              <a:lnSpc>
                <a:spcPct val="120000"/>
              </a:lnSpc>
              <a:buNone/>
            </a:pPr>
            <a:r>
              <a:rPr lang="en-US" sz="1500" dirty="0">
                <a:solidFill>
                  <a:srgbClr val="1E2B2A"/>
                </a:solidFill>
              </a:rPr>
              <a:t>These are just a few of the ways </a:t>
            </a:r>
            <a:pPr indent="0" marL="0">
              <a:lnSpc>
                <a:spcPct val="120000"/>
              </a:lnSpc>
              <a:buNone/>
            </a:pPr>
            <a:r>
              <a:rPr lang="en-US" sz="1500" b="1" dirty="0">
                <a:solidFill>
                  <a:srgbClr val="EF5B3F"/>
                </a:solidFill>
              </a:rPr>
              <a:t>____________</a:t>
            </a:r>
            <a:pPr indent="0" marL="0">
              <a:lnSpc>
                <a:spcPct val="120000"/>
              </a:lnSpc>
              <a:buNone/>
            </a:pPr>
            <a:r>
              <a:rPr lang="en-US" sz="1500" dirty="0">
                <a:solidFill>
                  <a:srgbClr val="1E2B2A"/>
                </a:solidFill>
              </a:rPr>
              <a:t>.</a:t>
            </a:r>
            <a:endParaRPr lang="en-US" sz="12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interpret </a:t>
            </a:r>
            <a:pPr indent="0" marL="0">
              <a:lnSpc>
                <a:spcPct val="110000"/>
              </a:lnSpc>
              <a:buNone/>
            </a:pPr>
            <a:r>
              <a:rPr lang="en-US" sz="1400" dirty="0">
                <a:solidFill>
                  <a:srgbClr val="1E2B2A"/>
                </a:solidFill>
              </a:rPr>
              <a:t>해석하다   ·   </a:t>
            </a:r>
            <a:pPr indent="0" marL="0">
              <a:lnSpc>
                <a:spcPct val="110000"/>
              </a:lnSpc>
              <a:buNone/>
            </a:pPr>
            <a:r>
              <a:rPr lang="en-US" sz="1400" b="1" dirty="0">
                <a:solidFill>
                  <a:srgbClr val="1F7A64"/>
                </a:solidFill>
              </a:rPr>
              <a:t>persuasive </a:t>
            </a:r>
            <a:pPr indent="0" marL="0">
              <a:lnSpc>
                <a:spcPct val="110000"/>
              </a:lnSpc>
              <a:buNone/>
            </a:pPr>
            <a:r>
              <a:rPr lang="en-US" sz="1400" dirty="0">
                <a:solidFill>
                  <a:srgbClr val="1E2B2A"/>
                </a:solidFill>
              </a:rPr>
              <a:t>설득력 있는   ·   </a:t>
            </a:r>
            <a:pPr indent="0" marL="0">
              <a:lnSpc>
                <a:spcPct val="110000"/>
              </a:lnSpc>
              <a:buNone/>
            </a:pPr>
            <a:r>
              <a:rPr lang="en-US" sz="1400" b="1" dirty="0">
                <a:solidFill>
                  <a:srgbClr val="1F7A64"/>
                </a:solidFill>
              </a:rPr>
              <a:t>narrative </a:t>
            </a:r>
            <a:pPr indent="0" marL="0">
              <a:lnSpc>
                <a:spcPct val="110000"/>
              </a:lnSpc>
              <a:buNone/>
            </a:pPr>
            <a:r>
              <a:rPr lang="en-US" sz="1400" dirty="0">
                <a:solidFill>
                  <a:srgbClr val="1E2B2A"/>
                </a:solidFill>
              </a:rPr>
              <a:t>서사   ·   </a:t>
            </a:r>
            <a:pPr indent="0" marL="0">
              <a:lnSpc>
                <a:spcPct val="110000"/>
              </a:lnSpc>
              <a:buNone/>
            </a:pPr>
            <a:r>
              <a:rPr lang="en-US" sz="1400" b="1" dirty="0">
                <a:solidFill>
                  <a:srgbClr val="1F7A64"/>
                </a:solidFill>
              </a:rPr>
              <a:t>Chronological </a:t>
            </a:r>
            <a:pPr indent="0" marL="0">
              <a:lnSpc>
                <a:spcPct val="110000"/>
              </a:lnSpc>
              <a:buNone/>
            </a:pPr>
            <a:r>
              <a:rPr lang="en-US" sz="1400" dirty="0">
                <a:solidFill>
                  <a:srgbClr val="1E2B2A"/>
                </a:solidFill>
              </a:rPr>
              <a:t>연대순의   ·   </a:t>
            </a:r>
            <a:pPr indent="0" marL="0">
              <a:lnSpc>
                <a:spcPct val="110000"/>
              </a:lnSpc>
              <a:buNone/>
            </a:pPr>
            <a:r>
              <a:rPr lang="en-US" sz="1400" b="1" dirty="0">
                <a:solidFill>
                  <a:srgbClr val="1F7A64"/>
                </a:solidFill>
              </a:rPr>
              <a:t>threads </a:t>
            </a:r>
            <a:pPr indent="0" marL="0">
              <a:lnSpc>
                <a:spcPct val="110000"/>
              </a:lnSpc>
              <a:buNone/>
            </a:pPr>
            <a:r>
              <a:rPr lang="en-US" sz="1400" dirty="0">
                <a:solidFill>
                  <a:srgbClr val="1E2B2A"/>
                </a:solidFill>
              </a:rPr>
              <a:t>가닥   ·   </a:t>
            </a:r>
            <a:pPr indent="0" marL="0">
              <a:lnSpc>
                <a:spcPct val="110000"/>
              </a:lnSpc>
              <a:buNone/>
            </a:pPr>
            <a:r>
              <a:rPr lang="en-US" sz="1400" b="1" dirty="0">
                <a:solidFill>
                  <a:srgbClr val="1F7A64"/>
                </a:solidFill>
              </a:rPr>
              <a:t>ironies </a:t>
            </a:r>
            <a:pPr indent="0" marL="0">
              <a:lnSpc>
                <a:spcPct val="110000"/>
              </a:lnSpc>
              <a:buNone/>
            </a:pPr>
            <a:r>
              <a:rPr lang="en-US" sz="1400" dirty="0">
                <a:solidFill>
                  <a:srgbClr val="1E2B2A"/>
                </a:solidFill>
              </a:rPr>
              <a:t>아이러니   ·   </a:t>
            </a:r>
            <a:pPr indent="0" marL="0">
              <a:lnSpc>
                <a:spcPct val="110000"/>
              </a:lnSpc>
              <a:buNone/>
            </a:pPr>
            <a:r>
              <a:rPr lang="en-US" sz="1400" b="1" dirty="0">
                <a:solidFill>
                  <a:srgbClr val="1F7A64"/>
                </a:solidFill>
              </a:rPr>
              <a:t>romanticize </a:t>
            </a:r>
            <a:pPr indent="0" marL="0">
              <a:lnSpc>
                <a:spcPct val="110000"/>
              </a:lnSpc>
              <a:buNone/>
            </a:pPr>
            <a:r>
              <a:rPr lang="en-US" sz="1400" dirty="0">
                <a:solidFill>
                  <a:srgbClr val="1E2B2A"/>
                </a:solidFill>
              </a:rPr>
              <a:t>낭만화하다   ·   </a:t>
            </a:r>
            <a:pPr indent="0" marL="0">
              <a:lnSpc>
                <a:spcPct val="110000"/>
              </a:lnSpc>
              <a:buNone/>
            </a:pPr>
            <a:r>
              <a:rPr lang="en-US" sz="1400" b="1" dirty="0">
                <a:solidFill>
                  <a:srgbClr val="1F7A64"/>
                </a:solidFill>
              </a:rPr>
              <a:t>decline </a:t>
            </a:r>
            <a:pPr indent="0" marL="0">
              <a:lnSpc>
                <a:spcPct val="110000"/>
              </a:lnSpc>
              <a:buNone/>
            </a:pPr>
            <a:r>
              <a:rPr lang="en-US" sz="1400" dirty="0">
                <a:solidFill>
                  <a:srgbClr val="1E2B2A"/>
                </a:solidFill>
              </a:rPr>
              <a:t>쇠퇴</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by casting them in a particular light or giving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by -ing 병렬</a:t>
            </a:r>
            <a:endParaRPr lang="en-US" sz="1700" dirty="0"/>
          </a:p>
          <a:p>
            <a:pPr indent="0" marL="0">
              <a:spcAft>
                <a:spcPts val="200"/>
              </a:spcAft>
              <a:buNone/>
            </a:pPr>
            <a:r>
              <a:rPr lang="en-US" sz="1400" dirty="0">
                <a:solidFill>
                  <a:srgbClr val="1E2B2A"/>
                </a:solidFill>
              </a:rPr>
              <a:t>by + casting / giving: or로 연결된 동명사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in which the U.S. rebuilds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in which = where, 뒤에 완전한 절 (선행사 nation building)</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as did those who described</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as + 대동사 + 주어 도치</a:t>
            </a:r>
            <a:endParaRPr lang="en-US" sz="1700" dirty="0"/>
          </a:p>
          <a:p>
            <a:pPr indent="0" marL="0">
              <a:spcAft>
                <a:spcPts val="200"/>
              </a:spcAft>
              <a:buNone/>
            </a:pPr>
            <a:r>
              <a:rPr lang="en-US" sz="1400" dirty="0">
                <a:solidFill>
                  <a:srgbClr val="1E2B2A"/>
                </a:solidFill>
              </a:rPr>
              <a:t>as did those = as those (romanticized events) did</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view a certain chain of events as  …  perceive it as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view / perceive A as B</a:t>
            </a:r>
            <a:endParaRPr lang="en-US" sz="1700" dirty="0"/>
          </a:p>
          <a:p>
            <a:pPr indent="0" marL="0">
              <a:spcAft>
                <a:spcPts val="200"/>
              </a:spcAft>
              <a:buNone/>
            </a:pPr>
            <a:r>
              <a:rPr lang="en-US" sz="1400" dirty="0">
                <a:solidFill>
                  <a:srgbClr val="1E2B2A"/>
                </a:solidFill>
              </a:rPr>
              <a:t>A를 B로 여기다 (regard A as B 유형) — as 자리 어법 출제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Prestige is a particular form of status that only humans recognize.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Prestige is almost the opposite.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Prestigious individuals are ones worthy of learning from ─ they are experts, older people.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And if someone has prestige in one field, they become high-status individuals and their influence won't be limited to their field; we are likely to copy all their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Indeed, prestige may have evolved as a way to enhance the benefits of cultural transmission.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Success in one area of life affords someone the status of general opinion leader.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We want to learn from successful individuals, or even simply be associated with them in some way, so that their reputation rubs off on us.</a:t>
            </a:r>
            <a:pPr indent="0" marL="0">
              <a:lnSpc>
                <a:spcPct val="115000"/>
              </a:lnSpc>
              <a:buNone/>
            </a:pPr>
            <a:r>
              <a:rPr lang="en-US" sz="1650" dirty="0">
                <a:solidFill>
                  <a:srgbClr val="000000"/>
                </a:solidFill>
              </a:rPr>
              <a:t> </a:t>
            </a:r>
            <a:pPr indent="0" marL="0">
              <a:lnSpc>
                <a:spcPct val="115000"/>
              </a:lnSpc>
              <a:buNone/>
            </a:pPr>
            <a:r>
              <a:rPr lang="en-US" sz="1650" b="1" u="sng" dirty="0">
                <a:solidFill>
                  <a:srgbClr val="1E2B2A"/>
                </a:solidFill>
              </a:rPr>
              <a:t>That's why a golfing hero can sell you a watch</a:t>
            </a:r>
            <a:pPr indent="0" marL="0">
              <a:lnSpc>
                <a:spcPct val="115000"/>
              </a:lnSpc>
              <a:buNone/>
            </a:pPr>
            <a:r>
              <a:rPr lang="en-US" sz="1650" dirty="0">
                <a:solidFill>
                  <a:srgbClr val="1E2B2A"/>
                </a:solidFill>
              </a:rPr>
              <a:t>.</a:t>
            </a:r>
            <a:endParaRPr lang="en-US" sz="1650" dirty="0"/>
          </a:p>
          <a:p>
            <a:pPr indent="0" marL="0">
              <a:lnSpc>
                <a:spcPct val="115000"/>
              </a:lnSpc>
              <a:spcBef>
                <a:spcPts val="1000"/>
              </a:spcBef>
              <a:buNone/>
            </a:pPr>
            <a:r>
              <a:rPr lang="en-US" sz="1650" dirty="0">
                <a:solidFill>
                  <a:srgbClr val="14453D"/>
                </a:solidFill>
              </a:rPr>
              <a:t>①  Making big money to gain influence is at the heart of prestige.</a:t>
            </a:r>
            <a:endParaRPr lang="en-US" sz="1650" dirty="0"/>
          </a:p>
          <a:p>
            <a:pPr indent="0" marL="0">
              <a:lnSpc>
                <a:spcPct val="115000"/>
              </a:lnSpc>
              <a:spcBef>
                <a:spcPts val="200"/>
              </a:spcBef>
              <a:buNone/>
            </a:pPr>
            <a:r>
              <a:rPr lang="en-US" sz="1650" dirty="0">
                <a:solidFill>
                  <a:srgbClr val="14453D"/>
                </a:solidFill>
              </a:rPr>
              <a:t>②  Prestige can open unexpected career paths after a main career ends.</a:t>
            </a:r>
            <a:endParaRPr lang="en-US" sz="1650" dirty="0"/>
          </a:p>
          <a:p>
            <a:pPr indent="0" marL="0">
              <a:lnSpc>
                <a:spcPct val="115000"/>
              </a:lnSpc>
              <a:spcBef>
                <a:spcPts val="200"/>
              </a:spcBef>
              <a:buNone/>
            </a:pPr>
            <a:r>
              <a:rPr lang="en-US" sz="1650" dirty="0">
                <a:solidFill>
                  <a:srgbClr val="14453D"/>
                </a:solidFill>
              </a:rPr>
              <a:t>③  People may purchase things for instant gratification to earn prestige.</a:t>
            </a:r>
            <a:endParaRPr lang="en-US" sz="1650" dirty="0"/>
          </a:p>
          <a:p>
            <a:pPr indent="0" marL="0">
              <a:lnSpc>
                <a:spcPct val="115000"/>
              </a:lnSpc>
              <a:spcBef>
                <a:spcPts val="200"/>
              </a:spcBef>
              <a:buNone/>
            </a:pPr>
            <a:r>
              <a:rPr lang="en-US" sz="1650" dirty="0">
                <a:solidFill>
                  <a:srgbClr val="14453D"/>
                </a:solidFill>
              </a:rPr>
              <a:t>④  Influence often extends beyond its original field when one gains prestige.</a:t>
            </a:r>
            <a:endParaRPr lang="en-US" sz="1650" dirty="0"/>
          </a:p>
          <a:p>
            <a:pPr indent="0" marL="0">
              <a:lnSpc>
                <a:spcPct val="115000"/>
              </a:lnSpc>
              <a:spcBef>
                <a:spcPts val="200"/>
              </a:spcBef>
              <a:buNone/>
            </a:pPr>
            <a:r>
              <a:rPr lang="en-US" sz="1650" dirty="0">
                <a:solidFill>
                  <a:srgbClr val="14453D"/>
                </a:solidFill>
              </a:rPr>
              <a:t>⑤  Prestige is sometimes inherited rather than earned through skill or knowledge.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u="dotted" dirty="0">
                <a:solidFill>
                  <a:srgbClr val="1F7A64"/>
                </a:solidFill>
                <a:uFill>
                  <a:solidFill>
                    <a:srgbClr val="1F7A64"/>
                  </a:solidFill>
                </a:uFill>
              </a:rPr>
              <a:t>Prestige</a:t>
            </a:r>
            <a:pPr indent="0" marL="0">
              <a:lnSpc>
                <a:spcPct val="120000"/>
              </a:lnSpc>
              <a:buNone/>
            </a:pPr>
            <a:r>
              <a:rPr lang="en-US" sz="1800" dirty="0">
                <a:solidFill>
                  <a:srgbClr val="1E2B2A"/>
                </a:solidFill>
              </a:rPr>
              <a:t> is a particular form of status </a:t>
            </a:r>
            <a:pPr indent="0" marL="0">
              <a:lnSpc>
                <a:spcPct val="120000"/>
              </a:lnSpc>
              <a:buNone/>
            </a:pPr>
            <a:r>
              <a:rPr lang="en-US" sz="1800" b="1" dirty="0">
                <a:solidFill>
                  <a:srgbClr val="2C7DA0"/>
                </a:solidFill>
              </a:rPr>
              <a:t>that only humans recognize</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Most animals observe the advantages of </a:t>
            </a:r>
            <a:pPr indent="0" marL="0">
              <a:lnSpc>
                <a:spcPct val="120000"/>
              </a:lnSpc>
              <a:buNone/>
            </a:pPr>
            <a:r>
              <a:rPr lang="en-US" sz="1800" u="dotted" dirty="0">
                <a:solidFill>
                  <a:srgbClr val="1F7A64"/>
                </a:solidFill>
                <a:uFill>
                  <a:solidFill>
                    <a:srgbClr val="1F7A64"/>
                  </a:solidFill>
                </a:uFill>
              </a:rPr>
              <a:t>dominance</a:t>
            </a:r>
            <a:pPr indent="0" marL="0">
              <a:lnSpc>
                <a:spcPct val="120000"/>
              </a:lnSpc>
              <a:buNone/>
            </a:pPr>
            <a:r>
              <a:rPr lang="en-US" sz="1800" dirty="0">
                <a:solidFill>
                  <a:srgbClr val="1E2B2A"/>
                </a:solidFill>
              </a:rPr>
              <a:t>, such as being the most powerful or </a:t>
            </a:r>
            <a:pPr indent="0" marL="0">
              <a:lnSpc>
                <a:spcPct val="120000"/>
              </a:lnSpc>
              <a:buNone/>
            </a:pPr>
            <a:r>
              <a:rPr lang="en-US" sz="1800" u="dotted" dirty="0">
                <a:solidFill>
                  <a:srgbClr val="1F7A64"/>
                </a:solidFill>
                <a:uFill>
                  <a:solidFill>
                    <a:srgbClr val="1F7A64"/>
                  </a:solidFill>
                </a:uFill>
              </a:rPr>
              <a:t>aggressive</a:t>
            </a:r>
            <a:pPr indent="0" marL="0">
              <a:lnSpc>
                <a:spcPct val="120000"/>
              </a:lnSpc>
              <a:buNone/>
            </a:pPr>
            <a:r>
              <a:rPr lang="en-US" sz="1800" dirty="0">
                <a:solidFill>
                  <a:srgbClr val="1E2B2A"/>
                </a:solidFill>
              </a:rPr>
              <a:t> individual, and these are also important for humans: </a:t>
            </a:r>
            <a:pPr indent="0" marL="0">
              <a:lnSpc>
                <a:spcPct val="120000"/>
              </a:lnSpc>
              <a:buNone/>
            </a:pPr>
            <a:r>
              <a:rPr lang="en-US" sz="1800" u="dotted" dirty="0">
                <a:solidFill>
                  <a:srgbClr val="1F7A64"/>
                </a:solidFill>
                <a:uFill>
                  <a:solidFill>
                    <a:srgbClr val="1F7A64"/>
                  </a:solidFill>
                </a:uFill>
              </a:rPr>
              <a:t>fearsome</a:t>
            </a:r>
            <a:pPr indent="0" marL="0">
              <a:lnSpc>
                <a:spcPct val="120000"/>
              </a:lnSpc>
              <a:buNone/>
            </a:pPr>
            <a:r>
              <a:rPr lang="en-US" sz="1800" dirty="0">
                <a:solidFill>
                  <a:srgbClr val="1E2B2A"/>
                </a:solidFill>
              </a:rPr>
              <a:t> warriors are celebrated universally.</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Prestige is almost the opposite.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Prestigious individuals are </a:t>
            </a:r>
            <a:pPr indent="0" marL="0">
              <a:lnSpc>
                <a:spcPct val="120000"/>
              </a:lnSpc>
              <a:buNone/>
            </a:pPr>
            <a:r>
              <a:rPr lang="en-US" sz="1800" b="1" dirty="0">
                <a:solidFill>
                  <a:srgbClr val="2C7DA0"/>
                </a:solidFill>
              </a:rPr>
              <a:t>ones worthy of learning from</a:t>
            </a:r>
            <a:pPr indent="0" marL="0">
              <a:lnSpc>
                <a:spcPct val="120000"/>
              </a:lnSpc>
              <a:buNone/>
            </a:pPr>
            <a:r>
              <a:rPr lang="en-US" sz="1800" dirty="0">
                <a:solidFill>
                  <a:srgbClr val="1E2B2A"/>
                </a:solidFill>
              </a:rPr>
              <a:t> ─ they are experts, older people.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Indeed, prestige may have evolved as a way to enhance the benefits of cultural </a:t>
            </a:r>
            <a:pPr indent="0" marL="0">
              <a:lnSpc>
                <a:spcPct val="120000"/>
              </a:lnSpc>
              <a:buNone/>
            </a:pPr>
            <a:r>
              <a:rPr lang="en-US" sz="1800" u="dotted" dirty="0">
                <a:solidFill>
                  <a:srgbClr val="1F7A64"/>
                </a:solidFill>
                <a:uFill>
                  <a:solidFill>
                    <a:srgbClr val="1F7A64"/>
                  </a:solidFill>
                </a:uFill>
              </a:rPr>
              <a:t>transmission</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Success in one area of life </a:t>
            </a:r>
            <a:pPr indent="0" marL="0">
              <a:lnSpc>
                <a:spcPct val="120000"/>
              </a:lnSpc>
              <a:buNone/>
            </a:pPr>
            <a:r>
              <a:rPr lang="en-US" sz="1800" b="1" u="dotted" dirty="0">
                <a:solidFill>
                  <a:srgbClr val="2C7DA0"/>
                </a:solidFill>
                <a:highlight>
                  <a:srgbClr val="FFD45C"/>
                </a:highlight>
                <a:uFill>
                  <a:solidFill>
                    <a:srgbClr val="1F7A64"/>
                  </a:solidFill>
                </a:uFill>
              </a:rPr>
              <a:t>affords</a:t>
            </a:r>
            <a:pPr indent="0" marL="0">
              <a:lnSpc>
                <a:spcPct val="120000"/>
              </a:lnSpc>
              <a:buNone/>
            </a:pPr>
            <a:r>
              <a:rPr lang="en-US" sz="1800" b="1" dirty="0">
                <a:solidFill>
                  <a:srgbClr val="2C7DA0"/>
                </a:solidFill>
                <a:highlight>
                  <a:srgbClr val="FFD45C"/>
                </a:highlight>
              </a:rPr>
              <a:t> someone the status of general opinion leader</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We want to learn from successful individuals, or even simply be associated with them in some way, </a:t>
            </a:r>
            <a:pPr indent="0" marL="0">
              <a:lnSpc>
                <a:spcPct val="120000"/>
              </a:lnSpc>
              <a:buNone/>
            </a:pPr>
            <a:r>
              <a:rPr lang="en-US" sz="1800" b="1" dirty="0">
                <a:solidFill>
                  <a:srgbClr val="2C7DA0"/>
                </a:solidFill>
              </a:rPr>
              <a:t>so that their </a:t>
            </a:r>
            <a:pPr indent="0" marL="0">
              <a:lnSpc>
                <a:spcPct val="120000"/>
              </a:lnSpc>
              <a:buNone/>
            </a:pPr>
            <a:r>
              <a:rPr lang="en-US" sz="1800" b="1" u="dotted" dirty="0">
                <a:solidFill>
                  <a:srgbClr val="2C7DA0"/>
                </a:solidFill>
                <a:uFill>
                  <a:solidFill>
                    <a:srgbClr val="1F7A64"/>
                  </a:solidFill>
                </a:uFill>
              </a:rPr>
              <a:t>reputation</a:t>
            </a:r>
            <a:pPr indent="0" marL="0">
              <a:lnSpc>
                <a:spcPct val="120000"/>
              </a:lnSpc>
              <a:buNone/>
            </a:pPr>
            <a:r>
              <a:rPr lang="en-US" sz="1800" b="1" dirty="0">
                <a:solidFill>
                  <a:srgbClr val="2C7DA0"/>
                </a:solidFill>
              </a:rPr>
              <a:t> </a:t>
            </a:r>
            <a:pPr indent="0" marL="0">
              <a:lnSpc>
                <a:spcPct val="120000"/>
              </a:lnSpc>
              <a:buNone/>
            </a:pPr>
            <a:r>
              <a:rPr lang="en-US" sz="1800" b="1" u="dotted" dirty="0">
                <a:solidFill>
                  <a:srgbClr val="2C7DA0"/>
                </a:solidFill>
                <a:uFill>
                  <a:solidFill>
                    <a:srgbClr val="1F7A64"/>
                  </a:solidFill>
                </a:uFill>
              </a:rPr>
              <a:t>rubs off</a:t>
            </a:r>
            <a:pPr indent="0" marL="0">
              <a:lnSpc>
                <a:spcPct val="120000"/>
              </a:lnSpc>
              <a:buNone/>
            </a:pPr>
            <a:r>
              <a:rPr lang="en-US" sz="1800" b="1" dirty="0">
                <a:solidFill>
                  <a:srgbClr val="2C7DA0"/>
                </a:solidFill>
              </a:rPr>
              <a:t> on us</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b="1" u="sng" dirty="0">
                <a:solidFill>
                  <a:srgbClr val="1E2B2A"/>
                </a:solidFill>
              </a:rPr>
              <a:t>That's why a golfing hero can sell you a watch</a:t>
            </a:r>
            <a:pPr indent="0" marL="0">
              <a:lnSpc>
                <a:spcPct val="120000"/>
              </a:lnSpc>
              <a:buNone/>
            </a:pPr>
            <a:r>
              <a:rPr lang="en-US" sz="1800" dirty="0">
                <a:solidFill>
                  <a:srgbClr val="1E2B2A"/>
                </a:solidFill>
              </a:rPr>
              <a:t>.</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Prestige </a:t>
            </a:r>
            <a:pPr indent="0" marL="0">
              <a:lnSpc>
                <a:spcPct val="110000"/>
              </a:lnSpc>
              <a:buNone/>
            </a:pPr>
            <a:r>
              <a:rPr lang="en-US" sz="1400" dirty="0">
                <a:solidFill>
                  <a:srgbClr val="1E2B2A"/>
                </a:solidFill>
              </a:rPr>
              <a:t>위신   ·   </a:t>
            </a:r>
            <a:pPr indent="0" marL="0">
              <a:lnSpc>
                <a:spcPct val="110000"/>
              </a:lnSpc>
              <a:buNone/>
            </a:pPr>
            <a:r>
              <a:rPr lang="en-US" sz="1400" b="1" dirty="0">
                <a:solidFill>
                  <a:srgbClr val="1F7A64"/>
                </a:solidFill>
              </a:rPr>
              <a:t>dominance </a:t>
            </a:r>
            <a:pPr indent="0" marL="0">
              <a:lnSpc>
                <a:spcPct val="110000"/>
              </a:lnSpc>
              <a:buNone/>
            </a:pPr>
            <a:r>
              <a:rPr lang="en-US" sz="1400" dirty="0">
                <a:solidFill>
                  <a:srgbClr val="1E2B2A"/>
                </a:solidFill>
              </a:rPr>
              <a:t>지배   ·   </a:t>
            </a:r>
            <a:pPr indent="0" marL="0">
              <a:lnSpc>
                <a:spcPct val="110000"/>
              </a:lnSpc>
              <a:buNone/>
            </a:pPr>
            <a:r>
              <a:rPr lang="en-US" sz="1400" b="1" dirty="0">
                <a:solidFill>
                  <a:srgbClr val="1F7A64"/>
                </a:solidFill>
              </a:rPr>
              <a:t>aggressive </a:t>
            </a:r>
            <a:pPr indent="0" marL="0">
              <a:lnSpc>
                <a:spcPct val="110000"/>
              </a:lnSpc>
              <a:buNone/>
            </a:pPr>
            <a:r>
              <a:rPr lang="en-US" sz="1400" dirty="0">
                <a:solidFill>
                  <a:srgbClr val="1E2B2A"/>
                </a:solidFill>
              </a:rPr>
              <a:t>공격적인   ·   </a:t>
            </a:r>
            <a:pPr indent="0" marL="0">
              <a:lnSpc>
                <a:spcPct val="110000"/>
              </a:lnSpc>
              <a:buNone/>
            </a:pPr>
            <a:r>
              <a:rPr lang="en-US" sz="1400" b="1" dirty="0">
                <a:solidFill>
                  <a:srgbClr val="1F7A64"/>
                </a:solidFill>
              </a:rPr>
              <a:t>fearsome </a:t>
            </a:r>
            <a:pPr indent="0" marL="0">
              <a:lnSpc>
                <a:spcPct val="110000"/>
              </a:lnSpc>
              <a:buNone/>
            </a:pPr>
            <a:r>
              <a:rPr lang="en-US" sz="1400" dirty="0">
                <a:solidFill>
                  <a:srgbClr val="1E2B2A"/>
                </a:solidFill>
              </a:rPr>
              <a:t>무시무시한   ·   </a:t>
            </a:r>
            <a:pPr indent="0" marL="0">
              <a:lnSpc>
                <a:spcPct val="110000"/>
              </a:lnSpc>
              <a:buNone/>
            </a:pPr>
            <a:r>
              <a:rPr lang="en-US" sz="1400" b="1" dirty="0">
                <a:solidFill>
                  <a:srgbClr val="1F7A64"/>
                </a:solidFill>
              </a:rPr>
              <a:t>transmission </a:t>
            </a:r>
            <a:pPr indent="0" marL="0">
              <a:lnSpc>
                <a:spcPct val="110000"/>
              </a:lnSpc>
              <a:buNone/>
            </a:pPr>
            <a:r>
              <a:rPr lang="en-US" sz="1400" dirty="0">
                <a:solidFill>
                  <a:srgbClr val="1E2B2A"/>
                </a:solidFill>
              </a:rPr>
              <a:t>전달   ·   </a:t>
            </a:r>
            <a:pPr indent="0" marL="0">
              <a:lnSpc>
                <a:spcPct val="110000"/>
              </a:lnSpc>
              <a:buNone/>
            </a:pPr>
            <a:r>
              <a:rPr lang="en-US" sz="1400" b="1" dirty="0">
                <a:solidFill>
                  <a:srgbClr val="1F7A64"/>
                </a:solidFill>
              </a:rPr>
              <a:t>affords </a:t>
            </a:r>
            <a:pPr indent="0" marL="0">
              <a:lnSpc>
                <a:spcPct val="110000"/>
              </a:lnSpc>
              <a:buNone/>
            </a:pPr>
            <a:r>
              <a:rPr lang="en-US" sz="1400" dirty="0">
                <a:solidFill>
                  <a:srgbClr val="1E2B2A"/>
                </a:solidFill>
              </a:rPr>
              <a:t>주다   ·   </a:t>
            </a:r>
            <a:pPr indent="0" marL="0">
              <a:lnSpc>
                <a:spcPct val="110000"/>
              </a:lnSpc>
              <a:buNone/>
            </a:pPr>
            <a:r>
              <a:rPr lang="en-US" sz="1400" b="1" dirty="0">
                <a:solidFill>
                  <a:srgbClr val="1F7A64"/>
                </a:solidFill>
              </a:rPr>
              <a:t>reputation </a:t>
            </a:r>
            <a:pPr indent="0" marL="0">
              <a:lnSpc>
                <a:spcPct val="110000"/>
              </a:lnSpc>
              <a:buNone/>
            </a:pPr>
            <a:r>
              <a:rPr lang="en-US" sz="1400" dirty="0">
                <a:solidFill>
                  <a:srgbClr val="1E2B2A"/>
                </a:solidFill>
              </a:rPr>
              <a:t>명성   ·   </a:t>
            </a:r>
            <a:pPr indent="0" marL="0">
              <a:lnSpc>
                <a:spcPct val="110000"/>
              </a:lnSpc>
              <a:buNone/>
            </a:pPr>
            <a:r>
              <a:rPr lang="en-US" sz="1400" b="1" dirty="0">
                <a:solidFill>
                  <a:srgbClr val="1F7A64"/>
                </a:solidFill>
              </a:rPr>
              <a:t>rubs off </a:t>
            </a:r>
            <a:pPr indent="0" marL="0">
              <a:lnSpc>
                <a:spcPct val="110000"/>
              </a:lnSpc>
              <a:buNone/>
            </a:pPr>
            <a:r>
              <a:rPr lang="en-US" sz="1400" dirty="0">
                <a:solidFill>
                  <a:srgbClr val="1E2B2A"/>
                </a:solidFill>
              </a:rPr>
              <a:t>옮아가다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only humans recognize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recognize의 목적어가 빠진 불완전한 절 → that/which</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ones worthy of learning from</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worthy of -ing · 전치사 잔류</a:t>
            </a:r>
            <a:endParaRPr lang="en-US" sz="1700" dirty="0"/>
          </a:p>
          <a:p>
            <a:pPr indent="0" marL="0">
              <a:spcAft>
                <a:spcPts val="200"/>
              </a:spcAft>
              <a:buNone/>
            </a:pPr>
            <a:r>
              <a:rPr lang="en-US" sz="1400" dirty="0">
                <a:solidFill>
                  <a:srgbClr val="1E2B2A"/>
                </a:solidFill>
              </a:rPr>
              <a:t>ones = individuals. learn from them → learning from (전치사 from 남음)</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affords someone the status of general opinion leader</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afford IO DO</a:t>
            </a:r>
            <a:endParaRPr lang="en-US" sz="1700" dirty="0"/>
          </a:p>
          <a:p>
            <a:pPr indent="0" marL="0">
              <a:spcAft>
                <a:spcPts val="200"/>
              </a:spcAft>
              <a:buNone/>
            </a:pPr>
            <a:r>
              <a:rPr lang="en-US" sz="1400" dirty="0">
                <a:solidFill>
                  <a:srgbClr val="1E2B2A"/>
                </a:solidFill>
              </a:rPr>
              <a:t>afford + 사람 + 사물: ~에게 …을 주다</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 that their reputation rubs off on us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rub off on: ~에게 옮아가다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Emotions can be used to refer to the unconscious, neurobiological response, while feelings are the cognitive assignments we make to those emotions.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is undoubtedly a much more complicated dynamic and there is a great degree of highly detailed information explaining the interworking of these two.</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can be more easily grasped when thinking about a more concrete exemplar ─ ancient war drums.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Most would agree that hearing a beating war drum does not lead one to pick a side in a given conflict.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 beating war drum merely helps one march more energetically on whichever side was chosen to begin with.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neurobiological experience set off by the auditory sensation of the drums causes one to "feel" more energy toward a given end and step more quickly.</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Perhaps Shakespeare knew something of this when he wrote Timon's words, "follow thy drum ...".</a:t>
            </a:r>
            <a:endParaRPr lang="en-US" sz="1550" dirty="0"/>
          </a:p>
          <a:p>
            <a:pPr algn="r" indent="0" marL="0">
              <a:lnSpc>
                <a:spcPct val="115000"/>
              </a:lnSpc>
              <a:spcBef>
                <a:spcPts val="200"/>
              </a:spcBef>
              <a:buNone/>
            </a:pPr>
            <a:r>
              <a:rPr lang="en-US" sz="1100" i="1" dirty="0">
                <a:solidFill>
                  <a:srgbClr val="6E7F7C"/>
                </a:solidFill>
              </a:rPr>
              <a:t>* exemplar: 전형적인 예   ** thy: (고어) 당신의</a:t>
            </a:r>
            <a:endParaRPr lang="en-US" sz="1550" dirty="0"/>
          </a:p>
          <a:p>
            <a:pPr indent="0" marL="0">
              <a:lnSpc>
                <a:spcPct val="115000"/>
              </a:lnSpc>
              <a:spcBef>
                <a:spcPts val="1000"/>
              </a:spcBef>
              <a:buNone/>
            </a:pPr>
            <a:r>
              <a:rPr lang="en-US" sz="1550" dirty="0">
                <a:solidFill>
                  <a:srgbClr val="14453D"/>
                </a:solidFill>
              </a:rPr>
              <a:t>①  what a given emotion we experience might mean</a:t>
            </a:r>
            <a:endParaRPr lang="en-US" sz="1550" dirty="0"/>
          </a:p>
          <a:p>
            <a:pPr indent="0" marL="0">
              <a:lnSpc>
                <a:spcPct val="115000"/>
              </a:lnSpc>
              <a:spcBef>
                <a:spcPts val="200"/>
              </a:spcBef>
              <a:buNone/>
            </a:pPr>
            <a:r>
              <a:rPr lang="en-US" sz="1550" dirty="0">
                <a:solidFill>
                  <a:srgbClr val="14453D"/>
                </a:solidFill>
              </a:rPr>
              <a:t>②  why music was once used as a psychological weapon</a:t>
            </a:r>
            <a:endParaRPr lang="en-US" sz="1550" dirty="0"/>
          </a:p>
          <a:p>
            <a:pPr indent="0" marL="0">
              <a:lnSpc>
                <a:spcPct val="115000"/>
              </a:lnSpc>
              <a:spcBef>
                <a:spcPts val="200"/>
              </a:spcBef>
              <a:buNone/>
            </a:pPr>
            <a:r>
              <a:rPr lang="en-US" sz="1550" dirty="0">
                <a:solidFill>
                  <a:srgbClr val="14453D"/>
                </a:solidFill>
              </a:rPr>
              <a:t>③  how unconscious reactions shape our instinctive behavior</a:t>
            </a:r>
            <a:endParaRPr lang="en-US" sz="1550" dirty="0"/>
          </a:p>
          <a:p>
            <a:pPr indent="0" marL="0">
              <a:lnSpc>
                <a:spcPct val="115000"/>
              </a:lnSpc>
              <a:spcBef>
                <a:spcPts val="200"/>
              </a:spcBef>
              <a:buNone/>
            </a:pPr>
            <a:r>
              <a:rPr lang="en-US" sz="1550" dirty="0">
                <a:solidFill>
                  <a:srgbClr val="14453D"/>
                </a:solidFill>
              </a:rPr>
              <a:t>④  how rhythm affects neural development in the long term</a:t>
            </a:r>
            <a:endParaRPr lang="en-US" sz="1550" dirty="0"/>
          </a:p>
          <a:p>
            <a:pPr indent="0" marL="0">
              <a:lnSpc>
                <a:spcPct val="115000"/>
              </a:lnSpc>
              <a:spcBef>
                <a:spcPts val="200"/>
              </a:spcBef>
              <a:buNone/>
            </a:pPr>
            <a:r>
              <a:rPr lang="en-US" sz="1550" dirty="0">
                <a:solidFill>
                  <a:srgbClr val="14453D"/>
                </a:solidFill>
              </a:rPr>
              <a:t>⑤  what external signals can trigger emotion and memory</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300" b="1" dirty="0">
                <a:solidFill>
                  <a:srgbClr val="1F7A64"/>
                </a:solidFill>
              </a:rPr>
              <a:t>(1) </a:t>
            </a:r>
            <a:pPr indent="0" marL="0">
              <a:lnSpc>
                <a:spcPct val="120000"/>
              </a:lnSpc>
              <a:buNone/>
            </a:pPr>
            <a:r>
              <a:rPr lang="en-US" sz="1600" dirty="0">
                <a:solidFill>
                  <a:srgbClr val="1E2B2A"/>
                </a:solidFill>
                <a:highlight>
                  <a:srgbClr val="FFD45C"/>
                </a:highlight>
              </a:rPr>
              <a:t>Emotions can be used to refer to the </a:t>
            </a:r>
            <a:pPr indent="0" marL="0">
              <a:lnSpc>
                <a:spcPct val="120000"/>
              </a:lnSpc>
              <a:buNone/>
            </a:pPr>
            <a:r>
              <a:rPr lang="en-US" sz="1600" u="dotted" dirty="0">
                <a:solidFill>
                  <a:srgbClr val="1F7A64"/>
                </a:solidFill>
                <a:highlight>
                  <a:srgbClr val="FFD45C"/>
                </a:highlight>
                <a:uFill>
                  <a:solidFill>
                    <a:srgbClr val="1F7A64"/>
                  </a:solidFill>
                </a:uFill>
              </a:rPr>
              <a:t>unconscious</a:t>
            </a:r>
            <a:pPr indent="0" marL="0">
              <a:lnSpc>
                <a:spcPct val="120000"/>
              </a:lnSpc>
              <a:buNone/>
            </a:pPr>
            <a:r>
              <a:rPr lang="en-US" sz="1600" dirty="0">
                <a:solidFill>
                  <a:srgbClr val="1E2B2A"/>
                </a:solidFill>
                <a:highlight>
                  <a:srgbClr val="FFD45C"/>
                </a:highlight>
              </a:rPr>
              <a:t>, </a:t>
            </a:r>
            <a:pPr indent="0" marL="0">
              <a:lnSpc>
                <a:spcPct val="120000"/>
              </a:lnSpc>
              <a:buNone/>
            </a:pPr>
            <a:r>
              <a:rPr lang="en-US" sz="1600" u="dotted" dirty="0">
                <a:solidFill>
                  <a:srgbClr val="1F7A64"/>
                </a:solidFill>
                <a:highlight>
                  <a:srgbClr val="FFD45C"/>
                </a:highlight>
                <a:uFill>
                  <a:solidFill>
                    <a:srgbClr val="1F7A64"/>
                  </a:solidFill>
                </a:uFill>
              </a:rPr>
              <a:t>neurobiological</a:t>
            </a:r>
            <a:pPr indent="0" marL="0">
              <a:lnSpc>
                <a:spcPct val="120000"/>
              </a:lnSpc>
              <a:buNone/>
            </a:pPr>
            <a:r>
              <a:rPr lang="en-US" sz="1600" dirty="0">
                <a:solidFill>
                  <a:srgbClr val="1E2B2A"/>
                </a:solidFill>
                <a:highlight>
                  <a:srgbClr val="FFD45C"/>
                </a:highlight>
              </a:rPr>
              <a:t> response, while feelings are </a:t>
            </a:r>
            <a:pPr indent="0" marL="0">
              <a:lnSpc>
                <a:spcPct val="120000"/>
              </a:lnSpc>
              <a:buNone/>
            </a:pPr>
            <a:r>
              <a:rPr lang="en-US" sz="1600" b="1" dirty="0">
                <a:solidFill>
                  <a:srgbClr val="2C7DA0"/>
                </a:solidFill>
                <a:highlight>
                  <a:srgbClr val="FFD45C"/>
                </a:highlight>
              </a:rPr>
              <a:t>the </a:t>
            </a:r>
            <a:pPr indent="0" marL="0">
              <a:lnSpc>
                <a:spcPct val="120000"/>
              </a:lnSpc>
              <a:buNone/>
            </a:pPr>
            <a:r>
              <a:rPr lang="en-US" sz="1600" b="1" u="dotted" dirty="0">
                <a:solidFill>
                  <a:srgbClr val="2C7DA0"/>
                </a:solidFill>
                <a:highlight>
                  <a:srgbClr val="FFD45C"/>
                </a:highlight>
                <a:uFill>
                  <a:solidFill>
                    <a:srgbClr val="1F7A64"/>
                  </a:solidFill>
                </a:uFill>
              </a:rPr>
              <a:t>cognitive</a:t>
            </a:r>
            <a:pPr indent="0" marL="0">
              <a:lnSpc>
                <a:spcPct val="120000"/>
              </a:lnSpc>
              <a:buNone/>
            </a:pPr>
            <a:r>
              <a:rPr lang="en-US" sz="1600" b="1" dirty="0">
                <a:solidFill>
                  <a:srgbClr val="2C7DA0"/>
                </a:solidFill>
                <a:highlight>
                  <a:srgbClr val="FFD45C"/>
                </a:highlight>
              </a:rPr>
              <a:t> assignments we make to those emotions</a:t>
            </a:r>
            <a:pPr indent="0" marL="0">
              <a:lnSpc>
                <a:spcPct val="120000"/>
              </a:lnSpc>
              <a:buNone/>
            </a:pPr>
            <a:r>
              <a:rPr lang="en-US" sz="1600" dirty="0">
                <a:solidFill>
                  <a:srgbClr val="1E2B2A"/>
                </a:solidFill>
                <a:highlight>
                  <a:srgbClr val="FFD45C"/>
                </a:highlight>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(2) </a:t>
            </a:r>
            <a:pPr indent="0" marL="0">
              <a:lnSpc>
                <a:spcPct val="120000"/>
              </a:lnSpc>
              <a:buNone/>
            </a:pPr>
            <a:r>
              <a:rPr lang="en-US" sz="16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(3) </a:t>
            </a:r>
            <a:pPr indent="0" marL="0">
              <a:lnSpc>
                <a:spcPct val="120000"/>
              </a:lnSpc>
              <a:buNone/>
            </a:pPr>
            <a:r>
              <a:rPr lang="en-US" sz="1600" dirty="0">
                <a:solidFill>
                  <a:srgbClr val="1E2B2A"/>
                </a:solidFill>
              </a:rPr>
              <a:t>However, the most </a:t>
            </a:r>
            <a:pPr indent="0" marL="0">
              <a:lnSpc>
                <a:spcPct val="120000"/>
              </a:lnSpc>
              <a:buNone/>
            </a:pPr>
            <a:r>
              <a:rPr lang="en-US" sz="1600" u="dotted" dirty="0">
                <a:solidFill>
                  <a:srgbClr val="1F7A64"/>
                </a:solidFill>
                <a:uFill>
                  <a:solidFill>
                    <a:srgbClr val="1F7A64"/>
                  </a:solidFill>
                </a:uFill>
              </a:rPr>
              <a:t>noteworthy</a:t>
            </a:r>
            <a:pPr indent="0" marL="0">
              <a:lnSpc>
                <a:spcPct val="120000"/>
              </a:lnSpc>
              <a:buNone/>
            </a:pPr>
            <a:r>
              <a:rPr lang="en-US" sz="1600" dirty="0">
                <a:solidFill>
                  <a:srgbClr val="1E2B2A"/>
                </a:solidFill>
              </a:rPr>
              <a:t> application of the distinction between emotion and feeling </a:t>
            </a:r>
            <a:pPr indent="0" marL="0">
              <a:lnSpc>
                <a:spcPct val="120000"/>
              </a:lnSpc>
              <a:buNone/>
            </a:pPr>
            <a:r>
              <a:rPr lang="en-US" sz="1600" b="1" dirty="0">
                <a:solidFill>
                  <a:srgbClr val="2C7DA0"/>
                </a:solidFill>
              </a:rPr>
              <a:t>is that human beings have</a:t>
            </a:r>
            <a:pPr indent="0" marL="0">
              <a:lnSpc>
                <a:spcPct val="120000"/>
              </a:lnSpc>
              <a:buNone/>
            </a:pPr>
            <a:r>
              <a:rPr lang="en-US" sz="1600" dirty="0">
                <a:solidFill>
                  <a:srgbClr val="1E2B2A"/>
                </a:solidFill>
              </a:rPr>
              <a:t> some ability to cognitively assign, that is, to think about and make a decision about, just </a:t>
            </a:r>
            <a:pPr indent="0" marL="0">
              <a:lnSpc>
                <a:spcPct val="120000"/>
              </a:lnSpc>
              <a:buNone/>
            </a:pPr>
            <a:r>
              <a:rPr lang="en-US" sz="1600" b="1" dirty="0">
                <a:solidFill>
                  <a:srgbClr val="EF5B3F"/>
                </a:solidFill>
              </a:rPr>
              <a:t>____________</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(4) </a:t>
            </a:r>
            <a:pPr indent="0" marL="0">
              <a:lnSpc>
                <a:spcPct val="120000"/>
              </a:lnSpc>
              <a:buNone/>
            </a:pPr>
            <a:r>
              <a:rPr lang="en-US" sz="1600" dirty="0">
                <a:solidFill>
                  <a:srgbClr val="1E2B2A"/>
                </a:solidFill>
              </a:rPr>
              <a:t>This can be more easily </a:t>
            </a:r>
            <a:pPr indent="0" marL="0">
              <a:lnSpc>
                <a:spcPct val="120000"/>
              </a:lnSpc>
              <a:buNone/>
            </a:pPr>
            <a:r>
              <a:rPr lang="en-US" sz="1600" u="dotted" dirty="0">
                <a:solidFill>
                  <a:srgbClr val="1F7A64"/>
                </a:solidFill>
                <a:uFill>
                  <a:solidFill>
                    <a:srgbClr val="1F7A64"/>
                  </a:solidFill>
                </a:uFill>
              </a:rPr>
              <a:t>grasped</a:t>
            </a:r>
            <a:pPr indent="0" marL="0">
              <a:lnSpc>
                <a:spcPct val="120000"/>
              </a:lnSpc>
              <a:buNone/>
            </a:pPr>
            <a:r>
              <a:rPr lang="en-US" sz="1600" dirty="0">
                <a:solidFill>
                  <a:srgbClr val="1E2B2A"/>
                </a:solidFill>
              </a:rPr>
              <a:t> when thinking about a more concrete exemplar ─ ancient war drums.</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(5) </a:t>
            </a:r>
            <a:pPr indent="0" marL="0">
              <a:lnSpc>
                <a:spcPct val="120000"/>
              </a:lnSpc>
              <a:buNone/>
            </a:pPr>
            <a:r>
              <a:rPr lang="en-US" sz="1600" dirty="0">
                <a:solidFill>
                  <a:srgbClr val="1E2B2A"/>
                </a:solidFill>
                <a:highlight>
                  <a:srgbClr val="FFD45C"/>
                </a:highlight>
              </a:rPr>
              <a:t>Most would agree that hearing a beating war drum </a:t>
            </a:r>
            <a:pPr indent="0" marL="0">
              <a:lnSpc>
                <a:spcPct val="120000"/>
              </a:lnSpc>
              <a:buNone/>
            </a:pPr>
            <a:r>
              <a:rPr lang="en-US" sz="1600" b="1" dirty="0">
                <a:solidFill>
                  <a:srgbClr val="2C7DA0"/>
                </a:solidFill>
                <a:highlight>
                  <a:srgbClr val="FFD45C"/>
                </a:highlight>
              </a:rPr>
              <a:t>does not lead one to pick</a:t>
            </a:r>
            <a:pPr indent="0" marL="0">
              <a:lnSpc>
                <a:spcPct val="120000"/>
              </a:lnSpc>
              <a:buNone/>
            </a:pPr>
            <a:r>
              <a:rPr lang="en-US" sz="1600" dirty="0">
                <a:solidFill>
                  <a:srgbClr val="1E2B2A"/>
                </a:solidFill>
                <a:highlight>
                  <a:srgbClr val="FFD45C"/>
                </a:highlight>
              </a:rPr>
              <a:t> a side in a given </a:t>
            </a:r>
            <a:pPr indent="0" marL="0">
              <a:lnSpc>
                <a:spcPct val="120000"/>
              </a:lnSpc>
              <a:buNone/>
            </a:pPr>
            <a:r>
              <a:rPr lang="en-US" sz="1600" u="dotted" dirty="0">
                <a:solidFill>
                  <a:srgbClr val="1F7A64"/>
                </a:solidFill>
                <a:highlight>
                  <a:srgbClr val="FFD45C"/>
                </a:highlight>
                <a:uFill>
                  <a:solidFill>
                    <a:srgbClr val="1F7A64"/>
                  </a:solidFill>
                </a:uFill>
              </a:rPr>
              <a:t>conflict</a:t>
            </a:r>
            <a:pPr indent="0" marL="0">
              <a:lnSpc>
                <a:spcPct val="120000"/>
              </a:lnSpc>
              <a:buNone/>
            </a:pPr>
            <a:r>
              <a:rPr lang="en-US" sz="1600" dirty="0">
                <a:solidFill>
                  <a:srgbClr val="1E2B2A"/>
                </a:solidFill>
                <a:highlight>
                  <a:srgbClr val="FFD45C"/>
                </a:highlight>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(6) </a:t>
            </a:r>
            <a:pPr indent="0" marL="0">
              <a:lnSpc>
                <a:spcPct val="120000"/>
              </a:lnSpc>
              <a:buNone/>
            </a:pPr>
            <a:r>
              <a:rPr lang="en-US" sz="1600" dirty="0">
                <a:solidFill>
                  <a:srgbClr val="1E2B2A"/>
                </a:solidFill>
                <a:highlight>
                  <a:srgbClr val="FFD45C"/>
                </a:highlight>
              </a:rPr>
              <a:t>A beating war drum merely helps one march more energetically on </a:t>
            </a:r>
            <a:pPr indent="0" marL="0">
              <a:lnSpc>
                <a:spcPct val="120000"/>
              </a:lnSpc>
              <a:buNone/>
            </a:pPr>
            <a:r>
              <a:rPr lang="en-US" sz="1600" b="1" dirty="0">
                <a:solidFill>
                  <a:srgbClr val="2C7DA0"/>
                </a:solidFill>
                <a:highlight>
                  <a:srgbClr val="FFD45C"/>
                </a:highlight>
              </a:rPr>
              <a:t>whichever side was chosen</a:t>
            </a:r>
            <a:pPr indent="0" marL="0">
              <a:lnSpc>
                <a:spcPct val="120000"/>
              </a:lnSpc>
              <a:buNone/>
            </a:pPr>
            <a:r>
              <a:rPr lang="en-US" sz="1600" dirty="0">
                <a:solidFill>
                  <a:srgbClr val="1E2B2A"/>
                </a:solidFill>
                <a:highlight>
                  <a:srgbClr val="FFD45C"/>
                </a:highlight>
              </a:rPr>
              <a:t> to begin with.</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(7) </a:t>
            </a:r>
            <a:pPr indent="0" marL="0">
              <a:lnSpc>
                <a:spcPct val="120000"/>
              </a:lnSpc>
              <a:buNone/>
            </a:pPr>
            <a:r>
              <a:rPr lang="en-US" sz="1600" dirty="0">
                <a:solidFill>
                  <a:srgbClr val="1E2B2A"/>
                </a:solidFill>
              </a:rPr>
              <a:t>The neurobiological experience </a:t>
            </a:r>
            <a:pPr indent="0" marL="0">
              <a:lnSpc>
                <a:spcPct val="120000"/>
              </a:lnSpc>
              <a:buNone/>
            </a:pPr>
            <a:r>
              <a:rPr lang="en-US" sz="1600" b="1" dirty="0">
                <a:solidFill>
                  <a:srgbClr val="2C7DA0"/>
                </a:solidFill>
              </a:rPr>
              <a:t>set off by the </a:t>
            </a:r>
            <a:pPr indent="0" marL="0">
              <a:lnSpc>
                <a:spcPct val="120000"/>
              </a:lnSpc>
              <a:buNone/>
            </a:pPr>
            <a:r>
              <a:rPr lang="en-US" sz="1600" b="1" u="dotted" dirty="0">
                <a:solidFill>
                  <a:srgbClr val="2C7DA0"/>
                </a:solidFill>
                <a:uFill>
                  <a:solidFill>
                    <a:srgbClr val="1F7A64"/>
                  </a:solidFill>
                </a:uFill>
              </a:rPr>
              <a:t>auditory</a:t>
            </a:r>
            <a:pPr indent="0" marL="0">
              <a:lnSpc>
                <a:spcPct val="120000"/>
              </a:lnSpc>
              <a:buNone/>
            </a:pPr>
            <a:r>
              <a:rPr lang="en-US" sz="1600" b="1" dirty="0">
                <a:solidFill>
                  <a:srgbClr val="2C7DA0"/>
                </a:solidFill>
              </a:rPr>
              <a:t> sensation</a:t>
            </a:r>
            <a:pPr indent="0" marL="0">
              <a:lnSpc>
                <a:spcPct val="120000"/>
              </a:lnSpc>
              <a:buNone/>
            </a:pPr>
            <a:r>
              <a:rPr lang="en-US" sz="1600" dirty="0">
                <a:solidFill>
                  <a:srgbClr val="1E2B2A"/>
                </a:solidFill>
              </a:rPr>
              <a:t> of the drums </a:t>
            </a:r>
            <a:pPr indent="0" marL="0">
              <a:lnSpc>
                <a:spcPct val="120000"/>
              </a:lnSpc>
              <a:buNone/>
            </a:pPr>
            <a:r>
              <a:rPr lang="en-US" sz="1600" b="1" dirty="0">
                <a:solidFill>
                  <a:srgbClr val="2C7DA0"/>
                </a:solidFill>
              </a:rPr>
              <a:t>causes one to</a:t>
            </a:r>
            <a:pPr indent="0" marL="0">
              <a:lnSpc>
                <a:spcPct val="120000"/>
              </a:lnSpc>
              <a:buNone/>
            </a:pPr>
            <a:r>
              <a:rPr lang="en-US" sz="1600" dirty="0">
                <a:solidFill>
                  <a:srgbClr val="1E2B2A"/>
                </a:solidFill>
              </a:rPr>
              <a:t> "feel" more energy toward a given end and step more quickly.</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(8) </a:t>
            </a:r>
            <a:pPr indent="0" marL="0">
              <a:lnSpc>
                <a:spcPct val="120000"/>
              </a:lnSpc>
              <a:buNone/>
            </a:pPr>
            <a:r>
              <a:rPr lang="en-US" sz="1600" dirty="0">
                <a:solidFill>
                  <a:srgbClr val="1E2B2A"/>
                </a:solidFill>
              </a:rPr>
              <a:t>Perhaps Shakespeare knew something of this when he wrote Timon's words, "follow thy drum ...".</a:t>
            </a:r>
            <a:endParaRPr lang="en-US" sz="13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unconscious </a:t>
            </a:r>
            <a:pPr indent="0" marL="0">
              <a:lnSpc>
                <a:spcPct val="110000"/>
              </a:lnSpc>
              <a:buNone/>
            </a:pPr>
            <a:r>
              <a:rPr lang="en-US" sz="1400" dirty="0">
                <a:solidFill>
                  <a:srgbClr val="1E2B2A"/>
                </a:solidFill>
              </a:rPr>
              <a:t>무의식적인   ·   </a:t>
            </a:r>
            <a:pPr indent="0" marL="0">
              <a:lnSpc>
                <a:spcPct val="110000"/>
              </a:lnSpc>
              <a:buNone/>
            </a:pPr>
            <a:r>
              <a:rPr lang="en-US" sz="1400" b="1" dirty="0">
                <a:solidFill>
                  <a:srgbClr val="1F7A64"/>
                </a:solidFill>
              </a:rPr>
              <a:t>neurobiological </a:t>
            </a:r>
            <a:pPr indent="0" marL="0">
              <a:lnSpc>
                <a:spcPct val="110000"/>
              </a:lnSpc>
              <a:buNone/>
            </a:pPr>
            <a:r>
              <a:rPr lang="en-US" sz="1400" dirty="0">
                <a:solidFill>
                  <a:srgbClr val="1E2B2A"/>
                </a:solidFill>
              </a:rPr>
              <a:t>신경생물학적   ·   </a:t>
            </a:r>
            <a:pPr indent="0" marL="0">
              <a:lnSpc>
                <a:spcPct val="110000"/>
              </a:lnSpc>
              <a:buNone/>
            </a:pPr>
            <a:r>
              <a:rPr lang="en-US" sz="1400" b="1" dirty="0">
                <a:solidFill>
                  <a:srgbClr val="1F7A64"/>
                </a:solidFill>
              </a:rPr>
              <a:t>cognitive </a:t>
            </a:r>
            <a:pPr indent="0" marL="0">
              <a:lnSpc>
                <a:spcPct val="110000"/>
              </a:lnSpc>
              <a:buNone/>
            </a:pPr>
            <a:r>
              <a:rPr lang="en-US" sz="1400" dirty="0">
                <a:solidFill>
                  <a:srgbClr val="1E2B2A"/>
                </a:solidFill>
              </a:rPr>
              <a:t>인지적   ·   </a:t>
            </a:r>
            <a:pPr indent="0" marL="0">
              <a:lnSpc>
                <a:spcPct val="110000"/>
              </a:lnSpc>
              <a:buNone/>
            </a:pPr>
            <a:r>
              <a:rPr lang="en-US" sz="1400" b="1" dirty="0">
                <a:solidFill>
                  <a:srgbClr val="1F7A64"/>
                </a:solidFill>
              </a:rPr>
              <a:t>noteworthy </a:t>
            </a:r>
            <a:pPr indent="0" marL="0">
              <a:lnSpc>
                <a:spcPct val="110000"/>
              </a:lnSpc>
              <a:buNone/>
            </a:pPr>
            <a:r>
              <a:rPr lang="en-US" sz="1400" dirty="0">
                <a:solidFill>
                  <a:srgbClr val="1E2B2A"/>
                </a:solidFill>
              </a:rPr>
              <a:t>주목할 만한   ·   </a:t>
            </a:r>
            <a:pPr indent="0" marL="0">
              <a:lnSpc>
                <a:spcPct val="110000"/>
              </a:lnSpc>
              <a:buNone/>
            </a:pPr>
            <a:r>
              <a:rPr lang="en-US" sz="1400" b="1" dirty="0">
                <a:solidFill>
                  <a:srgbClr val="1F7A64"/>
                </a:solidFill>
              </a:rPr>
              <a:t>grasped </a:t>
            </a:r>
            <a:pPr indent="0" marL="0">
              <a:lnSpc>
                <a:spcPct val="110000"/>
              </a:lnSpc>
              <a:buNone/>
            </a:pPr>
            <a:r>
              <a:rPr lang="en-US" sz="1400" dirty="0">
                <a:solidFill>
                  <a:srgbClr val="1E2B2A"/>
                </a:solidFill>
              </a:rPr>
              <a:t>이해된   ·   </a:t>
            </a:r>
            <a:pPr indent="0" marL="0">
              <a:lnSpc>
                <a:spcPct val="110000"/>
              </a:lnSpc>
              <a:buNone/>
            </a:pPr>
            <a:r>
              <a:rPr lang="en-US" sz="1400" b="1" dirty="0">
                <a:solidFill>
                  <a:srgbClr val="1F7A64"/>
                </a:solidFill>
              </a:rPr>
              <a:t>conflict </a:t>
            </a:r>
            <a:pPr indent="0" marL="0">
              <a:lnSpc>
                <a:spcPct val="110000"/>
              </a:lnSpc>
              <a:buNone/>
            </a:pPr>
            <a:r>
              <a:rPr lang="en-US" sz="1400" dirty="0">
                <a:solidFill>
                  <a:srgbClr val="1E2B2A"/>
                </a:solidFill>
              </a:rPr>
              <a:t>갈등   ·   </a:t>
            </a:r>
            <a:pPr indent="0" marL="0">
              <a:lnSpc>
                <a:spcPct val="110000"/>
              </a:lnSpc>
              <a:buNone/>
            </a:pPr>
            <a:r>
              <a:rPr lang="en-US" sz="1400" b="1" dirty="0">
                <a:solidFill>
                  <a:srgbClr val="1F7A64"/>
                </a:solidFill>
              </a:rPr>
              <a:t>auditory </a:t>
            </a:r>
            <a:pPr indent="0" marL="0">
              <a:lnSpc>
                <a:spcPct val="110000"/>
              </a:lnSpc>
              <a:buNone/>
            </a:pPr>
            <a:r>
              <a:rPr lang="en-US" sz="1400" dirty="0">
                <a:solidFill>
                  <a:srgbClr val="1E2B2A"/>
                </a:solidFill>
              </a:rPr>
              <a:t>청각의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cognitive assignments we make to those emotions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 생략</a:t>
            </a:r>
            <a:endParaRPr lang="en-US" sz="1700" dirty="0"/>
          </a:p>
          <a:p>
            <a:pPr indent="0" marL="0">
              <a:spcAft>
                <a:spcPts val="200"/>
              </a:spcAft>
              <a:buNone/>
            </a:pPr>
            <a:r>
              <a:rPr lang="en-US" sz="1400" dirty="0">
                <a:solidFill>
                  <a:srgbClr val="1E2B2A"/>
                </a:solidFill>
              </a:rPr>
              <a:t>assignments (that) we make ~: make의 목적어가 빠진 절</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is that human beings have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명사절 that (보어)</a:t>
            </a:r>
            <a:endParaRPr lang="en-US" sz="1700" dirty="0"/>
          </a:p>
          <a:p>
            <a:pPr indent="0" marL="0">
              <a:spcAft>
                <a:spcPts val="200"/>
              </a:spcAft>
              <a:buNone/>
            </a:pPr>
            <a:r>
              <a:rPr lang="en-US" sz="1400" dirty="0">
                <a:solidFill>
                  <a:srgbClr val="1E2B2A"/>
                </a:solidFill>
              </a:rPr>
              <a:t>the most noteworthy application … is that ~: that절이 보어</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does not lead one to pick</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자리에 to부정사 (lead/cause/allow O to V)</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whichever side was chosen</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복합관계형용사</a:t>
            </a:r>
            <a:endParaRPr lang="en-US" sz="1700" dirty="0"/>
          </a:p>
          <a:p>
            <a:pPr indent="0" marL="0">
              <a:spcAft>
                <a:spcPts val="200"/>
              </a:spcAft>
              <a:buNone/>
            </a:pPr>
            <a:r>
              <a:rPr lang="en-US" sz="1400" dirty="0">
                <a:solidFill>
                  <a:srgbClr val="1E2B2A"/>
                </a:solidFill>
              </a:rPr>
              <a:t>whichever + 명사: 어느 쪽 ~이든</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set off by the auditory sensation  …  causes one to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수식 · cause O to V</a:t>
            </a:r>
            <a:endParaRPr lang="en-US" sz="1700" dirty="0"/>
          </a:p>
          <a:p>
            <a:pPr indent="0" marL="0">
              <a:spcAft>
                <a:spcPts val="200"/>
              </a:spcAft>
              <a:buNone/>
            </a:pPr>
            <a:r>
              <a:rPr lang="en-US" sz="1400" dirty="0">
                <a:solidFill>
                  <a:srgbClr val="1E2B2A"/>
                </a:solidFill>
              </a:rPr>
              <a:t>experience (which was) set off by ~ / 주어 experience → 단수 causes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key to unlocking the agricultural potential of Mesopotamia lay in irrigation.</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Mesopotamians, particularly the Sumerians, were pioneers in developing sophisticated irrigation techniques.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constructed canals, dikes, and reservoirs to control the flow of the rivers, diverting water to their fields during dry periods and protecting their settlements from floods.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monumental effort required cooperation and organization on a scale previously unseen, leading to the development of complex social structures and the rise of powerful city-states.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irrigation was relatively small-scale, involving the digging of simple channels to divert water to nearby fields.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Over time, these systems became more elaborate, with complex networks of canals spanning vast distances.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construction and maintenance of these systems required a significant labor force, which was often organized and directed by temple priests or powerful leaders.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centralized control over water resources provided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dike: 제방   ** reservoir: 저수지</a:t>
            </a:r>
            <a:endParaRPr lang="en-US" sz="1600" dirty="0"/>
          </a:p>
          <a:p>
            <a:pPr indent="0" marL="0">
              <a:lnSpc>
                <a:spcPct val="115000"/>
              </a:lnSpc>
              <a:spcBef>
                <a:spcPts val="1000"/>
              </a:spcBef>
              <a:buNone/>
            </a:pPr>
            <a:r>
              <a:rPr lang="en-US" sz="1600" dirty="0">
                <a:solidFill>
                  <a:srgbClr val="14453D"/>
                </a:solidFill>
              </a:rPr>
              <a:t>①  a reduction in the need for organized labor groups</a:t>
            </a:r>
            <a:endParaRPr lang="en-US" sz="1600" dirty="0"/>
          </a:p>
          <a:p>
            <a:pPr indent="0" marL="0">
              <a:lnSpc>
                <a:spcPct val="115000"/>
              </a:lnSpc>
              <a:spcBef>
                <a:spcPts val="200"/>
              </a:spcBef>
              <a:buNone/>
            </a:pPr>
            <a:r>
              <a:rPr lang="en-US" sz="1600" dirty="0">
                <a:solidFill>
                  <a:srgbClr val="14453D"/>
                </a:solidFill>
              </a:rPr>
              <a:t>②  a guarantee of equal access to water for everyone</a:t>
            </a:r>
            <a:endParaRPr lang="en-US" sz="1600" dirty="0"/>
          </a:p>
          <a:p>
            <a:pPr indent="0" marL="0">
              <a:lnSpc>
                <a:spcPct val="115000"/>
              </a:lnSpc>
              <a:spcBef>
                <a:spcPts val="200"/>
              </a:spcBef>
              <a:buNone/>
            </a:pPr>
            <a:r>
              <a:rPr lang="en-US" sz="1600" dirty="0">
                <a:solidFill>
                  <a:srgbClr val="14453D"/>
                </a:solidFill>
              </a:rPr>
              <a:t>③  a solution to eliminating social classes altogether</a:t>
            </a:r>
            <a:endParaRPr lang="en-US" sz="1600" dirty="0"/>
          </a:p>
          <a:p>
            <a:pPr indent="0" marL="0">
              <a:lnSpc>
                <a:spcPct val="115000"/>
              </a:lnSpc>
              <a:spcBef>
                <a:spcPts val="200"/>
              </a:spcBef>
              <a:buNone/>
            </a:pPr>
            <a:r>
              <a:rPr lang="en-US" sz="1600" dirty="0">
                <a:solidFill>
                  <a:srgbClr val="14453D"/>
                </a:solidFill>
              </a:rPr>
              <a:t>④  a basis for political power and social hierarchy</a:t>
            </a:r>
            <a:endParaRPr lang="en-US" sz="1600" dirty="0"/>
          </a:p>
          <a:p>
            <a:pPr indent="0" marL="0">
              <a:lnSpc>
                <a:spcPct val="115000"/>
              </a:lnSpc>
              <a:spcBef>
                <a:spcPts val="200"/>
              </a:spcBef>
              <a:buNone/>
            </a:pPr>
            <a:r>
              <a:rPr lang="en-US" sz="1600" dirty="0">
                <a:solidFill>
                  <a:srgbClr val="14453D"/>
                </a:solidFill>
              </a:rPr>
              <a:t>⑤  a rise in individual farming independence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b="1" dirty="0">
                <a:solidFill>
                  <a:srgbClr val="2C7DA0"/>
                </a:solidFill>
              </a:rPr>
              <a:t>The key to unlocking</a:t>
            </a:r>
            <a:pPr indent="0" marL="0">
              <a:lnSpc>
                <a:spcPct val="120000"/>
              </a:lnSpc>
              <a:buNone/>
            </a:pPr>
            <a:r>
              <a:rPr lang="en-US" sz="1700" dirty="0">
                <a:solidFill>
                  <a:srgbClr val="1E2B2A"/>
                </a:solidFill>
              </a:rPr>
              <a:t> the agricultural potential of Mesopotamia lay in </a:t>
            </a:r>
            <a:pPr indent="0" marL="0">
              <a:lnSpc>
                <a:spcPct val="120000"/>
              </a:lnSpc>
              <a:buNone/>
            </a:pPr>
            <a:r>
              <a:rPr lang="en-US" sz="1700" u="dotted" dirty="0">
                <a:solidFill>
                  <a:srgbClr val="1F7A64"/>
                </a:solidFill>
                <a:uFill>
                  <a:solidFill>
                    <a:srgbClr val="1F7A64"/>
                  </a:solidFill>
                </a:uFill>
              </a:rPr>
              <a:t>irrigation</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Early Mesopotamians, particularly the Sumerians, were pioneers in developing </a:t>
            </a:r>
            <a:pPr indent="0" marL="0">
              <a:lnSpc>
                <a:spcPct val="120000"/>
              </a:lnSpc>
              <a:buNone/>
            </a:pPr>
            <a:r>
              <a:rPr lang="en-US" sz="1700" u="dotted" dirty="0">
                <a:solidFill>
                  <a:srgbClr val="1F7A64"/>
                </a:solidFill>
                <a:uFill>
                  <a:solidFill>
                    <a:srgbClr val="1F7A64"/>
                  </a:solidFill>
                </a:uFill>
              </a:rPr>
              <a:t>sophisticated</a:t>
            </a:r>
            <a:pPr indent="0" marL="0">
              <a:lnSpc>
                <a:spcPct val="120000"/>
              </a:lnSpc>
              <a:buNone/>
            </a:pPr>
            <a:r>
              <a:rPr lang="en-US" sz="1700" dirty="0">
                <a:solidFill>
                  <a:srgbClr val="1E2B2A"/>
                </a:solidFill>
              </a:rPr>
              <a:t> irrigation techniques.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They constructed </a:t>
            </a:r>
            <a:pPr indent="0" marL="0">
              <a:lnSpc>
                <a:spcPct val="120000"/>
              </a:lnSpc>
              <a:buNone/>
            </a:pPr>
            <a:r>
              <a:rPr lang="en-US" sz="1700" u="dotted" dirty="0">
                <a:solidFill>
                  <a:srgbClr val="1F7A64"/>
                </a:solidFill>
                <a:uFill>
                  <a:solidFill>
                    <a:srgbClr val="1F7A64"/>
                  </a:solidFill>
                </a:uFill>
              </a:rPr>
              <a:t>canals</a:t>
            </a:r>
            <a:pPr indent="0" marL="0">
              <a:lnSpc>
                <a:spcPct val="120000"/>
              </a:lnSpc>
              <a:buNone/>
            </a:pPr>
            <a:r>
              <a:rPr lang="en-US" sz="1700" dirty="0">
                <a:solidFill>
                  <a:srgbClr val="1E2B2A"/>
                </a:solidFill>
              </a:rPr>
              <a:t>, dikes, and reservoirs to control the flow of the rivers, </a:t>
            </a:r>
            <a:pPr indent="0" marL="0">
              <a:lnSpc>
                <a:spcPct val="120000"/>
              </a:lnSpc>
              <a:buNone/>
            </a:pPr>
            <a:r>
              <a:rPr lang="en-US" sz="1700" b="1" u="dotted" dirty="0">
                <a:solidFill>
                  <a:srgbClr val="2C7DA0"/>
                </a:solidFill>
                <a:uFill>
                  <a:solidFill>
                    <a:srgbClr val="1F7A64"/>
                  </a:solidFill>
                </a:uFill>
              </a:rPr>
              <a:t>diverting</a:t>
            </a:r>
            <a:pPr indent="0" marL="0">
              <a:lnSpc>
                <a:spcPct val="120000"/>
              </a:lnSpc>
              <a:buNone/>
            </a:pPr>
            <a:r>
              <a:rPr lang="en-US" sz="1700" b="1" dirty="0">
                <a:solidFill>
                  <a:srgbClr val="2C7DA0"/>
                </a:solidFill>
              </a:rPr>
              <a:t> water</a:t>
            </a:r>
            <a:pPr indent="0" marL="0">
              <a:lnSpc>
                <a:spcPct val="120000"/>
              </a:lnSpc>
              <a:buNone/>
            </a:pPr>
            <a:r>
              <a:rPr lang="en-US" sz="1700" dirty="0">
                <a:solidFill>
                  <a:srgbClr val="1E2B2A"/>
                </a:solidFill>
              </a:rPr>
              <a:t> to their fields during dry periods and </a:t>
            </a:r>
            <a:pPr indent="0" marL="0">
              <a:lnSpc>
                <a:spcPct val="120000"/>
              </a:lnSpc>
              <a:buNone/>
            </a:pPr>
            <a:r>
              <a:rPr lang="en-US" sz="1700" b="1" dirty="0">
                <a:solidFill>
                  <a:srgbClr val="2C7DA0"/>
                </a:solidFill>
              </a:rPr>
              <a:t>protecting their </a:t>
            </a:r>
            <a:pPr indent="0" marL="0">
              <a:lnSpc>
                <a:spcPct val="120000"/>
              </a:lnSpc>
              <a:buNone/>
            </a:pPr>
            <a:r>
              <a:rPr lang="en-US" sz="1700" b="1" u="dotted" dirty="0">
                <a:solidFill>
                  <a:srgbClr val="2C7DA0"/>
                </a:solidFill>
                <a:uFill>
                  <a:solidFill>
                    <a:srgbClr val="1F7A64"/>
                  </a:solidFill>
                </a:uFill>
              </a:rPr>
              <a:t>settlements</a:t>
            </a:r>
            <a:pPr indent="0" marL="0">
              <a:lnSpc>
                <a:spcPct val="120000"/>
              </a:lnSpc>
              <a:buNone/>
            </a:pPr>
            <a:r>
              <a:rPr lang="en-US" sz="1700" dirty="0">
                <a:solidFill>
                  <a:srgbClr val="1E2B2A"/>
                </a:solidFill>
              </a:rPr>
              <a:t> from floods.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highlight>
                  <a:srgbClr val="FFD45C"/>
                </a:highlight>
              </a:rPr>
              <a:t>This </a:t>
            </a:r>
            <a:pPr indent="0" marL="0">
              <a:lnSpc>
                <a:spcPct val="120000"/>
              </a:lnSpc>
              <a:buNone/>
            </a:pPr>
            <a:r>
              <a:rPr lang="en-US" sz="1700" u="dotted" dirty="0">
                <a:solidFill>
                  <a:srgbClr val="1F7A64"/>
                </a:solidFill>
                <a:highlight>
                  <a:srgbClr val="FFD45C"/>
                </a:highlight>
                <a:uFill>
                  <a:solidFill>
                    <a:srgbClr val="1F7A64"/>
                  </a:solidFill>
                </a:uFill>
              </a:rPr>
              <a:t>monumental</a:t>
            </a:r>
            <a:pPr indent="0" marL="0">
              <a:lnSpc>
                <a:spcPct val="120000"/>
              </a:lnSpc>
              <a:buNone/>
            </a:pPr>
            <a:r>
              <a:rPr lang="en-US" sz="1700" dirty="0">
                <a:solidFill>
                  <a:srgbClr val="1E2B2A"/>
                </a:solidFill>
                <a:highlight>
                  <a:srgbClr val="FFD45C"/>
                </a:highlight>
              </a:rPr>
              <a:t> effort required cooperation and organization on a scale previously unseen, </a:t>
            </a:r>
            <a:pPr indent="0" marL="0">
              <a:lnSpc>
                <a:spcPct val="120000"/>
              </a:lnSpc>
              <a:buNone/>
            </a:pPr>
            <a:r>
              <a:rPr lang="en-US" sz="1700" b="1" dirty="0">
                <a:solidFill>
                  <a:srgbClr val="2C7DA0"/>
                </a:solidFill>
                <a:highlight>
                  <a:srgbClr val="FFD45C"/>
                </a:highlight>
              </a:rPr>
              <a:t>leading to the development</a:t>
            </a:r>
            <a:pPr indent="0" marL="0">
              <a:lnSpc>
                <a:spcPct val="120000"/>
              </a:lnSpc>
              <a:buNone/>
            </a:pPr>
            <a:r>
              <a:rPr lang="en-US" sz="1700" dirty="0">
                <a:solidFill>
                  <a:srgbClr val="1E2B2A"/>
                </a:solidFill>
                <a:highlight>
                  <a:srgbClr val="FFD45C"/>
                </a:highlight>
              </a:rPr>
              <a:t> of complex social structures and the rise of powerful city-states.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Early irrigation was relatively small-scale, involving the digging of simple channels to divert water to nearby fields.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Over time, these systems became more </a:t>
            </a:r>
            <a:pPr indent="0" marL="0">
              <a:lnSpc>
                <a:spcPct val="120000"/>
              </a:lnSpc>
              <a:buNone/>
            </a:pPr>
            <a:r>
              <a:rPr lang="en-US" sz="1700" u="dotted" dirty="0">
                <a:solidFill>
                  <a:srgbClr val="1F7A64"/>
                </a:solidFill>
                <a:uFill>
                  <a:solidFill>
                    <a:srgbClr val="1F7A64"/>
                  </a:solidFill>
                </a:uFill>
              </a:rPr>
              <a:t>elaborate</a:t>
            </a:r>
            <a:pPr indent="0" marL="0">
              <a:lnSpc>
                <a:spcPct val="120000"/>
              </a:lnSpc>
              <a:buNone/>
            </a:pPr>
            <a:r>
              <a:rPr lang="en-US" sz="1700" dirty="0">
                <a:solidFill>
                  <a:srgbClr val="1E2B2A"/>
                </a:solidFill>
              </a:rPr>
              <a:t>, with complex networks of canals spanning vast distances.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The construction and </a:t>
            </a:r>
            <a:pPr indent="0" marL="0">
              <a:lnSpc>
                <a:spcPct val="120000"/>
              </a:lnSpc>
              <a:buNone/>
            </a:pPr>
            <a:r>
              <a:rPr lang="en-US" sz="1700" u="dotted" dirty="0">
                <a:solidFill>
                  <a:srgbClr val="1F7A64"/>
                </a:solidFill>
                <a:highlight>
                  <a:srgbClr val="FFD45C"/>
                </a:highlight>
                <a:uFill>
                  <a:solidFill>
                    <a:srgbClr val="1F7A64"/>
                  </a:solidFill>
                </a:uFill>
              </a:rPr>
              <a:t>maintenance</a:t>
            </a:r>
            <a:pPr indent="0" marL="0">
              <a:lnSpc>
                <a:spcPct val="120000"/>
              </a:lnSpc>
              <a:buNone/>
            </a:pPr>
            <a:r>
              <a:rPr lang="en-US" sz="1700" dirty="0">
                <a:solidFill>
                  <a:srgbClr val="1E2B2A"/>
                </a:solidFill>
                <a:highlight>
                  <a:srgbClr val="FFD45C"/>
                </a:highlight>
              </a:rPr>
              <a:t> of these systems required a significant labor force</a:t>
            </a:r>
            <a:pPr indent="0" marL="0">
              <a:lnSpc>
                <a:spcPct val="120000"/>
              </a:lnSpc>
              <a:buNone/>
            </a:pPr>
            <a:r>
              <a:rPr lang="en-US" sz="1700" b="1" dirty="0">
                <a:solidFill>
                  <a:srgbClr val="2C7DA0"/>
                </a:solidFill>
                <a:highlight>
                  <a:srgbClr val="FFD45C"/>
                </a:highlight>
              </a:rPr>
              <a:t>, which was often organized and directed</a:t>
            </a:r>
            <a:pPr indent="0" marL="0">
              <a:lnSpc>
                <a:spcPct val="120000"/>
              </a:lnSpc>
              <a:buNone/>
            </a:pPr>
            <a:r>
              <a:rPr lang="en-US" sz="1700" dirty="0">
                <a:solidFill>
                  <a:srgbClr val="1E2B2A"/>
                </a:solidFill>
                <a:highlight>
                  <a:srgbClr val="FFD45C"/>
                </a:highlight>
              </a:rPr>
              <a:t> by temple priests or powerful leaders.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rPr>
              <a:t>This </a:t>
            </a:r>
            <a:pPr indent="0" marL="0">
              <a:lnSpc>
                <a:spcPct val="120000"/>
              </a:lnSpc>
              <a:buNone/>
            </a:pPr>
            <a:r>
              <a:rPr lang="en-US" sz="1700" u="dotted" dirty="0">
                <a:solidFill>
                  <a:srgbClr val="1F7A64"/>
                </a:solidFill>
                <a:uFill>
                  <a:solidFill>
                    <a:srgbClr val="1F7A64"/>
                  </a:solidFill>
                </a:uFill>
              </a:rPr>
              <a:t>centralized</a:t>
            </a:r>
            <a:pPr indent="0" marL="0">
              <a:lnSpc>
                <a:spcPct val="120000"/>
              </a:lnSpc>
              <a:buNone/>
            </a:pPr>
            <a:r>
              <a:rPr lang="en-US" sz="1700" dirty="0">
                <a:solidFill>
                  <a:srgbClr val="1E2B2A"/>
                </a:solidFill>
              </a:rPr>
              <a:t> control over water resources provided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irrigation </a:t>
            </a:r>
            <a:pPr indent="0" marL="0">
              <a:lnSpc>
                <a:spcPct val="110000"/>
              </a:lnSpc>
              <a:buNone/>
            </a:pPr>
            <a:r>
              <a:rPr lang="en-US" sz="1400" dirty="0">
                <a:solidFill>
                  <a:srgbClr val="1E2B2A"/>
                </a:solidFill>
              </a:rPr>
              <a:t>관개   ·   </a:t>
            </a:r>
            <a:pPr indent="0" marL="0">
              <a:lnSpc>
                <a:spcPct val="110000"/>
              </a:lnSpc>
              <a:buNone/>
            </a:pPr>
            <a:r>
              <a:rPr lang="en-US" sz="1400" b="1" dirty="0">
                <a:solidFill>
                  <a:srgbClr val="1F7A64"/>
                </a:solidFill>
              </a:rPr>
              <a:t>sophisticated </a:t>
            </a:r>
            <a:pPr indent="0" marL="0">
              <a:lnSpc>
                <a:spcPct val="110000"/>
              </a:lnSpc>
              <a:buNone/>
            </a:pPr>
            <a:r>
              <a:rPr lang="en-US" sz="1400" dirty="0">
                <a:solidFill>
                  <a:srgbClr val="1E2B2A"/>
                </a:solidFill>
              </a:rPr>
              <a:t>정교한   ·   </a:t>
            </a:r>
            <a:pPr indent="0" marL="0">
              <a:lnSpc>
                <a:spcPct val="110000"/>
              </a:lnSpc>
              <a:buNone/>
            </a:pPr>
            <a:r>
              <a:rPr lang="en-US" sz="1400" b="1" dirty="0">
                <a:solidFill>
                  <a:srgbClr val="1F7A64"/>
                </a:solidFill>
              </a:rPr>
              <a:t>canals </a:t>
            </a:r>
            <a:pPr indent="0" marL="0">
              <a:lnSpc>
                <a:spcPct val="110000"/>
              </a:lnSpc>
              <a:buNone/>
            </a:pPr>
            <a:r>
              <a:rPr lang="en-US" sz="1400" dirty="0">
                <a:solidFill>
                  <a:srgbClr val="1E2B2A"/>
                </a:solidFill>
              </a:rPr>
              <a:t>운하   ·   </a:t>
            </a:r>
            <a:pPr indent="0" marL="0">
              <a:lnSpc>
                <a:spcPct val="110000"/>
              </a:lnSpc>
              <a:buNone/>
            </a:pPr>
            <a:r>
              <a:rPr lang="en-US" sz="1400" b="1" dirty="0">
                <a:solidFill>
                  <a:srgbClr val="1F7A64"/>
                </a:solidFill>
              </a:rPr>
              <a:t>diverting </a:t>
            </a:r>
            <a:pPr indent="0" marL="0">
              <a:lnSpc>
                <a:spcPct val="110000"/>
              </a:lnSpc>
              <a:buNone/>
            </a:pPr>
            <a:r>
              <a:rPr lang="en-US" sz="1400" dirty="0">
                <a:solidFill>
                  <a:srgbClr val="1E2B2A"/>
                </a:solidFill>
              </a:rPr>
              <a:t>돌리는   ·   </a:t>
            </a:r>
            <a:pPr indent="0" marL="0">
              <a:lnSpc>
                <a:spcPct val="110000"/>
              </a:lnSpc>
              <a:buNone/>
            </a:pPr>
            <a:r>
              <a:rPr lang="en-US" sz="1400" b="1" dirty="0">
                <a:solidFill>
                  <a:srgbClr val="1F7A64"/>
                </a:solidFill>
              </a:rPr>
              <a:t>settlements </a:t>
            </a:r>
            <a:pPr indent="0" marL="0">
              <a:lnSpc>
                <a:spcPct val="110000"/>
              </a:lnSpc>
              <a:buNone/>
            </a:pPr>
            <a:r>
              <a:rPr lang="en-US" sz="1400" dirty="0">
                <a:solidFill>
                  <a:srgbClr val="1E2B2A"/>
                </a:solidFill>
              </a:rPr>
              <a:t>정착지   ·   </a:t>
            </a:r>
            <a:pPr indent="0" marL="0">
              <a:lnSpc>
                <a:spcPct val="110000"/>
              </a:lnSpc>
              <a:buNone/>
            </a:pPr>
            <a:r>
              <a:rPr lang="en-US" sz="1400" b="1" dirty="0">
                <a:solidFill>
                  <a:srgbClr val="1F7A64"/>
                </a:solidFill>
              </a:rPr>
              <a:t>monumental </a:t>
            </a:r>
            <a:pPr indent="0" marL="0">
              <a:lnSpc>
                <a:spcPct val="110000"/>
              </a:lnSpc>
              <a:buNone/>
            </a:pPr>
            <a:r>
              <a:rPr lang="en-US" sz="1400" dirty="0">
                <a:solidFill>
                  <a:srgbClr val="1E2B2A"/>
                </a:solidFill>
              </a:rPr>
              <a:t>거대한   ·   </a:t>
            </a:r>
            <a:pPr indent="0" marL="0">
              <a:lnSpc>
                <a:spcPct val="110000"/>
              </a:lnSpc>
              <a:buNone/>
            </a:pPr>
            <a:r>
              <a:rPr lang="en-US" sz="1400" b="1" dirty="0">
                <a:solidFill>
                  <a:srgbClr val="1F7A64"/>
                </a:solidFill>
              </a:rPr>
              <a:t>elaborate </a:t>
            </a:r>
            <a:pPr indent="0" marL="0">
              <a:lnSpc>
                <a:spcPct val="110000"/>
              </a:lnSpc>
              <a:buNone/>
            </a:pPr>
            <a:r>
              <a:rPr lang="en-US" sz="1400" dirty="0">
                <a:solidFill>
                  <a:srgbClr val="1E2B2A"/>
                </a:solidFill>
              </a:rPr>
              <a:t>정교한   ·   </a:t>
            </a:r>
            <a:pPr indent="0" marL="0">
              <a:lnSpc>
                <a:spcPct val="110000"/>
              </a:lnSpc>
              <a:buNone/>
            </a:pPr>
            <a:r>
              <a:rPr lang="en-US" sz="1400" b="1" dirty="0">
                <a:solidFill>
                  <a:srgbClr val="1F7A64"/>
                </a:solidFill>
              </a:rPr>
              <a:t>maintenance </a:t>
            </a:r>
            <a:pPr indent="0" marL="0">
              <a:lnSpc>
                <a:spcPct val="110000"/>
              </a:lnSpc>
              <a:buNone/>
            </a:pPr>
            <a:r>
              <a:rPr lang="en-US" sz="1400" dirty="0">
                <a:solidFill>
                  <a:srgbClr val="1E2B2A"/>
                </a:solidFill>
              </a:rPr>
              <a:t>유지   ·   </a:t>
            </a:r>
            <a:pPr indent="0" marL="0">
              <a:lnSpc>
                <a:spcPct val="110000"/>
              </a:lnSpc>
              <a:buNone/>
            </a:pPr>
            <a:r>
              <a:rPr lang="en-US" sz="1400" b="1" dirty="0">
                <a:solidFill>
                  <a:srgbClr val="1F7A64"/>
                </a:solidFill>
              </a:rPr>
              <a:t>centralized </a:t>
            </a:r>
            <a:pPr indent="0" marL="0">
              <a:lnSpc>
                <a:spcPct val="110000"/>
              </a:lnSpc>
              <a:buNone/>
            </a:pPr>
            <a:r>
              <a:rPr lang="en-US" sz="1400" dirty="0">
                <a:solidFill>
                  <a:srgbClr val="1E2B2A"/>
                </a:solidFill>
              </a:rPr>
              <a:t>중앙 집중식의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key to unlocking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to + 동명사</a:t>
            </a:r>
            <a:endParaRPr lang="en-US" sz="1700" dirty="0"/>
          </a:p>
          <a:p>
            <a:pPr indent="0" marL="0">
              <a:spcAft>
                <a:spcPts val="200"/>
              </a:spcAft>
              <a:buNone/>
            </a:pPr>
            <a:r>
              <a:rPr lang="en-US" sz="1400" dirty="0">
                <a:solidFill>
                  <a:srgbClr val="1E2B2A"/>
                </a:solidFill>
              </a:rPr>
              <a:t>the key to -ing (~의 열쇠). to부정사로 착각 금지</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diverting water  …  protecting their settlements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병렬</a:t>
            </a:r>
            <a:endParaRPr lang="en-US" sz="1700" dirty="0"/>
          </a:p>
          <a:p>
            <a:pPr indent="0" marL="0">
              <a:spcAft>
                <a:spcPts val="200"/>
              </a:spcAft>
              <a:buNone/>
            </a:pPr>
            <a:r>
              <a:rPr lang="en-US" sz="1400" dirty="0">
                <a:solidFill>
                  <a:srgbClr val="1E2B2A"/>
                </a:solidFill>
              </a:rPr>
              <a:t>diverting … and protecting …: 주절의 결과·부연 (and로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leading to the development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a:t>
            </a:r>
            <a:endParaRPr lang="en-US" sz="1700" dirty="0"/>
          </a:p>
          <a:p>
            <a:pPr indent="0" marL="0">
              <a:spcAft>
                <a:spcPts val="200"/>
              </a:spcAft>
              <a:buNone/>
            </a:pPr>
            <a:r>
              <a:rPr lang="en-US" sz="1400" dirty="0">
                <a:solidFill>
                  <a:srgbClr val="1E2B2A"/>
                </a:solidFill>
              </a:rPr>
              <a:t>, leading to ~ = and it led to ~ (lead to + 명사)</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which was often organized and directed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 + 수동</a:t>
            </a:r>
            <a:endParaRPr lang="en-US" sz="1700" dirty="0"/>
          </a:p>
          <a:p>
            <a:pPr indent="0" marL="0">
              <a:spcAft>
                <a:spcPts val="200"/>
              </a:spcAft>
              <a:buNone/>
            </a:pPr>
            <a:r>
              <a:rPr lang="en-US" sz="1400" dirty="0">
                <a:solidFill>
                  <a:srgbClr val="1E2B2A"/>
                </a:solidFill>
              </a:rPr>
              <a:t>선행사 a significant labor force(단수) → was, 조직'되는' 것이라 수동태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If culture finds its metaphorical basis in agriculture, civilization finds it in exchange.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our society is connected to other societies, we are connected to other people, and we can suddenly compare things and judge them in relation to each other.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a result, we have a choice between better and cheaper options; we can pick the new and the never-before-tried.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Such choices broaden our horizons and improve our lives.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why civilization depends on the unencumbered circulation of goods, people, ideas, faiths, and ways of life.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consequences of such interaction may be unsettling, but they can also be liberating.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have to be confined to, and carry the burden of, our culture, and we no longer have to be who we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Civilization provides us with a means of escape.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Or, differently put, exchange is the enemy of culture.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presented with alternatives, we give up our old ways.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do the things we used to do and we are no longer quite the same people as before.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how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교재 각주(endowment, exacerbate)는 이 지문에 나오지 않는 단어 → 무시</a:t>
            </a:r>
            <a:endParaRPr lang="en-US" sz="1600" dirty="0"/>
          </a:p>
          <a:p>
            <a:pPr indent="0" marL="0">
              <a:lnSpc>
                <a:spcPct val="115000"/>
              </a:lnSpc>
              <a:spcBef>
                <a:spcPts val="1000"/>
              </a:spcBef>
              <a:buNone/>
            </a:pPr>
            <a:r>
              <a:rPr lang="en-US" sz="1600" dirty="0">
                <a:solidFill>
                  <a:srgbClr val="14453D"/>
                </a:solidFill>
              </a:rPr>
              <a:t>①  strong cultural boundaries emerge globally</a:t>
            </a:r>
            <a:endParaRPr lang="en-US" sz="1600" dirty="0"/>
          </a:p>
          <a:p>
            <a:pPr indent="0" marL="0">
              <a:lnSpc>
                <a:spcPct val="115000"/>
              </a:lnSpc>
              <a:spcBef>
                <a:spcPts val="200"/>
              </a:spcBef>
              <a:buNone/>
            </a:pPr>
            <a:r>
              <a:rPr lang="en-US" sz="1600" dirty="0">
                <a:solidFill>
                  <a:srgbClr val="14453D"/>
                </a:solidFill>
              </a:rPr>
              <a:t>②  civilization undermines and destroys culture</a:t>
            </a:r>
            <a:endParaRPr lang="en-US" sz="1600" dirty="0"/>
          </a:p>
          <a:p>
            <a:pPr indent="0" marL="0">
              <a:lnSpc>
                <a:spcPct val="115000"/>
              </a:lnSpc>
              <a:spcBef>
                <a:spcPts val="200"/>
              </a:spcBef>
              <a:buNone/>
            </a:pPr>
            <a:r>
              <a:rPr lang="en-US" sz="1600" dirty="0">
                <a:solidFill>
                  <a:srgbClr val="14453D"/>
                </a:solidFill>
              </a:rPr>
              <a:t>③  cultural exchange encourages local uniqueness</a:t>
            </a:r>
            <a:endParaRPr lang="en-US" sz="1600" dirty="0"/>
          </a:p>
          <a:p>
            <a:pPr indent="0" marL="0">
              <a:lnSpc>
                <a:spcPct val="115000"/>
              </a:lnSpc>
              <a:spcBef>
                <a:spcPts val="200"/>
              </a:spcBef>
              <a:buNone/>
            </a:pPr>
            <a:r>
              <a:rPr lang="en-US" sz="1600" dirty="0">
                <a:solidFill>
                  <a:srgbClr val="14453D"/>
                </a:solidFill>
              </a:rPr>
              <a:t>④  civilization spreads culture without altering its core values</a:t>
            </a:r>
            <a:endParaRPr lang="en-US" sz="1600" dirty="0"/>
          </a:p>
          <a:p>
            <a:pPr indent="0" marL="0">
              <a:lnSpc>
                <a:spcPct val="115000"/>
              </a:lnSpc>
              <a:spcBef>
                <a:spcPts val="200"/>
              </a:spcBef>
              <a:buNone/>
            </a:pPr>
            <a:r>
              <a:rPr lang="en-US" sz="1600" dirty="0">
                <a:solidFill>
                  <a:srgbClr val="14453D"/>
                </a:solidFill>
              </a:rPr>
              <a:t>⑤  cultural identity strengthens through interaction with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If culture finds its </a:t>
            </a:r>
            <a:pPr indent="0" marL="0">
              <a:lnSpc>
                <a:spcPct val="120000"/>
              </a:lnSpc>
              <a:buNone/>
            </a:pPr>
            <a:r>
              <a:rPr lang="en-US" sz="1700" u="dotted" dirty="0">
                <a:solidFill>
                  <a:srgbClr val="1F7A64"/>
                </a:solidFill>
                <a:highlight>
                  <a:srgbClr val="FFD45C"/>
                </a:highlight>
                <a:uFill>
                  <a:solidFill>
                    <a:srgbClr val="1F7A64"/>
                  </a:solidFill>
                </a:uFill>
              </a:rPr>
              <a:t>metaphorical</a:t>
            </a:r>
            <a:pPr indent="0" marL="0">
              <a:lnSpc>
                <a:spcPct val="120000"/>
              </a:lnSpc>
              <a:buNone/>
            </a:pPr>
            <a:r>
              <a:rPr lang="en-US" sz="1700" dirty="0">
                <a:solidFill>
                  <a:srgbClr val="1E2B2A"/>
                </a:solidFill>
                <a:highlight>
                  <a:srgbClr val="FFD45C"/>
                </a:highlight>
              </a:rPr>
              <a:t> basis in agriculture, civilization </a:t>
            </a:r>
            <a:pPr indent="0" marL="0">
              <a:lnSpc>
                <a:spcPct val="120000"/>
              </a:lnSpc>
              <a:buNone/>
            </a:pPr>
            <a:r>
              <a:rPr lang="en-US" sz="1700" b="1" dirty="0">
                <a:solidFill>
                  <a:srgbClr val="2C7DA0"/>
                </a:solidFill>
                <a:highlight>
                  <a:srgbClr val="FFD45C"/>
                </a:highlight>
              </a:rPr>
              <a:t>finds it in exchange</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we have a choice between better and cheaper options; we can pick the new and the never-before-tried.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Such choices broaden our </a:t>
            </a:r>
            <a:pPr indent="0" marL="0">
              <a:lnSpc>
                <a:spcPct val="120000"/>
              </a:lnSpc>
              <a:buNone/>
            </a:pPr>
            <a:r>
              <a:rPr lang="en-US" sz="1700" u="dotted" dirty="0">
                <a:solidFill>
                  <a:srgbClr val="1F7A64"/>
                </a:solidFill>
                <a:uFill>
                  <a:solidFill>
                    <a:srgbClr val="1F7A64"/>
                  </a:solidFill>
                </a:uFill>
              </a:rPr>
              <a:t>horizons</a:t>
            </a:r>
            <a:pPr indent="0" marL="0">
              <a:lnSpc>
                <a:spcPct val="120000"/>
              </a:lnSpc>
              <a:buNone/>
            </a:pPr>
            <a:r>
              <a:rPr lang="en-US" sz="1700" dirty="0">
                <a:solidFill>
                  <a:srgbClr val="1E2B2A"/>
                </a:solidFill>
              </a:rPr>
              <a:t> and improve our lives.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b="1" dirty="0">
                <a:solidFill>
                  <a:srgbClr val="2C7DA0"/>
                </a:solidFill>
              </a:rPr>
              <a:t>This is why</a:t>
            </a:r>
            <a:pPr indent="0" marL="0">
              <a:lnSpc>
                <a:spcPct val="120000"/>
              </a:lnSpc>
              <a:buNone/>
            </a:pPr>
            <a:r>
              <a:rPr lang="en-US" sz="1700" dirty="0">
                <a:solidFill>
                  <a:srgbClr val="1E2B2A"/>
                </a:solidFill>
              </a:rPr>
              <a:t> civilization depends on the </a:t>
            </a:r>
            <a:pPr indent="0" marL="0">
              <a:lnSpc>
                <a:spcPct val="120000"/>
              </a:lnSpc>
              <a:buNone/>
            </a:pPr>
            <a:r>
              <a:rPr lang="en-US" sz="1700" u="dotted" dirty="0">
                <a:solidFill>
                  <a:srgbClr val="1F7A64"/>
                </a:solidFill>
                <a:uFill>
                  <a:solidFill>
                    <a:srgbClr val="1F7A64"/>
                  </a:solidFill>
                </a:uFill>
              </a:rPr>
              <a:t>unencumbered</a:t>
            </a:r>
            <a:pPr indent="0" marL="0">
              <a:lnSpc>
                <a:spcPct val="120000"/>
              </a:lnSpc>
              <a:buNone/>
            </a:pPr>
            <a:r>
              <a:rPr lang="en-US" sz="1700" dirty="0">
                <a:solidFill>
                  <a:srgbClr val="1E2B2A"/>
                </a:solidFill>
              </a:rPr>
              <a:t> </a:t>
            </a:r>
            <a:pPr indent="0" marL="0">
              <a:lnSpc>
                <a:spcPct val="120000"/>
              </a:lnSpc>
              <a:buNone/>
            </a:pPr>
            <a:r>
              <a:rPr lang="en-US" sz="1700" u="dotted" dirty="0">
                <a:solidFill>
                  <a:srgbClr val="1F7A64"/>
                </a:solidFill>
                <a:uFill>
                  <a:solidFill>
                    <a:srgbClr val="1F7A64"/>
                  </a:solidFill>
                </a:uFill>
              </a:rPr>
              <a:t>circulation</a:t>
            </a:r>
            <a:pPr indent="0" marL="0">
              <a:lnSpc>
                <a:spcPct val="120000"/>
              </a:lnSpc>
              <a:buNone/>
            </a:pPr>
            <a:r>
              <a:rPr lang="en-US" sz="1700" dirty="0">
                <a:solidFill>
                  <a:srgbClr val="1E2B2A"/>
                </a:solidFill>
              </a:rPr>
              <a:t> of goods, people, ideas, faiths, and ways of life.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The consequences of such interaction may be </a:t>
            </a:r>
            <a:pPr indent="0" marL="0">
              <a:lnSpc>
                <a:spcPct val="120000"/>
              </a:lnSpc>
              <a:buNone/>
            </a:pPr>
            <a:r>
              <a:rPr lang="en-US" sz="1700" u="dotted" dirty="0">
                <a:solidFill>
                  <a:srgbClr val="1F7A64"/>
                </a:solidFill>
                <a:uFill>
                  <a:solidFill>
                    <a:srgbClr val="1F7A64"/>
                  </a:solidFill>
                </a:uFill>
              </a:rPr>
              <a:t>unsettling</a:t>
            </a:r>
            <a:pPr indent="0" marL="0">
              <a:lnSpc>
                <a:spcPct val="120000"/>
              </a:lnSpc>
              <a:buNone/>
            </a:pPr>
            <a:r>
              <a:rPr lang="en-US" sz="1700" dirty="0">
                <a:solidFill>
                  <a:srgbClr val="1E2B2A"/>
                </a:solidFill>
              </a:rPr>
              <a:t>, but they can also be </a:t>
            </a:r>
            <a:pPr indent="0" marL="0">
              <a:lnSpc>
                <a:spcPct val="120000"/>
              </a:lnSpc>
              <a:buNone/>
            </a:pPr>
            <a:r>
              <a:rPr lang="en-US" sz="1700" u="dotted" dirty="0">
                <a:solidFill>
                  <a:srgbClr val="1F7A64"/>
                </a:solidFill>
                <a:uFill>
                  <a:solidFill>
                    <a:srgbClr val="1F7A64"/>
                  </a:solidFill>
                </a:uFill>
              </a:rPr>
              <a:t>liberating</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We no longer have to </a:t>
            </a:r>
            <a:pPr indent="0" marL="0">
              <a:lnSpc>
                <a:spcPct val="120000"/>
              </a:lnSpc>
              <a:buNone/>
            </a:pPr>
            <a:r>
              <a:rPr lang="en-US" sz="1700" b="1" dirty="0">
                <a:solidFill>
                  <a:srgbClr val="2C7DA0"/>
                </a:solidFill>
              </a:rPr>
              <a:t>be </a:t>
            </a:r>
            <a:pPr indent="0" marL="0">
              <a:lnSpc>
                <a:spcPct val="120000"/>
              </a:lnSpc>
              <a:buNone/>
            </a:pPr>
            <a:r>
              <a:rPr lang="en-US" sz="1700" b="1" u="dotted" dirty="0">
                <a:solidFill>
                  <a:srgbClr val="2C7DA0"/>
                </a:solidFill>
                <a:uFill>
                  <a:solidFill>
                    <a:srgbClr val="1F7A64"/>
                  </a:solidFill>
                </a:uFill>
              </a:rPr>
              <a:t>confined</a:t>
            </a:r>
            <a:pPr indent="0" marL="0">
              <a:lnSpc>
                <a:spcPct val="120000"/>
              </a:lnSpc>
              <a:buNone/>
            </a:pPr>
            <a:r>
              <a:rPr lang="en-US" sz="1700" b="1" dirty="0">
                <a:solidFill>
                  <a:srgbClr val="2C7DA0"/>
                </a:solidFill>
              </a:rPr>
              <a:t> to, and carry the burden of, our culture</a:t>
            </a:r>
            <a:pPr indent="0" marL="0">
              <a:lnSpc>
                <a:spcPct val="120000"/>
              </a:lnSpc>
              <a:buNone/>
            </a:pPr>
            <a:r>
              <a:rPr lang="en-US" sz="1700" dirty="0">
                <a:solidFill>
                  <a:srgbClr val="1E2B2A"/>
                </a:solidFill>
              </a:rPr>
              <a:t>, and we no longer have to be who we are.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rPr>
              <a:t>Civilization provides us with a means of escape.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(9) </a:t>
            </a:r>
            <a:pPr indent="0" marL="0">
              <a:lnSpc>
                <a:spcPct val="120000"/>
              </a:lnSpc>
              <a:buNone/>
            </a:pPr>
            <a:r>
              <a:rPr lang="en-US" sz="1700" dirty="0">
                <a:solidFill>
                  <a:srgbClr val="1E2B2A"/>
                </a:solidFill>
                <a:highlight>
                  <a:srgbClr val="FFD45C"/>
                </a:highlight>
              </a:rPr>
              <a:t>Or, differently put, exchange is the enemy of culture.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(10) </a:t>
            </a:r>
            <a:pPr indent="0" marL="0">
              <a:lnSpc>
                <a:spcPct val="120000"/>
              </a:lnSpc>
              <a:buNone/>
            </a:pPr>
            <a:r>
              <a:rPr lang="en-US" sz="1700" b="1" dirty="0">
                <a:solidFill>
                  <a:srgbClr val="2C7DA0"/>
                </a:solidFill>
                <a:highlight>
                  <a:srgbClr val="FFD45C"/>
                </a:highlight>
              </a:rPr>
              <a:t>When presented with alternatives</a:t>
            </a:r>
            <a:pPr indent="0" marL="0">
              <a:lnSpc>
                <a:spcPct val="120000"/>
              </a:lnSpc>
              <a:buNone/>
            </a:pPr>
            <a:r>
              <a:rPr lang="en-US" sz="1700" dirty="0">
                <a:solidFill>
                  <a:srgbClr val="1E2B2A"/>
                </a:solidFill>
                <a:highlight>
                  <a:srgbClr val="FFD45C"/>
                </a:highlight>
              </a:rPr>
              <a:t>, we give up our old ways.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(11) </a:t>
            </a:r>
            <a:pPr indent="0" marL="0">
              <a:lnSpc>
                <a:spcPct val="120000"/>
              </a:lnSpc>
              <a:buNone/>
            </a:pPr>
            <a:r>
              <a:rPr lang="en-US" sz="1700" dirty="0">
                <a:solidFill>
                  <a:srgbClr val="1E2B2A"/>
                </a:solidFill>
              </a:rPr>
              <a:t>We no longer do </a:t>
            </a:r>
            <a:pPr indent="0" marL="0">
              <a:lnSpc>
                <a:spcPct val="120000"/>
              </a:lnSpc>
              <a:buNone/>
            </a:pPr>
            <a:r>
              <a:rPr lang="en-US" sz="1700" b="1" dirty="0">
                <a:solidFill>
                  <a:srgbClr val="2C7DA0"/>
                </a:solidFill>
              </a:rPr>
              <a:t>the things we used to do</a:t>
            </a:r>
            <a:pPr indent="0" marL="0">
              <a:lnSpc>
                <a:spcPct val="120000"/>
              </a:lnSpc>
              <a:buNone/>
            </a:pPr>
            <a:r>
              <a:rPr lang="en-US" sz="1700" dirty="0">
                <a:solidFill>
                  <a:srgbClr val="1E2B2A"/>
                </a:solidFill>
              </a:rPr>
              <a:t> and we are no longer quite the same people as before.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(12) </a:t>
            </a:r>
            <a:pPr indent="0" marL="0">
              <a:lnSpc>
                <a:spcPct val="120000"/>
              </a:lnSpc>
              <a:buNone/>
            </a:pPr>
            <a:r>
              <a:rPr lang="en-US" sz="1700" dirty="0">
                <a:solidFill>
                  <a:srgbClr val="1E2B2A"/>
                </a:solidFill>
              </a:rPr>
              <a:t>This is how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metaphorical </a:t>
            </a:r>
            <a:pPr indent="0" marL="0">
              <a:lnSpc>
                <a:spcPct val="110000"/>
              </a:lnSpc>
              <a:buNone/>
            </a:pPr>
            <a:r>
              <a:rPr lang="en-US" sz="1400" dirty="0">
                <a:solidFill>
                  <a:srgbClr val="1E2B2A"/>
                </a:solidFill>
              </a:rPr>
              <a:t>은유적인   ·   </a:t>
            </a:r>
            <a:pPr indent="0" marL="0">
              <a:lnSpc>
                <a:spcPct val="110000"/>
              </a:lnSpc>
              <a:buNone/>
            </a:pPr>
            <a:r>
              <a:rPr lang="en-US" sz="1400" b="1" dirty="0">
                <a:solidFill>
                  <a:srgbClr val="1F7A64"/>
                </a:solidFill>
              </a:rPr>
              <a:t>horizons </a:t>
            </a:r>
            <a:pPr indent="0" marL="0">
              <a:lnSpc>
                <a:spcPct val="110000"/>
              </a:lnSpc>
              <a:buNone/>
            </a:pPr>
            <a:r>
              <a:rPr lang="en-US" sz="1400" dirty="0">
                <a:solidFill>
                  <a:srgbClr val="1E2B2A"/>
                </a:solidFill>
              </a:rPr>
              <a:t>시야   ·   </a:t>
            </a:r>
            <a:pPr indent="0" marL="0">
              <a:lnSpc>
                <a:spcPct val="110000"/>
              </a:lnSpc>
              <a:buNone/>
            </a:pPr>
            <a:r>
              <a:rPr lang="en-US" sz="1400" b="1" dirty="0">
                <a:solidFill>
                  <a:srgbClr val="1F7A64"/>
                </a:solidFill>
              </a:rPr>
              <a:t>unencumbered </a:t>
            </a:r>
            <a:pPr indent="0" marL="0">
              <a:lnSpc>
                <a:spcPct val="110000"/>
              </a:lnSpc>
              <a:buNone/>
            </a:pPr>
            <a:r>
              <a:rPr lang="en-US" sz="1400" dirty="0">
                <a:solidFill>
                  <a:srgbClr val="1E2B2A"/>
                </a:solidFill>
              </a:rPr>
              <a:t>방해받지 않는   ·   </a:t>
            </a:r>
            <a:pPr indent="0" marL="0">
              <a:lnSpc>
                <a:spcPct val="110000"/>
              </a:lnSpc>
              <a:buNone/>
            </a:pPr>
            <a:r>
              <a:rPr lang="en-US" sz="1400" b="1" dirty="0">
                <a:solidFill>
                  <a:srgbClr val="1F7A64"/>
                </a:solidFill>
              </a:rPr>
              <a:t>circulation </a:t>
            </a:r>
            <a:pPr indent="0" marL="0">
              <a:lnSpc>
                <a:spcPct val="110000"/>
              </a:lnSpc>
              <a:buNone/>
            </a:pPr>
            <a:r>
              <a:rPr lang="en-US" sz="1400" dirty="0">
                <a:solidFill>
                  <a:srgbClr val="1E2B2A"/>
                </a:solidFill>
              </a:rPr>
              <a:t>순환   ·   </a:t>
            </a:r>
            <a:pPr indent="0" marL="0">
              <a:lnSpc>
                <a:spcPct val="110000"/>
              </a:lnSpc>
              <a:buNone/>
            </a:pPr>
            <a:r>
              <a:rPr lang="en-US" sz="1400" b="1" dirty="0">
                <a:solidFill>
                  <a:srgbClr val="1F7A64"/>
                </a:solidFill>
              </a:rPr>
              <a:t>unsettling </a:t>
            </a:r>
            <a:pPr indent="0" marL="0">
              <a:lnSpc>
                <a:spcPct val="110000"/>
              </a:lnSpc>
              <a:buNone/>
            </a:pPr>
            <a:r>
              <a:rPr lang="en-US" sz="1400" dirty="0">
                <a:solidFill>
                  <a:srgbClr val="1E2B2A"/>
                </a:solidFill>
              </a:rPr>
              <a:t>불안하게 하는   ·   </a:t>
            </a:r>
            <a:pPr indent="0" marL="0">
              <a:lnSpc>
                <a:spcPct val="110000"/>
              </a:lnSpc>
              <a:buNone/>
            </a:pPr>
            <a:r>
              <a:rPr lang="en-US" sz="1400" b="1" dirty="0">
                <a:solidFill>
                  <a:srgbClr val="1F7A64"/>
                </a:solidFill>
              </a:rPr>
              <a:t>liberating </a:t>
            </a:r>
            <a:pPr indent="0" marL="0">
              <a:lnSpc>
                <a:spcPct val="110000"/>
              </a:lnSpc>
              <a:buNone/>
            </a:pPr>
            <a:r>
              <a:rPr lang="en-US" sz="1400" dirty="0">
                <a:solidFill>
                  <a:srgbClr val="1E2B2A"/>
                </a:solidFill>
              </a:rPr>
              <a:t>해방감을 주는   ·   </a:t>
            </a:r>
            <a:pPr indent="0" marL="0">
              <a:lnSpc>
                <a:spcPct val="110000"/>
              </a:lnSpc>
              <a:buNone/>
            </a:pPr>
            <a:r>
              <a:rPr lang="en-US" sz="1400" b="1" dirty="0">
                <a:solidFill>
                  <a:srgbClr val="1F7A64"/>
                </a:solidFill>
              </a:rPr>
              <a:t>confined </a:t>
            </a:r>
            <a:pPr indent="0" marL="0">
              <a:lnSpc>
                <a:spcPct val="110000"/>
              </a:lnSpc>
              <a:buNone/>
            </a:pPr>
            <a:r>
              <a:rPr lang="en-US" sz="1400" dirty="0">
                <a:solidFill>
                  <a:srgbClr val="1E2B2A"/>
                </a:solidFill>
              </a:rPr>
              <a:t>갇힌</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finds it in exchange</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its metaphorical basis (앞 절과 대구 구조)</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This is why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This is why + 결과</a:t>
            </a:r>
            <a:endParaRPr lang="en-US" sz="1700" dirty="0"/>
          </a:p>
          <a:p>
            <a:pPr indent="0" marL="0">
              <a:spcAft>
                <a:spcPts val="200"/>
              </a:spcAft>
              <a:buNone/>
            </a:pPr>
            <a:r>
              <a:rPr lang="en-US" sz="1400" dirty="0">
                <a:solidFill>
                  <a:srgbClr val="1E2B2A"/>
                </a:solidFill>
              </a:rPr>
              <a:t>앞 내용이 원인, 뒤가 결과 (This is because와 구별)</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be confined to, and carry the burden of, our culture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공통관계</a:t>
            </a:r>
            <a:endParaRPr lang="en-US" sz="1700" dirty="0"/>
          </a:p>
          <a:p>
            <a:pPr indent="0" marL="0">
              <a:spcAft>
                <a:spcPts val="200"/>
              </a:spcAft>
              <a:buNone/>
            </a:pPr>
            <a:r>
              <a:rPr lang="en-US" sz="1400" dirty="0">
                <a:solidFill>
                  <a:srgbClr val="1E2B2A"/>
                </a:solidFill>
              </a:rPr>
              <a:t>to와 of가 our culture를 공통 목적어로 공유</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 alternatives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(we are) presented with ~: 수동 분사구문</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things we used to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used to V</a:t>
            </a:r>
            <a:endParaRPr lang="en-US" sz="1700" dirty="0"/>
          </a:p>
          <a:p>
            <a:pPr indent="0" marL="0">
              <a:spcAft>
                <a:spcPts val="200"/>
              </a:spcAft>
              <a:buNone/>
            </a:pPr>
            <a:r>
              <a:rPr lang="en-US" sz="1400" dirty="0">
                <a:solidFill>
                  <a:srgbClr val="1E2B2A"/>
                </a:solidFill>
              </a:rPr>
              <a:t>~하곤 했다 (be used to -ing: ~에 익숙하다와 구별)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Science and democracy share important principles and ideals that oppose illegitimate claims for knowledge and power.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authority of both scientific knowledge and democratic governance is legitimated by representation.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It is only when this representation is accepted as legitimate that it can support the authority of the knowledge claims made, or the authority of particular forms of governance.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Representation is, however,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Since both scientific practices and democratic governance, in principle, admit potential alternative representations, continuous struggles over what is represented and what is not can be foreseen.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To represent means to simplify, which implies the existence of alternatives ─ alternative ways of simplifying complicated issues.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further means that both science and democracy have inbuilt mechanisms for improvement, which are based on critical assessments of existing representations.</a:t>
            </a:r>
            <a:endParaRPr lang="en-US" sz="1650" dirty="0"/>
          </a:p>
          <a:p>
            <a:pPr algn="r" indent="0" marL="0">
              <a:lnSpc>
                <a:spcPct val="115000"/>
              </a:lnSpc>
              <a:spcBef>
                <a:spcPts val="200"/>
              </a:spcBef>
              <a:buNone/>
            </a:pPr>
            <a:r>
              <a:rPr lang="en-US" sz="1100" i="1" dirty="0">
                <a:solidFill>
                  <a:srgbClr val="6E7F7C"/>
                </a:solidFill>
              </a:rPr>
              <a:t>* governance: 통치, 관리</a:t>
            </a:r>
            <a:endParaRPr lang="en-US" sz="1650" dirty="0"/>
          </a:p>
          <a:p>
            <a:pPr indent="0" marL="0">
              <a:lnSpc>
                <a:spcPct val="115000"/>
              </a:lnSpc>
              <a:spcBef>
                <a:spcPts val="1000"/>
              </a:spcBef>
              <a:buNone/>
            </a:pPr>
            <a:r>
              <a:rPr lang="en-US" sz="1650" dirty="0">
                <a:solidFill>
                  <a:srgbClr val="14453D"/>
                </a:solidFill>
              </a:rPr>
              <a:t>①  free from controversy</a:t>
            </a:r>
            <a:endParaRPr lang="en-US" sz="1650" dirty="0"/>
          </a:p>
          <a:p>
            <a:pPr indent="0" marL="0">
              <a:lnSpc>
                <a:spcPct val="115000"/>
              </a:lnSpc>
              <a:spcBef>
                <a:spcPts val="200"/>
              </a:spcBef>
              <a:buNone/>
            </a:pPr>
            <a:r>
              <a:rPr lang="en-US" sz="1650" dirty="0">
                <a:solidFill>
                  <a:srgbClr val="14453D"/>
                </a:solidFill>
              </a:rPr>
              <a:t>②  never perfect or complete</a:t>
            </a:r>
            <a:endParaRPr lang="en-US" sz="1650" dirty="0"/>
          </a:p>
          <a:p>
            <a:pPr indent="0" marL="0">
              <a:lnSpc>
                <a:spcPct val="115000"/>
              </a:lnSpc>
              <a:spcBef>
                <a:spcPts val="200"/>
              </a:spcBef>
              <a:buNone/>
            </a:pPr>
            <a:r>
              <a:rPr lang="en-US" sz="1650" dirty="0">
                <a:solidFill>
                  <a:srgbClr val="14453D"/>
                </a:solidFill>
              </a:rPr>
              <a:t>③  valid only in scientific contexts</a:t>
            </a:r>
            <a:endParaRPr lang="en-US" sz="1650" dirty="0"/>
          </a:p>
          <a:p>
            <a:pPr indent="0" marL="0">
              <a:lnSpc>
                <a:spcPct val="115000"/>
              </a:lnSpc>
              <a:spcBef>
                <a:spcPts val="200"/>
              </a:spcBef>
              <a:buNone/>
            </a:pPr>
            <a:r>
              <a:rPr lang="en-US" sz="1650" dirty="0">
                <a:solidFill>
                  <a:srgbClr val="14453D"/>
                </a:solidFill>
              </a:rPr>
              <a:t>④  fixed and then resistant to change</a:t>
            </a:r>
            <a:endParaRPr lang="en-US" sz="1650" dirty="0"/>
          </a:p>
          <a:p>
            <a:pPr indent="0" marL="0">
              <a:lnSpc>
                <a:spcPct val="115000"/>
              </a:lnSpc>
              <a:spcBef>
                <a:spcPts val="200"/>
              </a:spcBef>
              <a:buNone/>
            </a:pPr>
            <a:r>
              <a:rPr lang="en-US" sz="1650" dirty="0">
                <a:solidFill>
                  <a:srgbClr val="14453D"/>
                </a:solidFill>
              </a:rPr>
              <a:t>⑤  not subjective nor universally rejected</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Science and democracy share important principles and ideals </a:t>
            </a:r>
            <a:pPr indent="0" marL="0">
              <a:lnSpc>
                <a:spcPct val="120000"/>
              </a:lnSpc>
              <a:buNone/>
            </a:pPr>
            <a:r>
              <a:rPr lang="en-US" sz="1800" b="1" dirty="0">
                <a:solidFill>
                  <a:srgbClr val="2C7DA0"/>
                </a:solidFill>
              </a:rPr>
              <a:t>that oppose </a:t>
            </a:r>
            <a:pPr indent="0" marL="0">
              <a:lnSpc>
                <a:spcPct val="120000"/>
              </a:lnSpc>
              <a:buNone/>
            </a:pPr>
            <a:r>
              <a:rPr lang="en-US" sz="1800" b="1" u="dotted" dirty="0">
                <a:solidFill>
                  <a:srgbClr val="2C7DA0"/>
                </a:solidFill>
                <a:uFill>
                  <a:solidFill>
                    <a:srgbClr val="1F7A64"/>
                  </a:solidFill>
                </a:uFill>
              </a:rPr>
              <a:t>illegitimate</a:t>
            </a:r>
            <a:pPr indent="0" marL="0">
              <a:lnSpc>
                <a:spcPct val="120000"/>
              </a:lnSpc>
              <a:buNone/>
            </a:pPr>
            <a:r>
              <a:rPr lang="en-US" sz="1800" b="1" dirty="0">
                <a:solidFill>
                  <a:srgbClr val="2C7DA0"/>
                </a:solidFill>
              </a:rPr>
              <a:t> claims</a:t>
            </a:r>
            <a:pPr indent="0" marL="0">
              <a:lnSpc>
                <a:spcPct val="120000"/>
              </a:lnSpc>
              <a:buNone/>
            </a:pPr>
            <a:r>
              <a:rPr lang="en-US" sz="1800" dirty="0">
                <a:solidFill>
                  <a:srgbClr val="1E2B2A"/>
                </a:solidFill>
              </a:rPr>
              <a:t> for knowledge and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authority of both scientific knowledge and democratic governance is </a:t>
            </a:r>
            <a:pPr indent="0" marL="0">
              <a:lnSpc>
                <a:spcPct val="120000"/>
              </a:lnSpc>
              <a:buNone/>
            </a:pPr>
            <a:r>
              <a:rPr lang="en-US" sz="1800" u="dotted" dirty="0">
                <a:solidFill>
                  <a:srgbClr val="1F7A64"/>
                </a:solidFill>
                <a:uFill>
                  <a:solidFill>
                    <a:srgbClr val="1F7A64"/>
                  </a:solidFill>
                </a:uFill>
              </a:rPr>
              <a:t>legitimated</a:t>
            </a:r>
            <a:pPr indent="0" marL="0">
              <a:lnSpc>
                <a:spcPct val="120000"/>
              </a:lnSpc>
              <a:buNone/>
            </a:pPr>
            <a:r>
              <a:rPr lang="en-US" sz="1800" dirty="0">
                <a:solidFill>
                  <a:srgbClr val="1E2B2A"/>
                </a:solidFill>
              </a:rPr>
              <a:t> by </a:t>
            </a:r>
            <a:pPr indent="0" marL="0">
              <a:lnSpc>
                <a:spcPct val="120000"/>
              </a:lnSpc>
              <a:buNone/>
            </a:pPr>
            <a:r>
              <a:rPr lang="en-US" sz="1800" u="dotted" dirty="0">
                <a:solidFill>
                  <a:srgbClr val="1F7A64"/>
                </a:solidFill>
                <a:uFill>
                  <a:solidFill>
                    <a:srgbClr val="1F7A64"/>
                  </a:solidFill>
                </a:uFill>
              </a:rPr>
              <a:t>representation</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b="1" dirty="0">
                <a:solidFill>
                  <a:srgbClr val="2C7DA0"/>
                </a:solidFill>
              </a:rPr>
              <a:t>It is only when this representation is accepted as legitimate that</a:t>
            </a:r>
            <a:pPr indent="0" marL="0">
              <a:lnSpc>
                <a:spcPct val="120000"/>
              </a:lnSpc>
              <a:buNone/>
            </a:pPr>
            <a:r>
              <a:rPr lang="en-US" sz="1800" dirty="0">
                <a:solidFill>
                  <a:srgbClr val="1E2B2A"/>
                </a:solidFill>
              </a:rPr>
              <a:t> it can support the authority of the knowledge claims made, or the authority of particular forms of governance.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Representation is, however,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highlight>
                  <a:srgbClr val="FFD45C"/>
                </a:highlight>
              </a:rPr>
              <a:t>Since both scientific practices and democratic governance, in principle, admit</a:t>
            </a:r>
            <a:pPr indent="0" marL="0">
              <a:lnSpc>
                <a:spcPct val="120000"/>
              </a:lnSpc>
              <a:buNone/>
            </a:pPr>
            <a:r>
              <a:rPr lang="en-US" sz="1800" dirty="0">
                <a:solidFill>
                  <a:srgbClr val="1E2B2A"/>
                </a:solidFill>
                <a:highlight>
                  <a:srgbClr val="FFD45C"/>
                </a:highlight>
              </a:rPr>
              <a:t> potential alternative representations, continuous struggles over what is represented and what is not can be </a:t>
            </a:r>
            <a:pPr indent="0" marL="0">
              <a:lnSpc>
                <a:spcPct val="120000"/>
              </a:lnSpc>
              <a:buNone/>
            </a:pPr>
            <a:r>
              <a:rPr lang="en-US" sz="1800" u="dotted" dirty="0">
                <a:solidFill>
                  <a:srgbClr val="1F7A64"/>
                </a:solidFill>
                <a:highlight>
                  <a:srgbClr val="FFD45C"/>
                </a:highlight>
                <a:uFill>
                  <a:solidFill>
                    <a:srgbClr val="1F7A64"/>
                  </a:solidFill>
                </a:uFill>
              </a:rPr>
              <a:t>foreseen</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To represent means to simplify, </a:t>
            </a:r>
            <a:pPr indent="0" marL="0">
              <a:lnSpc>
                <a:spcPct val="120000"/>
              </a:lnSpc>
              <a:buNone/>
            </a:pPr>
            <a:r>
              <a:rPr lang="en-US" sz="1800" b="1" dirty="0">
                <a:solidFill>
                  <a:srgbClr val="2C7DA0"/>
                </a:solidFill>
                <a:highlight>
                  <a:srgbClr val="FFD45C"/>
                </a:highlight>
              </a:rPr>
              <a:t>which implies the existence of alternatives</a:t>
            </a:r>
            <a:pPr indent="0" marL="0">
              <a:lnSpc>
                <a:spcPct val="120000"/>
              </a:lnSpc>
              <a:buNone/>
            </a:pPr>
            <a:r>
              <a:rPr lang="en-US" sz="1800" dirty="0">
                <a:solidFill>
                  <a:srgbClr val="1E2B2A"/>
                </a:solidFill>
                <a:highlight>
                  <a:srgbClr val="FFD45C"/>
                </a:highlight>
              </a:rPr>
              <a:t> ─ alternative ways of simplifying complicated issues.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This further means that both science and democracy have </a:t>
            </a:r>
            <a:pPr indent="0" marL="0">
              <a:lnSpc>
                <a:spcPct val="120000"/>
              </a:lnSpc>
              <a:buNone/>
            </a:pPr>
            <a:r>
              <a:rPr lang="en-US" sz="1800" u="dotted" dirty="0">
                <a:solidFill>
                  <a:srgbClr val="1F7A64"/>
                </a:solidFill>
                <a:highlight>
                  <a:srgbClr val="FFD45C"/>
                </a:highlight>
                <a:uFill>
                  <a:solidFill>
                    <a:srgbClr val="1F7A64"/>
                  </a:solidFill>
                </a:uFill>
              </a:rPr>
              <a:t>inbuilt</a:t>
            </a:r>
            <a:pPr indent="0" marL="0">
              <a:lnSpc>
                <a:spcPct val="120000"/>
              </a:lnSpc>
              <a:buNone/>
            </a:pPr>
            <a:r>
              <a:rPr lang="en-US" sz="1800" dirty="0">
                <a:solidFill>
                  <a:srgbClr val="1E2B2A"/>
                </a:solidFill>
                <a:highlight>
                  <a:srgbClr val="FFD45C"/>
                </a:highlight>
              </a:rPr>
              <a:t> mechanisms for improvement, which are based on critical </a:t>
            </a:r>
            <a:pPr indent="0" marL="0">
              <a:lnSpc>
                <a:spcPct val="120000"/>
              </a:lnSpc>
              <a:buNone/>
            </a:pPr>
            <a:r>
              <a:rPr lang="en-US" sz="1800" u="dotted" dirty="0">
                <a:solidFill>
                  <a:srgbClr val="1F7A64"/>
                </a:solidFill>
                <a:highlight>
                  <a:srgbClr val="FFD45C"/>
                </a:highlight>
                <a:uFill>
                  <a:solidFill>
                    <a:srgbClr val="1F7A64"/>
                  </a:solidFill>
                </a:uFill>
              </a:rPr>
              <a:t>assessments</a:t>
            </a:r>
            <a:pPr indent="0" marL="0">
              <a:lnSpc>
                <a:spcPct val="120000"/>
              </a:lnSpc>
              <a:buNone/>
            </a:pPr>
            <a:r>
              <a:rPr lang="en-US" sz="1800" dirty="0">
                <a:solidFill>
                  <a:srgbClr val="1E2B2A"/>
                </a:solidFill>
                <a:highlight>
                  <a:srgbClr val="FFD45C"/>
                </a:highlight>
              </a:rPr>
              <a:t> of existing representations.</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illegitimate </a:t>
            </a:r>
            <a:pPr indent="0" marL="0">
              <a:lnSpc>
                <a:spcPct val="110000"/>
              </a:lnSpc>
              <a:buNone/>
            </a:pPr>
            <a:r>
              <a:rPr lang="en-US" sz="1400" dirty="0">
                <a:solidFill>
                  <a:srgbClr val="1E2B2A"/>
                </a:solidFill>
              </a:rPr>
              <a:t>부당한   ·   </a:t>
            </a:r>
            <a:pPr indent="0" marL="0">
              <a:lnSpc>
                <a:spcPct val="110000"/>
              </a:lnSpc>
              <a:buNone/>
            </a:pPr>
            <a:r>
              <a:rPr lang="en-US" sz="1400" b="1" dirty="0">
                <a:solidFill>
                  <a:srgbClr val="1F7A64"/>
                </a:solidFill>
              </a:rPr>
              <a:t>legitimated </a:t>
            </a:r>
            <a:pPr indent="0" marL="0">
              <a:lnSpc>
                <a:spcPct val="110000"/>
              </a:lnSpc>
              <a:buNone/>
            </a:pPr>
            <a:r>
              <a:rPr lang="en-US" sz="1400" dirty="0">
                <a:solidFill>
                  <a:srgbClr val="1E2B2A"/>
                </a:solidFill>
              </a:rPr>
              <a:t>정당화되는   ·   </a:t>
            </a:r>
            <a:pPr indent="0" marL="0">
              <a:lnSpc>
                <a:spcPct val="110000"/>
              </a:lnSpc>
              <a:buNone/>
            </a:pPr>
            <a:r>
              <a:rPr lang="en-US" sz="1400" b="1" dirty="0">
                <a:solidFill>
                  <a:srgbClr val="1F7A64"/>
                </a:solidFill>
              </a:rPr>
              <a:t>representation </a:t>
            </a:r>
            <a:pPr indent="0" marL="0">
              <a:lnSpc>
                <a:spcPct val="110000"/>
              </a:lnSpc>
              <a:buNone/>
            </a:pPr>
            <a:r>
              <a:rPr lang="en-US" sz="1400" dirty="0">
                <a:solidFill>
                  <a:srgbClr val="1E2B2A"/>
                </a:solidFill>
              </a:rPr>
              <a:t>대표·재현   ·   </a:t>
            </a:r>
            <a:pPr indent="0" marL="0">
              <a:lnSpc>
                <a:spcPct val="110000"/>
              </a:lnSpc>
              <a:buNone/>
            </a:pPr>
            <a:r>
              <a:rPr lang="en-US" sz="1400" b="1" dirty="0">
                <a:solidFill>
                  <a:srgbClr val="1F7A64"/>
                </a:solidFill>
              </a:rPr>
              <a:t>foreseen </a:t>
            </a:r>
            <a:pPr indent="0" marL="0">
              <a:lnSpc>
                <a:spcPct val="110000"/>
              </a:lnSpc>
              <a:buNone/>
            </a:pPr>
            <a:r>
              <a:rPr lang="en-US" sz="1400" dirty="0">
                <a:solidFill>
                  <a:srgbClr val="1E2B2A"/>
                </a:solidFill>
              </a:rPr>
              <a:t>예견되는   ·   </a:t>
            </a:r>
            <a:pPr indent="0" marL="0">
              <a:lnSpc>
                <a:spcPct val="110000"/>
              </a:lnSpc>
              <a:buNone/>
            </a:pPr>
            <a:r>
              <a:rPr lang="en-US" sz="1400" b="1" dirty="0">
                <a:solidFill>
                  <a:srgbClr val="1F7A64"/>
                </a:solidFill>
              </a:rPr>
              <a:t>inbuilt </a:t>
            </a:r>
            <a:pPr indent="0" marL="0">
              <a:lnSpc>
                <a:spcPct val="110000"/>
              </a:lnSpc>
              <a:buNone/>
            </a:pPr>
            <a:r>
              <a:rPr lang="en-US" sz="1400" dirty="0">
                <a:solidFill>
                  <a:srgbClr val="1E2B2A"/>
                </a:solidFill>
              </a:rPr>
              <a:t>내장된   ·   </a:t>
            </a:r>
            <a:pPr indent="0" marL="0">
              <a:lnSpc>
                <a:spcPct val="110000"/>
              </a:lnSpc>
              <a:buNone/>
            </a:pPr>
            <a:r>
              <a:rPr lang="en-US" sz="1400" b="1" dirty="0">
                <a:solidFill>
                  <a:srgbClr val="1F7A64"/>
                </a:solidFill>
              </a:rPr>
              <a:t>assessments </a:t>
            </a:r>
            <a:pPr indent="0" marL="0">
              <a:lnSpc>
                <a:spcPct val="110000"/>
              </a:lnSpc>
              <a:buNone/>
            </a:pPr>
            <a:r>
              <a:rPr lang="en-US" sz="1400" dirty="0">
                <a:solidFill>
                  <a:srgbClr val="1E2B2A"/>
                </a:solidFill>
              </a:rPr>
              <a:t>평가</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oppose illegitimate claims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principles and ideals(복수) → oppose</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It is only when this representation is accepted as legitimate that</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only when ~ 부사절을 강조. that 뒤는 완전한 절</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Since both scientific practices and democratic governance, in principle, admit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since(이유) · both A and B</a:t>
            </a:r>
            <a:endParaRPr lang="en-US" sz="1700" dirty="0"/>
          </a:p>
          <a:p>
            <a:pPr indent="0" marL="0">
              <a:spcAft>
                <a:spcPts val="200"/>
              </a:spcAft>
              <a:buNone/>
            </a:pPr>
            <a:r>
              <a:rPr lang="en-US" sz="1400" dirty="0">
                <a:solidFill>
                  <a:srgbClr val="1E2B2A"/>
                </a:solidFill>
              </a:rPr>
              <a:t>both A and B는 복수 → admit. 삽입구 in principle 건너뛰기</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which implies the existence of alternatives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a:t>
            </a:r>
            <a:endParaRPr lang="en-US" sz="1700" dirty="0"/>
          </a:p>
          <a:p>
            <a:pPr indent="0" marL="0">
              <a:spcAft>
                <a:spcPts val="200"/>
              </a:spcAft>
              <a:buNone/>
            </a:pPr>
            <a:r>
              <a:rPr lang="en-US" sz="1400" dirty="0">
                <a:solidFill>
                  <a:srgbClr val="1E2B2A"/>
                </a:solidFill>
              </a:rPr>
              <a:t>앞 절 전체(To represent means to simplify)를 받음 → 단수 implies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Differences in geology and climate make soils in different regions more or less capable of sustained agriculture.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Once this happens, the lush vegetation essentially feeds on itself, retaining and recycling nutrients inherited from rocks weathered long ago.</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As most of the nutrients in these areas reside not in the soil but in the plants themselves, once the native vegetation disappears, so does the productive capacity of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Often too few nutrients remain to support either crops or livestock within decades of deforestation.</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Nutrient-poor tropical soils illustrate the general rule that </a:t>
            </a:r>
            <a:pPr indent="0" marL="0">
              <a:lnSpc>
                <a:spcPct val="115000"/>
              </a:lnSpc>
              <a:buNone/>
            </a:pPr>
            <a:r>
              <a:rPr lang="en-US" sz="1700" b="1" dirty="0">
                <a:solidFill>
                  <a:srgbClr val="EF5B3F"/>
                </a:solidFill>
              </a:rPr>
              <a:t>____________</a:t>
            </a:r>
            <a:pPr indent="0" marL="0">
              <a:lnSpc>
                <a:spcPct val="115000"/>
              </a:lnSpc>
              <a:buNone/>
            </a:pPr>
            <a:r>
              <a:rPr lang="en-US" sz="1700" dirty="0">
                <a:solidFill>
                  <a:srgbClr val="1E2B2A"/>
                </a:solidFill>
              </a:rPr>
              <a:t>.</a:t>
            </a:r>
            <a:endParaRPr lang="en-US" sz="1700" dirty="0"/>
          </a:p>
          <a:p>
            <a:pPr algn="r" indent="0" marL="0">
              <a:lnSpc>
                <a:spcPct val="115000"/>
              </a:lnSpc>
              <a:spcBef>
                <a:spcPts val="200"/>
              </a:spcBef>
              <a:buNone/>
            </a:pPr>
            <a:r>
              <a:rPr lang="en-US" sz="1100" i="1" dirty="0">
                <a:solidFill>
                  <a:srgbClr val="6E7F7C"/>
                </a:solidFill>
              </a:rPr>
              <a:t>* seep: 스며들다   ** leach out: ~을 스며나오게 하다   *** lush: 울창한</a:t>
            </a:r>
            <a:endParaRPr lang="en-US" sz="1700" dirty="0"/>
          </a:p>
          <a:p>
            <a:pPr indent="0" marL="0">
              <a:lnSpc>
                <a:spcPct val="115000"/>
              </a:lnSpc>
              <a:spcBef>
                <a:spcPts val="1000"/>
              </a:spcBef>
              <a:buNone/>
            </a:pPr>
            <a:r>
              <a:rPr lang="en-US" sz="1700" dirty="0">
                <a:solidFill>
                  <a:srgbClr val="14453D"/>
                </a:solidFill>
              </a:rPr>
              <a:t>①  not all growth leads to change</a:t>
            </a:r>
            <a:endParaRPr lang="en-US" sz="1700" dirty="0"/>
          </a:p>
          <a:p>
            <a:pPr indent="0" marL="0">
              <a:lnSpc>
                <a:spcPct val="115000"/>
              </a:lnSpc>
              <a:spcBef>
                <a:spcPts val="200"/>
              </a:spcBef>
              <a:buNone/>
            </a:pPr>
            <a:r>
              <a:rPr lang="en-US" sz="1700" dirty="0">
                <a:solidFill>
                  <a:srgbClr val="14453D"/>
                </a:solidFill>
              </a:rPr>
              <a:t>②  life depends on recycling past life</a:t>
            </a:r>
            <a:endParaRPr lang="en-US" sz="1700" dirty="0"/>
          </a:p>
          <a:p>
            <a:pPr indent="0" marL="0">
              <a:lnSpc>
                <a:spcPct val="115000"/>
              </a:lnSpc>
              <a:spcBef>
                <a:spcPts val="200"/>
              </a:spcBef>
              <a:buNone/>
            </a:pPr>
            <a:r>
              <a:rPr lang="en-US" sz="1700" dirty="0">
                <a:solidFill>
                  <a:srgbClr val="14453D"/>
                </a:solidFill>
              </a:rPr>
              <a:t>③  farming flourishes where roots run deep</a:t>
            </a:r>
            <a:endParaRPr lang="en-US" sz="1700" dirty="0"/>
          </a:p>
          <a:p>
            <a:pPr indent="0" marL="0">
              <a:lnSpc>
                <a:spcPct val="115000"/>
              </a:lnSpc>
              <a:spcBef>
                <a:spcPts val="200"/>
              </a:spcBef>
              <a:buNone/>
            </a:pPr>
            <a:r>
              <a:rPr lang="en-US" sz="1700" dirty="0">
                <a:solidFill>
                  <a:srgbClr val="14453D"/>
                </a:solidFill>
              </a:rPr>
              <a:t>④  rich vegetation always indicates fertile soil</a:t>
            </a:r>
            <a:endParaRPr lang="en-US" sz="1700" dirty="0"/>
          </a:p>
          <a:p>
            <a:pPr indent="0" marL="0">
              <a:lnSpc>
                <a:spcPct val="115000"/>
              </a:lnSpc>
              <a:spcBef>
                <a:spcPts val="200"/>
              </a:spcBef>
              <a:buNone/>
            </a:pPr>
            <a:r>
              <a:rPr lang="en-US" sz="1700" dirty="0">
                <a:solidFill>
                  <a:srgbClr val="14453D"/>
                </a:solidFill>
              </a:rPr>
              <a:t>⑤  soil always holds enough nutrients for farming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Differences in </a:t>
            </a:r>
            <a:pPr indent="0" marL="0">
              <a:lnSpc>
                <a:spcPct val="120000"/>
              </a:lnSpc>
              <a:buNone/>
            </a:pPr>
            <a:r>
              <a:rPr lang="en-US" sz="1800" u="dotted" dirty="0">
                <a:solidFill>
                  <a:srgbClr val="1F7A64"/>
                </a:solidFill>
                <a:uFill>
                  <a:solidFill>
                    <a:srgbClr val="1F7A64"/>
                  </a:solidFill>
                </a:uFill>
              </a:rPr>
              <a:t>geology</a:t>
            </a:r>
            <a:pPr indent="0" marL="0">
              <a:lnSpc>
                <a:spcPct val="120000"/>
              </a:lnSpc>
              <a:buNone/>
            </a:pPr>
            <a:r>
              <a:rPr lang="en-US" sz="1800" dirty="0">
                <a:solidFill>
                  <a:srgbClr val="1E2B2A"/>
                </a:solidFill>
              </a:rPr>
              <a:t> and climate </a:t>
            </a:r>
            <a:pPr indent="0" marL="0">
              <a:lnSpc>
                <a:spcPct val="120000"/>
              </a:lnSpc>
              <a:buNone/>
            </a:pPr>
            <a:r>
              <a:rPr lang="en-US" sz="1800" b="1" dirty="0">
                <a:solidFill>
                  <a:srgbClr val="2C7DA0"/>
                </a:solidFill>
              </a:rPr>
              <a:t>make soils in different regions more or less capable of</a:t>
            </a:r>
            <a:pPr indent="0" marL="0">
              <a:lnSpc>
                <a:spcPct val="120000"/>
              </a:lnSpc>
              <a:buNone/>
            </a:pPr>
            <a:r>
              <a:rPr lang="en-US" sz="1800" dirty="0">
                <a:solidFill>
                  <a:srgbClr val="1E2B2A"/>
                </a:solidFill>
              </a:rPr>
              <a:t> </a:t>
            </a:r>
            <a:pPr indent="0" marL="0">
              <a:lnSpc>
                <a:spcPct val="120000"/>
              </a:lnSpc>
              <a:buNone/>
            </a:pPr>
            <a:r>
              <a:rPr lang="en-US" sz="1800" u="dotted" dirty="0">
                <a:solidFill>
                  <a:srgbClr val="1F7A64"/>
                </a:solidFill>
                <a:uFill>
                  <a:solidFill>
                    <a:srgbClr val="1F7A64"/>
                  </a:solidFill>
                </a:uFill>
              </a:rPr>
              <a:t>sustained</a:t>
            </a:r>
            <a:pPr indent="0" marL="0">
              <a:lnSpc>
                <a:spcPct val="120000"/>
              </a:lnSpc>
              <a:buNone/>
            </a:pPr>
            <a:r>
              <a:rPr lang="en-US" sz="1800" dirty="0">
                <a:solidFill>
                  <a:srgbClr val="1E2B2A"/>
                </a:solidFill>
              </a:rPr>
              <a:t> agriculture.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In particular, the abundant rainfall and high </a:t>
            </a:r>
            <a:pPr indent="0" marL="0">
              <a:lnSpc>
                <a:spcPct val="120000"/>
              </a:lnSpc>
              <a:buNone/>
            </a:pPr>
            <a:r>
              <a:rPr lang="en-US" sz="1800" u="dotted" dirty="0">
                <a:solidFill>
                  <a:srgbClr val="1F7A64"/>
                </a:solidFill>
                <a:uFill>
                  <a:solidFill>
                    <a:srgbClr val="1F7A64"/>
                  </a:solidFill>
                </a:uFill>
              </a:rPr>
              <a:t>weathering</a:t>
            </a:r>
            <a:pPr indent="0" marL="0">
              <a:lnSpc>
                <a:spcPct val="120000"/>
              </a:lnSpc>
              <a:buNone/>
            </a:pPr>
            <a:r>
              <a:rPr lang="en-US" sz="1800" dirty="0">
                <a:solidFill>
                  <a:srgbClr val="1E2B2A"/>
                </a:solidFill>
              </a:rPr>
              <a:t> rates on the gentle slopes of many tropical landscapes mean that after enough time, </a:t>
            </a:r>
            <a:pPr indent="0" marL="0">
              <a:lnSpc>
                <a:spcPct val="120000"/>
              </a:lnSpc>
              <a:buNone/>
            </a:pPr>
            <a:r>
              <a:rPr lang="en-US" sz="1800" b="1" dirty="0">
                <a:solidFill>
                  <a:srgbClr val="2C7DA0"/>
                </a:solidFill>
              </a:rPr>
              <a:t>rainfall seeping into the ground leaches out</a:t>
            </a:r>
            <a:pPr indent="0" marL="0">
              <a:lnSpc>
                <a:spcPct val="120000"/>
              </a:lnSpc>
              <a:buNone/>
            </a:pPr>
            <a:r>
              <a:rPr lang="en-US" sz="1800" dirty="0">
                <a:solidFill>
                  <a:srgbClr val="1E2B2A"/>
                </a:solidFill>
              </a:rPr>
              <a:t> almost all of the </a:t>
            </a:r>
            <a:pPr indent="0" marL="0">
              <a:lnSpc>
                <a:spcPct val="120000"/>
              </a:lnSpc>
              <a:buNone/>
            </a:pPr>
            <a:r>
              <a:rPr lang="en-US" sz="1800" u="dotted" dirty="0">
                <a:solidFill>
                  <a:srgbClr val="1F7A64"/>
                </a:solidFill>
                <a:uFill>
                  <a:solidFill>
                    <a:srgbClr val="1F7A64"/>
                  </a:solidFill>
                </a:uFill>
              </a:rPr>
              <a:t>nutrients</a:t>
            </a:r>
            <a:pPr indent="0" marL="0">
              <a:lnSpc>
                <a:spcPct val="120000"/>
              </a:lnSpc>
              <a:buNone/>
            </a:pPr>
            <a:r>
              <a:rPr lang="en-US" sz="1800" dirty="0">
                <a:solidFill>
                  <a:srgbClr val="1E2B2A"/>
                </a:solidFill>
              </a:rPr>
              <a:t> from both the soil and the weathered rocks beneath the soil.</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Once this happens, the lush </a:t>
            </a:r>
            <a:pPr indent="0" marL="0">
              <a:lnSpc>
                <a:spcPct val="120000"/>
              </a:lnSpc>
              <a:buNone/>
            </a:pPr>
            <a:r>
              <a:rPr lang="en-US" sz="1800" u="dotted" dirty="0">
                <a:solidFill>
                  <a:srgbClr val="1F7A64"/>
                </a:solidFill>
                <a:highlight>
                  <a:srgbClr val="FFD45C"/>
                </a:highlight>
                <a:uFill>
                  <a:solidFill>
                    <a:srgbClr val="1F7A64"/>
                  </a:solidFill>
                </a:uFill>
              </a:rPr>
              <a:t>vegetation</a:t>
            </a:r>
            <a:pPr indent="0" marL="0">
              <a:lnSpc>
                <a:spcPct val="120000"/>
              </a:lnSpc>
              <a:buNone/>
            </a:pPr>
            <a:r>
              <a:rPr lang="en-US" sz="1800" dirty="0">
                <a:solidFill>
                  <a:srgbClr val="1E2B2A"/>
                </a:solidFill>
                <a:highlight>
                  <a:srgbClr val="FFD45C"/>
                </a:highlight>
              </a:rPr>
              <a:t> essentially feeds on itself, </a:t>
            </a:r>
            <a:pPr indent="0" marL="0">
              <a:lnSpc>
                <a:spcPct val="120000"/>
              </a:lnSpc>
              <a:buNone/>
            </a:pPr>
            <a:r>
              <a:rPr lang="en-US" sz="1800" b="1" u="dotted" dirty="0">
                <a:solidFill>
                  <a:srgbClr val="2C7DA0"/>
                </a:solidFill>
                <a:highlight>
                  <a:srgbClr val="FFD45C"/>
                </a:highlight>
                <a:uFill>
                  <a:solidFill>
                    <a:srgbClr val="1F7A64"/>
                  </a:solidFill>
                </a:uFill>
              </a:rPr>
              <a:t>retaining</a:t>
            </a:r>
            <a:pPr indent="0" marL="0">
              <a:lnSpc>
                <a:spcPct val="120000"/>
              </a:lnSpc>
              <a:buNone/>
            </a:pPr>
            <a:r>
              <a:rPr lang="en-US" sz="1800" b="1" dirty="0">
                <a:solidFill>
                  <a:srgbClr val="2C7DA0"/>
                </a:solidFill>
                <a:highlight>
                  <a:srgbClr val="FFD45C"/>
                </a:highlight>
              </a:rPr>
              <a:t> and recycling nutrients inherited from</a:t>
            </a:r>
            <a:pPr indent="0" marL="0">
              <a:lnSpc>
                <a:spcPct val="120000"/>
              </a:lnSpc>
              <a:buNone/>
            </a:pPr>
            <a:r>
              <a:rPr lang="en-US" sz="1800" dirty="0">
                <a:solidFill>
                  <a:srgbClr val="1E2B2A"/>
                </a:solidFill>
                <a:highlight>
                  <a:srgbClr val="FFD45C"/>
                </a:highlight>
              </a:rPr>
              <a:t> rocks weathered long ago.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As most of the nutrients in these areas </a:t>
            </a:r>
            <a:pPr indent="0" marL="0">
              <a:lnSpc>
                <a:spcPct val="120000"/>
              </a:lnSpc>
              <a:buNone/>
            </a:pPr>
            <a:r>
              <a:rPr lang="en-US" sz="1800" b="1" u="dotted" dirty="0">
                <a:solidFill>
                  <a:srgbClr val="2C7DA0"/>
                </a:solidFill>
                <a:highlight>
                  <a:srgbClr val="FFD45C"/>
                </a:highlight>
                <a:uFill>
                  <a:solidFill>
                    <a:srgbClr val="1F7A64"/>
                  </a:solidFill>
                </a:uFill>
              </a:rPr>
              <a:t>reside</a:t>
            </a:r>
            <a:pPr indent="0" marL="0">
              <a:lnSpc>
                <a:spcPct val="120000"/>
              </a:lnSpc>
              <a:buNone/>
            </a:pPr>
            <a:r>
              <a:rPr lang="en-US" sz="1800" b="1" dirty="0">
                <a:solidFill>
                  <a:srgbClr val="2C7DA0"/>
                </a:solidFill>
                <a:highlight>
                  <a:srgbClr val="FFD45C"/>
                </a:highlight>
              </a:rPr>
              <a:t> not in the soil but in the plants</a:t>
            </a:r>
            <a:pPr indent="0" marL="0">
              <a:lnSpc>
                <a:spcPct val="120000"/>
              </a:lnSpc>
              <a:buNone/>
            </a:pPr>
            <a:r>
              <a:rPr lang="en-US" sz="1800" dirty="0">
                <a:solidFill>
                  <a:srgbClr val="1E2B2A"/>
                </a:solidFill>
                <a:highlight>
                  <a:srgbClr val="FFD45C"/>
                </a:highlight>
              </a:rPr>
              <a:t> themselves, once the native vegetation disappears, </a:t>
            </a:r>
            <a:pPr indent="0" marL="0">
              <a:lnSpc>
                <a:spcPct val="120000"/>
              </a:lnSpc>
              <a:buNone/>
            </a:pPr>
            <a:r>
              <a:rPr lang="en-US" sz="1800" b="1" dirty="0">
                <a:solidFill>
                  <a:srgbClr val="2C7DA0"/>
                </a:solidFill>
                <a:highlight>
                  <a:srgbClr val="FFD45C"/>
                </a:highlight>
              </a:rPr>
              <a:t>so does the productive capacity of the soil</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Often too few nutrients remain to support either crops or </a:t>
            </a:r>
            <a:pPr indent="0" marL="0">
              <a:lnSpc>
                <a:spcPct val="120000"/>
              </a:lnSpc>
              <a:buNone/>
            </a:pPr>
            <a:r>
              <a:rPr lang="en-US" sz="1800" u="dotted" dirty="0">
                <a:solidFill>
                  <a:srgbClr val="1F7A64"/>
                </a:solidFill>
                <a:uFill>
                  <a:solidFill>
                    <a:srgbClr val="1F7A64"/>
                  </a:solidFill>
                </a:uFill>
              </a:rPr>
              <a:t>livestock</a:t>
            </a:r>
            <a:pPr indent="0" marL="0">
              <a:lnSpc>
                <a:spcPct val="120000"/>
              </a:lnSpc>
              <a:buNone/>
            </a:pPr>
            <a:r>
              <a:rPr lang="en-US" sz="1800" dirty="0">
                <a:solidFill>
                  <a:srgbClr val="1E2B2A"/>
                </a:solidFill>
              </a:rPr>
              <a:t> within decades of </a:t>
            </a:r>
            <a:pPr indent="0" marL="0">
              <a:lnSpc>
                <a:spcPct val="120000"/>
              </a:lnSpc>
              <a:buNone/>
            </a:pPr>
            <a:r>
              <a:rPr lang="en-US" sz="1800" u="dotted" dirty="0">
                <a:solidFill>
                  <a:srgbClr val="1F7A64"/>
                </a:solidFill>
                <a:uFill>
                  <a:solidFill>
                    <a:srgbClr val="1F7A64"/>
                  </a:solidFill>
                </a:uFill>
              </a:rPr>
              <a:t>deforestation</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Nutrient-poor tropical soils illustrate the general rule that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geology </a:t>
            </a:r>
            <a:pPr indent="0" marL="0">
              <a:lnSpc>
                <a:spcPct val="110000"/>
              </a:lnSpc>
              <a:buNone/>
            </a:pPr>
            <a:r>
              <a:rPr lang="en-US" sz="1400" dirty="0">
                <a:solidFill>
                  <a:srgbClr val="1E2B2A"/>
                </a:solidFill>
              </a:rPr>
              <a:t>지질   ·   </a:t>
            </a:r>
            <a:pPr indent="0" marL="0">
              <a:lnSpc>
                <a:spcPct val="110000"/>
              </a:lnSpc>
              <a:buNone/>
            </a:pPr>
            <a:r>
              <a:rPr lang="en-US" sz="1400" b="1" dirty="0">
                <a:solidFill>
                  <a:srgbClr val="1F7A64"/>
                </a:solidFill>
              </a:rPr>
              <a:t>sustained </a:t>
            </a:r>
            <a:pPr indent="0" marL="0">
              <a:lnSpc>
                <a:spcPct val="110000"/>
              </a:lnSpc>
              <a:buNone/>
            </a:pPr>
            <a:r>
              <a:rPr lang="en-US" sz="1400" dirty="0">
                <a:solidFill>
                  <a:srgbClr val="1E2B2A"/>
                </a:solidFill>
              </a:rPr>
              <a:t>지속적인   ·   </a:t>
            </a:r>
            <a:pPr indent="0" marL="0">
              <a:lnSpc>
                <a:spcPct val="110000"/>
              </a:lnSpc>
              <a:buNone/>
            </a:pPr>
            <a:r>
              <a:rPr lang="en-US" sz="1400" b="1" dirty="0">
                <a:solidFill>
                  <a:srgbClr val="1F7A64"/>
                </a:solidFill>
              </a:rPr>
              <a:t>weathering </a:t>
            </a:r>
            <a:pPr indent="0" marL="0">
              <a:lnSpc>
                <a:spcPct val="110000"/>
              </a:lnSpc>
              <a:buNone/>
            </a:pPr>
            <a:r>
              <a:rPr lang="en-US" sz="1400" dirty="0">
                <a:solidFill>
                  <a:srgbClr val="1E2B2A"/>
                </a:solidFill>
              </a:rPr>
              <a:t>풍화   ·   </a:t>
            </a:r>
            <a:pPr indent="0" marL="0">
              <a:lnSpc>
                <a:spcPct val="110000"/>
              </a:lnSpc>
              <a:buNone/>
            </a:pPr>
            <a:r>
              <a:rPr lang="en-US" sz="1400" b="1" dirty="0">
                <a:solidFill>
                  <a:srgbClr val="1F7A64"/>
                </a:solidFill>
              </a:rPr>
              <a:t>nutrients </a:t>
            </a:r>
            <a:pPr indent="0" marL="0">
              <a:lnSpc>
                <a:spcPct val="110000"/>
              </a:lnSpc>
              <a:buNone/>
            </a:pPr>
            <a:r>
              <a:rPr lang="en-US" sz="1400" dirty="0">
                <a:solidFill>
                  <a:srgbClr val="1E2B2A"/>
                </a:solidFill>
              </a:rPr>
              <a:t>영양분   ·   </a:t>
            </a:r>
            <a:pPr indent="0" marL="0">
              <a:lnSpc>
                <a:spcPct val="110000"/>
              </a:lnSpc>
              <a:buNone/>
            </a:pPr>
            <a:r>
              <a:rPr lang="en-US" sz="1400" b="1" dirty="0">
                <a:solidFill>
                  <a:srgbClr val="1F7A64"/>
                </a:solidFill>
              </a:rPr>
              <a:t>vegetation </a:t>
            </a:r>
            <a:pPr indent="0" marL="0">
              <a:lnSpc>
                <a:spcPct val="110000"/>
              </a:lnSpc>
              <a:buNone/>
            </a:pPr>
            <a:r>
              <a:rPr lang="en-US" sz="1400" dirty="0">
                <a:solidFill>
                  <a:srgbClr val="1E2B2A"/>
                </a:solidFill>
              </a:rPr>
              <a:t>식생   ·   </a:t>
            </a:r>
            <a:pPr indent="0" marL="0">
              <a:lnSpc>
                <a:spcPct val="110000"/>
              </a:lnSpc>
              <a:buNone/>
            </a:pPr>
            <a:r>
              <a:rPr lang="en-US" sz="1400" b="1" dirty="0">
                <a:solidFill>
                  <a:srgbClr val="1F7A64"/>
                </a:solidFill>
              </a:rPr>
              <a:t>retaining </a:t>
            </a:r>
            <a:pPr indent="0" marL="0">
              <a:lnSpc>
                <a:spcPct val="110000"/>
              </a:lnSpc>
              <a:buNone/>
            </a:pPr>
            <a:r>
              <a:rPr lang="en-US" sz="1400" dirty="0">
                <a:solidFill>
                  <a:srgbClr val="1E2B2A"/>
                </a:solidFill>
              </a:rPr>
              <a:t>보유하는   ·   </a:t>
            </a:r>
            <a:pPr indent="0" marL="0">
              <a:lnSpc>
                <a:spcPct val="110000"/>
              </a:lnSpc>
              <a:buNone/>
            </a:pPr>
            <a:r>
              <a:rPr lang="en-US" sz="1400" b="1" dirty="0">
                <a:solidFill>
                  <a:srgbClr val="1F7A64"/>
                </a:solidFill>
              </a:rPr>
              <a:t>reside </a:t>
            </a:r>
            <a:pPr indent="0" marL="0">
              <a:lnSpc>
                <a:spcPct val="110000"/>
              </a:lnSpc>
              <a:buNone/>
            </a:pPr>
            <a:r>
              <a:rPr lang="en-US" sz="1400" dirty="0">
                <a:solidFill>
                  <a:srgbClr val="1E2B2A"/>
                </a:solidFill>
              </a:rPr>
              <a:t>존재하다   ·   </a:t>
            </a:r>
            <a:pPr indent="0" marL="0">
              <a:lnSpc>
                <a:spcPct val="110000"/>
              </a:lnSpc>
              <a:buNone/>
            </a:pPr>
            <a:r>
              <a:rPr lang="en-US" sz="1400" b="1" dirty="0">
                <a:solidFill>
                  <a:srgbClr val="1F7A64"/>
                </a:solidFill>
              </a:rPr>
              <a:t>livestock </a:t>
            </a:r>
            <a:pPr indent="0" marL="0">
              <a:lnSpc>
                <a:spcPct val="110000"/>
              </a:lnSpc>
              <a:buNone/>
            </a:pPr>
            <a:r>
              <a:rPr lang="en-US" sz="1400" dirty="0">
                <a:solidFill>
                  <a:srgbClr val="1E2B2A"/>
                </a:solidFill>
              </a:rPr>
              <a:t>가축   ·   </a:t>
            </a:r>
            <a:pPr indent="0" marL="0">
              <a:lnSpc>
                <a:spcPct val="110000"/>
              </a:lnSpc>
              <a:buNone/>
            </a:pPr>
            <a:r>
              <a:rPr lang="en-US" sz="1400" b="1" dirty="0">
                <a:solidFill>
                  <a:srgbClr val="1F7A64"/>
                </a:solidFill>
              </a:rPr>
              <a:t>deforestation </a:t>
            </a:r>
            <a:pPr indent="0" marL="0">
              <a:lnSpc>
                <a:spcPct val="110000"/>
              </a:lnSpc>
              <a:buNone/>
            </a:pPr>
            <a:r>
              <a:rPr lang="en-US" sz="1400" dirty="0">
                <a:solidFill>
                  <a:srgbClr val="1E2B2A"/>
                </a:solidFill>
              </a:rPr>
              <a:t>삼림 벌채</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make soils in different regions more or less capable of</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5형식 make O C</a:t>
            </a:r>
            <a:endParaRPr lang="en-US" sz="1700" dirty="0"/>
          </a:p>
          <a:p>
            <a:pPr indent="0" marL="0">
              <a:spcAft>
                <a:spcPts val="200"/>
              </a:spcAft>
              <a:buNone/>
            </a:pPr>
            <a:r>
              <a:rPr lang="en-US" sz="1400" dirty="0">
                <a:solidFill>
                  <a:srgbClr val="1E2B2A"/>
                </a:solidFill>
              </a:rPr>
              <a:t>목적격 보어 자리에 형용사 capable (부사 X)</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rainfall seeping into the ground leaches out</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현재분사 수식 · 수일치</a:t>
            </a:r>
            <a:endParaRPr lang="en-US" sz="1700" dirty="0"/>
          </a:p>
          <a:p>
            <a:pPr indent="0" marL="0">
              <a:spcAft>
                <a:spcPts val="200"/>
              </a:spcAft>
              <a:buNone/>
            </a:pPr>
            <a:r>
              <a:rPr lang="en-US" sz="1400" dirty="0">
                <a:solidFill>
                  <a:srgbClr val="1E2B2A"/>
                </a:solidFill>
              </a:rPr>
              <a:t>rainfall (which is) seeping ~ → 주어 rainfall(단수) → leaches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retaining and recycling nutrients inherited from</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 과거분사 수식</a:t>
            </a:r>
            <a:endParaRPr lang="en-US" sz="1700" dirty="0"/>
          </a:p>
          <a:p>
            <a:pPr indent="0" marL="0">
              <a:spcAft>
                <a:spcPts val="200"/>
              </a:spcAft>
              <a:buNone/>
            </a:pPr>
            <a:r>
              <a:rPr lang="en-US" sz="1400" dirty="0">
                <a:solidFill>
                  <a:srgbClr val="1E2B2A"/>
                </a:solidFill>
              </a:rPr>
              <a:t>retaining and recycling: 분사구문 병렬 / nutrients (which were) inherited</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reside not in the soil but in the plants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A but B</a:t>
            </a:r>
            <a:endParaRPr lang="en-US" sz="1700" dirty="0"/>
          </a:p>
          <a:p>
            <a:pPr indent="0" marL="0">
              <a:spcAft>
                <a:spcPts val="200"/>
              </a:spcAft>
              <a:buNone/>
            </a:pPr>
            <a:r>
              <a:rPr lang="en-US" sz="1400" dirty="0">
                <a:solidFill>
                  <a:srgbClr val="1E2B2A"/>
                </a:solidFill>
              </a:rPr>
              <a:t>A가 아니라 B: in the soil / in the plants 병렬</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does the productive capacity of the soil</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 V + S 도치</a:t>
            </a:r>
            <a:endParaRPr lang="en-US" sz="1700" dirty="0"/>
          </a:p>
          <a:p>
            <a:pPr indent="0" marL="0">
              <a:spcAft>
                <a:spcPts val="200"/>
              </a:spcAft>
              <a:buNone/>
            </a:pPr>
            <a:r>
              <a:rPr lang="en-US" sz="1400" dirty="0">
                <a:solidFill>
                  <a:srgbClr val="1E2B2A"/>
                </a:solidFill>
              </a:rPr>
              <a:t>~도 그렇다: so does + 주어 (앞 동사 disappears를 대신)</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Knowledge is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And one way to measure the amount of trust on a team is by looking at how much information people keep to themselves (low trust) or share openly (high trust).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Team leaders signal that they trust their team when they share privileged information with them.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could be sharing the team's finances, or the budget handed down from higher-ups, so that the whole team knows what they're working with and where the priorities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also be competitive data or customer trends that are widely available but rarely shared.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even be passing on information shared by another team.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 meeting, any time someone says, "</a:t>
            </a:r>
            <a:pPr indent="0" marL="0">
              <a:lnSpc>
                <a:spcPct val="115000"/>
              </a:lnSpc>
              <a:buNone/>
            </a:pPr>
            <a:r>
              <a:rPr lang="en-US" sz="1600" b="1" u="sng" dirty="0">
                <a:solidFill>
                  <a:srgbClr val="1E2B2A"/>
                </a:solidFill>
              </a:rPr>
              <a:t>This stays here</a:t>
            </a:r>
            <a:pPr indent="0" marL="0">
              <a:lnSpc>
                <a:spcPct val="115000"/>
              </a:lnSpc>
              <a:buNone/>
            </a:pPr>
            <a:r>
              <a:rPr lang="en-US" sz="1600" dirty="0">
                <a:solidFill>
                  <a:srgbClr val="1E2B2A"/>
                </a:solidFill>
              </a:rPr>
              <a:t>," the atmosphere changes.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know whatever follows is spoken in trust, and they respond to that feeling of being trusted with trustworthy behavior.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begin to feel like they're in the inner circle when they receive more information about their work or the environment than they usually do.</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start to see how their work fits into the larger organizational whole.</a:t>
            </a:r>
            <a:endParaRPr lang="en-US" sz="1600" dirty="0"/>
          </a:p>
          <a:p>
            <a:pPr indent="0" marL="0">
              <a:lnSpc>
                <a:spcPct val="115000"/>
              </a:lnSpc>
              <a:spcBef>
                <a:spcPts val="1000"/>
              </a:spcBef>
              <a:buNone/>
            </a:pPr>
            <a:r>
              <a:rPr lang="en-US" sz="1600" dirty="0">
                <a:solidFill>
                  <a:srgbClr val="14453D"/>
                </a:solidFill>
              </a:rPr>
              <a:t>①  I am setting boundaries out of caution, not out of trust.</a:t>
            </a:r>
            <a:endParaRPr lang="en-US" sz="1600" dirty="0"/>
          </a:p>
          <a:p>
            <a:pPr indent="0" marL="0">
              <a:lnSpc>
                <a:spcPct val="115000"/>
              </a:lnSpc>
              <a:spcBef>
                <a:spcPts val="200"/>
              </a:spcBef>
              <a:buNone/>
            </a:pPr>
            <a:r>
              <a:rPr lang="en-US" sz="1600" dirty="0">
                <a:solidFill>
                  <a:srgbClr val="14453D"/>
                </a:solidFill>
              </a:rPr>
              <a:t>②  I think this is way too sensitive to discuss openly right now.</a:t>
            </a:r>
            <a:endParaRPr lang="en-US" sz="1600" dirty="0"/>
          </a:p>
          <a:p>
            <a:pPr indent="0" marL="0">
              <a:lnSpc>
                <a:spcPct val="115000"/>
              </a:lnSpc>
              <a:spcBef>
                <a:spcPts val="200"/>
              </a:spcBef>
              <a:buNone/>
            </a:pPr>
            <a:r>
              <a:rPr lang="en-US" sz="1600" dirty="0">
                <a:solidFill>
                  <a:srgbClr val="14453D"/>
                </a:solidFill>
              </a:rPr>
              <a:t>③  I feel uncomfortable with what I am about to say, so forget it.</a:t>
            </a:r>
            <a:endParaRPr lang="en-US" sz="1600" dirty="0"/>
          </a:p>
          <a:p>
            <a:pPr indent="0" marL="0">
              <a:lnSpc>
                <a:spcPct val="115000"/>
              </a:lnSpc>
              <a:spcBef>
                <a:spcPts val="200"/>
              </a:spcBef>
              <a:buNone/>
            </a:pPr>
            <a:r>
              <a:rPr lang="en-US" sz="1600" dirty="0">
                <a:solidFill>
                  <a:srgbClr val="14453D"/>
                </a:solidFill>
              </a:rPr>
              <a:t>④  I am unsure if I should speak freely, so I will keep this vague.</a:t>
            </a:r>
            <a:endParaRPr lang="en-US" sz="1600" dirty="0"/>
          </a:p>
          <a:p>
            <a:pPr indent="0" marL="0">
              <a:lnSpc>
                <a:spcPct val="115000"/>
              </a:lnSpc>
              <a:spcBef>
                <a:spcPts val="200"/>
              </a:spcBef>
              <a:buNone/>
            </a:pPr>
            <a:r>
              <a:rPr lang="en-US" sz="1600" dirty="0">
                <a:solidFill>
                  <a:srgbClr val="14453D"/>
                </a:solidFill>
              </a:rPr>
              <a:t>⑤  I will disclose sensitive information on the basis of mutual trust.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3977640"/>
          </a:xfrm>
          <a:prstGeom prst="roundRect">
            <a:avLst>
              <a:gd name="adj" fmla="val 2299"/>
            </a:avLst>
          </a:prstGeom>
          <a:solidFill>
            <a:schemeClr val="bg1"/>
          </a:solidFill>
          <a:ln w="19050">
            <a:solidFill>
              <a:schemeClr val="bg2"/>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300" b="1" dirty="0">
                <a:solidFill>
                  <a:srgbClr val="1F7A64"/>
                </a:solidFill>
              </a:rPr>
              <a:t>(1) </a:t>
            </a:r>
            <a:pPr indent="0" marL="0">
              <a:lnSpc>
                <a:spcPct val="120000"/>
              </a:lnSpc>
              <a:buNone/>
            </a:pPr>
            <a:r>
              <a:rPr lang="en-US" sz="1600" dirty="0">
                <a:solidFill>
                  <a:srgbClr val="1E2B2A"/>
                </a:solidFill>
              </a:rPr>
              <a:t>Knowledge is power.</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(2) </a:t>
            </a:r>
            <a:pPr indent="0" marL="0">
              <a:lnSpc>
                <a:spcPct val="120000"/>
              </a:lnSpc>
              <a:buNone/>
            </a:pPr>
            <a:r>
              <a:rPr lang="en-US" sz="1600" dirty="0">
                <a:solidFill>
                  <a:srgbClr val="1E2B2A"/>
                </a:solidFill>
                <a:highlight>
                  <a:srgbClr val="FFD45C"/>
                </a:highlight>
              </a:rPr>
              <a:t>And one way to measure the amount of trust on a team is by looking at </a:t>
            </a:r>
            <a:pPr indent="0" marL="0">
              <a:lnSpc>
                <a:spcPct val="120000"/>
              </a:lnSpc>
              <a:buNone/>
            </a:pPr>
            <a:r>
              <a:rPr lang="en-US" sz="1600" b="1" dirty="0">
                <a:solidFill>
                  <a:srgbClr val="2C7DA0"/>
                </a:solidFill>
                <a:highlight>
                  <a:srgbClr val="FFD45C"/>
                </a:highlight>
              </a:rPr>
              <a:t>how much information people keep to themselves</a:t>
            </a:r>
            <a:pPr indent="0" marL="0">
              <a:lnSpc>
                <a:spcPct val="120000"/>
              </a:lnSpc>
              <a:buNone/>
            </a:pPr>
            <a:r>
              <a:rPr lang="en-US" sz="1600" dirty="0">
                <a:solidFill>
                  <a:srgbClr val="1E2B2A"/>
                </a:solidFill>
                <a:highlight>
                  <a:srgbClr val="FFD45C"/>
                </a:highlight>
              </a:rPr>
              <a:t> (low trust) or share openly (high trust).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(3) </a:t>
            </a:r>
            <a:pPr indent="0" marL="0">
              <a:lnSpc>
                <a:spcPct val="120000"/>
              </a:lnSpc>
              <a:buNone/>
            </a:pPr>
            <a:r>
              <a:rPr lang="en-US" sz="1600" dirty="0">
                <a:solidFill>
                  <a:srgbClr val="1E2B2A"/>
                </a:solidFill>
                <a:highlight>
                  <a:srgbClr val="FFD45C"/>
                </a:highlight>
              </a:rPr>
              <a:t>Team leaders signal that they trust their team when they share </a:t>
            </a:r>
            <a:pPr indent="0" marL="0">
              <a:lnSpc>
                <a:spcPct val="120000"/>
              </a:lnSpc>
              <a:buNone/>
            </a:pPr>
            <a:r>
              <a:rPr lang="en-US" sz="1600" u="dotted" dirty="0">
                <a:solidFill>
                  <a:srgbClr val="1F7A64"/>
                </a:solidFill>
                <a:highlight>
                  <a:srgbClr val="FFD45C"/>
                </a:highlight>
                <a:uFill>
                  <a:solidFill>
                    <a:srgbClr val="1F7A64"/>
                  </a:solidFill>
                </a:uFill>
              </a:rPr>
              <a:t>privileged</a:t>
            </a:r>
            <a:pPr indent="0" marL="0">
              <a:lnSpc>
                <a:spcPct val="120000"/>
              </a:lnSpc>
              <a:buNone/>
            </a:pPr>
            <a:r>
              <a:rPr lang="en-US" sz="1600" dirty="0">
                <a:solidFill>
                  <a:srgbClr val="1E2B2A"/>
                </a:solidFill>
                <a:highlight>
                  <a:srgbClr val="FFD45C"/>
                </a:highlight>
              </a:rPr>
              <a:t> information with them.</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(4) </a:t>
            </a:r>
            <a:pPr indent="0" marL="0">
              <a:lnSpc>
                <a:spcPct val="120000"/>
              </a:lnSpc>
              <a:buNone/>
            </a:pPr>
            <a:r>
              <a:rPr lang="en-US" sz="1600" dirty="0">
                <a:solidFill>
                  <a:srgbClr val="1E2B2A"/>
                </a:solidFill>
              </a:rPr>
              <a:t>This could be sharing the team's finances, or the budget handed down from </a:t>
            </a:r>
            <a:pPr indent="0" marL="0">
              <a:lnSpc>
                <a:spcPct val="120000"/>
              </a:lnSpc>
              <a:buNone/>
            </a:pPr>
            <a:r>
              <a:rPr lang="en-US" sz="1600" u="dotted" dirty="0">
                <a:solidFill>
                  <a:srgbClr val="1F7A64"/>
                </a:solidFill>
                <a:uFill>
                  <a:solidFill>
                    <a:srgbClr val="1F7A64"/>
                  </a:solidFill>
                </a:uFill>
              </a:rPr>
              <a:t>higher-ups</a:t>
            </a:r>
            <a:pPr indent="0" marL="0">
              <a:lnSpc>
                <a:spcPct val="120000"/>
              </a:lnSpc>
              <a:buNone/>
            </a:pPr>
            <a:r>
              <a:rPr lang="en-US" sz="1600" dirty="0">
                <a:solidFill>
                  <a:srgbClr val="1E2B2A"/>
                </a:solidFill>
              </a:rPr>
              <a:t>, </a:t>
            </a:r>
            <a:pPr indent="0" marL="0">
              <a:lnSpc>
                <a:spcPct val="120000"/>
              </a:lnSpc>
              <a:buNone/>
            </a:pPr>
            <a:r>
              <a:rPr lang="en-US" sz="1600" b="1" dirty="0">
                <a:solidFill>
                  <a:srgbClr val="2C7DA0"/>
                </a:solidFill>
              </a:rPr>
              <a:t>so that the whole team knows</a:t>
            </a:r>
            <a:pPr indent="0" marL="0">
              <a:lnSpc>
                <a:spcPct val="120000"/>
              </a:lnSpc>
              <a:buNone/>
            </a:pPr>
            <a:r>
              <a:rPr lang="en-US" sz="1600" dirty="0">
                <a:solidFill>
                  <a:srgbClr val="1E2B2A"/>
                </a:solidFill>
              </a:rPr>
              <a:t> what they're working with and where the </a:t>
            </a:r>
            <a:pPr indent="0" marL="0">
              <a:lnSpc>
                <a:spcPct val="120000"/>
              </a:lnSpc>
              <a:buNone/>
            </a:pPr>
            <a:r>
              <a:rPr lang="en-US" sz="1600" u="dotted" dirty="0">
                <a:solidFill>
                  <a:srgbClr val="1F7A64"/>
                </a:solidFill>
                <a:uFill>
                  <a:solidFill>
                    <a:srgbClr val="1F7A64"/>
                  </a:solidFill>
                </a:uFill>
              </a:rPr>
              <a:t>priorities</a:t>
            </a:r>
            <a:pPr indent="0" marL="0">
              <a:lnSpc>
                <a:spcPct val="120000"/>
              </a:lnSpc>
              <a:buNone/>
            </a:pPr>
            <a:r>
              <a:rPr lang="en-US" sz="1600" dirty="0">
                <a:solidFill>
                  <a:srgbClr val="1E2B2A"/>
                </a:solidFill>
              </a:rPr>
              <a:t> are.</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(5) </a:t>
            </a:r>
            <a:pPr indent="0" marL="0">
              <a:lnSpc>
                <a:spcPct val="120000"/>
              </a:lnSpc>
              <a:buNone/>
            </a:pPr>
            <a:r>
              <a:rPr lang="en-US" sz="1600" dirty="0">
                <a:solidFill>
                  <a:srgbClr val="1E2B2A"/>
                </a:solidFill>
              </a:rPr>
              <a:t>It could also be </a:t>
            </a:r>
            <a:pPr indent="0" marL="0">
              <a:lnSpc>
                <a:spcPct val="120000"/>
              </a:lnSpc>
              <a:buNone/>
            </a:pPr>
            <a:r>
              <a:rPr lang="en-US" sz="1600" u="dotted" dirty="0">
                <a:solidFill>
                  <a:srgbClr val="1F7A64"/>
                </a:solidFill>
                <a:uFill>
                  <a:solidFill>
                    <a:srgbClr val="1F7A64"/>
                  </a:solidFill>
                </a:uFill>
              </a:rPr>
              <a:t>competitive</a:t>
            </a:r>
            <a:pPr indent="0" marL="0">
              <a:lnSpc>
                <a:spcPct val="120000"/>
              </a:lnSpc>
              <a:buNone/>
            </a:pPr>
            <a:r>
              <a:rPr lang="en-US" sz="1600" dirty="0">
                <a:solidFill>
                  <a:srgbClr val="1E2B2A"/>
                </a:solidFill>
              </a:rPr>
              <a:t> data or customer trends </a:t>
            </a:r>
            <a:pPr indent="0" marL="0">
              <a:lnSpc>
                <a:spcPct val="120000"/>
              </a:lnSpc>
              <a:buNone/>
            </a:pPr>
            <a:r>
              <a:rPr lang="en-US" sz="1600" b="1" dirty="0">
                <a:solidFill>
                  <a:srgbClr val="2C7DA0"/>
                </a:solidFill>
              </a:rPr>
              <a:t>that are widely available but rarely shared</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(6) </a:t>
            </a:r>
            <a:pPr indent="0" marL="0">
              <a:lnSpc>
                <a:spcPct val="120000"/>
              </a:lnSpc>
              <a:buNone/>
            </a:pPr>
            <a:r>
              <a:rPr lang="en-US" sz="1600" dirty="0">
                <a:solidFill>
                  <a:srgbClr val="1E2B2A"/>
                </a:solidFill>
              </a:rPr>
              <a:t>It could even be passing on information shared by another team.</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(7) </a:t>
            </a:r>
            <a:pPr indent="0" marL="0">
              <a:lnSpc>
                <a:spcPct val="120000"/>
              </a:lnSpc>
              <a:buNone/>
            </a:pPr>
            <a:r>
              <a:rPr lang="en-US" sz="1600" dirty="0">
                <a:solidFill>
                  <a:srgbClr val="1E2B2A"/>
                </a:solidFill>
              </a:rPr>
              <a:t>In a meeting, any time someone says, "</a:t>
            </a:r>
            <a:pPr indent="0" marL="0">
              <a:lnSpc>
                <a:spcPct val="120000"/>
              </a:lnSpc>
              <a:buNone/>
            </a:pPr>
            <a:r>
              <a:rPr lang="en-US" sz="1600" b="1" u="sng" dirty="0">
                <a:solidFill>
                  <a:srgbClr val="1E2B2A"/>
                </a:solidFill>
              </a:rPr>
              <a:t>This stays here</a:t>
            </a:r>
            <a:pPr indent="0" marL="0">
              <a:lnSpc>
                <a:spcPct val="120000"/>
              </a:lnSpc>
              <a:buNone/>
            </a:pPr>
            <a:r>
              <a:rPr lang="en-US" sz="1600" dirty="0">
                <a:solidFill>
                  <a:srgbClr val="1E2B2A"/>
                </a:solidFill>
              </a:rPr>
              <a:t>," the </a:t>
            </a:r>
            <a:pPr indent="0" marL="0">
              <a:lnSpc>
                <a:spcPct val="120000"/>
              </a:lnSpc>
              <a:buNone/>
            </a:pPr>
            <a:r>
              <a:rPr lang="en-US" sz="1600" u="dotted" dirty="0">
                <a:solidFill>
                  <a:srgbClr val="1F7A64"/>
                </a:solidFill>
                <a:uFill>
                  <a:solidFill>
                    <a:srgbClr val="1F7A64"/>
                  </a:solidFill>
                </a:uFill>
              </a:rPr>
              <a:t>atmosphere</a:t>
            </a:r>
            <a:pPr indent="0" marL="0">
              <a:lnSpc>
                <a:spcPct val="120000"/>
              </a:lnSpc>
              <a:buNone/>
            </a:pPr>
            <a:r>
              <a:rPr lang="en-US" sz="1600" dirty="0">
                <a:solidFill>
                  <a:srgbClr val="1E2B2A"/>
                </a:solidFill>
              </a:rPr>
              <a:t> changes.</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(8) </a:t>
            </a:r>
            <a:pPr indent="0" marL="0">
              <a:lnSpc>
                <a:spcPct val="120000"/>
              </a:lnSpc>
              <a:buNone/>
            </a:pPr>
            <a:r>
              <a:rPr lang="en-US" sz="1600" dirty="0">
                <a:solidFill>
                  <a:srgbClr val="1E2B2A"/>
                </a:solidFill>
                <a:highlight>
                  <a:srgbClr val="FFD45C"/>
                </a:highlight>
              </a:rPr>
              <a:t>People know </a:t>
            </a:r>
            <a:pPr indent="0" marL="0">
              <a:lnSpc>
                <a:spcPct val="120000"/>
              </a:lnSpc>
              <a:buNone/>
            </a:pPr>
            <a:r>
              <a:rPr lang="en-US" sz="1600" b="1" dirty="0">
                <a:solidFill>
                  <a:srgbClr val="2C7DA0"/>
                </a:solidFill>
                <a:highlight>
                  <a:srgbClr val="FFD45C"/>
                </a:highlight>
              </a:rPr>
              <a:t>whatever follows is spoken in trust</a:t>
            </a:r>
            <a:pPr indent="0" marL="0">
              <a:lnSpc>
                <a:spcPct val="120000"/>
              </a:lnSpc>
              <a:buNone/>
            </a:pPr>
            <a:r>
              <a:rPr lang="en-US" sz="1600" dirty="0">
                <a:solidFill>
                  <a:srgbClr val="1E2B2A"/>
                </a:solidFill>
                <a:highlight>
                  <a:srgbClr val="FFD45C"/>
                </a:highlight>
              </a:rPr>
              <a:t>, and they respond to that feeling of being trusted with </a:t>
            </a:r>
            <a:pPr indent="0" marL="0">
              <a:lnSpc>
                <a:spcPct val="120000"/>
              </a:lnSpc>
              <a:buNone/>
            </a:pPr>
            <a:r>
              <a:rPr lang="en-US" sz="1600" u="dotted" dirty="0">
                <a:solidFill>
                  <a:srgbClr val="1F7A64"/>
                </a:solidFill>
                <a:highlight>
                  <a:srgbClr val="FFD45C"/>
                </a:highlight>
                <a:uFill>
                  <a:solidFill>
                    <a:srgbClr val="1F7A64"/>
                  </a:solidFill>
                </a:uFill>
              </a:rPr>
              <a:t>trustworthy</a:t>
            </a:r>
            <a:pPr indent="0" marL="0">
              <a:lnSpc>
                <a:spcPct val="120000"/>
              </a:lnSpc>
              <a:buNone/>
            </a:pPr>
            <a:r>
              <a:rPr lang="en-US" sz="1600" dirty="0">
                <a:solidFill>
                  <a:srgbClr val="1E2B2A"/>
                </a:solidFill>
                <a:highlight>
                  <a:srgbClr val="FFD45C"/>
                </a:highlight>
              </a:rPr>
              <a:t> behavior.</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(9) </a:t>
            </a:r>
            <a:pPr indent="0" marL="0">
              <a:lnSpc>
                <a:spcPct val="120000"/>
              </a:lnSpc>
              <a:buNone/>
            </a:pPr>
            <a:r>
              <a:rPr lang="en-US" sz="1600" dirty="0">
                <a:solidFill>
                  <a:srgbClr val="1E2B2A"/>
                </a:solidFill>
              </a:rPr>
              <a:t>People begin to feel like they're in the </a:t>
            </a:r>
            <a:pPr indent="0" marL="0">
              <a:lnSpc>
                <a:spcPct val="120000"/>
              </a:lnSpc>
              <a:buNone/>
            </a:pPr>
            <a:r>
              <a:rPr lang="en-US" sz="1600" u="dotted" dirty="0">
                <a:solidFill>
                  <a:srgbClr val="1F7A64"/>
                </a:solidFill>
                <a:uFill>
                  <a:solidFill>
                    <a:srgbClr val="1F7A64"/>
                  </a:solidFill>
                </a:uFill>
              </a:rPr>
              <a:t>inner circle</a:t>
            </a:r>
            <a:pPr indent="0" marL="0">
              <a:lnSpc>
                <a:spcPct val="120000"/>
              </a:lnSpc>
              <a:buNone/>
            </a:pPr>
            <a:r>
              <a:rPr lang="en-US" sz="1600" dirty="0">
                <a:solidFill>
                  <a:srgbClr val="1E2B2A"/>
                </a:solidFill>
              </a:rPr>
              <a:t> when they receive more information about their work or the environment </a:t>
            </a:r>
            <a:pPr indent="0" marL="0">
              <a:lnSpc>
                <a:spcPct val="120000"/>
              </a:lnSpc>
              <a:buNone/>
            </a:pPr>
            <a:r>
              <a:rPr lang="en-US" sz="1600" b="1" dirty="0">
                <a:solidFill>
                  <a:srgbClr val="2C7DA0"/>
                </a:solidFill>
              </a:rPr>
              <a:t>than they usually do</a:t>
            </a:r>
            <a:pPr indent="0" marL="0">
              <a:lnSpc>
                <a:spcPct val="120000"/>
              </a:lnSpc>
              <a:buNone/>
            </a:pPr>
            <a:r>
              <a:rPr lang="en-US" sz="1600" dirty="0">
                <a:solidFill>
                  <a:srgbClr val="1E2B2A"/>
                </a:solidFill>
              </a:rPr>
              <a:t>.</a:t>
            </a:r>
            <a:pPr indent="0" marL="0">
              <a:lnSpc>
                <a:spcPct val="120000"/>
              </a:lnSpc>
              <a:buNone/>
            </a:pPr>
            <a:r>
              <a:rPr lang="en-US" sz="1600" dirty="0">
                <a:solidFill>
                  <a:srgbClr val="000000"/>
                </a:solidFill>
              </a:rPr>
              <a:t> </a:t>
            </a:r>
            <a:pPr indent="0" marL="0">
              <a:lnSpc>
                <a:spcPct val="120000"/>
              </a:lnSpc>
              <a:buNone/>
            </a:pPr>
            <a:r>
              <a:rPr lang="en-US" sz="1300" b="1" dirty="0">
                <a:solidFill>
                  <a:srgbClr val="1F7A64"/>
                </a:solidFill>
              </a:rPr>
              <a:t>(10) </a:t>
            </a:r>
            <a:pPr indent="0" marL="0">
              <a:lnSpc>
                <a:spcPct val="120000"/>
              </a:lnSpc>
              <a:buNone/>
            </a:pPr>
            <a:r>
              <a:rPr lang="en-US" sz="1600" dirty="0">
                <a:solidFill>
                  <a:srgbClr val="1E2B2A"/>
                </a:solidFill>
              </a:rPr>
              <a:t>They start to see how their work fits into the larger organizational whole.</a:t>
            </a:r>
            <a:endParaRPr lang="en-US" sz="13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privileged </a:t>
            </a:r>
            <a:pPr indent="0" marL="0">
              <a:lnSpc>
                <a:spcPct val="110000"/>
              </a:lnSpc>
              <a:buNone/>
            </a:pPr>
            <a:r>
              <a:rPr lang="en-US" sz="1400" dirty="0">
                <a:solidFill>
                  <a:srgbClr val="1E2B2A"/>
                </a:solidFill>
              </a:rPr>
              <a:t>특권의   ·   </a:t>
            </a:r>
            <a:pPr indent="0" marL="0">
              <a:lnSpc>
                <a:spcPct val="110000"/>
              </a:lnSpc>
              <a:buNone/>
            </a:pPr>
            <a:r>
              <a:rPr lang="en-US" sz="1400" b="1" dirty="0">
                <a:solidFill>
                  <a:srgbClr val="1F7A64"/>
                </a:solidFill>
              </a:rPr>
              <a:t>higher-ups </a:t>
            </a:r>
            <a:pPr indent="0" marL="0">
              <a:lnSpc>
                <a:spcPct val="110000"/>
              </a:lnSpc>
              <a:buNone/>
            </a:pPr>
            <a:r>
              <a:rPr lang="en-US" sz="1400" dirty="0">
                <a:solidFill>
                  <a:srgbClr val="1E2B2A"/>
                </a:solidFill>
              </a:rPr>
              <a:t>윗사람들   ·   </a:t>
            </a:r>
            <a:pPr indent="0" marL="0">
              <a:lnSpc>
                <a:spcPct val="110000"/>
              </a:lnSpc>
              <a:buNone/>
            </a:pPr>
            <a:r>
              <a:rPr lang="en-US" sz="1400" b="1" dirty="0">
                <a:solidFill>
                  <a:srgbClr val="1F7A64"/>
                </a:solidFill>
              </a:rPr>
              <a:t>priorities </a:t>
            </a:r>
            <a:pPr indent="0" marL="0">
              <a:lnSpc>
                <a:spcPct val="110000"/>
              </a:lnSpc>
              <a:buNone/>
            </a:pPr>
            <a:r>
              <a:rPr lang="en-US" sz="1400" dirty="0">
                <a:solidFill>
                  <a:srgbClr val="1E2B2A"/>
                </a:solidFill>
              </a:rPr>
              <a:t>우선순위   ·   </a:t>
            </a:r>
            <a:pPr indent="0" marL="0">
              <a:lnSpc>
                <a:spcPct val="110000"/>
              </a:lnSpc>
              <a:buNone/>
            </a:pPr>
            <a:r>
              <a:rPr lang="en-US" sz="1400" b="1" dirty="0">
                <a:solidFill>
                  <a:srgbClr val="1F7A64"/>
                </a:solidFill>
              </a:rPr>
              <a:t>competitive </a:t>
            </a:r>
            <a:pPr indent="0" marL="0">
              <a:lnSpc>
                <a:spcPct val="110000"/>
              </a:lnSpc>
              <a:buNone/>
            </a:pPr>
            <a:r>
              <a:rPr lang="en-US" sz="1400" dirty="0">
                <a:solidFill>
                  <a:srgbClr val="1E2B2A"/>
                </a:solidFill>
              </a:rPr>
              <a:t>경쟁의   ·   </a:t>
            </a:r>
            <a:pPr indent="0" marL="0">
              <a:lnSpc>
                <a:spcPct val="110000"/>
              </a:lnSpc>
              <a:buNone/>
            </a:pPr>
            <a:r>
              <a:rPr lang="en-US" sz="1400" b="1" dirty="0">
                <a:solidFill>
                  <a:srgbClr val="1F7A64"/>
                </a:solidFill>
              </a:rPr>
              <a:t>atmosphere </a:t>
            </a:r>
            <a:pPr indent="0" marL="0">
              <a:lnSpc>
                <a:spcPct val="110000"/>
              </a:lnSpc>
              <a:buNone/>
            </a:pPr>
            <a:r>
              <a:rPr lang="en-US" sz="1400" dirty="0">
                <a:solidFill>
                  <a:srgbClr val="1E2B2A"/>
                </a:solidFill>
              </a:rPr>
              <a:t>분위기   ·   </a:t>
            </a:r>
            <a:pPr indent="0" marL="0">
              <a:lnSpc>
                <a:spcPct val="110000"/>
              </a:lnSpc>
              <a:buNone/>
            </a:pPr>
            <a:r>
              <a:rPr lang="en-US" sz="1400" b="1" dirty="0">
                <a:solidFill>
                  <a:srgbClr val="1F7A64"/>
                </a:solidFill>
              </a:rPr>
              <a:t>trustworthy </a:t>
            </a:r>
            <a:pPr indent="0" marL="0">
              <a:lnSpc>
                <a:spcPct val="110000"/>
              </a:lnSpc>
              <a:buNone/>
            </a:pPr>
            <a:r>
              <a:rPr lang="en-US" sz="1400" dirty="0">
                <a:solidFill>
                  <a:srgbClr val="1E2B2A"/>
                </a:solidFill>
              </a:rPr>
              <a:t>신뢰할 만한   ·   </a:t>
            </a:r>
            <a:pPr indent="0" marL="0">
              <a:lnSpc>
                <a:spcPct val="110000"/>
              </a:lnSpc>
              <a:buNone/>
            </a:pPr>
            <a:r>
              <a:rPr lang="en-US" sz="1400" b="1" dirty="0">
                <a:solidFill>
                  <a:srgbClr val="1F7A64"/>
                </a:solidFill>
              </a:rPr>
              <a:t>inner circle </a:t>
            </a:r>
            <a:pPr indent="0" marL="0">
              <a:lnSpc>
                <a:spcPct val="110000"/>
              </a:lnSpc>
              <a:buNone/>
            </a:pPr>
            <a:r>
              <a:rPr lang="en-US" sz="1400" dirty="0">
                <a:solidFill>
                  <a:srgbClr val="1E2B2A"/>
                </a:solidFill>
              </a:rPr>
              <a:t>핵심층</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a:t>
            </a:r>
            <a:pPr indent="0" marL="0">
              <a:buNone/>
            </a:pPr>
            <a:r>
              <a:rPr lang="en-US" sz="1100" b="1" dirty="0">
                <a:solidFill>
                  <a:srgbClr val="1F7A64"/>
                </a:solidFill>
              </a:rPr>
              <a:t>초록 점선 단어 </a:t>
            </a:r>
            <a:pPr indent="0" marL="0">
              <a:buNone/>
            </a:pPr>
            <a:r>
              <a:rPr lang="en-US" sz="1100" dirty="0">
                <a:solidFill>
                  <a:schemeClr val="accent4"/>
                </a:solidFill>
              </a:rPr>
              <a:t>= 하단 어휘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how much information people keep to themselves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how much + 명사 + 주어 + 동사 어순</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that the whole team knows</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주어 the whole team(단수) → knows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that are widely available but rarely shared</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competitive data or customer trends → are (가까운 trends에 일치)</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whatever follows is spoken in trust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복합관계대명사 whatever</a:t>
            </a:r>
            <a:endParaRPr lang="en-US" sz="1700" dirty="0"/>
          </a:p>
          <a:p>
            <a:pPr indent="0" marL="0">
              <a:spcAft>
                <a:spcPts val="200"/>
              </a:spcAft>
              <a:buNone/>
            </a:pPr>
            <a:r>
              <a:rPr lang="en-US" sz="1400" dirty="0">
                <a:solidFill>
                  <a:srgbClr val="1E2B2A"/>
                </a:solidFill>
              </a:rPr>
              <a:t>whatever = anything that, 명사절 주어 → 단수 is</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than they usually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 대동사 do</a:t>
            </a:r>
            <a:endParaRPr lang="en-US" sz="1700" dirty="0"/>
          </a:p>
          <a:p>
            <a:pPr indent="0" marL="0">
              <a:spcAft>
                <a:spcPts val="200"/>
              </a:spcAft>
              <a:buNone/>
            </a:pPr>
            <a:r>
              <a:rPr lang="en-US" sz="1400" dirty="0">
                <a:solidFill>
                  <a:srgbClr val="1E2B2A"/>
                </a:solidFill>
              </a:rPr>
              <a:t>do = receive information (반복을 피하는 대동사)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2026-10-13T06:37:42Z</dcterms:created>
  <dcterms:modified xsi:type="dcterms:W3CDTF">2026-10-13T06:37:42Z</dcterms:modified>
</cp:coreProperties>
</file>