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22b5867-9bf1-e84d-f0b1-3f25e13d0582}">
          <p14:sldIdLst>
            <p14:sldId id="256"/>
            <p14:sldId id="257"/>
          </p14:sldIdLst>
        </p14:section>
        <p14:section name="풀이 공식" id="{e9ba7980-7b7e-8a75-6c67-703fc9ad2a74}">
          <p14:sldIdLst>
            <p14:sldId id="258"/>
            <p14:sldId id="259"/>
            <p14:sldId id="260"/>
            <p14:sldId id="261"/>
          </p14:sldIdLst>
        </p14:section>
        <p14:section name="Part 1 · Ex 1–6" id="{94aa24cf-346f-f86a-3d11-67bc6c70f878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art 2 · Ex 7–12" id="{80a54b50-6a78-2bf2-e301-c2de06a8df30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정리" id="{d95b11ca-1983-e10c-faef-d9d9c76d424c}">
          <p14:sldIdLst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【인사·목표 제시】 "오늘은 빈칸 문제 10개, 밑줄 의미 문제 2개를 풀 거예요. 오늘 딱 하나만 기억하면 됩니다. 빈칸의 답은 항상 지문 안에 '다른 말로' 숨어 있다!"
【시간 배분 추천】 50분 수업 2차시: 1차시 = 풀이 공식 + Ex 1~6, 2차시 = Ex 7~12 + 정리. 한 문제당 약 6~7분(학생 풀이 3분 + 설명 3~4분).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【진행 방식 안내】 "매 문제마다 ① 3분 동안 혼자 풀기 → ② 선생님과 글의 흐름 잡기 → ③ 정답과 오답 이유 확인, 이 순서로 할 거예요."
【팁】 학생이 혼자 풀 때 타이머를 띄워 두면 수업 리듬이 잡혀요. 풀이 시간 동안 교실을 돌며 몇 번을 골랐는지 손가락으로 표시하게 하면 오답 분포를 바로 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【설명 스크립트】 "빈칸 문제를 처음부터 끝까지 해석하고 나서 고르면 시간이 부족해요. 순서를 바꿔 볼게요.
1단계, 빈칸 문장을 먼저 읽고 '내가 찾아야 할 것'을 정해요. 예: '자존감 낮은 사람의 특징'.
2단계, 지문에서 그것과 같은 말을 찾아요. 글쓴이는 중요한 말을 반드시 반복해요.
3단계, 선택지를 넣어 보고 틀린 것부터 지워요."
【강조】 오늘 12문제 모두 이 3단계로 풀 거라고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【설명 스크립트】 "글을 읽다가 이 네 종류 단어가 나오면 꼭 동그라미 치세요. 답이 바로 근처에 있어요."
【오른쪽 위 칩】 오늘 문제 중 그 신호어가 결정적이었던 Exercise 번호예요. 해당 문제를 풀 때 "아까 배운 반전 신호어 기억나?" 하고 다시 연결해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【설명 스크립트】 "오답에도 패턴이 있어요. 이 4가지만 알면 5개 중 2~3개는 바로 지울 수 있어요."
【활용 팁】 뒤에 나오는 '정답 &amp; 오답 체크' 슬라이드에서 각 선택지 오른쪽에 이 4가지 라벨이 붙어 있어요. 학생에게 "이 선택지는 어떤 함정일까?"를 먼저 물어보고 라벨을 확인시키면 참여형 수업이 됩니다.
【색 기억법】 빨강 = 정답, 남색 = 반대, 연두 = 언급 없음, 노랑 = 소재 함정, 파랑 = 범위 오류.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【설명 스크립트】 "밑줄 문제는 '암호 풀기'예요. 밑줄은 비유라서 단어 하나하나를 글의 핵심 개념으로 바꿔 줘야 해요."
【칠판 활동】 오른쪽 예시처럼 '밑줄 단어 → 글의 개념'을 표로 만들어 보여 주세요. Ex 6과 Ex 12가 이 유형입니다.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【1차시 본론 시작】 "이제 문제를 풀어 볼게요. 3분 타이머 시작! 빈칸 문장부터 읽는 것 잊지 마세요."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 질문】 "자존감 낮은 사람은 자기 자신을 어떻게 평가할까? 그냥 '나쁘게' 평가할까?" → 학생 대부분 '나쁘게'라고 답함.
【반전 포인트】 이 글은 '나쁘게'가 아니라 '오락가락(일관성이 없다)'이 핵심이라고 말해 줍니다. Low self-esteem subjects did NOT strongly endorse the negative adjectives — 부정적인 걸 강하게 인정하지도 않았다는 것!
【단서 연결】 마지막 문장 Therefore ~ evaluatively consistent 를 같이 밑줄 → 선택지 ③의 evaluatively consistent와 똑같은 단어. "빈칸 답은 지문 안에 같은 말로 숨어 있다"를 강조.
【주의 어휘】 variance(분산) = 퍼져 있는 정도, intermediate = 중간의, endorse = 인정하다.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언급 없음: 상황 해석에 민감 → 글에 없는 내용
② 반대: 안정적 → 오히려 '들쭉날쭉'이 핵심
③ 정답: 자기 묘사의 평가적 일관성이 낮다 = consistent의 재진술
④ 반대: '일관되게' 다듬어짐 → 일관성이 낮다는 글과 반대
⑤ 언급 없음: 또래·주변인 인정에 의존 → 글에 없음
【마무리 멘트】 "정답 ③은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 질문】 "글을 못 읽는 사회는 어떤 모습일까?"
【풀이 핵심】 빈칸 문장 바로 앞의 '야만'(barbarity)은 Johnson 인용에서 왔음 → 인쇄(printing)가 없는 곳 = 문해력이 없는 곳.
【재진술 보여주기】 3번째 문장 Societies that do not practice literate behavior ↔ 정답 ④ literate behavior is absent. 같은 표현이 '부정문 → absent'로 바뀐 것뿐!
【교재 오타】 ③ previals는 prevails(만연하다)의 오타입니다. 학생에게 미리 알려 주세요.
【어휘】 squalid 지저분한, repressive 억압적인, prevalent 널리 퍼진, go hand in hand 함께 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언급 없음: 문해율이 일정하다 → '변화' 이야기 아님
② 소재 함정: 도덕이 무시된다 → 그럴듯하지만 주제는 '문해력'
③ 언급 없음: 경제적 불평등 → 글에 없음 (교재 오타: previals)
④ 정답: 문해 행위가 없는 곳 = do not practice literate behavior
⑤ 언급 없음: 사회 안정이 취약하다 → 글의 핵심어 아님
【마무리 멘트】 "정답 ④은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 질문】 "어항 사진을 보고 '무엇을 봤어?'라고 물으면 너희는 뭐라고 할 것 같아? 물고기? 아니면 물풀·돌까지?"
【풀이 핵심】 지문에 attention / attend 가 계속 반복됨 → 반복되는 단어가 곧 주제! 정답 ③에 attention이 그대로 나옴.
【오답 설명】 ⑤ '사회적 태도와 행동'은 그럴듯하지만 글은 '어디에 주의를 기울이나'만 다룸 → 범위를 벗어남.
【어휘】 in lieu of ~대신에, attuned to ~에 맞춰진, borne out 입증된, vignette 짤막한 장면.
※ 교재 본문 'ani mated'는 animated의 띄어쓰기 오류.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언급 없음: 사회적 상호작용 해석을 '왜곡' → 부정적 내용 없음
② 언급 없음: 세대에 걸친 사회 문제 → 무관
③ 정답: 기본적 주의 과정에 깊은 영향 = attention 반복
④ 반대: '최소한의' 영향 → 큰 영향이라는 글과 반대
⑤ 범위 오류: 사회적 태도·행동 → 글은 '주의(보는 방식)' 이야기
【마무리 멘트】 "정답 ③은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 질문】 "아이폰이 10만 원이 되면 몇 대 살래?" → 가격이 내려가면 '원래 안 사던 사람'도 산다.
【풀이 핵심】 For example 이후는 전부 예시 → 예시의 공통점을 한 줄로 = 정답. 숫자가 $1 million → $100,000 → $100 → $10 으로 계속 '내려감'을 칠판에 화살표로 그려 주세요.
【오답 설명】 ⑤ risk-free: 15분 시술 = 편리함이지 '위험 제로' 이야기 아님. 핵심 변수는 cost.
【어휘】 latent 잠재하는, implant 이식하다, give out (기능이) 다하다.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정답: 가격이 충분히 낮아지면 = 예시 전체의 공통점
② 소재 함정: 소득 증가 → 예시는 '소득'이 아니라 '가격' 변화
③ 언급 없음: 사회가 필요하다고 여길 때 → 글에 없음
④ 언급 없음: 규칙이 올바르게 적용될 때 → 무관
⑤ 소재 함정: 위험이 없어지면 → 예시는 '안전'이 아니라 '비용'
【마무리 멘트】 "정답 ①은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【풀이 핵심】 빈칸이 '맨 끝'에 있고 These are just a few of the ways ~ 형태 → 앞에 나온 방법들을 '요약'하는 문장. 요약은 보통 첫 문장(주제문)과 같음!
【활동】 학생에게 "앞에서 역사가가 한 일 3가지를 찾아봐" → 연대순 / 관점·어조 / 발전 vs 쇠퇴. 이 셋의 공통 목적 = understandable narrative.
【오답 설명】 ⑤ 케네디를 '카멜롯'으로 낭만화한 것은 허구(fiction)를 쓴 것이 아니라 '비유로 색을 입힌 것'.
【어휘】 plausible 그럴듯한, allude to 넌지시 암시하다, chronological 연대순의.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정답: 역사를 서사적으로 이해되게 만든다 = 첫 문장 재진술
② 범위 오류: 연구가 추진·전달되는 방식 → 너무 넓고 막연함
③ 언급 없음: 지식을 풍부하게 → 가치 평가, 글에 없음
④ 언급 없음: 교훈적 자료로 사용 → 글에 없음
⑤ 소재 함정: 허구 사용·공감 → romanticize ≠ fiction
【마무리 멘트】 "정답 ①은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【유형 전환】 "이번엔 빈칸이 아니라 '밑줄 친 말의 의미' 문제야. 밑줄은 비유라서 그대로 해석하면 안 돼!"
【활동】 칠판에 [골프] → [시계] 화살표. "골프 선수가 시계 전문가야? 아니지! 그런데 왜 시계를 팔 수 있어?" → 한 분야의 위신이 다른 분야로 번진다.
【단서】 their influence won't be limited to their field / Success in one area of life affords someone the status of general opinion leader.
【교재 오타】 ④ expends는 extends(확장되다)의 오타입니다. PPT에는 고쳐서 넣었어요.
【어휘】 dominance 지배, rub off on ~에게 옮아가다, afford 제공하다.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언급 없음: 돈을 많이 버는 것 → 글에 없음
② 소재 함정: 은퇴 후 진로 → 글은 '영향력 확장'
③ 언급 없음: 즉각적 만족을 위한 구매 → 글에 없음
④ 정답: 위신을 얻으면 영향력이 원래 분야를 넘어 확장
⑤ 반대: 위신의 상속 → 글은 실력·성공으로 얻음
【마무리 멘트】 "정답 ④은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【2차시 시작】 지난 시간 3단계 공식(빈칸 문장 먼저 → 같은 말 찾기 → 함정 지우기)과 신호어 4종을 1분 동안 복습하고 시작하세요.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【도입】 "심장이 두근거릴 때, 그게 '설렘'인지 '불안'인지 누가 정해?" → 몸은 반응만, 의미는 내가 붙인다 = emotion vs feeling.
【풀이 핵심】 빈칸의 cognitively assign 은 앞 문장 feelings are the cognitive assignments ~ 와 같은 말 → 감정에 '의미'를 붙이는 것 = ①.
【예시 해석】 북소리는 편을 골라 주지 않음(의미는 내가 정함) + 고른 쪽으로 힘만 줌(감정 에너지).
【오답】 ②⑤는 '북소리/음악'이라는 소재만 같은 대표적 함정.
【어휘】 neurobiological 신경생물학적, exemplar 전형적인 예, set off 일으키다.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정답: 우리가 경험하는 감정이 무엇을 의미할지 = feeling의 정의
② 소재 함정: 음악 = 심리 무기 → 북소리 '소재'만 빌린 함정
③ 반대: 무의식이 본능적 행동을 형성 → 글은 '인지적' 선택 강조
④ 언급 없음: 리듬과 신경 발달 → 글에 없음
⑤ 소재 함정: 외부 신호가 감정·기억 유발 → 핵심 아님
【마무리 멘트】 "정답 ①은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【풀이 핵심】 이 문제는 오답 4개가 전부 '반대'라서 초보자도 지우기 쉬운 문제. "centralized control(중앙 통제) 하면 평등해질까, 위아래가 생길까?"라고 물어보세요.
【단서】 complex social structures, powerful city-states, temple priests or powerful leaders → power + hierarchy.
【팁】 빈칸 앞 단어 centralized control 하나만 제대로 해석해도 정답이 나온다는 걸 강조.
【어휘】 irrigation 관개, divert (물길을) 돌리다, dike 제방, reservoir 저수지, hierarchy 위계.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반대: 조직 노동의 필요 감소 → 오히려 대규모 노동 필요
② 반대: 모두에게 평등한 접근 → '중앙 통제'와 반대
③ 반대: 사회 계급 제거 → 오히려 계급 형성
④ 정답: 정치 권력과 사회 위계의 기반
⑤ 반대: 개인 농업의 독립성 → 중앙 통제와 반대
【마무리 멘트】 "정답 ④은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【도입】 "외국 음식·유튜브를 접하고 나서 바뀐 내 습관 있어?" → 교환이 '예전의 나'를 바꾼다.
【풀이 핵심】 Or, differently put(다시 말하면) = 재진술 신호어! 바로 뒤 exchange is the enemy of culture가 정답의 원본. 문명(=교환)이 문화의 적 → civilization undermines and destroys culture.
【주의】 글 중간의 '해방적(liberating)'이라는 긍정 어조에 속아 ⑤를 고르는 학생이 많음.
【교재 오류】 각주 endowment, exacerbate는 이 지문에 나오지 않는 단어입니다(다른 지문 각주가 잘못 들어간 것으로 보임). 학생에게 무시하라고 안내하세요.
【어휘】 unencumbered 방해받지 않는, unsettling 불안하게 하는, confined to ~에 갇힌.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반대: 강한 문화적 경계 → 경계가 무너지는 글
② 정답: 문명이 문화를 약화·파괴 = enemy of culture
③ 반대: 지역 고유성 장려 → 반대
④ 반대: 핵심 가치 변화 없음 → '예전의 우리가 아님'과 반대
⑤ 반대: 정체성 강화 → 반대
【마무리 멘트】 "정답 ②은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【풀이 핵심】 빈칸 문장 속 however 가 결정적! "앞에서 대표성이 권위를 준다고 칭찬했지? 그런데(however) → 이제 단점이 나온다."
【단서 정리】 alternative representations / continuous struggles / to represent means to simplify / mechanisms for improvement → 전부 '완벽하지 않다'를 가리킴.
【팁】 However, But, Yet 이 빈칸 근처에 있으면 '앞 내용의 반대'를 고르라는 신호.
【어휘】 legitimate 정당한, governance 통치, foresee 예견하다, inbuilt 내장된.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반대: 논쟁이 없다 → continuous struggles와 반대
② 정답: 결코 완벽·완전하지 않다 = 단순화, 대안, 개선 필요
③ 범위 오류: 과학에서만 유효 → 민주주의도 해당
④ 반대: 고정·변화 저항 → 개선 메커니즘과 반대
⑤ 언급 없음: 주관적이지도 거부되지도 않음 → 무관
【마무리 멘트】 "정답 ②은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【도입】 "정글처럼 나무가 빽빽한 곳은 땅이 비옥할까?" → 대부분 '네' → 이 글은 '아니다'라고 말함. 이게 바로 ④번 함정!
【풀이 핵심】 feeds on itself, recycling nutrients 가 키워드. 숲이 자기 몸(낙엽, 죽은 식물)의 영양분을 계속 돌려 씀 → '생명은 과거 생명을 재활용한다'.
【팁】 the general rule that ~ 은 구체적 사례를 '일반화'하라는 뜻 → 선택지도 추상적인 문장이 정답인 경우가 많음.
【어휘】 weathering 풍화, seep 스며들다, leach out 씻겨 나가다, lush 울창한, deforestation 삼림 벌채.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언급 없음: 모든 성장이 변화로 이어지진 않음 → 무관
② 정답: 생명은 과거 생명의 재활용에 의존 = recycling
③ 소재 함정: 뿌리 깊은 곳에서 농업 번성 → 글에 없음
④ 반대: 울창한 숲 = 비옥한 땅? → 열대는 정반대!
⑤ 반대: 토양은 항상 충분 → 반대
【마무리 멘트】 "정답 ②은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학생들이 3분 동안 혼자 푼 뒤 띄우세요. 왼쪽 위(빈칸 문장) → 오른쪽(글의 흐름 1~4) → 왼쪽 아래(결정적 단서) 순서로 설명하면 됩니다. 정답은 다음 슬라이드에서 공개!
【도입】 "친구가 '이건 너한테만 말하는 건데…'라고 하면 기분이 어때?" → 믿어 준다는 느낌!
【풀이 핵심】 밑줄 바로 뒤 문장 spoken in trust 가 의미를 직접 설명해 줌. 함의 문제는 밑줄 '앞뒤 한 문장'에 답이 있는 경우가 많다.
【오답 설명】 ①②④는 '숨기다/경계하다'라는 반대 방향. 글은 '공개 + 신뢰'.
【어휘】 privileged information 특권 정보(일부만 아는 정보), handed down 하달된, inner circle 핵심층.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【이 슬라이드 사용법】 정답을 바로 말하지 말고 먼저 "몇 번 골랐어?" 손 들기 → 오답 하나씩 "이건 왜 틀렸을까?" 질문 → 마지막에 정답 공개.
【선택지별 설명】
① 반대: 신뢰가 아닌 경계심 → 정반대
② 반대: 너무 민감해서 말 못 함 → 실제로는 공개함
③ 언급 없음: 불편하니 잊어라 → 글에 없음
④ 반대: 모호하게 말하겠다 → 오히려 솔직히 공유
⑤ 정답: 상호 신뢰를 바탕으로 민감한 정보를 공개하겠다
【마무리 멘트】 "정답 ⑤은 지문의 결정적 단서를 다른 말로 바꾼 거예요. 빈칸 답은 늘 지문 안에 있다!"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【정리 활동】 '한 줄 핵심' 칸을 가리고 학생에게 번호만 불러 주며 "Ex 9는 무슨 내용이었지?" 하고 퀴즈처럼 물어보세요. 정답 번호보다 '왜 그 답인지'를 말하게 하는 게 복습 효과가 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【마무리 멘트】 "오늘 12문제를 다 3단계로 풀었어요. 다음 시간에도 빈칸 문장 먼저, 같은 말 찾기, 함정 지우기!"
【과제 안내】 틀린 문제의 결정적 단서 문장을 찾아 밑줄 + 해석해 오기. 다음 시간 시작 5분 동안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수능특강 영어 03강 · 빈칸 &amp; 함의 추론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수능특강 영어 03강  Exercise 1–12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빈칸 추론 10문항 + 함의(밑줄) 추론 2문항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오늘의 목표: 빈칸은 '찍는' 게 아니라 지문에서 '찾는' 것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오늘 수업은 이렇게 진행해요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풀이 공식 익히기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빈칸 3단계 · 신호어 · 오답 함정 · 함의 추론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28016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약 10분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Exercise 1–6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혼자 3분 풀기 → 흐름 잡기 → 정답·오답 확인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5120640"/>
            <a:ext cx="128016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1차시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Exercise 7–12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같은 방식으로 반복 → 스스로 단서 찾기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5120640"/>
            <a:ext cx="128016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2차시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554480"/>
            <a:ext cx="2606040" cy="420624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2688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2688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정답 한눈에 정리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12문제 정답 + 한 줄 핵심 복습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5120640"/>
            <a:ext cx="128016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약 5분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빈칸 추론, 딱 3단계만 기억하자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빈칸 문장부터 읽기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175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지문 처음부터 읽지 말고 빈칸 문장을 먼저!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→ "무엇을 찾아야 하지?" 질문 만들기</a:t>
            </a:r>
            <a:endParaRPr lang="en-US" sz="17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52044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63440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607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2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76072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같은 말 찾기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30175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빈칸 내용은 지문 어딘가에서 다른 표현으로 반복된다 (재진술)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→ 반복 단어·예시·결론에 밑줄</a:t>
            </a:r>
            <a:endParaRPr lang="en-US" sz="17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352044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38160" y="1463040"/>
            <a:ext cx="3520440" cy="4480560"/>
          </a:xfrm>
          <a:prstGeom prst="roundRect">
            <a:avLst>
              <a:gd name="adj" fmla="val 38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458200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01168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5554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STEP 3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95554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대입하고 함정 지우기</a:t>
            </a:r>
            <a:endParaRPr lang="en-US" sz="2000" dirty="0"/>
          </a:p>
        </p:txBody>
      </p:sp>
      <p:sp>
        <p:nvSpPr>
          <p:cNvPr id="22" name="Text 15"/>
          <p:cNvSpPr txBox="1"/>
          <p:nvPr/>
        </p:nvSpPr>
        <p:spPr>
          <a:xfrm>
            <a:off x="8458200" y="30175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선택지를 빈칸에 넣어 읽어 보기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→ 반대·언급 없음·소재 함정부터 X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이런 단어가 보이면 멈춰! 신호어 4종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반전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0" y="1737360"/>
            <a:ext cx="114300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 10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However · But · Yet · In contrast · Rather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앞 내용과 반대가 나온다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뒤가 진짜 주장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141732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69164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1691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결론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195560" y="1737360"/>
            <a:ext cx="114300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 1, 9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36092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Therefore · As a result · This is why · Thus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360920" y="2606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지금까지 내용을 정리한다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빈칸 답의 원본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43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3736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예시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572000" y="4206240"/>
            <a:ext cx="114300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 4, 7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73736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For example · For instance · Consider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1737360" y="50749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예시 앞 문장이 핵심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예시들의 공통점 = 답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172200" y="388620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905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B2A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46520" y="41605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34340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60920" y="4160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재진술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10195560" y="4206240"/>
            <a:ext cx="114300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 7, 9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4617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In other words · Differently put · That is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7360920" y="50749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같은 말을 다르게 한 번 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→ 정답과 거의 같은 표현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오답은 4가지 얼굴로 나타난다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1737360" cy="502920"/>
          </a:xfrm>
          <a:prstGeom prst="roundRect">
            <a:avLst>
              <a:gd name="adj" fmla="val 27273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반대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6002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글의 내용과 정반대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160020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예) Ex 8 ② 평등한 물 접근 ↔ 중앙 통제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07792"/>
            <a:ext cx="1737360" cy="502920"/>
          </a:xfrm>
          <a:prstGeom prst="roundRect">
            <a:avLst>
              <a:gd name="adj" fmla="val 2727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언급 없음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81635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그럴듯하지만 글에 없는 내용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2816352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예) Ex 2 ③ 경제적 불평등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23944"/>
            <a:ext cx="1737360" cy="502920"/>
          </a:xfrm>
          <a:prstGeom prst="roundRect">
            <a:avLst>
              <a:gd name="adj" fmla="val 2727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소재 함정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03250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글 속 단어·소재만 빌려온 것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03250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예) Ex 7 ② 음악 = 심리 무기 (북소리)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065776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40096"/>
            <a:ext cx="1737360" cy="502920"/>
          </a:xfrm>
          <a:prstGeom prst="roundRect">
            <a:avLst>
              <a:gd name="adj" fmla="val 27273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범위 오류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52486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너무 넓거나 좁거나 엉뚱한 범위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524865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예) Ex 3 ⑤ 사회적 태도·행동 전반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함의(밑줄) 추론: 비유를 '주제'로 번역하기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4447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밑줄은 비유다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920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문자 그대로 해석하면 오답! "골프 선수가 시계를 판다" → 진짜 시계 이야기 아님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3044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주제문 찾기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5204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밑줄 앞뒤 1~2문장에 설명이 있다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(That's why / This means 등)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645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비유 ↔ 주제 연결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5120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밑줄 속 단어를 글의 핵심 개념으로 바꿔 넣고, 같은 뜻의 선택지 고르기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48640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예시 · Ex 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"a golfing hero can sell you a watch"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10312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골프 영웅</a:t>
            </a:r>
            <a:endParaRPr lang="en-US" sz="17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310896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0" y="2880360"/>
            <a:ext cx="21945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한 분야의 위신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400800" y="3931920"/>
            <a:ext cx="210312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시계를 판다</a:t>
            </a:r>
            <a:endParaRPr lang="en-US" sz="17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1605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0" y="3931920"/>
            <a:ext cx="2194560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다른 분야에도 영향력</a:t>
            </a:r>
            <a:endParaRPr lang="en-US" sz="17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0" y="51206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= 위신을 얻으면 영향력이 원래 분야를 넘어 확장된다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1  ·  Exercise 1–6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자존감 · 문해력 · 문화와 주의 · 잠재 수요 · 역사 서사 · 위신(함의)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자존감 낮은 사람의 자기평가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There is evidence that low self-esteem people are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자존감이 낮은 사람들은 ______하다는 증거가 있다.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자존감 낮은 사람들의 '특징'을 찾자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…differ not only in the average positivity of their self-views, but also in the extent to which their self-views are evaluatively consistent…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평균적 긍정성뿐 아니라 자기관이 평가적으로 '일관된 정도'에서도 다르다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주장 (빈칸)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자존감 낮은 사람들은 ~하다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실험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Campbell &amp; Fehr: 긍정 형용사 / 부정 형용사로 자기 평가하게 함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높은 자존감 → 긍정 O, 부정 X (일관됨)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낮은 자존감 → 중간 점수, 들쭉날쭉 (일관성 X)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결론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차이는 '평균'뿐 아니라 '일관성'에도 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③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less evaluatively consistent in their self-descriptions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자기 묘사의 평가적 일관성이 낮다 = consistent의 재진술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inherently sensitive to their own interpretations of situations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상황 해석에 민감 → 글에 없는 내용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relatively stable despite changes in interpersonal dynamics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안정적 → 오히려 '들쭉날쭉'이 핵심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less evaluatively consistent in their self-descriptions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자기 묘사의 평가적 일관성이 낮다 = consistent의 재진술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consistently refined in response to evolving self-perceptions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'일관되게' 다듬어짐 → 일관성이 낮다는 글과 반대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solely dependent on validation from peers and significant others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또래·주변인 인정에 의존 → 글에 없음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2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문해력과 삶의 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…they are much more prevalent where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'야만'은 ______한 곳에서 훨씬 더 흔하다.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'야만'이 흔한 곳 = 어떤 사회?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Societies that do not practice literate behavior are often squalid, … brutal, and harsh.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문해 행위를 하지 않는 사회는 흔히 지저분하고 … 잔혹하고 가혹하다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문해력(읽고 쓰는 능력)은 사회에 큰 힘과 가치를 준다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근거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문해 행위가 없는 사회 → 지저분, 억압적, 잔혹함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인용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Samuel Johnson: "인쇄가 없는 곳의 대중은 야만적이다"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결론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문해력과 삶의 질은 함께 간다 (go hand in hand)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2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④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literate behavior is absent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문해 행위가 없는 곳 = do not practice literate behavior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literacy rates remain constant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문해율이 일정하다 → '변화' 이야기 아님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moral values are disregarded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도덕이 무시된다 → 그럴듯하지만 주제는 '문해력'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economic inequality prevails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경제적 불평등 → 글에 없음 (교재 오타: previals)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literate behavior is absent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문해 행위가 없는 곳 = do not practice literate behavior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societal stability is fragile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사회 안정이 취약하다 → 글의 핵심어 아님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3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문화와 주의(attention) 방식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Culturally shared views of the self have been suggested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문화적으로 공유된 자아관은 ______라고 제안되어 왔다.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문화적 자아관이 '무엇에' 영향을 주나?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…they may be expected to focus their attention… / …to attend more broadly to a focal object as well as to its surrounding context…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주의를 집중한다 / 대상과 주변 맥락에 더 넓게 주의를 기울인다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서양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내적 속성(욕구·목표) 중시 → 주의가 한 대상에 집중 = 분석적(analytic)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동양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사회적 관계 중시 → 대상 + 주변 맥락까지 넓게 = 총체적(holistic)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실험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수중 장면 영상: 미국인은 중심 사물, 일본인은 맥락·관계를 기억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결론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문화가 '무엇을 보는가(주의)'까지 바꾼다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3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③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to have profound influences on basic attention processes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기본적 주의 과정에 깊은 영향 = attention 반복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distort cognitive interpretations of social interaction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사회적 상호작용 해석을 '왜곡' → 부정적 내용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address social issues that persist through generations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세대에 걸친 사회 문제 → 무관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 have profound influences on basic attention processes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기본적 주의 과정에 깊은 영향 = attention 반복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exert minimal effects on advanced cognitive functions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'최소한의' 영향 → 큰 영향이라는 글과 반대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 prompt overall changes in social attitude and behavior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사회적 태도·행동 → 글은 '주의(보는 방식)' 이야기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범위 오류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4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잠재 수요와 가격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That extra demand will be revealed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그 추가 수요는 ______ 드러날 것이다.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숨어 있던 수요가 '언제' 드러나나?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If further development reduced the cost of artificial hearts to $100,000 each, more people would get them.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비용이 10만 달러로 줄면 더 많은 사람이 이식받을 것이다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개념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사고 싶지만 안 사는 사람 = 잠재 수요 (시장에 안 보임)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예시 ①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인공심장 100만 달러 → 생사가 걸린 경우에만 사용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예시 ②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10만 달러 → 더 많은 사람 / 100달러 → 필요한 누구나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예시 ③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10달러 + 15분 시술 → 아프지 않은 사람도 이식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4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①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if the price goes low enough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가격이 충분히 낮아지면 = 예시 전체의 공통점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if the price goes low enough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가격이 충분히 낮아지면 = 예시 전체의 공통점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once consumer incomes rise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소득 증가 → 예시는 '소득'이 아니라 '가격' 변화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society deems it necessary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사회가 필요하다고 여길 때 → 글에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the rules are applied correctly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규칙이 올바르게 적용될 때 → 무관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if an artificial organ becomes risk-free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위험이 없어지면 → 예시는 '안전'이 아니라 '비용'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5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역사가가 서사를 만드는 방법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These are just a few of the ways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이것들은 ______하는 방식들 중 단지 몇 가지일 뿐이다.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These(앞의 예시들)를 한 마디로 묶으면?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…they also organize the evidence in order to create an understandable (and, they hope, persuasive) narrative.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그들은 이해할 수 있는 (그리고 설득력 있는) 서사를 만들기 위해 증거를 조직한다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역사가는 증거를 조직해 이해 가능한 '서사(이야기)'를 만든다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방법 ①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연대순 배열 (시간 순서)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방법 ②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특정한 관점·어조 입히기: 아이러니(부시), 낭만화(케네디 '카멜롯')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방법 ③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같은 사건도 '발전' 또는 '쇠퇴'로 다르게 볼 수 있음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5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①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historians may make narrative sense of history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역사를 서사적으로 이해되게 만든다 = 첫 문장 재진술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historians may make narrative sense of history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역사를 서사적으로 이해되게 만든다 = 첫 문장 재진술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historical research is driven and communicated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연구가 추진·전달되는 방식 → 너무 넓고 막연함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범위 오류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historical approaches enrich and diversify knowledge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지식을 풍부하게 → 가치 평가, 글에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historical narratives can be used as an instructive resource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교훈적 자료로 사용 → 글에 없음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historians use fiction to inspire empathy for past generations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허구 사용·공감 → romanticize ≠ fiction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6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위신(prestige)의 확장력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함의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밑줄 문장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That's why a golfing hero can sell you a watch.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그래서 골프 영웅이 당신에게 시계를 팔 수 있는 것이다.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골프(분야 A) → 시계(분야 B) = 무슨 뜻?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…if someone has prestige in one field, … their influence won't be limited to their field…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한 분야에서 위신을 가지면 … 그들의 영향력은 그 분야에 한정되지 않는다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정의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위신(prestige) = 인간만 인식하는 지위, '배울 만한 사람'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핵심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한 분야에서 위신을 얻으면 영향력이 그 분야에 한정되지 않음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이유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성공한 사람에게 배우고, 연결되고 싶어서 (평판이 묻어나길 바람)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밑줄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골프 선수(골프 분야) → 시계 광고(다른 분야)까지 영향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6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함의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④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Influence often extends beyond its original field when one gains prestige.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위신을 얻으면 영향력이 원래 분야를 넘어 확장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Making big money to gain influence is at the heart of prestige.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돈을 많이 버는 것 → 글에 없음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Prestige can open unexpected career paths after a main career ends.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은퇴 후 진로 → 글은 '영향력 확장'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People may purchase things for instant gratification to earn prestige.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즉각적 만족을 위한 구매 → 글에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Influence often extends beyond its original field when one gains prestige.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위신을 얻으면 영향력이 원래 분야를 넘어 확장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Prestige is sometimes inherited rather than earned through skill or knowledge.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위신의 상속 → 글은 실력·성공으로 얻음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Part 2  ·  Exercise 7–12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감정과 느낌 · 메소포타미아 · 문명과 문화 · 대표성 · 열대 토양 · 신뢰(함의)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7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감정 vs 느낌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…human beings have some ability to cognitively assign … just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인간은 바로 ______을 인지적으로 부여할(생각하고 결정할) 능력이 있다.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우리가 '생각해서 결정'할 수 있는 것은?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…feelings are the cognitive assignments we make to those emotions.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느낌은 우리가 그 감정들에 부여하는 인지적 의미(배정)이다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정의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emotion = 무의식적 신경생물학 반응 / feeling = 그 감정에 붙이는 인지적 의미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주장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인간은 감정의 '의미'를 스스로 생각하고 정할 수 있다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예시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전쟁 북소리: 어느 편에 설지 정해 주진 않음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예시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이미 고른 편으로 더 힘차게 행진하게 할 뿐 (에너지만 줌)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7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①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what a given emotion we experience might mean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우리가 경험하는 감정이 무엇을 의미할지 = feeling의 정의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a given emotion we experience might mean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우리가 경험하는 감정이 무엇을 의미할지 = feeling의 정의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why music was once used as a psychological weapon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음악 = 심리 무기 → 북소리 '소재'만 빌린 함정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unconscious reactions shape our instinctive behavior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무의식이 본능적 행동을 형성 → 글은 '인지적' 선택 강조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how rhythm affects neural development in the long term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리듬과 신경 발달 → 글에 없음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what external signals can trigger emotion and memory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외부 신호가 감정·기억 유발 → 핵심 아님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8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메소포타미아의 관개와 권력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This centralized control over water resources provided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물 자원에 대한 이 중앙집권적 통제는 ______을 제공했다.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물을 '중앙에서 통제'하면 무엇이 생기나?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…leading to the development of complex social structures and the rise of powerful city-states.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복잡한 사회 구조의 발달과 강력한 도시국가의 부상으로 이어졌다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메소포타미아 농업의 열쇠 = 관개(irrigation)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과정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운하·제방·저수지 건설 → 대규모 협력·조직 필요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복잡한 사회 구조 + 강력한 도시국가 등장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핵심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사제·지도자가 노동력을 조직·지휘 → 중앙집권적 통제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8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④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a basis for political power and social hierarchy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정치 권력과 사회 위계의 기반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reduction in the need for organized labor groups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조직 노동의 필요 감소 → 오히려 대규모 노동 필요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guarantee of equal access to water for everyone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모두에게 평등한 접근 → '중앙 통제'와 반대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solution to eliminating social classes altogether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사회 계급 제거 → 오히려 계급 형성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 basis for political power and social hierarchy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정치 권력과 사회 위계의 기반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rise in individual farming independence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개인 농업의 독립성 → 중앙 통제와 반대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9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문명은 문화의 적?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This is how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이것이 바로 ______하는 방식이다.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앞 내용(옛 방식을 버림)을 한 문장으로 요약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Or, differently put, exchange is the enemy of culture. When presented with alternatives, we give up our old ways.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다시 말해, 교환은 문화의 적이다. 대안이 주어지면 우리는 옛 방식을 버린다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대비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문화(culture) = 농업(뿌리) / 문명(civilization) = 교환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과정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교환 → 비교 → 더 나은 선택 → 시야 확장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핵심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Exchange is the enemy of culture (교환은 문화의 적)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대안이 생기면 옛 방식을 버리고, 예전의 우리가 아니게 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9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②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civilization undermines and destroys culture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문명이 문화를 약화·파괴 = enemy of culture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strong cultural boundaries emerge globally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강한 문화적 경계 → 경계가 무너지는 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civilization undermines and destroys culture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문명이 문화를 약화·파괴 = enemy of culture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cultural exchange encourages local uniqueness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지역 고유성 장려 → 반대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civilization spreads culture without altering its core values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핵심 가치 변화 없음 → '예전의 우리가 아님'과 반대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cultural identity strengthens through interaction with others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정체성 강화 → 반대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10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과학과 민주주의의 '대표성'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Representation is, however,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그러나 대표(표현)는 ______하다.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However 뒤 → 앞(정당성)과 반대되는 '한계'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To represent means to simplify, which implies the existence of alternatives…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대표한다는 것은 단순화를 의미하며, 이는 대안의 존재를 암시한다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공통점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과학과 민주주의는 '대표(representation)'로 권위를 정당화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반전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However → 대표에는 한계가 있다 (빈칸)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근거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대표한다 = 단순화한다 → 다른 단순화(대안)가 항상 존재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결론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그래서 둘 다 비판을 통한 개선 장치를 내장하고 있다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10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②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never perfect or complete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결코 완벽·완전하지 않다 = 단순화, 대안, 개선 필요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free from controversy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논쟁이 없다 → continuous struggles와 반대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never perfect or complete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결코 완벽·완전하지 않다 = 단순화, 대안, 개선 필요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valid only in scientific contexts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과학에서만 유효 → 민주주의도 해당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범위 오류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fixed and then resistant to change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고정·변화 저항 → 개선 메커니즘과 반대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subjective nor universally rejected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주관적이지도 거부되지도 않음 → 무관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11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열대 토양과 영양분 순환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빈칸 문장 먼저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Nutrient-poor tropical soils illustrate the general rule that ________.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영양분이 부족한 열대 토양은 ______라는 일반 법칙을 보여 준다.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열대 토양 사례 → '일반 법칙'으로 바꾸기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…the lush vegetation essentially feeds on itself, retaining and recycling nutrients inherited from rocks weathered long ago.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울창한 식생은 본질적으로 스스로를 먹고 살며, 오래전 풍화된 암석에서 물려받은 영양분을 보유·재활용한다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원인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열대: 많은 비 + 빠른 풍화 → 영양분이 땅에서 씻겨 나감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현상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울창한 숲이 스스로를 먹고 삶 (옛 영양분을 재활용)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핵심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영양분은 흙이 아니라 '식물 자체'에 있음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숲이 사라지면 → 땅의 생산력도 사라짐 (수십 년 내)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11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빈칸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②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life depends on recycling past life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생명은 과거 생명의 재활용에 의존 = recycling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all growth leads to change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모든 성장이 변화로 이어지진 않음 → 무관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life depends on recycling past life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생명은 과거 생명의 재활용에 의존 = recycling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farming flourishes where roots run deep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뿌리 깊은 곳에서 농업 번성 → 글에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소재 함정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rich vegetation always indicates fertile soil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울창한 숲 = 비옥한 땅? → 열대는 정반대!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soil always holds enough nutrients for farming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토양은 항상 충분 → 반대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12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"This stays here"의 의미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함의 추론 · 흐름 잡기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밑줄 문장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2"/>
                </a:solidFill>
              </a:rPr>
              <a:t>…any time someone says, "This stays here," the atmosphere changes.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누군가 "이건 여기서만 하는 얘기야"라고 말할 때마다 분위기가 바뀐다.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찾을 것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 말을 하는 사람의 '속뜻'은?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212080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9651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8720" y="4069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STEP 2 · 결정적 단서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480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People know whatever follows is spoken in trust, and they respond to that feeling of being trusted with trustworthy behavior.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486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사람들은 뒤따르는 말이 신뢰 속에서 하는 말임을 알고, 신뢰할 만한 행동으로 응답한다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글의 흐름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537960" y="2057400"/>
            <a:ext cx="0" cy="3511296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주제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121408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정보를 얼마나 공유하는가 = 팀 신뢰의 척도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9535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2953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근거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91840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리더가 특별한 정보를 공유 = 팀을 믿는다는 신호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63640" y="41239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12394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밑줄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62272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"This stays here" → 이후 말은 '신뢰 속에서' 하는 말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263640" y="529437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52943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결과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632704"/>
            <a:ext cx="4572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사람들은 신뢰받는다고 느끼고 신뢰할 만한 행동으로 응답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Ex 12  </a:t>
            </a:r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정답 &amp; 오답 체크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329184"/>
          </a:xfrm>
          <a:prstGeom prst="roundRect">
            <a:avLst>
              <a:gd name="adj" fmla="val 41667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함의 추론 · STEP 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4983480"/>
          </a:xfrm>
          <a:prstGeom prst="roundRect">
            <a:avLst>
              <a:gd name="adj" fmla="val 36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정답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202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⑤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i="1" dirty="0">
                <a:solidFill>
                  <a:schemeClr val="bg1"/>
                </a:solidFill>
              </a:rPr>
              <a:t>I will disclose sensitive information on the basis of mutual trust.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63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상호 신뢰를 바탕으로 민감한 정보를 공개하겠다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435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①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3990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am setting boundaries out of caution, not out of trust.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801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신뢰가 아닌 경계심 → 정반대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32720" y="160020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340864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②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4140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think this is way too sensitive to discuss openly right now.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너무 민감해서 말 못 함 → 실제로는 공개함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32720" y="2615184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55848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③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3429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feel uncomfortable with what I am about to say, so forget it.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8313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불편하니 잊어라 → 글에 없음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32720" y="3630168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언급 없음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④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44398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 am unsure if I should speak freely, so I will keep this vague.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✘ 모호하게 말하겠다 → 오히려 솔직히 공유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332720" y="4645152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반대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5385816"/>
            <a:ext cx="7040880" cy="905256"/>
          </a:xfrm>
          <a:prstGeom prst="roundRect">
            <a:avLst>
              <a:gd name="adj" fmla="val 10101"/>
            </a:avLst>
          </a:prstGeom>
          <a:solidFill>
            <a:schemeClr val="accent6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0" y="54955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5458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 will disclose sensitive information on the basis of mutual trust.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257800" y="5861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✔ 상호 신뢰를 바탕으로 민감한 정보를 공개하겠다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332720" y="5660136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정답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12문제 정답 한눈에 보기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85800"/>
                <a:gridCol w="685800"/>
                <a:gridCol w="35661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한 줄 핵심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③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자존감 낮음 = 자기평가가 오락가락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④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문해력 없는 곳에 야만이 많다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③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문화가 '보는 방식(주의)'을 바꾼다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①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가격이 내려가면 숨은 수요가 드러난다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①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역사가는 증거로 이해 가능한 서사를 만든다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함의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④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한 분야의 위신이 다른 분야로 번진다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4406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685800"/>
                <a:gridCol w="685800"/>
                <a:gridCol w="3566160"/>
              </a:tblGrid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정답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한 줄 핵심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53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①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감정의 '의미'는 우리가 정한다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④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물 통제 → 정치 권력과 위계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②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교환(문명)은 문화의 적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②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대표 = 단순화 → 결코 완벽하지 않다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빈칸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②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숲은 과거 생명을 재활용해 산다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B2A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함의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F5B3F"/>
                          </a:solidFill>
                        </a:rPr>
                        <a:t>⑤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B2A"/>
                          </a:solidFill>
                        </a:rPr>
                        <a:t>"여기서만" = 신뢰 기반 정보 공개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F2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빈칸의 답은 언제나 지문 안에 있다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566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① 빈칸 문장 먼저   ② 같은 말 찾기   ③ 함정 지우기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복습 과제: 틀린 문제의 '결정적 단서' 문장에 밑줄 긋고 해석해 오기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Hunter">
  <a:themeElements>
    <a:clrScheme name="Blank Hunter">
      <a:dk1>
        <a:srgbClr val="1E2B2A"/>
      </a:dk1>
      <a:lt1>
        <a:srgbClr val="FFFFFF"/>
      </a:lt1>
      <a:dk2>
        <a:srgbClr val="14453D"/>
      </a:dk2>
      <a:lt2>
        <a:srgbClr val="E6F2ED"/>
      </a:lt2>
      <a:accent1>
        <a:srgbClr val="1F7A64"/>
      </a:accent1>
      <a:accent2>
        <a:srgbClr val="EF5B3F"/>
      </a:accent2>
      <a:accent3>
        <a:srgbClr val="FFD45C"/>
      </a:accent3>
      <a:accent4>
        <a:srgbClr val="6E7F7C"/>
      </a:accent4>
      <a:accent5>
        <a:srgbClr val="2C7DA0"/>
      </a:accent5>
      <a:accent6>
        <a:srgbClr val="F7E9E4"/>
      </a:accent6>
      <a:hlink>
        <a:srgbClr val="1F7A64"/>
      </a:hlink>
      <a:folHlink>
        <a:srgbClr val="6E7F7C"/>
      </a:folHlink>
    </a:clrScheme>
    <a:fontScheme name="Blank Hunter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수능특강 영어 03강 빈칸·함의 추론</dc:title>
  <dc:subject>PptxGenJS Presentation</dc:subject>
  <dc:creator>David</dc:creator>
  <cp:lastModifiedBy>David</cp:lastModifiedBy>
  <cp:revision>1</cp:revision>
  <dcterms:created xsi:type="dcterms:W3CDTF">2026-10-13T01:23:19Z</dcterms:created>
  <dcterms:modified xsi:type="dcterms:W3CDTF">2026-10-13T01:23:19Z</dcterms:modified>
</cp:coreProperties>
</file>