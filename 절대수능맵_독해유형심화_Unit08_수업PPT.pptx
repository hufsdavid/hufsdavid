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25bbb9a-8e86-3d20-8ff1-8ded5c9d22cc}">
          <p14:sldIdLst>
            <p14:sldId id="256"/>
            <p14:sldId id="257"/>
            <p14:sldId id="258"/>
          </p14:sldIdLst>
        </p14:section>
        <p14:section name="풀이 공식" id="{1119a471-5279-9e3e-dc7c-730a5801a00a}">
          <p14:sldIdLst>
            <p14:sldId id="259"/>
            <p14:sldId id="260"/>
          </p14:sldIdLst>
        </p14:section>
        <p14:section name="기출 해체" id="{7deb0166-b8b7-6bf2-878f-0992843e84b2}">
          <p14:sldIdLst>
            <p14:sldId id="261"/>
          </p14:sldIdLst>
        </p14:section>
        <p14:section name="Part 1 · Ex 92–98" id="{04a13b47-5cdf-31a8-8453-02ed050b5f46}">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Part 2 · Ex 99–104" id="{dbdf2942-8800-4ed9-f139-77c480c032c5}">
          <p14:sldIdLst>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정리" id="{16b545e6-9011-7efb-c0c9-6465d472ad12}">
          <p14:sldIdLst>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안내】 수업 시작할 때 학생들과 함께 읽고, 수업 끝에 "오늘 Objective 달성했나?" 다시 확인하세요.
1. 요약문을 먼저 읽고 (A)·(B)에 무엇이 들어갈지 예측할 수 있다 — 요약문 → 근거 → 선택지 소거 순서로 풀기
2. 글의 구조 Signal(통념·반박·연구 결과 등)로 정답 근거를 찾을 수 있다 — 본문 단어가 요약문에서 '다른 말'로 바뀌는 것을 찾기
3. 지문 속 내신 어법 포인트와 핵심 어휘(유의어·반의어·파생어)를 익힌다 — 수일치 · 분사구문 · 사역동사 · regard A as B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카드 아래 번호가 오늘 그 구조가 나온 지문이에요. 지문마다 흐름 정리에서 어느 구조인지 다시 짚어 줄게요."
※ 이 슬라이드는 1~2분만. 각 지문의 흐름 정리 슬라이드 상단에 해당 UNIT이 다시 나옵니다.
■ UNIT 01 주제문 – 예시1 – 예시2  (오늘: Ex 94, 96)
  - 주제문: should, have to, must, need to, 명령문 (주장) / It is important · critical · crucial · required · necessary · vital (중요성) / suggest, propose, recommend (제안)
  - 예시1: For example, For instance, As an example, Let's take an example., A great[classic] example is …, If …
  - 예시2: Likewise, Similarly
  ▶ 전략: 주제문에는 단정적인 표현이 나온다 / 주제문 뒤에는 주로 예시가 나온다 / 주제문은 일반적, 예시는 구체적 / 주제문 위치는 고정되어 있지 않다
■ UNIT 02 도입 – 주제문 – 예시 – 결론  (오늘: Ex 96, 기출 해체)
  - 도입: According to … (인용), Many[Most] people … (일반적 사실), As we all know, We can do … (공감)
  - 주제문: should, have to, must, need to, 명령문 / It is important … / However, But, Yet (반전·반론), When it comes to, To do … (화제 제시)
  - 예시: For example, For instance, As an example …
  - 결론: So, Thus, Hence, Therefore, To conclude, In conclusion / To summarize, To sum up, In summary, In short, Briefly (요약), A is B (주제 재진술)
  ▶ 전략: 도입 문장이 보이면 주제문은 그 뒤에 / 반복해서 설명하는 내용이 주제 / 도입 뒤 예시가 나오면 주제문은 마지막 / 결론에서 주제를 한 번 더 확인
■ UNIT 03 통념 – 반박  (오늘: Ex 99, 기출 해체)
  - 통념: Many[Some] people think · believe · say · assume · suppose that … / There is a belief · notion · conventional wisdom · misconception · prejudice that … / A is considered B, often, usually, generally
  - 반박: However, But, Yet (반전, 반론) — While(~이지만), Unfortunately도 같은 역할
  ▶ 전략: 통념 표현이 나오면 반박을 예측하라 / 반박 이후에 주제가 드러난다 / 반박 뒤 결론까지 확인해야 한다 / 역접 연결사가 없으면 문맥으로 반박을 파악
■ UNIT 04 설명1 – 설명2 – 요약  (오늘: Ex 92, 100)
  - 설명: ① 하나의 소재 → 개념·응용·심화 설명 (소재별 나열) ② 특정 인물 → 외모·성격·취미 (병렬식 나열) ③ 특정 사건 → 1960년대, 1980년대 … (시간순 나열)
  - 요약: To summarize, To sum up, In summary, In short, Briefly (요약) / In other words, That is (to say), namely (주제 진술) / Not ~ but …, It ~ that … (주제 강조), 세미콜론(;) 콜론(:) 대시(—) (주제 반복·부연 설명)
  ▶ 전략: 반복되는 주어가 설명문의 소재 / 명확한 주제문이 없는 나열식 구조가 많다 / 별표(*) 힌트 단어를 먼저 확인 / 설명이 복잡할수록 뒤에 요약 문장이 나올 확률이 높다
■ UNIT 05 현상 – 문제 제기 – 해결책  (오늘: Ex 99, 100)
  - 현상: We have a tendency to, tend to (경향), Some + 명사, Many + 명사 (일반적인 현상)
  - 문제 제기: It is difficult …, The problem is that …, 부정적인 의미의 어구, 의문문
  - 해결책: It's best …, The best way[solution] is …, To avoid[solve] the problem, should, have to, must, need to, 명령문 (주장), by V-ing
  ▶ 전략: '현상-문제 제기' 중 주제는 문제점 / 문제 제기에 해결책이 이어지면 해결책이 주제 / 부정적 어조가 나올 때 문제 제기임을 파악 / 문제점이나 해결책이 여러 개 언급될 수 있다
■ UNIT 06 원인 – 결과  (오늘: Ex 94, 100)
  - 원인: Because, Since, As, result from, arise from, be caused by
  - 결과: Then, So, Thus, Hence, Therefore, That's why[how], For this reason, As a result, Consequently, In consequence, In this way / result in, end in, lead to, cause, bring about, give rise to, influence, affect, have an impact[effect, influence] on
  ▶ 전략: 원인과 결과를 나타내는 명확한 표현이 있다 / 원인과 결과는 주제/제목 찾기 정답에 그대로 나온다 / 원인과 결과의 순서는 얼마든지 바뀔 수 있다 / '원인-결과' 뒤에 필자의 주장이 나오면 그게 주제
■ UNIT 07 연구 내용 – 연구 결과 – 결론  (오늘: Ex 93, 97, 98, 99, 101)
  - 연구 내용: research, study, experiment, survey, test (연구/실험) / researcher, psychologist, sociologist, scientist, biologist (전문가) / observe, investigate, measure, study / One group ~, while · whereas · but · however the other group ~ (대조)
  - 연구 결과: The study found · showed · proved · suggested · discovered · demonstrated that … (결과)
  - 결론: So, Thus, Hence, Therefore / In other words, That is (to say), namely (주제 재진술) / The explanation for ~ is … (연구 결과 설명)
  ▶ 전략: 연구 지문에 나올 수밖에 없는 키워드들이 있다 / 연구 결과를 필자의 말로 바꾼 것이 주제 / 주제 뒤에 나오는 연구 결과는 반드시 주제와 일치 / 실험 대상 간 차이를 파악하라
■ UNIT 08 비교 / 대조  (오늘: Ex 97, 101)
  - 주제문: should, have to, must, need to, 명령문 / It is important · critical · crucial …
  - 설명 (대상 1, 2): Similarly, Likewise, In the same way (공통점) / In[By] contrast, On the other hand, On the contrary, Conversely, Unlike, Compared with (차이점) / While, Whereas (대조, 역접), However, But, Yet (소재 전환), more[-er] ~ than …, as ~ as … (비교급/동급)
  ▶ 전략: 첫 문장에 두 대상이 언급되면 그 둘이 비교/대조 대상 / 첫 문장에 비교급 표현이 나오면 주제문일 가능성이 높다 / 공통점과 차이점이 함께 언급된 지문에 유의 / 비교/대조 지문에 주로 등장하는 어휘는 정해져 있다
■ UNIT 09 질문 – 답변  (오늘: Ex 95, 101)
  - 질문: What, Who, When, Where, Why, How 의문문, Have you ever -ed …?, Do you know ~?
  - 답변: The answer is …, A is B, If … / should, have to, must, need to, 명령문 (주장), by V-ing
  ▶ 전략: 질문에 대한 답변이 곧 글의 주제 / 질문 의도 ① 해결책 모색 / 질문 의도 ② 원리/개념 설명 / 질문 의도 ③ 흥미 유발
■ UNIT 10 도입 – 전개 – 결말 (시간순)  (오늘 없음)
  - 도입: ago (시기), when, where, in (시간, 장소)
  - 전개: this evening, last week, next month (시간, 기간) / in the spring, in 1990, in the 1800s, in the 18th century (계절, 연도, 세기) / before, after, by, until, while, from ~ to, since (전후 관계)
  - 결말: So, As a result, Finally, Eventually (결과, 결말)
  ▶ 전략: 도입부에서 이야기의 주인공이 등장한다 / 시간 정보를 활용하여 이야기의 흐름을 파악 / 시간순 지문은 마지막 문장에 답이 있다 / 이야기의 주제는 거의 다 교훈적인 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학생 답을 들은 뒤 클릭하면 정답이 나타나요.
【정답】 ① dependently – stupidity
【풀이 플로우】
1) 요약문 먼저: 사람들이 (A)하게 함께 일하면 군중의 지혜가 집단의 (B)로 바뀐다.
2) Unfortunately, that’s not always the case. → 반박 signal: '집단이 늘 더 낫지는 않다'.
3) 지혜는 판단이 independent할 때 → 함께 이야기하면(=의존적으로) 답이 부정확해짐 → (A) dependently.
4) 개인의 bias가 집단에서 multiplied(극단화) → 어리석음 (B) stupidity.
【어휘】 collective wisdom 집단 지성, polarization 극단화, bias 편견, multiply 증폭되다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2. did — 대동사 did = obtained
3. which — 콤마 뒤 계속적 용법 → that 불가
4. as — regard A as B
5. who — make O C: 그들을 그들답게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【하단 어휘 — 하나씩 물어보고 클릭】
1. urban = 도시의 / 2. preserve = 보존하다 / 3. vast = 광활한 / 4. ancestors = 조상 / 5. staple = 주된 / 6. dairy = 유제품의 / 7. heritage = 유산
【어휘·표현 확장 (유의어 ≒ / 반의어 ↔ / 파생어 ⊕)】
• regard A as B: ≒ think of A as B, look upon A as B, see / view A as B, consider A (to be) B
• preserve: ≒ conserve, maintain, keep ↔ destroy, abandon ⊕ preservation
• heritage: ≒ legacy, tradition, inheritance
• vast: ≒ huge, immense ↔ tiny
• essential: ≒ vital, crucial, indispensable ↔ unnecessary ⊕ essence
• irreplaceable: ↔ replaceable ⊕ replace, replacement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광활한 평야에서 유목 생활을 하는 것, 승마를 숙달하는 것을 배우는 것
02. horse riding
03. traditional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were given … and (were) separated 병렬
2. Having heard — 참가자가 '들은' 것(능동) + 먼저 일어난 일
3. led — 관계절의 동사 자리
4. think / will yield — 사역 make + 원형 / 동명사 주어 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【하단 어휘 — 하나씩 물어보고 클릭】
1. conducted = 실시했다 / 2. participants = 참가자들 / 3. gamble = 도박하다 / 4. identical = 동일한 / 5. outcome = 결과 / 6. yield = 낳다 / 7. behavioral = 행동의
【어휘·표현 확장 (유의어 ≒ / 반의어 ↔ / 파생어 ⊕)】
• identical: ≒ the same, equivalent ↔ different ⊕ identity, identify
• outcome: ≒ result, consequence
• yield: ≒ produce, bring about, result in
• conduct: ≒ carry out, perform (an experiment)
• frame (v.): ≒ express, phrase ⊕ framing
• negative: ↔ positive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framing
02. choices
03. 선택지들이 ‘잃다’와 ‘갖다’의 두 개의 다른 용어로 표현되어서, 참가자들이 서로 다른 행동상의 결정을 내리게 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While studying — While they were studying (능동)
2. that — 동격의 that (chance = 뒤 절), 완전한 절
3. to eat — be(become) inclined to V
4. happen — 주어 cases(복수)
5. barely notice — barely 자체가 부정어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【하단 어휘 — 하나씩 물어보고 클릭】
1. obesity = 비만 / 2. colleagues = 동료들 / 3. inclined = ~하고 싶은 / 4. transfer = 전이 / 5. subtle = 미묘한 / 6. barely = 거의 ~않다 / 7. determine = 결정하다
【어휘·표현 확장 (유의어 ≒ / 반의어 ↔ / 파생어 ⊕)】
• subtle: ≒ slight, delicate ↔ obvious, apparent
• barely: ≒ hardly, scarcely (부정어)
• inclined to V: ≒ tend to V, be likely to V, be apt to V
• determine: ≒ decide, shape ⊕ determination
• transfer: ≒ spread, transmission
• obese: ↔ thin ⊕ obesity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인간 관계에서의 비만을 연구하는 동안, Harvard University의 Nicholas Christakis와 그의 동료들은 중요한 발견을 해냈다.
2. 우리는 이 흥미로운 숨겨진 원리를 거의 알아차리지 못하지만, 그것은 실제로 우리의 삶의 선택들 중 많은 것들을 결정할 수 있다.
1. supervisor
2. subtle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to eat
2.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2. get — help O (to) 원형
3. to clearly see — enable O to V / 부사 clearly
4. critical — not only A but also B 병렬 (형용사)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internal: ≒ inner ↔ external
• identify: ≒ recognize, find ⊕ identity, identification
• innovative: ≒ creative, inventive ⊕ innovate, innovation
• consistently: ≒ constantly, steadily ↔ inconsistently ⊕ consistent, consistency
• excel at: ≒ be good at ⊕ excellent, excellence
• critical: ≒ crucial, essential, vital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이와 같은 내면의 사고 과정은 당신이 당신의 강점과 약점에 대해 더 분명한 그림을 얻도록 도와준다.
2. 세계에서 가장 한결같이 획기적인 회사들은 이런 자기 탐구를 포함하는 문화를 장려한다.
1. innovation
2.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during
2.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수동태 불가
2. causing — 결과의 분사구문 (능동) + cause O to V
3. including — 전치사 including
4. easy — make O C: 명사 prey 수식 형용사
5. whether — ~인지 아닌지 (명사절)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【하단 어휘 — 하나씩 물어보고 클릭】
1. probability = 확률 / 2. sophisticated = 정교한 / 3. distinct = 별개의 / 4. odor = 냄새 / 5. crucial = 중대한 / 6. marine = 해양의 / 7. prey = 먹이 / 8. predator = 포식자
【어휘·표현 확장 (유의어 ≒ / 반의어 ↔ / 파생어 ⊕)】
• sophisticated: ≒ complex, elaborate ↔ simple, crude
• distinct: ≒ separate, different ⊕ distinction, distinguish
• presence: ↔ absence ⊕ present
• crucial: ≒ vital, essential, critical
• interpret: ≒ decode, understand ⊕ interpretation
• predator: ↔ prey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 냄새를 적절히 감지하고 판독하지 못하는 것은 그 대상을 포식자에게 쉬운 먹이로 만들 것이다.
2. 결과적으로, 방출된 냄새가 두려움, 위험, 혹은 배고픔의 그것인지를 알아보는 능력은 동물의 생존에 필수적이다.
1. sophisticated
2.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consists
2. including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
2. to — attribute A to B
3. asked — When they were asked (수동)
4. to consider — be likely to V
5. noticing — 능동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【하단 어휘 — 하나씩 물어보고 클릭】
1. phenomenon = 현상 / 2. attributed = ~의 탓으로 돌렸다 / 3. tropical = 열대의 / 4. corals = 산호 / 5. perceiving = 인식하는 / 6. specifics = 세부 사항 / 7. invaluable = 매우 귀중한
【어휘·표현 확장 (유의어 ≒ / 반의어 ↔ / 파생어 ⊕)】
• attribute A to B: ≒ ascribe A to B, put A down to B (A를 B의 탓으로 돌리다)
• phenomenon: ≒ occurrence (복수 phenomena)
• invaluable: ≒ priceless, very valuable ↔ worthless (in- = 부정 아님!)
• analytical: ⊕ analyze, analysis ↔ holistic
• perceive: ≒ notice, recognize ⊕ perception
• specifics: ≒ details ↔ the big picture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나중에 그들이 무엇을 봤는지 질문받았을 때, 그 미국인들은 (그들이) 열대어와 같이 보통 풍경의 앞쪽에 있는 사물들에 집중했었다고 말했다.
2. 한편, 일본인들은 형형색색의 산호와 같이 배경에 있는 사물들에 집중했(었)다.
1.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it
2.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that — 선행사 impact + 목적격 관계대명사
2. affects — whether절 주어 → 단수
3. rate — 사역 have + O + 원형
4. presented — 제시'된' 것 → 과거분사
5. tasted — 맛보아진 음료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【하단 어휘 — 하나씩 물어보고 클릭】
1. prejudicial = 편향된 / 2. respondent = 응답자 / 3. stimulus = 자극 / 4. occupations = 직업 / 5. regardless of = ~와 상관없이 / 6. beverage = 음료 / 7. significantly = 상당히
【어휘·표현 확장 (유의어 ≒ / 반의어 ↔ / 파생어 ⊕)】
• regardless of: ≒ irrespective of, no matter
• prejudicial: ≒ biased ⊕ prejudice
• respondent: ⊕ respond, response
• significantly: ≒ considerably, substantially ⊕ significant, significance
• initial: ≒ first, earliest ↔ final
• extreme: ≒ maximum or minimum ↔ moderate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self-discipline — 명사 병렬 A, B and C
2. the sooner — the 비교급, the 비교급
3. keeping — involve + 동명사
4. to give — lead O to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【하단 어휘 — 하나씩 물어보고 클릭】
1. determination = 결단력 / 2. persistence = 끈기 / 3. self-discipline = 자기 절제 / 4. subtle = 미묘한 / 5. complicated = 복잡한 / 6. keeping track of = 기록하기 / 7. subjective = 주관적인
【어휘·표현 확장 (유의어 ≒ / 반의어 ↔ / 파생어 ⊕)】
• persistence: ≒ perseverance, determination ⊕ persist, persistent
• complicated: ≒ complex ↔ simple ⊕ complication
• subjective: ↔ objective
• give up on: ≒ drop, abandon, quit
• keep track of: ≒ record, monitor
• willpower: ≒ determination, self-discipline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ignoring — while they are ignoring (능동)
4. is — 부사구 도치, 주어 a job
5. As — 비례의 as: ~할수록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【하단 어휘 — 하나씩 물어보고 클릭】
1. multinational = 다국적의 / 2. mindlessly = 아무 생각 없이 / 3. dictates = 지시 / 4. incapacity = 무능 / 5. procedures = 절차 / 6. efficient = 효율적인 / 7. repetitive = 반복적인
【어휘·표현 확장 (유의어 ≒ / 반의어 ↔ / 파생어 ⊕)】
• incapacity: ≒ inability ↔ capacity, ability
• mindlessly: ≒ thoughtlessly ↔ mindfully
• efficient: ↔ inefficient ⊕ efficiency
• repetitive: ≒ monotonous ⊕ repeat, repetition
• dictate (n.): ≒ order, command
• variety: ≒ diversity ⊕ various, vary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2. to donate — $5를 꾸미는 to부정사
3. far — 비교급 강조 far / much / even
4. What — What절 주어 (~한 것)
5. Adding — 동명사 주어 + add A to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【하단 어휘 — 하나씩 물어보고 클릭】
1. otherwise = 다른 면에서는 / 2. go out of their way = 일부러 애쓰다 / 3. indifferent = 무관심한 / 4. the masses = 대중 / 5. portrayal = 묘사 / 6. discouraging = 낙담시키는 / 7. contributions = 기부금
【어휘·표현 확장 (유의어 ≒ / 반의어 ↔ / 파생어 ⊕)】
• indifferent to: ≒ unconcerned about ↔ concerned about ⊕ indifference
• go out of one's way to V: ≒ make a special effort to V
• the masses: ≒ the public ↔ an individual
• contribution: ≒ donation ⊕ contribute
• discouraging: ≒ disheartening ↔ encouraging
• portrayal: ≒ depiction ⊕ portray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수동태 병렬
2. Having heard — 완료 분사구문 (능동)
3. framed — 표현'된' 것 → 수동태
4.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【하단 어휘 — 하나씩 물어보고 클릭】
1. conducted = 실시했다 / 2. participants = 참가자들 / 3. gamble = 도박하다 / 4. framed = 표현된 / 5. yield = 낳다 / 6. behavioral = 행동의
【어휘·표현 확장 (유의어 ≒ / 반의어 ↔ / 파생어 ⊕)】
• identical: ≒ the same ↔ different
• frame (v.): ≒ phrase, express
• yield: ≒ produce, result in
• behavioral: ⊕ behave, behavior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what — 간접의문문 (전치사 about의 목적어)
2. get — help O (to) 원형
3. reaching — block O from -ing
4. critical — not only A but also B 병렬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identify: ≒ recognize, find
• internal: ≒ inner ↔ external
• blind spot: ≒ weakness, weak point
• excel at: ≒ be good at ⊕ excellent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is — 부사구 도치
4. needed / decreases — 과거분사 후치 / 주어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【하단 어휘 — 하나씩 물어보고 클릭】
1. multinational = 다국적의 / 2. dictates = 지시 / 3. incapacity = 무능 / 4. procedures = 절차 / 5. efficient = 효율적인
【어휘·표현 확장 (유의어 ≒ / 반의어 ↔ / 파생어 ⊕)】
• incapacity: ≒ inability ↔ capacity
• efficient: ↔ inefficient ⊕ efficiency
• decrease: ≒ decline, drop ↔ increase
• procedure: ≒ process, method ⊕ proceed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heritage — 문화 유산을 습득
2. center — 네트워크의 중심(hub)
3. internal — 내적인 대화
4. organ — 내장육(organ meat)
5. crucial — 경제적 공정성도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symbolizing — 여성들이 '상징하는' 능동 → 현재분사
2. pick — ability to + 동사원형
3. experience — be inclined to + 동사원형
4. includes — 주어 Dictionary(단수)
5. many — 배수사 + as many + 명사 +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3.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오늘의 수업 Objective</a:t>
            </a:r>
            <a:endParaRPr lang="en-US" sz="3000" dirty="0"/>
          </a:p>
        </p:txBody>
      </p:sp>
      <p:sp>
        <p:nvSpPr>
          <p:cNvPr id="3" name="Shape 1"/>
          <p:cNvSpPr/>
          <p:nvPr/>
        </p:nvSpPr>
        <p:spPr>
          <a:xfrm>
            <a:off x="548640" y="1371600"/>
            <a:ext cx="11064240" cy="1402080"/>
          </a:xfrm>
          <a:prstGeom prst="roundRect">
            <a:avLst>
              <a:gd name="adj" fmla="val 9783"/>
            </a:avLst>
          </a:prstGeom>
          <a:solidFill>
            <a:srgbClr val="E6F2ED"/>
          </a:solidFill>
          <a:ln w="19050">
            <a:solidFill>
              <a:srgbClr val="E6F2ED"/>
            </a:solidFill>
            <a:prstDash val="solid"/>
          </a:ln>
        </p:spPr>
      </p:sp>
      <p:sp>
        <p:nvSpPr>
          <p:cNvPr id="4" name="Text 2"/>
          <p:cNvSpPr/>
          <p:nvPr/>
        </p:nvSpPr>
        <p:spPr>
          <a:xfrm>
            <a:off x="822960" y="172516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5" name="Text 3"/>
          <p:cNvSpPr txBox="1"/>
          <p:nvPr/>
        </p:nvSpPr>
        <p:spPr>
          <a:xfrm>
            <a:off x="1828800" y="137160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요약문을 먼저 읽고 (A)·(B)에 무엇이 들어갈지 예측할 수 있다</a:t>
            </a:r>
            <a:endParaRPr lang="en-US" sz="2200" dirty="0"/>
          </a:p>
          <a:p>
            <a:pPr indent="0" marL="0">
              <a:buNone/>
            </a:pPr>
            <a:r>
              <a:rPr lang="en-US" sz="1500" dirty="0">
                <a:solidFill>
                  <a:srgbClr val="6E7F7C"/>
                </a:solidFill>
              </a:rPr>
              <a:t>요약문 → 근거 → 선택지 소거 순서로 풀기</a:t>
            </a:r>
            <a:endParaRPr lang="en-US" sz="2200" dirty="0"/>
          </a:p>
        </p:txBody>
      </p:sp>
      <p:sp>
        <p:nvSpPr>
          <p:cNvPr id="6" name="Shape 4"/>
          <p:cNvSpPr/>
          <p:nvPr/>
        </p:nvSpPr>
        <p:spPr>
          <a:xfrm>
            <a:off x="548640" y="2956560"/>
            <a:ext cx="11064240" cy="1402080"/>
          </a:xfrm>
          <a:prstGeom prst="roundRect">
            <a:avLst>
              <a:gd name="adj" fmla="val 9783"/>
            </a:avLst>
          </a:prstGeom>
          <a:solidFill>
            <a:srgbClr val="FFFFFF"/>
          </a:solidFill>
          <a:ln w="19050">
            <a:solidFill>
              <a:srgbClr val="E6F2ED"/>
            </a:solidFill>
            <a:prstDash val="solid"/>
          </a:ln>
        </p:spPr>
      </p:sp>
      <p:sp>
        <p:nvSpPr>
          <p:cNvPr id="7" name="Text 5"/>
          <p:cNvSpPr/>
          <p:nvPr/>
        </p:nvSpPr>
        <p:spPr>
          <a:xfrm>
            <a:off x="822960" y="331012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8" name="Text 6"/>
          <p:cNvSpPr txBox="1"/>
          <p:nvPr/>
        </p:nvSpPr>
        <p:spPr>
          <a:xfrm>
            <a:off x="1828800" y="295656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글의 구조 Signal(통념·반박·연구 결과 등)로 정답 근거를 찾을 수 있다</a:t>
            </a:r>
            <a:endParaRPr lang="en-US" sz="2200" dirty="0"/>
          </a:p>
          <a:p>
            <a:pPr indent="0" marL="0">
              <a:buNone/>
            </a:pPr>
            <a:r>
              <a:rPr lang="en-US" sz="1500" dirty="0">
                <a:solidFill>
                  <a:srgbClr val="6E7F7C"/>
                </a:solidFill>
              </a:rPr>
              <a:t>본문 단어가 요약문에서 '다른 말'로 바뀌는 것을 찾기</a:t>
            </a:r>
            <a:endParaRPr lang="en-US" sz="2200" dirty="0"/>
          </a:p>
        </p:txBody>
      </p:sp>
      <p:sp>
        <p:nvSpPr>
          <p:cNvPr id="9" name="Shape 7"/>
          <p:cNvSpPr/>
          <p:nvPr/>
        </p:nvSpPr>
        <p:spPr>
          <a:xfrm>
            <a:off x="548640" y="4541520"/>
            <a:ext cx="11064240" cy="1402080"/>
          </a:xfrm>
          <a:prstGeom prst="roundRect">
            <a:avLst>
              <a:gd name="adj" fmla="val 9783"/>
            </a:avLst>
          </a:prstGeom>
          <a:solidFill>
            <a:srgbClr val="E6F2ED"/>
          </a:solidFill>
          <a:ln w="19050">
            <a:solidFill>
              <a:srgbClr val="E6F2ED"/>
            </a:solidFill>
            <a:prstDash val="solid"/>
          </a:ln>
        </p:spPr>
      </p:sp>
      <p:sp>
        <p:nvSpPr>
          <p:cNvPr id="10" name="Text 8"/>
          <p:cNvSpPr/>
          <p:nvPr/>
        </p:nvSpPr>
        <p:spPr>
          <a:xfrm>
            <a:off x="822960" y="489508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1" name="Text 9"/>
          <p:cNvSpPr txBox="1"/>
          <p:nvPr/>
        </p:nvSpPr>
        <p:spPr>
          <a:xfrm>
            <a:off x="1828800" y="454152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지문 속 내신 어법 포인트와 핵심 어휘(유의어·반의어·파생어)를 익힌다</a:t>
            </a:r>
            <a:endParaRPr lang="en-US" sz="2200" dirty="0"/>
          </a:p>
          <a:p>
            <a:pPr indent="0" marL="0">
              <a:buNone/>
            </a:pPr>
            <a:r>
              <a:rPr lang="en-US" sz="1500" dirty="0">
                <a:solidFill>
                  <a:srgbClr val="6E7F7C"/>
                </a:solidFill>
              </a:rPr>
              <a:t>수일치 · 분사구문 · 사역동사 · regard A as B 등</a:t>
            </a:r>
            <a:endParaRPr lang="en-US" sz="2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한눈에 보기  </a:t>
            </a:r>
            <a:pPr algn="l" indent="0" marL="0">
              <a:buNone/>
            </a:pPr>
            <a:r>
              <a:rPr lang="en-US" sz="2000" b="1" dirty="0">
                <a:solidFill>
                  <a:srgbClr val="6E7F7C"/>
                </a:solidFill>
              </a:rPr>
              <a:t>글의 구조 10가지</a:t>
            </a:r>
            <a:endParaRPr lang="en-US" sz="3000" dirty="0"/>
          </a:p>
        </p:txBody>
      </p:sp>
      <p:sp>
        <p:nvSpPr>
          <p:cNvPr id="3" name="Shape 1"/>
          <p:cNvSpPr/>
          <p:nvPr/>
        </p:nvSpPr>
        <p:spPr>
          <a:xfrm>
            <a:off x="411480" y="1170432"/>
            <a:ext cx="2212848" cy="2542032"/>
          </a:xfrm>
          <a:prstGeom prst="roundRect">
            <a:avLst>
              <a:gd name="adj" fmla="val 3306"/>
            </a:avLst>
          </a:prstGeom>
          <a:solidFill>
            <a:srgbClr val="FFFFFF"/>
          </a:solidFill>
          <a:ln w="19050">
            <a:solidFill>
              <a:srgbClr val="1F7A64"/>
            </a:solidFill>
            <a:prstDash val="solid"/>
          </a:ln>
        </p:spPr>
      </p:sp>
      <p:sp>
        <p:nvSpPr>
          <p:cNvPr id="4" name="Text 2"/>
          <p:cNvSpPr txBox="1"/>
          <p:nvPr/>
        </p:nvSpPr>
        <p:spPr>
          <a:xfrm>
            <a:off x="502920"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U01</a:t>
            </a:r>
            <a:endParaRPr lang="en-US" sz="1000" dirty="0"/>
          </a:p>
        </p:txBody>
      </p:sp>
      <p:sp>
        <p:nvSpPr>
          <p:cNvPr id="5" name="Text 3"/>
          <p:cNvSpPr txBox="1"/>
          <p:nvPr/>
        </p:nvSpPr>
        <p:spPr>
          <a:xfrm>
            <a:off x="1014984"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주제–예시</a:t>
            </a:r>
            <a:endParaRPr lang="en-US" sz="1400" dirty="0"/>
          </a:p>
        </p:txBody>
      </p:sp>
      <p:sp>
        <p:nvSpPr>
          <p:cNvPr id="6" name="Text 4"/>
          <p:cNvSpPr txBox="1"/>
          <p:nvPr/>
        </p:nvSpPr>
        <p:spPr>
          <a:xfrm>
            <a:off x="521208"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주제문</a:t>
            </a:r>
            <a:endParaRPr lang="en-US" sz="1500" dirty="0"/>
          </a:p>
          <a:p>
            <a:pPr indent="0" marL="0">
              <a:spcAft>
                <a:spcPts val="200"/>
              </a:spcAft>
              <a:buNone/>
            </a:pPr>
            <a:r>
              <a:rPr lang="en-US" sz="1250" i="1" dirty="0">
                <a:solidFill>
                  <a:srgbClr val="1E2B2A"/>
                </a:solidFill>
              </a:rPr>
              <a:t>must · It is important</a:t>
            </a:r>
            <a:endParaRPr lang="en-US" sz="1500" dirty="0"/>
          </a:p>
          <a:p>
            <a:pPr indent="0" marL="0">
              <a:spcAft>
                <a:spcPts val="200"/>
              </a:spcAft>
              <a:buNone/>
            </a:pPr>
            <a:r>
              <a:rPr lang="en-US" sz="1500" b="1" dirty="0">
                <a:solidFill>
                  <a:srgbClr val="EF5B3F"/>
                </a:solidFill>
              </a:rPr>
              <a:t>↓ 예시1</a:t>
            </a:r>
            <a:endParaRPr lang="en-US" sz="1500" dirty="0"/>
          </a:p>
          <a:p>
            <a:pPr indent="0" marL="0">
              <a:spcAft>
                <a:spcPts val="200"/>
              </a:spcAft>
              <a:buNone/>
            </a:pPr>
            <a:r>
              <a:rPr lang="en-US" sz="1250" i="1" dirty="0">
                <a:solidFill>
                  <a:srgbClr val="1E2B2A"/>
                </a:solidFill>
              </a:rPr>
              <a:t>For example</a:t>
            </a:r>
            <a:endParaRPr lang="en-US" sz="1500" dirty="0"/>
          </a:p>
          <a:p>
            <a:pPr indent="0" marL="0">
              <a:spcAft>
                <a:spcPts val="200"/>
              </a:spcAft>
              <a:buNone/>
            </a:pPr>
            <a:r>
              <a:rPr lang="en-US" sz="1500" b="1" dirty="0">
                <a:solidFill>
                  <a:srgbClr val="EF5B3F"/>
                </a:solidFill>
              </a:rPr>
              <a:t>↓ 예시2</a:t>
            </a:r>
            <a:endParaRPr lang="en-US" sz="1500" dirty="0"/>
          </a:p>
          <a:p>
            <a:pPr indent="0" marL="0">
              <a:spcAft>
                <a:spcPts val="200"/>
              </a:spcAft>
              <a:buNone/>
            </a:pPr>
            <a:r>
              <a:rPr lang="en-US" sz="1250" i="1" dirty="0">
                <a:solidFill>
                  <a:srgbClr val="1E2B2A"/>
                </a:solidFill>
              </a:rPr>
              <a:t>Likewise · Similarly</a:t>
            </a:r>
            <a:endParaRPr lang="en-US" sz="1500" dirty="0"/>
          </a:p>
        </p:txBody>
      </p:sp>
      <p:sp>
        <p:nvSpPr>
          <p:cNvPr id="7" name="Text 5"/>
          <p:cNvSpPr txBox="1"/>
          <p:nvPr/>
        </p:nvSpPr>
        <p:spPr>
          <a:xfrm>
            <a:off x="502920" y="3383280"/>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94, 96</a:t>
            </a:r>
            <a:endParaRPr lang="en-US" sz="1000" dirty="0"/>
          </a:p>
        </p:txBody>
      </p:sp>
      <p:sp>
        <p:nvSpPr>
          <p:cNvPr id="8" name="Shape 6"/>
          <p:cNvSpPr/>
          <p:nvPr/>
        </p:nvSpPr>
        <p:spPr>
          <a:xfrm>
            <a:off x="2706624" y="1170432"/>
            <a:ext cx="2212848" cy="2542032"/>
          </a:xfrm>
          <a:prstGeom prst="roundRect">
            <a:avLst>
              <a:gd name="adj" fmla="val 3306"/>
            </a:avLst>
          </a:prstGeom>
          <a:solidFill>
            <a:srgbClr val="FFFFFF"/>
          </a:solidFill>
          <a:ln w="19050">
            <a:solidFill>
              <a:srgbClr val="1F7A64"/>
            </a:solidFill>
            <a:prstDash val="solid"/>
          </a:ln>
        </p:spPr>
      </p:sp>
      <p:sp>
        <p:nvSpPr>
          <p:cNvPr id="9" name="Text 7"/>
          <p:cNvSpPr txBox="1"/>
          <p:nvPr/>
        </p:nvSpPr>
        <p:spPr>
          <a:xfrm>
            <a:off x="2798064"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U02</a:t>
            </a:r>
            <a:endParaRPr lang="en-US" sz="1000" dirty="0"/>
          </a:p>
        </p:txBody>
      </p:sp>
      <p:sp>
        <p:nvSpPr>
          <p:cNvPr id="10" name="Text 8"/>
          <p:cNvSpPr txBox="1"/>
          <p:nvPr/>
        </p:nvSpPr>
        <p:spPr>
          <a:xfrm>
            <a:off x="3310128"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도입–주제–결론</a:t>
            </a:r>
            <a:endParaRPr lang="en-US" sz="1400" dirty="0"/>
          </a:p>
        </p:txBody>
      </p:sp>
      <p:sp>
        <p:nvSpPr>
          <p:cNvPr id="11" name="Text 9"/>
          <p:cNvSpPr txBox="1"/>
          <p:nvPr/>
        </p:nvSpPr>
        <p:spPr>
          <a:xfrm>
            <a:off x="2816352"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도입</a:t>
            </a:r>
            <a:endParaRPr lang="en-US" sz="1500" dirty="0"/>
          </a:p>
          <a:p>
            <a:pPr indent="0" marL="0">
              <a:spcAft>
                <a:spcPts val="200"/>
              </a:spcAft>
              <a:buNone/>
            </a:pPr>
            <a:r>
              <a:rPr lang="en-US" sz="1250" i="1" dirty="0">
                <a:solidFill>
                  <a:srgbClr val="1E2B2A"/>
                </a:solidFill>
              </a:rPr>
              <a:t>Many people · According to</a:t>
            </a:r>
            <a:endParaRPr lang="en-US" sz="1500" dirty="0"/>
          </a:p>
          <a:p>
            <a:pPr indent="0" marL="0">
              <a:spcAft>
                <a:spcPts val="200"/>
              </a:spcAft>
              <a:buNone/>
            </a:pPr>
            <a:r>
              <a:rPr lang="en-US" sz="1500" b="1" dirty="0">
                <a:solidFill>
                  <a:srgbClr val="EF5B3F"/>
                </a:solidFill>
              </a:rPr>
              <a:t>↓ 주제문</a:t>
            </a:r>
            <a:endParaRPr lang="en-US" sz="1500" dirty="0"/>
          </a:p>
          <a:p>
            <a:pPr indent="0" marL="0">
              <a:spcAft>
                <a:spcPts val="200"/>
              </a:spcAft>
              <a:buNone/>
            </a:pPr>
            <a:r>
              <a:rPr lang="en-US" sz="1250" i="1" dirty="0">
                <a:solidFill>
                  <a:srgbClr val="1E2B2A"/>
                </a:solidFill>
              </a:rPr>
              <a:t>However · should</a:t>
            </a:r>
            <a:endParaRPr lang="en-US" sz="1500" dirty="0"/>
          </a:p>
          <a:p>
            <a:pPr indent="0" marL="0">
              <a:spcAft>
                <a:spcPts val="200"/>
              </a:spcAft>
              <a:buNone/>
            </a:pPr>
            <a:r>
              <a:rPr lang="en-US" sz="1500" b="1" dirty="0">
                <a:solidFill>
                  <a:srgbClr val="EF5B3F"/>
                </a:solidFill>
              </a:rPr>
              <a:t>↓ 예시</a:t>
            </a:r>
            <a:endParaRPr lang="en-US" sz="1500" dirty="0"/>
          </a:p>
          <a:p>
            <a:pPr indent="0" marL="0">
              <a:spcAft>
                <a:spcPts val="200"/>
              </a:spcAft>
              <a:buNone/>
            </a:pPr>
            <a:r>
              <a:rPr lang="en-US" sz="1250" i="1" dirty="0">
                <a:solidFill>
                  <a:srgbClr val="1E2B2A"/>
                </a:solidFill>
              </a:rPr>
              <a:t>For example</a:t>
            </a:r>
            <a:endParaRPr lang="en-US" sz="1500" dirty="0"/>
          </a:p>
          <a:p>
            <a:pPr indent="0" marL="0">
              <a:spcAft>
                <a:spcPts val="200"/>
              </a:spcAft>
              <a:buNone/>
            </a:pPr>
            <a:r>
              <a:rPr lang="en-US" sz="1500" b="1" dirty="0">
                <a:solidFill>
                  <a:srgbClr val="EF5B3F"/>
                </a:solidFill>
              </a:rPr>
              <a:t>↓ 결론</a:t>
            </a:r>
            <a:endParaRPr lang="en-US" sz="1500" dirty="0"/>
          </a:p>
          <a:p>
            <a:pPr indent="0" marL="0">
              <a:spcAft>
                <a:spcPts val="200"/>
              </a:spcAft>
              <a:buNone/>
            </a:pPr>
            <a:r>
              <a:rPr lang="en-US" sz="1250" i="1" dirty="0">
                <a:solidFill>
                  <a:srgbClr val="1E2B2A"/>
                </a:solidFill>
              </a:rPr>
              <a:t>Therefore · In short</a:t>
            </a:r>
            <a:endParaRPr lang="en-US" sz="1500" dirty="0"/>
          </a:p>
        </p:txBody>
      </p:sp>
      <p:sp>
        <p:nvSpPr>
          <p:cNvPr id="12" name="Text 10"/>
          <p:cNvSpPr txBox="1"/>
          <p:nvPr/>
        </p:nvSpPr>
        <p:spPr>
          <a:xfrm>
            <a:off x="2798064" y="3383280"/>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96, 기출 해체</a:t>
            </a:r>
            <a:endParaRPr lang="en-US" sz="1000" dirty="0"/>
          </a:p>
        </p:txBody>
      </p:sp>
      <p:sp>
        <p:nvSpPr>
          <p:cNvPr id="13" name="Shape 11"/>
          <p:cNvSpPr/>
          <p:nvPr/>
        </p:nvSpPr>
        <p:spPr>
          <a:xfrm>
            <a:off x="5001768" y="1170432"/>
            <a:ext cx="2212848" cy="2542032"/>
          </a:xfrm>
          <a:prstGeom prst="roundRect">
            <a:avLst>
              <a:gd name="adj" fmla="val 3306"/>
            </a:avLst>
          </a:prstGeom>
          <a:solidFill>
            <a:srgbClr val="FFFFFF"/>
          </a:solidFill>
          <a:ln w="19050">
            <a:solidFill>
              <a:srgbClr val="1F7A64"/>
            </a:solidFill>
            <a:prstDash val="solid"/>
          </a:ln>
        </p:spPr>
      </p:sp>
      <p:sp>
        <p:nvSpPr>
          <p:cNvPr id="14" name="Text 12"/>
          <p:cNvSpPr txBox="1"/>
          <p:nvPr/>
        </p:nvSpPr>
        <p:spPr>
          <a:xfrm>
            <a:off x="5093208"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U03</a:t>
            </a:r>
            <a:endParaRPr lang="en-US" sz="1000" dirty="0"/>
          </a:p>
        </p:txBody>
      </p:sp>
      <p:sp>
        <p:nvSpPr>
          <p:cNvPr id="15" name="Text 13"/>
          <p:cNvSpPr txBox="1"/>
          <p:nvPr/>
        </p:nvSpPr>
        <p:spPr>
          <a:xfrm>
            <a:off x="5605272"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통념–반박</a:t>
            </a:r>
            <a:endParaRPr lang="en-US" sz="1400" dirty="0"/>
          </a:p>
        </p:txBody>
      </p:sp>
      <p:sp>
        <p:nvSpPr>
          <p:cNvPr id="16" name="Text 14"/>
          <p:cNvSpPr txBox="1"/>
          <p:nvPr/>
        </p:nvSpPr>
        <p:spPr>
          <a:xfrm>
            <a:off x="5111496"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통념</a:t>
            </a:r>
            <a:endParaRPr lang="en-US" sz="1500" dirty="0"/>
          </a:p>
          <a:p>
            <a:pPr indent="0" marL="0">
              <a:spcAft>
                <a:spcPts val="200"/>
              </a:spcAft>
              <a:buNone/>
            </a:pPr>
            <a:r>
              <a:rPr lang="en-US" sz="1250" i="1" dirty="0">
                <a:solidFill>
                  <a:srgbClr val="1E2B2A"/>
                </a:solidFill>
              </a:rPr>
              <a:t>Many people think · belief</a:t>
            </a:r>
            <a:endParaRPr lang="en-US" sz="1500" dirty="0"/>
          </a:p>
          <a:p>
            <a:pPr indent="0" marL="0">
              <a:spcAft>
                <a:spcPts val="200"/>
              </a:spcAft>
              <a:buNone/>
            </a:pPr>
            <a:r>
              <a:rPr lang="en-US" sz="1500" b="1" dirty="0">
                <a:solidFill>
                  <a:srgbClr val="EF5B3F"/>
                </a:solidFill>
              </a:rPr>
              <a:t>↓ 반박</a:t>
            </a:r>
            <a:endParaRPr lang="en-US" sz="1500" dirty="0"/>
          </a:p>
          <a:p>
            <a:pPr indent="0" marL="0">
              <a:spcAft>
                <a:spcPts val="200"/>
              </a:spcAft>
              <a:buNone/>
            </a:pPr>
            <a:r>
              <a:rPr lang="en-US" sz="1250" i="1" dirty="0">
                <a:solidFill>
                  <a:srgbClr val="1E2B2A"/>
                </a:solidFill>
              </a:rPr>
              <a:t>However · But · Yet</a:t>
            </a:r>
            <a:endParaRPr lang="en-US" sz="1500" dirty="0"/>
          </a:p>
        </p:txBody>
      </p:sp>
      <p:sp>
        <p:nvSpPr>
          <p:cNvPr id="17" name="Text 15"/>
          <p:cNvSpPr txBox="1"/>
          <p:nvPr/>
        </p:nvSpPr>
        <p:spPr>
          <a:xfrm>
            <a:off x="5093208" y="3383280"/>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99, 기출 해체</a:t>
            </a:r>
            <a:endParaRPr lang="en-US" sz="1000" dirty="0"/>
          </a:p>
        </p:txBody>
      </p:sp>
      <p:sp>
        <p:nvSpPr>
          <p:cNvPr id="18" name="Shape 16"/>
          <p:cNvSpPr/>
          <p:nvPr/>
        </p:nvSpPr>
        <p:spPr>
          <a:xfrm>
            <a:off x="7296912" y="1170432"/>
            <a:ext cx="2212848" cy="2542032"/>
          </a:xfrm>
          <a:prstGeom prst="roundRect">
            <a:avLst>
              <a:gd name="adj" fmla="val 3306"/>
            </a:avLst>
          </a:prstGeom>
          <a:solidFill>
            <a:srgbClr val="FFFFFF"/>
          </a:solidFill>
          <a:ln w="19050">
            <a:solidFill>
              <a:srgbClr val="1F7A64"/>
            </a:solidFill>
            <a:prstDash val="solid"/>
          </a:ln>
        </p:spPr>
      </p:sp>
      <p:sp>
        <p:nvSpPr>
          <p:cNvPr id="19" name="Text 17"/>
          <p:cNvSpPr txBox="1"/>
          <p:nvPr/>
        </p:nvSpPr>
        <p:spPr>
          <a:xfrm>
            <a:off x="7388352"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U04</a:t>
            </a:r>
            <a:endParaRPr lang="en-US" sz="1000" dirty="0"/>
          </a:p>
        </p:txBody>
      </p:sp>
      <p:sp>
        <p:nvSpPr>
          <p:cNvPr id="20" name="Text 18"/>
          <p:cNvSpPr txBox="1"/>
          <p:nvPr/>
        </p:nvSpPr>
        <p:spPr>
          <a:xfrm>
            <a:off x="7900416"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설명–요약</a:t>
            </a:r>
            <a:endParaRPr lang="en-US" sz="1400" dirty="0"/>
          </a:p>
        </p:txBody>
      </p:sp>
      <p:sp>
        <p:nvSpPr>
          <p:cNvPr id="21" name="Text 19"/>
          <p:cNvSpPr txBox="1"/>
          <p:nvPr/>
        </p:nvSpPr>
        <p:spPr>
          <a:xfrm>
            <a:off x="7406640"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설명1</a:t>
            </a:r>
            <a:endParaRPr lang="en-US" sz="1500" dirty="0"/>
          </a:p>
          <a:p>
            <a:pPr indent="0" marL="0">
              <a:spcAft>
                <a:spcPts val="200"/>
              </a:spcAft>
              <a:buNone/>
            </a:pPr>
            <a:r>
              <a:rPr lang="en-US" sz="1250" i="1" dirty="0">
                <a:solidFill>
                  <a:srgbClr val="1E2B2A"/>
                </a:solidFill>
              </a:rPr>
              <a:t>반복되는 주어 = 소재</a:t>
            </a:r>
            <a:endParaRPr lang="en-US" sz="1500" dirty="0"/>
          </a:p>
          <a:p>
            <a:pPr indent="0" marL="0">
              <a:spcAft>
                <a:spcPts val="200"/>
              </a:spcAft>
              <a:buNone/>
            </a:pPr>
            <a:r>
              <a:rPr lang="en-US" sz="1500" b="1" dirty="0">
                <a:solidFill>
                  <a:srgbClr val="EF5B3F"/>
                </a:solidFill>
              </a:rPr>
              <a:t>↓ 설명2</a:t>
            </a:r>
            <a:endParaRPr lang="en-US" sz="1500" dirty="0"/>
          </a:p>
          <a:p>
            <a:pPr indent="0" marL="0">
              <a:spcAft>
                <a:spcPts val="200"/>
              </a:spcAft>
              <a:buNone/>
            </a:pPr>
            <a:r>
              <a:rPr lang="en-US" sz="1250" i="1" dirty="0">
                <a:solidFill>
                  <a:srgbClr val="1E2B2A"/>
                </a:solidFill>
              </a:rPr>
              <a:t>같은 소재, 다른 측면</a:t>
            </a:r>
            <a:endParaRPr lang="en-US" sz="1500" dirty="0"/>
          </a:p>
          <a:p>
            <a:pPr indent="0" marL="0">
              <a:spcAft>
                <a:spcPts val="200"/>
              </a:spcAft>
              <a:buNone/>
            </a:pPr>
            <a:r>
              <a:rPr lang="en-US" sz="1500" b="1" dirty="0">
                <a:solidFill>
                  <a:srgbClr val="EF5B3F"/>
                </a:solidFill>
              </a:rPr>
              <a:t>↓ 요약</a:t>
            </a:r>
            <a:endParaRPr lang="en-US" sz="1500" dirty="0"/>
          </a:p>
          <a:p>
            <a:pPr indent="0" marL="0">
              <a:spcAft>
                <a:spcPts val="200"/>
              </a:spcAft>
              <a:buNone/>
            </a:pPr>
            <a:r>
              <a:rPr lang="en-US" sz="1250" i="1" dirty="0">
                <a:solidFill>
                  <a:srgbClr val="1E2B2A"/>
                </a:solidFill>
              </a:rPr>
              <a:t>In short · In other words</a:t>
            </a:r>
            <a:endParaRPr lang="en-US" sz="1500" dirty="0"/>
          </a:p>
        </p:txBody>
      </p:sp>
      <p:sp>
        <p:nvSpPr>
          <p:cNvPr id="22" name="Text 20"/>
          <p:cNvSpPr txBox="1"/>
          <p:nvPr/>
        </p:nvSpPr>
        <p:spPr>
          <a:xfrm>
            <a:off x="7388352" y="3383280"/>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92, 100</a:t>
            </a:r>
            <a:endParaRPr lang="en-US" sz="1000" dirty="0"/>
          </a:p>
        </p:txBody>
      </p:sp>
      <p:sp>
        <p:nvSpPr>
          <p:cNvPr id="23" name="Shape 21"/>
          <p:cNvSpPr/>
          <p:nvPr/>
        </p:nvSpPr>
        <p:spPr>
          <a:xfrm>
            <a:off x="9592056" y="1170432"/>
            <a:ext cx="2212848" cy="2542032"/>
          </a:xfrm>
          <a:prstGeom prst="roundRect">
            <a:avLst>
              <a:gd name="adj" fmla="val 3306"/>
            </a:avLst>
          </a:prstGeom>
          <a:solidFill>
            <a:srgbClr val="FFFFFF"/>
          </a:solidFill>
          <a:ln w="19050">
            <a:solidFill>
              <a:srgbClr val="1F7A64"/>
            </a:solidFill>
            <a:prstDash val="solid"/>
          </a:ln>
        </p:spPr>
      </p:sp>
      <p:sp>
        <p:nvSpPr>
          <p:cNvPr id="24" name="Text 22"/>
          <p:cNvSpPr txBox="1"/>
          <p:nvPr/>
        </p:nvSpPr>
        <p:spPr>
          <a:xfrm>
            <a:off x="9683496"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U05</a:t>
            </a:r>
            <a:endParaRPr lang="en-US" sz="1000" dirty="0"/>
          </a:p>
        </p:txBody>
      </p:sp>
      <p:sp>
        <p:nvSpPr>
          <p:cNvPr id="25" name="Text 23"/>
          <p:cNvSpPr txBox="1"/>
          <p:nvPr/>
        </p:nvSpPr>
        <p:spPr>
          <a:xfrm>
            <a:off x="10195560"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문제–해결</a:t>
            </a:r>
            <a:endParaRPr lang="en-US" sz="1400" dirty="0"/>
          </a:p>
        </p:txBody>
      </p:sp>
      <p:sp>
        <p:nvSpPr>
          <p:cNvPr id="26" name="Text 24"/>
          <p:cNvSpPr txBox="1"/>
          <p:nvPr/>
        </p:nvSpPr>
        <p:spPr>
          <a:xfrm>
            <a:off x="9701784"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현상</a:t>
            </a:r>
            <a:endParaRPr lang="en-US" sz="1500" dirty="0"/>
          </a:p>
          <a:p>
            <a:pPr indent="0" marL="0">
              <a:spcAft>
                <a:spcPts val="200"/>
              </a:spcAft>
              <a:buNone/>
            </a:pPr>
            <a:r>
              <a:rPr lang="en-US" sz="1250" i="1" dirty="0">
                <a:solidFill>
                  <a:srgbClr val="1E2B2A"/>
                </a:solidFill>
              </a:rPr>
              <a:t>tend to · Many + 명사</a:t>
            </a:r>
            <a:endParaRPr lang="en-US" sz="1500" dirty="0"/>
          </a:p>
          <a:p>
            <a:pPr indent="0" marL="0">
              <a:spcAft>
                <a:spcPts val="200"/>
              </a:spcAft>
              <a:buNone/>
            </a:pPr>
            <a:r>
              <a:rPr lang="en-US" sz="1500" b="1" dirty="0">
                <a:solidFill>
                  <a:srgbClr val="EF5B3F"/>
                </a:solidFill>
              </a:rPr>
              <a:t>↓ 문제 제기</a:t>
            </a:r>
            <a:endParaRPr lang="en-US" sz="1500" dirty="0"/>
          </a:p>
          <a:p>
            <a:pPr indent="0" marL="0">
              <a:spcAft>
                <a:spcPts val="200"/>
              </a:spcAft>
              <a:buNone/>
            </a:pPr>
            <a:r>
              <a:rPr lang="en-US" sz="1250" i="1" dirty="0">
                <a:solidFill>
                  <a:srgbClr val="1E2B2A"/>
                </a:solidFill>
              </a:rPr>
              <a:t>The problem is · 의문문</a:t>
            </a:r>
            <a:endParaRPr lang="en-US" sz="1500" dirty="0"/>
          </a:p>
          <a:p>
            <a:pPr indent="0" marL="0">
              <a:spcAft>
                <a:spcPts val="200"/>
              </a:spcAft>
              <a:buNone/>
            </a:pPr>
            <a:r>
              <a:rPr lang="en-US" sz="1500" b="1" dirty="0">
                <a:solidFill>
                  <a:srgbClr val="EF5B3F"/>
                </a:solidFill>
              </a:rPr>
              <a:t>↓ 해결책</a:t>
            </a:r>
            <a:endParaRPr lang="en-US" sz="1500" dirty="0"/>
          </a:p>
          <a:p>
            <a:pPr indent="0" marL="0">
              <a:spcAft>
                <a:spcPts val="200"/>
              </a:spcAft>
              <a:buNone/>
            </a:pPr>
            <a:r>
              <a:rPr lang="en-US" sz="1250" i="1" dirty="0">
                <a:solidFill>
                  <a:srgbClr val="1E2B2A"/>
                </a:solidFill>
              </a:rPr>
              <a:t>The best way · should</a:t>
            </a:r>
            <a:endParaRPr lang="en-US" sz="1500" dirty="0"/>
          </a:p>
        </p:txBody>
      </p:sp>
      <p:sp>
        <p:nvSpPr>
          <p:cNvPr id="27" name="Text 25"/>
          <p:cNvSpPr txBox="1"/>
          <p:nvPr/>
        </p:nvSpPr>
        <p:spPr>
          <a:xfrm>
            <a:off x="9683496" y="3383280"/>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99, 100</a:t>
            </a:r>
            <a:endParaRPr lang="en-US" sz="1000" dirty="0"/>
          </a:p>
        </p:txBody>
      </p:sp>
      <p:sp>
        <p:nvSpPr>
          <p:cNvPr id="28" name="Shape 26"/>
          <p:cNvSpPr/>
          <p:nvPr/>
        </p:nvSpPr>
        <p:spPr>
          <a:xfrm>
            <a:off x="411480" y="3803904"/>
            <a:ext cx="2212848" cy="2542032"/>
          </a:xfrm>
          <a:prstGeom prst="roundRect">
            <a:avLst>
              <a:gd name="adj" fmla="val 3306"/>
            </a:avLst>
          </a:prstGeom>
          <a:solidFill>
            <a:srgbClr val="FFFFFF"/>
          </a:solidFill>
          <a:ln w="19050">
            <a:solidFill>
              <a:srgbClr val="1F7A64"/>
            </a:solidFill>
            <a:prstDash val="solid"/>
          </a:ln>
        </p:spPr>
      </p:sp>
      <p:sp>
        <p:nvSpPr>
          <p:cNvPr id="29" name="Text 27"/>
          <p:cNvSpPr txBox="1"/>
          <p:nvPr/>
        </p:nvSpPr>
        <p:spPr>
          <a:xfrm>
            <a:off x="502920"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U06</a:t>
            </a:r>
            <a:endParaRPr lang="en-US" sz="1000" dirty="0"/>
          </a:p>
        </p:txBody>
      </p:sp>
      <p:sp>
        <p:nvSpPr>
          <p:cNvPr id="30" name="Text 28"/>
          <p:cNvSpPr txBox="1"/>
          <p:nvPr/>
        </p:nvSpPr>
        <p:spPr>
          <a:xfrm>
            <a:off x="1014984"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원인–결과</a:t>
            </a:r>
            <a:endParaRPr lang="en-US" sz="1400" dirty="0"/>
          </a:p>
        </p:txBody>
      </p:sp>
      <p:sp>
        <p:nvSpPr>
          <p:cNvPr id="31" name="Text 29"/>
          <p:cNvSpPr txBox="1"/>
          <p:nvPr/>
        </p:nvSpPr>
        <p:spPr>
          <a:xfrm>
            <a:off x="521208"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원인</a:t>
            </a:r>
            <a:endParaRPr lang="en-US" sz="1500" dirty="0"/>
          </a:p>
          <a:p>
            <a:pPr indent="0" marL="0">
              <a:spcAft>
                <a:spcPts val="200"/>
              </a:spcAft>
              <a:buNone/>
            </a:pPr>
            <a:r>
              <a:rPr lang="en-US" sz="1250" i="1" dirty="0">
                <a:solidFill>
                  <a:srgbClr val="1E2B2A"/>
                </a:solidFill>
              </a:rPr>
              <a:t>because · result from</a:t>
            </a:r>
            <a:endParaRPr lang="en-US" sz="1500" dirty="0"/>
          </a:p>
          <a:p>
            <a:pPr indent="0" marL="0">
              <a:spcAft>
                <a:spcPts val="200"/>
              </a:spcAft>
              <a:buNone/>
            </a:pPr>
            <a:r>
              <a:rPr lang="en-US" sz="1500" b="1" dirty="0">
                <a:solidFill>
                  <a:srgbClr val="EF5B3F"/>
                </a:solidFill>
              </a:rPr>
              <a:t>↓ 결과</a:t>
            </a:r>
            <a:endParaRPr lang="en-US" sz="1500" dirty="0"/>
          </a:p>
          <a:p>
            <a:pPr indent="0" marL="0">
              <a:spcAft>
                <a:spcPts val="200"/>
              </a:spcAft>
              <a:buNone/>
            </a:pPr>
            <a:r>
              <a:rPr lang="en-US" sz="1250" i="1" dirty="0">
                <a:solidFill>
                  <a:srgbClr val="1E2B2A"/>
                </a:solidFill>
              </a:rPr>
              <a:t>As a result · lead to</a:t>
            </a:r>
            <a:endParaRPr lang="en-US" sz="1500" dirty="0"/>
          </a:p>
        </p:txBody>
      </p:sp>
      <p:sp>
        <p:nvSpPr>
          <p:cNvPr id="32" name="Text 30"/>
          <p:cNvSpPr txBox="1"/>
          <p:nvPr/>
        </p:nvSpPr>
        <p:spPr>
          <a:xfrm>
            <a:off x="502920" y="6016752"/>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94, 100</a:t>
            </a:r>
            <a:endParaRPr lang="en-US" sz="1000" dirty="0"/>
          </a:p>
        </p:txBody>
      </p:sp>
      <p:sp>
        <p:nvSpPr>
          <p:cNvPr id="33" name="Shape 31"/>
          <p:cNvSpPr/>
          <p:nvPr/>
        </p:nvSpPr>
        <p:spPr>
          <a:xfrm>
            <a:off x="2706624" y="3803904"/>
            <a:ext cx="2212848" cy="2542032"/>
          </a:xfrm>
          <a:prstGeom prst="roundRect">
            <a:avLst>
              <a:gd name="adj" fmla="val 3306"/>
            </a:avLst>
          </a:prstGeom>
          <a:solidFill>
            <a:srgbClr val="FFFFFF"/>
          </a:solidFill>
          <a:ln w="19050">
            <a:solidFill>
              <a:srgbClr val="1F7A64"/>
            </a:solidFill>
            <a:prstDash val="solid"/>
          </a:ln>
        </p:spPr>
      </p:sp>
      <p:sp>
        <p:nvSpPr>
          <p:cNvPr id="34" name="Text 32"/>
          <p:cNvSpPr txBox="1"/>
          <p:nvPr/>
        </p:nvSpPr>
        <p:spPr>
          <a:xfrm>
            <a:off x="2798064"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U07</a:t>
            </a:r>
            <a:endParaRPr lang="en-US" sz="1000" dirty="0"/>
          </a:p>
        </p:txBody>
      </p:sp>
      <p:sp>
        <p:nvSpPr>
          <p:cNvPr id="35" name="Text 33"/>
          <p:cNvSpPr txBox="1"/>
          <p:nvPr/>
        </p:nvSpPr>
        <p:spPr>
          <a:xfrm>
            <a:off x="3310128"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연구·실험</a:t>
            </a:r>
            <a:endParaRPr lang="en-US" sz="1400" dirty="0"/>
          </a:p>
        </p:txBody>
      </p:sp>
      <p:sp>
        <p:nvSpPr>
          <p:cNvPr id="36" name="Text 34"/>
          <p:cNvSpPr txBox="1"/>
          <p:nvPr/>
        </p:nvSpPr>
        <p:spPr>
          <a:xfrm>
            <a:off x="2816352"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연구 내용</a:t>
            </a:r>
            <a:endParaRPr lang="en-US" sz="1500" dirty="0"/>
          </a:p>
          <a:p>
            <a:pPr indent="0" marL="0">
              <a:spcAft>
                <a:spcPts val="200"/>
              </a:spcAft>
              <a:buNone/>
            </a:pPr>
            <a:r>
              <a:rPr lang="en-US" sz="1250" i="1" dirty="0">
                <a:solidFill>
                  <a:srgbClr val="1E2B2A"/>
                </a:solidFill>
              </a:rPr>
              <a:t>study · experiment</a:t>
            </a:r>
            <a:endParaRPr lang="en-US" sz="1500" dirty="0"/>
          </a:p>
          <a:p>
            <a:pPr indent="0" marL="0">
              <a:spcAft>
                <a:spcPts val="200"/>
              </a:spcAft>
              <a:buNone/>
            </a:pPr>
            <a:r>
              <a:rPr lang="en-US" sz="1500" b="1" dirty="0">
                <a:solidFill>
                  <a:srgbClr val="EF5B3F"/>
                </a:solidFill>
              </a:rPr>
              <a:t>↓ 연구 결과</a:t>
            </a:r>
            <a:endParaRPr lang="en-US" sz="1500" dirty="0"/>
          </a:p>
          <a:p>
            <a:pPr indent="0" marL="0">
              <a:spcAft>
                <a:spcPts val="200"/>
              </a:spcAft>
              <a:buNone/>
            </a:pPr>
            <a:r>
              <a:rPr lang="en-US" sz="1250" i="1" dirty="0">
                <a:solidFill>
                  <a:srgbClr val="1E2B2A"/>
                </a:solidFill>
              </a:rPr>
              <a:t>found · showed that</a:t>
            </a:r>
            <a:endParaRPr lang="en-US" sz="1500" dirty="0"/>
          </a:p>
          <a:p>
            <a:pPr indent="0" marL="0">
              <a:spcAft>
                <a:spcPts val="200"/>
              </a:spcAft>
              <a:buNone/>
            </a:pPr>
            <a:r>
              <a:rPr lang="en-US" sz="1500" b="1" dirty="0">
                <a:solidFill>
                  <a:srgbClr val="EF5B3F"/>
                </a:solidFill>
              </a:rPr>
              <a:t>↓ 결론</a:t>
            </a:r>
            <a:endParaRPr lang="en-US" sz="1500" dirty="0"/>
          </a:p>
          <a:p>
            <a:pPr indent="0" marL="0">
              <a:spcAft>
                <a:spcPts val="200"/>
              </a:spcAft>
              <a:buNone/>
            </a:pPr>
            <a:r>
              <a:rPr lang="en-US" sz="1250" i="1" dirty="0">
                <a:solidFill>
                  <a:srgbClr val="1E2B2A"/>
                </a:solidFill>
              </a:rPr>
              <a:t>Therefore · In other words</a:t>
            </a:r>
            <a:endParaRPr lang="en-US" sz="1500" dirty="0"/>
          </a:p>
        </p:txBody>
      </p:sp>
      <p:sp>
        <p:nvSpPr>
          <p:cNvPr id="37" name="Text 35"/>
          <p:cNvSpPr txBox="1"/>
          <p:nvPr/>
        </p:nvSpPr>
        <p:spPr>
          <a:xfrm>
            <a:off x="2798064" y="6016752"/>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93, 97, 98, 99, 101</a:t>
            </a:r>
            <a:endParaRPr lang="en-US" sz="1000" dirty="0"/>
          </a:p>
        </p:txBody>
      </p:sp>
      <p:sp>
        <p:nvSpPr>
          <p:cNvPr id="38" name="Shape 36"/>
          <p:cNvSpPr/>
          <p:nvPr/>
        </p:nvSpPr>
        <p:spPr>
          <a:xfrm>
            <a:off x="5001768" y="3803904"/>
            <a:ext cx="2212848" cy="2542032"/>
          </a:xfrm>
          <a:prstGeom prst="roundRect">
            <a:avLst>
              <a:gd name="adj" fmla="val 3306"/>
            </a:avLst>
          </a:prstGeom>
          <a:solidFill>
            <a:srgbClr val="FFFFFF"/>
          </a:solidFill>
          <a:ln w="19050">
            <a:solidFill>
              <a:srgbClr val="1F7A64"/>
            </a:solidFill>
            <a:prstDash val="solid"/>
          </a:ln>
        </p:spPr>
      </p:sp>
      <p:sp>
        <p:nvSpPr>
          <p:cNvPr id="39" name="Text 37"/>
          <p:cNvSpPr txBox="1"/>
          <p:nvPr/>
        </p:nvSpPr>
        <p:spPr>
          <a:xfrm>
            <a:off x="5093208"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U08</a:t>
            </a:r>
            <a:endParaRPr lang="en-US" sz="1000" dirty="0"/>
          </a:p>
        </p:txBody>
      </p:sp>
      <p:sp>
        <p:nvSpPr>
          <p:cNvPr id="40" name="Text 38"/>
          <p:cNvSpPr txBox="1"/>
          <p:nvPr/>
        </p:nvSpPr>
        <p:spPr>
          <a:xfrm>
            <a:off x="5605272"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비교·대조</a:t>
            </a:r>
            <a:endParaRPr lang="en-US" sz="1400" dirty="0"/>
          </a:p>
        </p:txBody>
      </p:sp>
      <p:sp>
        <p:nvSpPr>
          <p:cNvPr id="41" name="Text 39"/>
          <p:cNvSpPr txBox="1"/>
          <p:nvPr/>
        </p:nvSpPr>
        <p:spPr>
          <a:xfrm>
            <a:off x="5111496"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비교 / 대조</a:t>
            </a:r>
            <a:endParaRPr lang="en-US" sz="1500" dirty="0"/>
          </a:p>
          <a:p>
            <a:pPr indent="0" marL="0">
              <a:spcAft>
                <a:spcPts val="200"/>
              </a:spcAft>
              <a:buNone/>
            </a:pPr>
            <a:r>
              <a:rPr lang="en-US" sz="1250" i="1" dirty="0">
                <a:solidFill>
                  <a:srgbClr val="1E2B2A"/>
                </a:solidFill>
              </a:rPr>
              <a:t>공통 Similarly · Likewise</a:t>
            </a:r>
            <a:endParaRPr lang="en-US" sz="1500" dirty="0"/>
          </a:p>
          <a:p>
            <a:pPr indent="0" marL="0">
              <a:spcAft>
                <a:spcPts val="200"/>
              </a:spcAft>
              <a:buNone/>
            </a:pPr>
            <a:r>
              <a:rPr lang="en-US" sz="1250" i="1" dirty="0">
                <a:solidFill>
                  <a:srgbClr val="1E2B2A"/>
                </a:solidFill>
              </a:rPr>
              <a:t>차이 In contrast · While · ‑er than</a:t>
            </a:r>
            <a:endParaRPr lang="en-US" sz="1500" dirty="0"/>
          </a:p>
        </p:txBody>
      </p:sp>
      <p:sp>
        <p:nvSpPr>
          <p:cNvPr id="42" name="Text 40"/>
          <p:cNvSpPr txBox="1"/>
          <p:nvPr/>
        </p:nvSpPr>
        <p:spPr>
          <a:xfrm>
            <a:off x="5093208" y="6016752"/>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97, 101</a:t>
            </a:r>
            <a:endParaRPr lang="en-US" sz="1000" dirty="0"/>
          </a:p>
        </p:txBody>
      </p:sp>
      <p:sp>
        <p:nvSpPr>
          <p:cNvPr id="43" name="Shape 41"/>
          <p:cNvSpPr/>
          <p:nvPr/>
        </p:nvSpPr>
        <p:spPr>
          <a:xfrm>
            <a:off x="7296912" y="3803904"/>
            <a:ext cx="2212848" cy="2542032"/>
          </a:xfrm>
          <a:prstGeom prst="roundRect">
            <a:avLst>
              <a:gd name="adj" fmla="val 3306"/>
            </a:avLst>
          </a:prstGeom>
          <a:solidFill>
            <a:srgbClr val="FFFFFF"/>
          </a:solidFill>
          <a:ln w="19050">
            <a:solidFill>
              <a:srgbClr val="1F7A64"/>
            </a:solidFill>
            <a:prstDash val="solid"/>
          </a:ln>
        </p:spPr>
      </p:sp>
      <p:sp>
        <p:nvSpPr>
          <p:cNvPr id="44" name="Text 42"/>
          <p:cNvSpPr txBox="1"/>
          <p:nvPr/>
        </p:nvSpPr>
        <p:spPr>
          <a:xfrm>
            <a:off x="7388352"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U09</a:t>
            </a:r>
            <a:endParaRPr lang="en-US" sz="1000" dirty="0"/>
          </a:p>
        </p:txBody>
      </p:sp>
      <p:sp>
        <p:nvSpPr>
          <p:cNvPr id="45" name="Text 43"/>
          <p:cNvSpPr txBox="1"/>
          <p:nvPr/>
        </p:nvSpPr>
        <p:spPr>
          <a:xfrm>
            <a:off x="7900416"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질문–답변</a:t>
            </a:r>
            <a:endParaRPr lang="en-US" sz="1400" dirty="0"/>
          </a:p>
        </p:txBody>
      </p:sp>
      <p:sp>
        <p:nvSpPr>
          <p:cNvPr id="46" name="Text 44"/>
          <p:cNvSpPr txBox="1"/>
          <p:nvPr/>
        </p:nvSpPr>
        <p:spPr>
          <a:xfrm>
            <a:off x="7406640"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질문</a:t>
            </a:r>
            <a:endParaRPr lang="en-US" sz="1500" dirty="0"/>
          </a:p>
          <a:p>
            <a:pPr indent="0" marL="0">
              <a:spcAft>
                <a:spcPts val="200"/>
              </a:spcAft>
              <a:buNone/>
            </a:pPr>
            <a:r>
              <a:rPr lang="en-US" sz="1250" i="1" dirty="0">
                <a:solidFill>
                  <a:srgbClr val="1E2B2A"/>
                </a:solidFill>
              </a:rPr>
              <a:t>What …? · Have you ever …?</a:t>
            </a:r>
            <a:endParaRPr lang="en-US" sz="1500" dirty="0"/>
          </a:p>
          <a:p>
            <a:pPr indent="0" marL="0">
              <a:spcAft>
                <a:spcPts val="200"/>
              </a:spcAft>
              <a:buNone/>
            </a:pPr>
            <a:r>
              <a:rPr lang="en-US" sz="1500" b="1" dirty="0">
                <a:solidFill>
                  <a:srgbClr val="EF5B3F"/>
                </a:solidFill>
              </a:rPr>
              <a:t>↓ 답변</a:t>
            </a:r>
            <a:endParaRPr lang="en-US" sz="1500" dirty="0"/>
          </a:p>
          <a:p>
            <a:pPr indent="0" marL="0">
              <a:spcAft>
                <a:spcPts val="200"/>
              </a:spcAft>
              <a:buNone/>
            </a:pPr>
            <a:r>
              <a:rPr lang="en-US" sz="1250" i="1" dirty="0">
                <a:solidFill>
                  <a:srgbClr val="1E2B2A"/>
                </a:solidFill>
              </a:rPr>
              <a:t>The answer is · should</a:t>
            </a:r>
            <a:endParaRPr lang="en-US" sz="1500" dirty="0"/>
          </a:p>
        </p:txBody>
      </p:sp>
      <p:sp>
        <p:nvSpPr>
          <p:cNvPr id="47" name="Text 45"/>
          <p:cNvSpPr txBox="1"/>
          <p:nvPr/>
        </p:nvSpPr>
        <p:spPr>
          <a:xfrm>
            <a:off x="7388352" y="6016752"/>
            <a:ext cx="2029968" cy="237744"/>
          </a:xfrm>
          <a:prstGeom prst="rect">
            <a:avLst/>
          </a:prstGeom>
          <a:noFill/>
          <a:ln/>
        </p:spPr>
        <p:txBody>
          <a:bodyPr wrap="square" lIns="0" tIns="0" rIns="0" bIns="0" rtlCol="0" anchor="ctr"/>
          <a:lstStyle/>
          <a:p>
            <a:pPr algn="r" indent="0" marL="0">
              <a:buNone/>
            </a:pPr>
            <a:r>
              <a:rPr lang="en-US" sz="1000" b="1" dirty="0">
                <a:solidFill>
                  <a:srgbClr val="EF5B3F"/>
                </a:solidFill>
              </a:rPr>
              <a:t>Ex 95, 101</a:t>
            </a:r>
            <a:endParaRPr lang="en-US" sz="1000" dirty="0"/>
          </a:p>
        </p:txBody>
      </p:sp>
      <p:sp>
        <p:nvSpPr>
          <p:cNvPr id="48" name="Shape 46"/>
          <p:cNvSpPr/>
          <p:nvPr/>
        </p:nvSpPr>
        <p:spPr>
          <a:xfrm>
            <a:off x="9592056" y="3803904"/>
            <a:ext cx="2212848" cy="2542032"/>
          </a:xfrm>
          <a:prstGeom prst="roundRect">
            <a:avLst>
              <a:gd name="adj" fmla="val 3306"/>
            </a:avLst>
          </a:prstGeom>
          <a:solidFill>
            <a:srgbClr val="F6F7F7"/>
          </a:solidFill>
          <a:ln w="19050">
            <a:solidFill>
              <a:srgbClr val="E6F2ED"/>
            </a:solidFill>
            <a:prstDash val="solid"/>
          </a:ln>
        </p:spPr>
      </p:sp>
      <p:sp>
        <p:nvSpPr>
          <p:cNvPr id="49" name="Text 47"/>
          <p:cNvSpPr txBox="1"/>
          <p:nvPr/>
        </p:nvSpPr>
        <p:spPr>
          <a:xfrm>
            <a:off x="9683496" y="3895344"/>
            <a:ext cx="457200" cy="256032"/>
          </a:xfrm>
          <a:prstGeom prst="rect">
            <a:avLst/>
          </a:prstGeom>
          <a:solidFill>
            <a:srgbClr val="6E7F7C"/>
          </a:solidFill>
          <a:ln/>
        </p:spPr>
        <p:txBody>
          <a:bodyPr wrap="square" lIns="0" tIns="0" rIns="0" bIns="0" rtlCol="0" anchor="ctr"/>
          <a:lstStyle/>
          <a:p>
            <a:pPr algn="ctr" indent="0" marL="0">
              <a:buNone/>
            </a:pPr>
            <a:r>
              <a:rPr lang="en-US" sz="1000" b="1" dirty="0">
                <a:solidFill>
                  <a:srgbClr val="FFFFFF"/>
                </a:solidFill>
              </a:rPr>
              <a:t>U10</a:t>
            </a:r>
            <a:endParaRPr lang="en-US" sz="1000" dirty="0"/>
          </a:p>
        </p:txBody>
      </p:sp>
      <p:sp>
        <p:nvSpPr>
          <p:cNvPr id="50" name="Text 48"/>
          <p:cNvSpPr txBox="1"/>
          <p:nvPr/>
        </p:nvSpPr>
        <p:spPr>
          <a:xfrm>
            <a:off x="10195560"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시간순 이야기</a:t>
            </a:r>
            <a:endParaRPr lang="en-US" sz="1400" dirty="0"/>
          </a:p>
        </p:txBody>
      </p:sp>
      <p:sp>
        <p:nvSpPr>
          <p:cNvPr id="51" name="Text 49"/>
          <p:cNvSpPr txBox="1"/>
          <p:nvPr/>
        </p:nvSpPr>
        <p:spPr>
          <a:xfrm>
            <a:off x="9701784"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14453D"/>
                </a:solidFill>
              </a:rPr>
              <a:t>도입</a:t>
            </a:r>
            <a:endParaRPr lang="en-US" sz="1500" dirty="0"/>
          </a:p>
          <a:p>
            <a:pPr indent="0" marL="0">
              <a:spcAft>
                <a:spcPts val="200"/>
              </a:spcAft>
              <a:buNone/>
            </a:pPr>
            <a:r>
              <a:rPr lang="en-US" sz="1250" i="1" dirty="0">
                <a:solidFill>
                  <a:srgbClr val="1E2B2A"/>
                </a:solidFill>
              </a:rPr>
              <a:t>ago · when · in 1990</a:t>
            </a:r>
            <a:endParaRPr lang="en-US" sz="1500" dirty="0"/>
          </a:p>
          <a:p>
            <a:pPr indent="0" marL="0">
              <a:spcAft>
                <a:spcPts val="200"/>
              </a:spcAft>
              <a:buNone/>
            </a:pPr>
            <a:r>
              <a:rPr lang="en-US" sz="1500" b="1" dirty="0">
                <a:solidFill>
                  <a:srgbClr val="14453D"/>
                </a:solidFill>
              </a:rPr>
              <a:t>↓ 전개</a:t>
            </a:r>
            <a:endParaRPr lang="en-US" sz="1500" dirty="0"/>
          </a:p>
          <a:p>
            <a:pPr indent="0" marL="0">
              <a:spcAft>
                <a:spcPts val="200"/>
              </a:spcAft>
              <a:buNone/>
            </a:pPr>
            <a:r>
              <a:rPr lang="en-US" sz="1250" i="1" dirty="0">
                <a:solidFill>
                  <a:srgbClr val="1E2B2A"/>
                </a:solidFill>
              </a:rPr>
              <a:t>after · until · later</a:t>
            </a:r>
            <a:endParaRPr lang="en-US" sz="1500" dirty="0"/>
          </a:p>
          <a:p>
            <a:pPr indent="0" marL="0">
              <a:spcAft>
                <a:spcPts val="200"/>
              </a:spcAft>
              <a:buNone/>
            </a:pPr>
            <a:r>
              <a:rPr lang="en-US" sz="1500" b="1" dirty="0">
                <a:solidFill>
                  <a:srgbClr val="14453D"/>
                </a:solidFill>
              </a:rPr>
              <a:t>↓ 결말</a:t>
            </a:r>
            <a:endParaRPr lang="en-US" sz="1500" dirty="0"/>
          </a:p>
          <a:p>
            <a:pPr indent="0" marL="0">
              <a:spcAft>
                <a:spcPts val="200"/>
              </a:spcAft>
              <a:buNone/>
            </a:pPr>
            <a:r>
              <a:rPr lang="en-US" sz="1250" i="1" dirty="0">
                <a:solidFill>
                  <a:srgbClr val="1E2B2A"/>
                </a:solidFill>
              </a:rPr>
              <a:t>Finally · Eventually</a:t>
            </a:r>
            <a:endParaRPr lang="en-US" sz="1500" dirty="0"/>
          </a:p>
        </p:txBody>
      </p:sp>
      <p:sp>
        <p:nvSpPr>
          <p:cNvPr id="52" name="Text 50"/>
          <p:cNvSpPr txBox="1"/>
          <p:nvPr/>
        </p:nvSpPr>
        <p:spPr>
          <a:xfrm>
            <a:off x="9683496" y="6016752"/>
            <a:ext cx="2029968" cy="237744"/>
          </a:xfrm>
          <a:prstGeom prst="rect">
            <a:avLst/>
          </a:prstGeom>
          <a:noFill/>
          <a:ln/>
        </p:spPr>
        <p:txBody>
          <a:bodyPr wrap="square" lIns="0" tIns="0" rIns="0" bIns="0" rtlCol="0" anchor="ctr"/>
          <a:lstStyle/>
          <a:p>
            <a:pPr algn="r" indent="0" marL="0">
              <a:buNone/>
            </a:pPr>
            <a:r>
              <a:rPr lang="en-US" sz="1000" b="1" dirty="0">
                <a:solidFill>
                  <a:srgbClr val="6E7F7C"/>
                </a:solidFill>
              </a:rPr>
              <a:t>오늘 없음</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기출 해체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100" b="1" dirty="0">
                <a:solidFill>
                  <a:srgbClr val="FFFFFF"/>
                </a:solidFill>
              </a:rPr>
              <a:t>[2016년 6월 고2 학평]</a:t>
            </a:r>
            <a:endParaRPr lang="en-US" sz="1100" dirty="0"/>
          </a:p>
        </p:txBody>
      </p:sp>
      <p:sp>
        <p:nvSpPr>
          <p:cNvPr id="4" name="Shape 2"/>
          <p:cNvSpPr/>
          <p:nvPr/>
        </p:nvSpPr>
        <p:spPr>
          <a:xfrm>
            <a:off x="411480" y="621792"/>
            <a:ext cx="11384280" cy="5751576"/>
          </a:xfrm>
          <a:prstGeom prst="roundRect">
            <a:avLst>
              <a:gd name="adj" fmla="val 1590"/>
            </a:avLst>
          </a:prstGeom>
          <a:solidFill>
            <a:srgbClr val="FFFFFF"/>
          </a:solidFill>
          <a:ln w="19050">
            <a:solidFill>
              <a:srgbClr val="E6F2ED"/>
            </a:solidFill>
            <a:prstDash val="solid"/>
          </a:ln>
        </p:spPr>
      </p:sp>
      <p:sp>
        <p:nvSpPr>
          <p:cNvPr id="5" name="Text 3"/>
          <p:cNvSpPr txBox="1"/>
          <p:nvPr/>
        </p:nvSpPr>
        <p:spPr>
          <a:xfrm>
            <a:off x="594360" y="713232"/>
            <a:ext cx="11018520" cy="4069080"/>
          </a:xfrm>
          <a:prstGeom prst="rect">
            <a:avLst/>
          </a:prstGeom>
          <a:noFill/>
          <a:ln/>
        </p:spPr>
        <p:txBody>
          <a:bodyPr wrap="square" lIns="0" tIns="0" rIns="0" bIns="0" rtlCol="0" anchor="t">
            <a:normAutofit/>
          </a:bodyPr>
          <a:lstStyle/>
          <a:p>
            <a:pPr indent="0" marL="0">
              <a:lnSpc>
                <a:spcPct val="112000"/>
              </a:lnSpc>
              <a:buNone/>
            </a:pPr>
            <a:r>
              <a:rPr lang="en-US" sz="2100" dirty="0">
                <a:solidFill>
                  <a:srgbClr val="1E2B2A"/>
                </a:solidFill>
              </a:rPr>
              <a:t>You’d think that whenever more than one person makes a decision, they’d draw on collective wisdom. </a:t>
            </a:r>
            <a:pPr indent="0" marL="0">
              <a:lnSpc>
                <a:spcPct val="112000"/>
              </a:lnSpc>
              <a:buNone/>
            </a:pPr>
            <a:r>
              <a:rPr lang="en-US" sz="2100" dirty="0">
                <a:solidFill>
                  <a:srgbClr val="1E2B2A"/>
                </a:solidFill>
              </a:rPr>
              <a:t>Surely, a group of minds can do better than an individual. </a:t>
            </a:r>
            <a:pPr indent="0" marL="0">
              <a:lnSpc>
                <a:spcPct val="112000"/>
              </a:lnSpc>
              <a:buNone/>
            </a:pPr>
            <a:r>
              <a:rPr lang="en-US" sz="2100" dirty="0">
                <a:solidFill>
                  <a:srgbClr val="1E2B2A"/>
                </a:solidFill>
              </a:rPr>
              <a:t>Unfortunately, that’s not always the case. </a:t>
            </a:r>
            <a:pPr indent="0" marL="0">
              <a:lnSpc>
                <a:spcPct val="112000"/>
              </a:lnSpc>
              <a:buNone/>
            </a:pPr>
            <a:r>
              <a:rPr lang="en-US" sz="2100" dirty="0">
                <a:solidFill>
                  <a:srgbClr val="1E2B2A"/>
                </a:solidFill>
              </a:rPr>
              <a:t>The wisdom of a crowd partly relies on the fact that all judgments are independent. </a:t>
            </a:r>
            <a:pPr indent="0" marL="0">
              <a:lnSpc>
                <a:spcPct val="112000"/>
              </a:lnSpc>
              <a:buNone/>
            </a:pPr>
            <a:r>
              <a:rPr lang="en-US" sz="2100" dirty="0">
                <a:solidFill>
                  <a:srgbClr val="1E2B2A"/>
                </a:solidFill>
              </a:rPr>
              <a:t>If people guess the weight of a cow and put it on a slip of paper, or estimate the likelihood of a revolution in Pakistan and enter it into a website, the average of their views is highly accurate. </a:t>
            </a:r>
            <a:pPr indent="0" marL="0">
              <a:lnSpc>
                <a:spcPct val="112000"/>
              </a:lnSpc>
              <a:buNone/>
            </a:pPr>
            <a:r>
              <a:rPr lang="en-US" sz="2100" dirty="0">
                <a:solidFill>
                  <a:srgbClr val="1E2B2A"/>
                </a:solidFill>
              </a:rPr>
              <a:t>But, surprisingly, if those people talk about these questions in a group, the answers that they come to are increasingly incorrect. </a:t>
            </a:r>
            <a:pPr indent="0" marL="0">
              <a:lnSpc>
                <a:spcPct val="112000"/>
              </a:lnSpc>
              <a:buNone/>
            </a:pPr>
            <a:r>
              <a:rPr lang="en-US" sz="2100" dirty="0">
                <a:solidFill>
                  <a:srgbClr val="1E2B2A"/>
                </a:solidFill>
              </a:rPr>
              <a:t>More specifically, researchers have found an effect of group polarization. </a:t>
            </a:r>
            <a:pPr indent="0" marL="0">
              <a:lnSpc>
                <a:spcPct val="112000"/>
              </a:lnSpc>
              <a:buNone/>
            </a:pPr>
            <a:r>
              <a:rPr lang="en-US" sz="2100" dirty="0">
                <a:solidFill>
                  <a:srgbClr val="1E2B2A"/>
                </a:solidFill>
              </a:rPr>
              <a:t>Whatever bias people may have as individuals gets multiplied when they discuss things as a group. </a:t>
            </a:r>
            <a:pPr indent="0" marL="0">
              <a:lnSpc>
                <a:spcPct val="112000"/>
              </a:lnSpc>
              <a:buNone/>
            </a:pPr>
            <a:r>
              <a:rPr lang="en-US" sz="2100" dirty="0">
                <a:solidFill>
                  <a:srgbClr val="1E2B2A"/>
                </a:solidFill>
              </a:rPr>
              <a:t>If individuals lean slightly toward taking a risk, the group leaps toward it.</a:t>
            </a:r>
            <a:endParaRPr lang="en-US" sz="2100" dirty="0"/>
          </a:p>
          <a:p>
            <a:pPr algn="r" indent="0" marL="0">
              <a:lnSpc>
                <a:spcPct val="112000"/>
              </a:lnSpc>
              <a:buNone/>
            </a:pPr>
            <a:r>
              <a:rPr lang="en-US" sz="1100" i="1" dirty="0">
                <a:solidFill>
                  <a:srgbClr val="6E7F7C"/>
                </a:solidFill>
              </a:rPr>
              <a:t>*polarization 극단화</a:t>
            </a:r>
            <a:endParaRPr lang="en-US" sz="2100" dirty="0"/>
          </a:p>
        </p:txBody>
      </p:sp>
      <p:sp>
        <p:nvSpPr>
          <p:cNvPr id="6" name="Shape 4"/>
          <p:cNvSpPr/>
          <p:nvPr/>
        </p:nvSpPr>
        <p:spPr>
          <a:xfrm>
            <a:off x="548640" y="4864608"/>
            <a:ext cx="11109960" cy="731520"/>
          </a:xfrm>
          <a:prstGeom prst="roundRect">
            <a:avLst>
              <a:gd name="adj" fmla="val 10000"/>
            </a:avLst>
          </a:prstGeom>
          <a:solidFill>
            <a:srgbClr val="FFF8EC"/>
          </a:solidFill>
          <a:ln w="28575">
            <a:solidFill>
              <a:srgbClr val="EF5B3F"/>
            </a:solidFill>
            <a:prstDash val="solid"/>
          </a:ln>
        </p:spPr>
      </p:sp>
      <p:sp>
        <p:nvSpPr>
          <p:cNvPr id="7" name="Text 5"/>
          <p:cNvSpPr txBox="1"/>
          <p:nvPr/>
        </p:nvSpPr>
        <p:spPr>
          <a:xfrm>
            <a:off x="685800" y="4901184"/>
            <a:ext cx="10881360" cy="658368"/>
          </a:xfrm>
          <a:prstGeom prst="rect">
            <a:avLst/>
          </a:prstGeom>
          <a:noFill/>
          <a:ln/>
        </p:spPr>
        <p:txBody>
          <a:bodyPr wrap="square" lIns="0" tIns="0" rIns="0" bIns="0" rtlCol="0" anchor="ctr">
            <a:normAutofit/>
          </a:bodyPr>
          <a:lstStyle/>
          <a:p>
            <a:pPr indent="0" marL="0">
              <a:buNone/>
            </a:pPr>
            <a:r>
              <a:rPr lang="en-US" sz="1300" b="1" dirty="0">
                <a:solidFill>
                  <a:srgbClr val="EF5B3F"/>
                </a:solidFill>
              </a:rPr>
              <a:t>요약문  </a:t>
            </a:r>
            <a:pPr indent="0" marL="0">
              <a:buNone/>
            </a:pPr>
            <a:r>
              <a:rPr lang="en-US" sz="1700" b="1" dirty="0">
                <a:solidFill>
                  <a:srgbClr val="14453D"/>
                </a:solidFill>
              </a:rPr>
              <a:t>When people </a:t>
            </a:r>
            <a:pPr indent="0" marL="0">
              <a:buNone/>
            </a:pPr>
            <a:r>
              <a:rPr lang="en-US" sz="1700" b="1" dirty="0">
                <a:solidFill>
                  <a:srgbClr val="EF5B3F"/>
                </a:solidFill>
              </a:rPr>
              <a:t>(A)</a:t>
            </a:r>
            <a:pPr indent="0" marL="0">
              <a:buNone/>
            </a:pPr>
            <a:r>
              <a:rPr lang="en-US" sz="1700" b="1" dirty="0">
                <a:solidFill>
                  <a:srgbClr val="14453D"/>
                </a:solidFill>
              </a:rPr>
              <a:t> work with others, the wisdom of the crowd often turns into the </a:t>
            </a:r>
            <a:pPr indent="0" marL="0">
              <a:buNone/>
            </a:pPr>
            <a:r>
              <a:rPr lang="en-US" sz="1700" b="1" dirty="0">
                <a:solidFill>
                  <a:srgbClr val="EF5B3F"/>
                </a:solidFill>
              </a:rPr>
              <a:t>(B)</a:t>
            </a:r>
            <a:pPr indent="0" marL="0">
              <a:buNone/>
            </a:pPr>
            <a:r>
              <a:rPr lang="en-US" sz="1700" b="1" dirty="0">
                <a:solidFill>
                  <a:srgbClr val="14453D"/>
                </a:solidFill>
              </a:rPr>
              <a:t> of the group.</a:t>
            </a:r>
            <a:endParaRPr lang="en-US" sz="1700" dirty="0"/>
          </a:p>
        </p:txBody>
      </p:sp>
      <p:sp>
        <p:nvSpPr>
          <p:cNvPr id="8" name="Text 6"/>
          <p:cNvSpPr txBox="1"/>
          <p:nvPr/>
        </p:nvSpPr>
        <p:spPr>
          <a:xfrm>
            <a:off x="594360" y="5669280"/>
            <a:ext cx="6949440" cy="594360"/>
          </a:xfrm>
          <a:prstGeom prst="rect">
            <a:avLst/>
          </a:prstGeom>
          <a:noFill/>
          <a:ln/>
        </p:spPr>
        <p:txBody>
          <a:bodyPr wrap="square" lIns="0" tIns="0" rIns="0" bIns="0" rtlCol="0" anchor="ctr">
            <a:normAutofit/>
          </a:bodyPr>
          <a:lstStyle/>
          <a:p>
            <a:pPr indent="0" marL="0">
              <a:buNone/>
            </a:pPr>
            <a:r>
              <a:rPr lang="en-US" sz="1400" dirty="0">
                <a:solidFill>
                  <a:srgbClr val="6E7F7C"/>
                </a:solidFill>
              </a:rPr>
              <a:t>① dependently – stupidity     ② dependently – superiority     ③ independently – selfishness     ④ independently – morality     ⑤ accidentally – prejudice</a:t>
            </a:r>
            <a:endParaRPr lang="en-US" sz="1400" dirty="0"/>
          </a:p>
        </p:txBody>
      </p:sp>
      <p:sp>
        <p:nvSpPr>
          <p:cNvPr id="9" name="ANIM_pre"/>
          <p:cNvSpPr txBox="1"/>
          <p:nvPr/>
        </p:nvSpPr>
        <p:spPr>
          <a:xfrm>
            <a:off x="7680960" y="5760720"/>
            <a:ext cx="3931920" cy="457200"/>
          </a:xfrm>
          <a:prstGeom prst="rect">
            <a:avLst/>
          </a:prstGeom>
          <a:solidFill>
            <a:srgbClr val="A9DDF3"/>
          </a:solidFill>
          <a:ln/>
        </p:spPr>
        <p:txBody>
          <a:bodyPr wrap="square" lIns="0" tIns="0" rIns="0" bIns="0" rtlCol="0" anchor="ctr"/>
          <a:lstStyle/>
          <a:p>
            <a:pPr algn="ctr" indent="0" marL="0">
              <a:buNone/>
            </a:pPr>
            <a:r>
              <a:rPr lang="en-US" sz="1700" b="1" dirty="0">
                <a:solidFill>
                  <a:srgbClr val="14453D"/>
                </a:solidFill>
              </a:rPr>
              <a:t>정답 ① dependently – stupidity</a:t>
            </a:r>
            <a:endParaRPr lang="en-US" sz="1700" dirty="0"/>
          </a:p>
        </p:txBody>
      </p:sp>
      <p:sp>
        <p:nvSpPr>
          <p:cNvPr id="1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Just as their ancestors </a:t>
            </a:r>
            <a:pPr indent="0" marL="0">
              <a:buNone/>
            </a:pPr>
            <a:r>
              <a:rPr lang="en-US" sz="2000" b="1" dirty="0">
                <a:solidFill>
                  <a:srgbClr val="EF5B3F"/>
                </a:solidFill>
              </a:rPr>
              <a:t>[did / were]</a:t>
            </a:r>
            <a:pPr indent="0" marL="0">
              <a:buNone/>
            </a:pPr>
            <a:r>
              <a:rPr lang="en-US" sz="2000" dirty="0">
                <a:solidFill>
                  <a:srgbClr val="1E2B2A"/>
                </a:solidFill>
              </a:rPr>
              <a:t>, they obtain their staple foods.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did</a:t>
            </a:r>
            <a:endParaRPr lang="en-US" sz="1800" dirty="0"/>
          </a:p>
          <a:p>
            <a:pPr algn="ctr" indent="0" marL="0">
              <a:buNone/>
            </a:pPr>
            <a:r>
              <a:rPr lang="en-US" sz="1200" dirty="0">
                <a:solidFill>
                  <a:srgbClr val="1E2B2A"/>
                </a:solidFill>
              </a:rPr>
              <a:t>대동사 did = obtained</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…heritage that makes them </a:t>
            </a:r>
            <a:pPr indent="0" marL="0">
              <a:buNone/>
            </a:pPr>
            <a:r>
              <a:rPr lang="en-US" sz="2000" b="1" dirty="0">
                <a:solidFill>
                  <a:srgbClr val="EF5B3F"/>
                </a:solidFill>
              </a:rPr>
              <a:t>[who / what]</a:t>
            </a:r>
            <a:pPr indent="0" marL="0">
              <a:buNone/>
            </a:pPr>
            <a:r>
              <a:rPr lang="en-US" sz="2000" dirty="0">
                <a:solidFill>
                  <a:srgbClr val="1E2B2A"/>
                </a:solidFill>
              </a:rPr>
              <a:t> they are.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who</a:t>
            </a:r>
            <a:endParaRPr lang="en-US" sz="1800" dirty="0"/>
          </a:p>
          <a:p>
            <a:pPr algn="ctr" indent="0" marL="0">
              <a:buNone/>
            </a:pPr>
            <a:r>
              <a:rPr lang="en-US" sz="1200" dirty="0">
                <a:solidFill>
                  <a:srgbClr val="1E2B2A"/>
                </a:solidFill>
              </a:rPr>
              <a:t>make O C: 그들을 그들답게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92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urban</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도시의</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preserve</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보존하다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vast</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광활한</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ancestors</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조상</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staple</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주된</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dairy</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유제품의</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heritage</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유산</a:t>
            </a:r>
            <a:endParaRPr lang="en-US" sz="1400" dirty="0"/>
          </a:p>
        </p:txBody>
      </p:sp>
      <p:sp>
        <p:nvSpPr>
          <p:cNvPr id="20" name="Text 18"/>
          <p:cNvSpPr txBox="1"/>
          <p:nvPr/>
        </p:nvSpPr>
        <p:spPr>
          <a:xfrm>
            <a:off x="594360" y="694944"/>
            <a:ext cx="11018520" cy="2930082"/>
          </a:xfrm>
          <a:prstGeom prst="rect">
            <a:avLst/>
          </a:prstGeom>
          <a:noFill/>
          <a:ln/>
        </p:spPr>
        <p:txBody>
          <a:bodyPr wrap="square" lIns="0" tIns="0" rIns="0" bIns="0" rtlCol="0" anchor="t">
            <a:normAutofit/>
          </a:bodyPr>
          <a:lstStyle/>
          <a:p>
            <a:pPr indent="0" marL="0">
              <a:lnSpc>
                <a:spcPct val="118000"/>
              </a:lnSpc>
              <a:buNone/>
            </a:pPr>
            <a:r>
              <a:rPr lang="en-US" sz="1450" b="1" dirty="0">
                <a:solidFill>
                  <a:srgbClr val="1F7A64"/>
                </a:solidFill>
              </a:rPr>
              <a:t>(1) </a:t>
            </a:r>
            <a:pPr indent="0" marL="0">
              <a:lnSpc>
                <a:spcPct val="118000"/>
              </a:lnSpc>
              <a:buNone/>
            </a:pPr>
            <a:r>
              <a:rPr lang="en-US" sz="1850" dirty="0">
                <a:solidFill>
                  <a:srgbClr val="1E2B2A"/>
                </a:solidFill>
              </a:rPr>
              <a:t>While the majority of the world's population is now found in urban areas, hundreds of thousands of Mongolians </a:t>
            </a:r>
            <a:pPr indent="0" marL="0">
              <a:lnSpc>
                <a:spcPct val="118000"/>
              </a:lnSpc>
              <a:buNone/>
            </a:pPr>
            <a:r>
              <a:rPr lang="en-US" sz="1850" b="1" dirty="0">
                <a:solidFill>
                  <a:srgbClr val="1E2B2A"/>
                </a:solidFill>
                <a:highlight>
                  <a:srgbClr val="FFD45C"/>
                </a:highlight>
              </a:rPr>
              <a:t>continue to preserve</a:t>
            </a:r>
            <a:pPr indent="0" marL="0">
              <a:lnSpc>
                <a:spcPct val="118000"/>
              </a:lnSpc>
              <a:buNone/>
            </a:pPr>
            <a:r>
              <a:rPr lang="en-US" sz="1850" dirty="0">
                <a:solidFill>
                  <a:srgbClr val="1E2B2A"/>
                </a:solidFill>
              </a:rPr>
              <a:t> (a) </a:t>
            </a:r>
            <a:pPr indent="0" marL="0">
              <a:lnSpc>
                <a:spcPct val="118000"/>
              </a:lnSpc>
              <a:buNone/>
            </a:pPr>
            <a:r>
              <a:rPr lang="en-US" sz="1850" b="1" u="sng" dirty="0">
                <a:solidFill>
                  <a:srgbClr val="1E2B2A"/>
                </a:solidFill>
              </a:rPr>
              <a:t>a way of life</a:t>
            </a:r>
            <a:pPr indent="0" marL="0">
              <a:lnSpc>
                <a:spcPct val="118000"/>
              </a:lnSpc>
              <a:buNone/>
            </a:pPr>
            <a:r>
              <a:rPr lang="en-US" sz="1850" dirty="0">
                <a:solidFill>
                  <a:srgbClr val="1E2B2A"/>
                </a:solidFill>
              </a:rPr>
              <a:t> </a:t>
            </a:r>
            <a:pPr indent="0" marL="0">
              <a:lnSpc>
                <a:spcPct val="118000"/>
              </a:lnSpc>
              <a:buNone/>
            </a:pPr>
            <a:r>
              <a:rPr lang="en-US" sz="1850" b="1" dirty="0">
                <a:solidFill>
                  <a:srgbClr val="14453D"/>
                </a:solidFill>
                <a:highlight>
                  <a:srgbClr val="A9DDF3"/>
                </a:highlight>
              </a:rPr>
              <a:t>that goes back at least a thousand years</a:t>
            </a:r>
            <a:pPr indent="0" marL="0">
              <a:lnSpc>
                <a:spcPct val="118000"/>
              </a:lnSpc>
              <a:buNone/>
            </a:pPr>
            <a:r>
              <a:rPr lang="en-US" sz="1850" dirty="0">
                <a:solidFill>
                  <a:srgbClr val="1E2B2A"/>
                </a:solidFill>
              </a:rPr>
              <a: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(2) </a:t>
            </a:r>
            <a:pPr indent="0" marL="0">
              <a:lnSpc>
                <a:spcPct val="118000"/>
              </a:lnSpc>
              <a:buNone/>
            </a:pPr>
            <a:r>
              <a:rPr lang="en-US" sz="1850" dirty="0">
                <a:solidFill>
                  <a:srgbClr val="1E2B2A"/>
                </a:solidFill>
              </a:rPr>
              <a:t>Mongolians have led a nomadic life across the vast plains that share borders with China and Russia.</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(3) </a:t>
            </a:r>
            <a:pPr indent="0" marL="0">
              <a:lnSpc>
                <a:spcPct val="118000"/>
              </a:lnSpc>
              <a:buNone/>
            </a:pPr>
            <a:r>
              <a:rPr lang="en-US" sz="1850" b="1" dirty="0">
                <a:solidFill>
                  <a:srgbClr val="14453D"/>
                </a:solidFill>
                <a:highlight>
                  <a:srgbClr val="A9DDF3"/>
                </a:highlight>
              </a:rPr>
              <a:t>Just as their ancestors did</a:t>
            </a:r>
            <a:pPr indent="0" marL="0">
              <a:lnSpc>
                <a:spcPct val="118000"/>
              </a:lnSpc>
              <a:buNone/>
            </a:pPr>
            <a:r>
              <a:rPr lang="en-US" sz="1850" dirty="0">
                <a:solidFill>
                  <a:srgbClr val="1E2B2A"/>
                </a:solidFill>
              </a:rPr>
              <a:t>, they obtain their staple foods, dairy products and meat, from the animals they raise on the plains.</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(4) </a:t>
            </a:r>
            <a:pPr indent="0" marL="0">
              <a:lnSpc>
                <a:spcPct val="118000"/>
              </a:lnSpc>
              <a:buNone/>
            </a:pPr>
            <a:r>
              <a:rPr lang="en-US" sz="1850" dirty="0">
                <a:solidFill>
                  <a:srgbClr val="1E2B2A"/>
                </a:solidFill>
              </a:rPr>
              <a:t>Mongolians also </a:t>
            </a:r>
            <a:pPr indent="0" marL="0">
              <a:lnSpc>
                <a:spcPct val="118000"/>
              </a:lnSpc>
              <a:buNone/>
            </a:pPr>
            <a:r>
              <a:rPr lang="en-US" sz="1850" b="1" dirty="0">
                <a:solidFill>
                  <a:srgbClr val="1E2B2A"/>
                </a:solidFill>
                <a:highlight>
                  <a:srgbClr val="FFD45C"/>
                </a:highlight>
              </a:rPr>
              <a:t>continue the tradition</a:t>
            </a:r>
            <a:pPr indent="0" marL="0">
              <a:lnSpc>
                <a:spcPct val="118000"/>
              </a:lnSpc>
              <a:buNone/>
            </a:pPr>
            <a:r>
              <a:rPr lang="en-US" sz="1850" dirty="0">
                <a:solidFill>
                  <a:srgbClr val="1E2B2A"/>
                </a:solidFill>
              </a:rPr>
              <a:t> of learning to master horse riding</a:t>
            </a:r>
            <a:pPr indent="0" marL="0">
              <a:lnSpc>
                <a:spcPct val="118000"/>
              </a:lnSpc>
              <a:buNone/>
            </a:pPr>
            <a:r>
              <a:rPr lang="en-US" sz="1850" b="1" dirty="0">
                <a:solidFill>
                  <a:srgbClr val="14453D"/>
                </a:solidFill>
                <a:highlight>
                  <a:srgbClr val="A9DDF3"/>
                </a:highlight>
              </a:rPr>
              <a:t>, which is an essential skill to guard and manage</a:t>
            </a:r>
            <a:pPr indent="0" marL="0">
              <a:lnSpc>
                <a:spcPct val="118000"/>
              </a:lnSpc>
              <a:buNone/>
            </a:pPr>
            <a:r>
              <a:rPr lang="en-US" sz="1850" dirty="0">
                <a:solidFill>
                  <a:srgbClr val="1E2B2A"/>
                </a:solidFill>
              </a:rPr>
              <a:t> their herds.</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(5) </a:t>
            </a:r>
            <a:pPr indent="0" marL="0">
              <a:lnSpc>
                <a:spcPct val="118000"/>
              </a:lnSpc>
              <a:buNone/>
            </a:pPr>
            <a:r>
              <a:rPr lang="en-US" sz="1850" dirty="0">
                <a:solidFill>
                  <a:srgbClr val="1E2B2A"/>
                </a:solidFill>
              </a:rPr>
              <a:t>Although nowadays some choose to use a (b) </a:t>
            </a:r>
            <a:pPr indent="0" marL="0">
              <a:lnSpc>
                <a:spcPct val="118000"/>
              </a:lnSpc>
              <a:buNone/>
            </a:pPr>
            <a:r>
              <a:rPr lang="en-US" sz="1850" b="1" u="sng" dirty="0">
                <a:solidFill>
                  <a:srgbClr val="1E2B2A"/>
                </a:solidFill>
              </a:rPr>
              <a:t>motorbike</a:t>
            </a:r>
            <a:pPr indent="0" marL="0">
              <a:lnSpc>
                <a:spcPct val="118000"/>
              </a:lnSpc>
              <a:buNone/>
            </a:pPr>
            <a:r>
              <a:rPr lang="en-US" sz="1850" dirty="0">
                <a:solidFill>
                  <a:srgbClr val="1E2B2A"/>
                </a:solidFill>
              </a:rPr>
              <a:t> instead, most Mongolians </a:t>
            </a:r>
            <a:pPr indent="0" marL="0">
              <a:lnSpc>
                <a:spcPct val="118000"/>
              </a:lnSpc>
              <a:buNone/>
            </a:pPr>
            <a:r>
              <a:rPr lang="en-US" sz="1850" b="1" dirty="0">
                <a:solidFill>
                  <a:srgbClr val="1E2B2A"/>
                </a:solidFill>
                <a:highlight>
                  <a:srgbClr val="FFD45C"/>
                </a:highlight>
              </a:rPr>
              <a:t>still </a:t>
            </a:r>
            <a:pPr indent="0" marL="0">
              <a:lnSpc>
                <a:spcPct val="118000"/>
              </a:lnSpc>
              <a:buNone/>
            </a:pPr>
            <a:r>
              <a:rPr lang="en-US" sz="1850" b="1" u="sng" dirty="0">
                <a:solidFill>
                  <a:srgbClr val="1E2B2A"/>
                </a:solidFill>
                <a:highlight>
                  <a:srgbClr val="FFD45C"/>
                </a:highlight>
                <a:uFill>
                  <a:solidFill>
                    <a:srgbClr val="2C7DA0"/>
                  </a:solidFill>
                </a:uFill>
              </a:rPr>
              <a:t>regard</a:t>
            </a:r>
            <a:pPr indent="0" marL="0">
              <a:lnSpc>
                <a:spcPct val="118000"/>
              </a:lnSpc>
              <a:buNone/>
            </a:pPr>
            <a:r>
              <a:rPr lang="en-US" sz="1850" b="1" dirty="0">
                <a:solidFill>
                  <a:srgbClr val="14453D"/>
                </a:solidFill>
                <a:highlight>
                  <a:srgbClr val="A9DDF3"/>
                </a:highlight>
              </a:rPr>
              <a:t> horse riding, along with the life on the plains, as</a:t>
            </a:r>
            <a:pPr indent="0" marL="0">
              <a:lnSpc>
                <a:spcPct val="118000"/>
              </a:lnSpc>
              <a:buNone/>
            </a:pPr>
            <a:r>
              <a:rPr lang="en-US" sz="1850" dirty="0">
                <a:solidFill>
                  <a:srgbClr val="1E2B2A"/>
                </a:solidFill>
              </a:rPr>
              <a:t> irreplaceable heritage that </a:t>
            </a:r>
            <a:pPr indent="0" marL="0">
              <a:lnSpc>
                <a:spcPct val="118000"/>
              </a:lnSpc>
              <a:buNone/>
            </a:pPr>
            <a:r>
              <a:rPr lang="en-US" sz="1850" b="1" u="sng" dirty="0">
                <a:solidFill>
                  <a:srgbClr val="1E2B2A"/>
                </a:solidFill>
                <a:highlight>
                  <a:srgbClr val="FFD45C"/>
                </a:highlight>
                <a:uFill>
                  <a:solidFill>
                    <a:srgbClr val="2C7DA0"/>
                  </a:solidFill>
                </a:uFill>
              </a:rPr>
              <a:t>makes them who they are</a:t>
            </a:r>
            <a:pPr indent="0" marL="0">
              <a:lnSpc>
                <a:spcPct val="118000"/>
              </a:lnSpc>
              <a:buNone/>
            </a:pPr>
            <a:r>
              <a:rPr lang="en-US" sz="1850" dirty="0">
                <a:solidFill>
                  <a:srgbClr val="1E2B2A"/>
                </a:solidFill>
              </a:rPr>
              <a:t>.</a:t>
            </a:r>
            <a:endParaRPr lang="en-US" sz="1450" dirty="0"/>
          </a:p>
        </p:txBody>
      </p:sp>
      <p:sp>
        <p:nvSpPr>
          <p:cNvPr id="21" name="Shape 19"/>
          <p:cNvSpPr/>
          <p:nvPr/>
        </p:nvSpPr>
        <p:spPr>
          <a:xfrm>
            <a:off x="548640" y="3679890"/>
            <a:ext cx="11109960" cy="866546"/>
          </a:xfrm>
          <a:prstGeom prst="roundRect">
            <a:avLst>
              <a:gd name="adj" fmla="val 8442"/>
            </a:avLst>
          </a:prstGeom>
          <a:solidFill>
            <a:srgbClr val="FFF8EC"/>
          </a:solidFill>
          <a:ln w="28575">
            <a:solidFill>
              <a:srgbClr val="EF5B3F"/>
            </a:solidFill>
            <a:prstDash val="solid"/>
          </a:ln>
        </p:spPr>
      </p:sp>
      <p:sp>
        <p:nvSpPr>
          <p:cNvPr id="22" name="Text 20"/>
          <p:cNvSpPr txBox="1"/>
          <p:nvPr/>
        </p:nvSpPr>
        <p:spPr>
          <a:xfrm>
            <a:off x="685800" y="3716466"/>
            <a:ext cx="10881360" cy="793394"/>
          </a:xfrm>
          <a:prstGeom prst="rect">
            <a:avLst/>
          </a:prstGeom>
          <a:noFill/>
          <a:ln/>
        </p:spPr>
        <p:txBody>
          <a:bodyPr wrap="square" lIns="0" tIns="0" rIns="0" bIns="0" rtlCol="0" anchor="ctr">
            <a:normAutofit/>
          </a:bodyPr>
          <a:lstStyle/>
          <a:p>
            <a:pPr indent="0" marL="0">
              <a:lnSpc>
                <a:spcPct val="115000"/>
              </a:lnSpc>
              <a:buNone/>
            </a:pPr>
            <a:r>
              <a:rPr lang="en-US" sz="1250" b="1" dirty="0">
                <a:solidFill>
                  <a:srgbClr val="EF5B3F"/>
                </a:solidFill>
              </a:rPr>
              <a:t>요약문  </a:t>
            </a:r>
            <a:pPr indent="0" marL="0">
              <a:lnSpc>
                <a:spcPct val="115000"/>
              </a:lnSpc>
              <a:buNone/>
            </a:pPr>
            <a:r>
              <a:rPr lang="en-US" sz="1850" b="1" dirty="0">
                <a:solidFill>
                  <a:srgbClr val="14453D"/>
                </a:solidFill>
              </a:rPr>
              <a:t>Many Mongolians </a:t>
            </a:r>
            <a:pPr indent="0" marL="0">
              <a:lnSpc>
                <a:spcPct val="115000"/>
              </a:lnSpc>
              <a:buNone/>
            </a:pPr>
            <a:r>
              <a:rPr lang="en-US" sz="1850" b="1" dirty="0">
                <a:solidFill>
                  <a:srgbClr val="EF5B3F"/>
                </a:solidFill>
              </a:rPr>
              <a:t>(A)</a:t>
            </a:r>
            <a:pPr indent="0" marL="0">
              <a:lnSpc>
                <a:spcPct val="115000"/>
              </a:lnSpc>
              <a:buNone/>
            </a:pPr>
            <a:r>
              <a:rPr lang="en-US" sz="1850" b="1" dirty="0">
                <a:solidFill>
                  <a:srgbClr val="14453D"/>
                </a:solidFill>
              </a:rPr>
              <a:t> their nomadic lifestyle because they believe their old traditions are essential to their cultural </a:t>
            </a:r>
            <a:pPr indent="0" marL="0">
              <a:lnSpc>
                <a:spcPct val="115000"/>
              </a:lnSpc>
              <a:buNone/>
            </a:pPr>
            <a:r>
              <a:rPr lang="en-US" sz="1850" b="1" dirty="0">
                <a:solidFill>
                  <a:srgbClr val="EF5B3F"/>
                </a:solidFill>
              </a:rPr>
              <a:t>(B)</a:t>
            </a:r>
            <a:pPr indent="0" marL="0">
              <a:lnSpc>
                <a:spcPct val="115000"/>
              </a:lnSpc>
              <a:buNone/>
            </a:pPr>
            <a:r>
              <a:rPr lang="en-US" sz="1850" b="1" dirty="0">
                <a:solidFill>
                  <a:srgbClr val="14453D"/>
                </a:solidFill>
              </a:rPr>
              <a:t>.</a:t>
            </a:r>
            <a:endParaRPr lang="en-US" sz="1250" dirty="0"/>
          </a:p>
        </p:txBody>
      </p:sp>
      <p:sp>
        <p:nvSpPr>
          <p:cNvPr id="23" name="Text 21"/>
          <p:cNvSpPr txBox="1"/>
          <p:nvPr/>
        </p:nvSpPr>
        <p:spPr>
          <a:xfrm>
            <a:off x="594360" y="4619588"/>
            <a:ext cx="11018520" cy="665644"/>
          </a:xfrm>
          <a:prstGeom prst="rect">
            <a:avLst/>
          </a:prstGeom>
          <a:noFill/>
          <a:ln/>
        </p:spPr>
        <p:txBody>
          <a:bodyPr wrap="square" lIns="0" tIns="0" rIns="0" bIns="0" rtlCol="0" anchor="t">
            <a:normAutofit/>
          </a:bodyPr>
          <a:lstStyle/>
          <a:p>
            <a:pPr indent="0" marL="0">
              <a:buNone/>
            </a:pPr>
            <a:r>
              <a:rPr lang="en-US" sz="1550" dirty="0">
                <a:solidFill>
                  <a:srgbClr val="6E7F7C"/>
                </a:solidFill>
              </a:rPr>
              <a:t>① abandon – diversity</a:t>
            </a:r>
            <a:pPr indent="0" marL="0">
              <a:buNone/>
            </a:pPr>
            <a:r>
              <a:rPr lang="en-US" sz="1550" dirty="0">
                <a:solidFill>
                  <a:srgbClr val="000000"/>
                </a:solidFill>
              </a:rPr>
              <a:t>     </a:t>
            </a:r>
            <a:pPr indent="0" marL="0">
              <a:buNone/>
            </a:pPr>
            <a:r>
              <a:rPr lang="en-US" sz="1550" dirty="0">
                <a:solidFill>
                  <a:srgbClr val="6E7F7C"/>
                </a:solidFill>
              </a:rPr>
              <a:t>② maintain – diversity</a:t>
            </a:r>
            <a:pPr indent="0" marL="0">
              <a:buNone/>
            </a:pPr>
            <a:r>
              <a:rPr lang="en-US" sz="1550" dirty="0">
                <a:solidFill>
                  <a:srgbClr val="000000"/>
                </a:solidFill>
              </a:rPr>
              <a:t>     </a:t>
            </a:r>
            <a:pPr indent="0" marL="0">
              <a:buNone/>
            </a:pPr>
            <a:r>
              <a:rPr lang="en-US" sz="1550" b="1" dirty="0">
                <a:solidFill>
                  <a:srgbClr val="EF5B3F"/>
                </a:solidFill>
              </a:rPr>
              <a:t>③ maintain – identity</a:t>
            </a:r>
            <a:pPr indent="0" marL="0">
              <a:buNone/>
            </a:pPr>
            <a:r>
              <a:rPr lang="en-US" sz="1350" b="1" dirty="0">
                <a:solidFill>
                  <a:srgbClr val="EF5B3F"/>
                </a:solidFill>
              </a:rPr>
              <a:t> ✔</a:t>
            </a:r>
            <a:pPr indent="0" marL="0">
              <a:buNone/>
            </a:pPr>
            <a:r>
              <a:rPr lang="en-US" sz="1550" dirty="0">
                <a:solidFill>
                  <a:srgbClr val="000000"/>
                </a:solidFill>
              </a:rPr>
              <a:t>     </a:t>
            </a:r>
            <a:pPr indent="0" marL="0">
              <a:buNone/>
            </a:pPr>
            <a:r>
              <a:rPr lang="en-US" sz="1550" dirty="0">
                <a:solidFill>
                  <a:srgbClr val="6E7F7C"/>
                </a:solidFill>
              </a:rPr>
              <a:t>④ reform – identity</a:t>
            </a:r>
            <a:pPr indent="0" marL="0">
              <a:buNone/>
            </a:pPr>
            <a:r>
              <a:rPr lang="en-US" sz="1550" dirty="0">
                <a:solidFill>
                  <a:srgbClr val="000000"/>
                </a:solidFill>
              </a:rPr>
              <a:t>     </a:t>
            </a:r>
            <a:pPr indent="0" marL="0">
              <a:buNone/>
            </a:pPr>
            <a:r>
              <a:rPr lang="en-US" sz="1550" dirty="0">
                <a:solidFill>
                  <a:srgbClr val="6E7F7C"/>
                </a:solidFill>
              </a:rPr>
              <a:t>⑤ reform – complexity</a:t>
            </a:r>
            <a:endParaRPr lang="en-US" sz="15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04 설명1 – 설명2 – 요약</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도시화된 세상에서도 몽골인들은 천 년 된 생활 방식을 '보존'한다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①</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평야에서 유목 생활 · 기르는 동물에서 유제품·고기를 얻음</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②</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가축 관리에 필수인 승마 전통을 '계속' 이어 감</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승마 + 평야의 삶 = '자신들을 자신들답게 만드는' 유산 → 정체성</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요약문은 본문 단어를 '다른 말'로 바꾼다: continue to preserve → maintain</a:t>
            </a:r>
            <a:endParaRPr lang="en-US" sz="1500" dirty="0"/>
          </a:p>
          <a:p>
            <a:pPr marL="342900" indent="-342900">
              <a:spcAft>
                <a:spcPts val="600"/>
              </a:spcAft>
              <a:buSzPct val="100000"/>
              <a:buChar char="✔"/>
            </a:pPr>
            <a:r>
              <a:rPr lang="en-US" sz="1500" dirty="0">
                <a:solidFill>
                  <a:srgbClr val="1E2B2A"/>
                </a:solidFill>
              </a:rPr>
              <a:t>who they are = identity (정체성)</a:t>
            </a:r>
            <a:endParaRPr lang="en-US" sz="1500" dirty="0"/>
          </a:p>
          <a:p>
            <a:pPr marL="342900" indent="-342900">
              <a:spcAft>
                <a:spcPts val="600"/>
              </a:spcAft>
              <a:buSzPct val="100000"/>
              <a:buChar char="✔"/>
            </a:pPr>
            <a:r>
              <a:rPr lang="en-US" sz="1500" dirty="0">
                <a:solidFill>
                  <a:srgbClr val="1E2B2A"/>
                </a:solidFill>
              </a:rPr>
              <a:t>regard A as B: A를 B로 여기다</a:t>
            </a:r>
            <a:endParaRPr lang="en-US" sz="1500" dirty="0"/>
          </a:p>
          <a:p>
            <a:pPr marL="342900" indent="-342900">
              <a:spcAft>
                <a:spcPts val="600"/>
              </a:spcAft>
              <a:buSzPct val="100000"/>
              <a:buChar char="✔"/>
            </a:pPr>
            <a:r>
              <a:rPr lang="en-US" sz="1500" dirty="0">
                <a:solidFill>
                  <a:srgbClr val="1E2B2A"/>
                </a:solidFill>
              </a:rPr>
              <a:t>어휘: preserve · heritage · nomadic</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 A as B  </a:t>
            </a:r>
            <a:pPr indent="0" marL="0">
              <a:spcAft>
                <a:spcPts val="500"/>
              </a:spcAft>
              <a:buNone/>
            </a:pPr>
            <a:r>
              <a:rPr lang="en-US" sz="1300" dirty="0">
                <a:solidFill>
                  <a:srgbClr val="1E2B2A"/>
                </a:solidFill>
              </a:rPr>
              <a:t>≒ think of A as B, look upon A as B, see / view A as B, consider A (to be) B</a:t>
            </a:r>
            <a:endParaRPr lang="en-US" sz="1300" dirty="0"/>
          </a:p>
          <a:p>
            <a:pPr indent="0" marL="0">
              <a:spcAft>
                <a:spcPts val="500"/>
              </a:spcAft>
              <a:buNone/>
            </a:pPr>
            <a:r>
              <a:rPr lang="en-US" sz="1300" b="1" dirty="0">
                <a:solidFill>
                  <a:srgbClr val="1F7A64"/>
                </a:solidFill>
              </a:rPr>
              <a:t>preserve  </a:t>
            </a:r>
            <a:pPr indent="0" marL="0">
              <a:spcAft>
                <a:spcPts val="500"/>
              </a:spcAft>
              <a:buNone/>
            </a:pPr>
            <a:r>
              <a:rPr lang="en-US" sz="1300" dirty="0">
                <a:solidFill>
                  <a:srgbClr val="1E2B2A"/>
                </a:solidFill>
              </a:rPr>
              <a:t>≒ conserve, maintain, keep ↔ destroy, abandon ⊕ preservation</a:t>
            </a:r>
            <a:endParaRPr lang="en-US" sz="1300" dirty="0"/>
          </a:p>
          <a:p>
            <a:pPr indent="0" marL="0">
              <a:spcAft>
                <a:spcPts val="500"/>
              </a:spcAft>
              <a:buNone/>
            </a:pPr>
            <a:r>
              <a:rPr lang="en-US" sz="1300" b="1" dirty="0">
                <a:solidFill>
                  <a:srgbClr val="1F7A64"/>
                </a:solidFill>
              </a:rPr>
              <a:t>heritage  </a:t>
            </a:r>
            <a:pPr indent="0" marL="0">
              <a:spcAft>
                <a:spcPts val="500"/>
              </a:spcAft>
              <a:buNone/>
            </a:pPr>
            <a:r>
              <a:rPr lang="en-US" sz="1300" dirty="0">
                <a:solidFill>
                  <a:srgbClr val="1E2B2A"/>
                </a:solidFill>
              </a:rPr>
              <a:t>≒ legacy, tradition, inheritance</a:t>
            </a:r>
            <a:endParaRPr lang="en-US" sz="1300" dirty="0"/>
          </a:p>
          <a:p>
            <a:pPr indent="0" marL="0">
              <a:spcAft>
                <a:spcPts val="500"/>
              </a:spcAft>
              <a:buNone/>
            </a:pPr>
            <a:r>
              <a:rPr lang="en-US" sz="1300" b="1" dirty="0">
                <a:solidFill>
                  <a:srgbClr val="1F7A64"/>
                </a:solidFill>
              </a:rPr>
              <a:t>vast  </a:t>
            </a:r>
            <a:pPr indent="0" marL="0">
              <a:spcAft>
                <a:spcPts val="500"/>
              </a:spcAft>
              <a:buNone/>
            </a:pPr>
            <a:r>
              <a:rPr lang="en-US" sz="1300" dirty="0">
                <a:solidFill>
                  <a:srgbClr val="1E2B2A"/>
                </a:solidFill>
              </a:rPr>
              <a:t>≒ huge, immense ↔ tiny</a:t>
            </a:r>
            <a:endParaRPr lang="en-US" sz="1300" dirty="0"/>
          </a:p>
          <a:p>
            <a:pPr indent="0" marL="0">
              <a:spcAft>
                <a:spcPts val="500"/>
              </a:spcAft>
              <a:buNone/>
            </a:pPr>
            <a:r>
              <a:rPr lang="en-US" sz="1300" b="1" dirty="0">
                <a:solidFill>
                  <a:srgbClr val="1F7A64"/>
                </a:solidFill>
              </a:rPr>
              <a:t>essential  </a:t>
            </a:r>
            <a:pPr indent="0" marL="0">
              <a:spcAft>
                <a:spcPts val="500"/>
              </a:spcAft>
              <a:buNone/>
            </a:pPr>
            <a:r>
              <a:rPr lang="en-US" sz="1300" dirty="0">
                <a:solidFill>
                  <a:srgbClr val="1E2B2A"/>
                </a:solidFill>
              </a:rPr>
              <a:t>≒ vital, crucial, indispensable ↔ unnecessary ⊕ essence</a:t>
            </a:r>
            <a:endParaRPr lang="en-US" sz="1300" dirty="0"/>
          </a:p>
          <a:p>
            <a:pPr indent="0" marL="0">
              <a:spcAft>
                <a:spcPts val="500"/>
              </a:spcAft>
              <a:buNone/>
            </a:pPr>
            <a:r>
              <a:rPr lang="en-US" sz="1300" b="1" dirty="0">
                <a:solidFill>
                  <a:srgbClr val="1F7A64"/>
                </a:solidFill>
              </a:rPr>
              <a:t>irreplaceable  </a:t>
            </a:r>
            <a:pPr indent="0" marL="0">
              <a:spcAft>
                <a:spcPts val="500"/>
              </a:spcAft>
              <a:buNone/>
            </a:pPr>
            <a:r>
              <a:rPr lang="en-US" sz="1300" dirty="0">
                <a:solidFill>
                  <a:srgbClr val="1E2B2A"/>
                </a:solidFill>
              </a:rPr>
              <a:t>↔ replaceable ⊕ replace, replacement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896112"/>
          </a:xfrm>
          <a:prstGeom prst="roundRect">
            <a:avLst>
              <a:gd name="adj" fmla="val 816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a way of life가 뜻하는 바를 우리말로 쓰시오.</a:t>
            </a:r>
            <a:endParaRPr lang="en-US" sz="1700" dirty="0"/>
          </a:p>
        </p:txBody>
      </p:sp>
      <p:sp>
        <p:nvSpPr>
          <p:cNvPr id="8" name="ANIM_x0"/>
          <p:cNvSpPr txBox="1"/>
          <p:nvPr/>
        </p:nvSpPr>
        <p:spPr>
          <a:xfrm>
            <a:off x="1188720" y="207568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광활한 평야에서 유목 생활을 하는 것, 승마를 숙달하는 것을 배우는 것</a:t>
            </a:r>
            <a:endParaRPr lang="en-US" sz="1400" dirty="0"/>
          </a:p>
        </p:txBody>
      </p:sp>
      <p:sp>
        <p:nvSpPr>
          <p:cNvPr id="9" name="Shape 7"/>
          <p:cNvSpPr/>
          <p:nvPr/>
        </p:nvSpPr>
        <p:spPr>
          <a:xfrm>
            <a:off x="548640" y="2587752"/>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6791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624328"/>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내용을 바탕으로 밑줄 친 (b) motorbike와 반대되는 개념을 본문에서 찾아 쓰시오.</a:t>
            </a:r>
            <a:endParaRPr lang="en-US" sz="1700" dirty="0"/>
          </a:p>
        </p:txBody>
      </p:sp>
      <p:sp>
        <p:nvSpPr>
          <p:cNvPr id="12" name="ANIM_x1"/>
          <p:cNvSpPr txBox="1"/>
          <p:nvPr/>
        </p:nvSpPr>
        <p:spPr>
          <a:xfrm>
            <a:off x="9052560" y="266090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horse riding</a:t>
            </a:r>
            <a:endParaRPr lang="en-US" sz="1700" dirty="0"/>
          </a:p>
        </p:txBody>
      </p:sp>
      <p:sp>
        <p:nvSpPr>
          <p:cNvPr id="13" name="Shape 11"/>
          <p:cNvSpPr/>
          <p:nvPr/>
        </p:nvSpPr>
        <p:spPr>
          <a:xfrm>
            <a:off x="548640" y="3209544"/>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00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246120"/>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소재를 다음과 같이 쓸 때, 빈칸에 들어갈 단어를 본문에서 찾아 쓰시오. (단, 필요시 형태를 바꾸어 쓸 것)</a:t>
            </a:r>
            <a:endParaRPr lang="en-US" sz="1700" dirty="0"/>
          </a:p>
          <a:p>
            <a:pPr indent="0" marL="0">
              <a:buNone/>
            </a:pPr>
            <a:r>
              <a:rPr lang="en-US" sz="1700" dirty="0">
                <a:solidFill>
                  <a:srgbClr val="1E2B2A"/>
                </a:solidFill>
              </a:rPr>
              <a:t>the ________ life of the Mongolians</a:t>
            </a:r>
            <a:endParaRPr lang="en-US" sz="1700" dirty="0"/>
          </a:p>
        </p:txBody>
      </p:sp>
      <p:sp>
        <p:nvSpPr>
          <p:cNvPr id="16" name="ANIM_x2"/>
          <p:cNvSpPr txBox="1"/>
          <p:nvPr/>
        </p:nvSpPr>
        <p:spPr>
          <a:xfrm>
            <a:off x="9052560" y="3282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traditional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were given … and (were) separated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Having been heard]</a:t>
            </a:r>
            <a:pPr indent="0" marL="0">
              <a:buNone/>
            </a:pPr>
            <a:r>
              <a:rPr lang="en-US" sz="2000" dirty="0">
                <a:solidFill>
                  <a:srgbClr val="1E2B2A"/>
                </a:solidFill>
              </a:rPr>
              <a:t> these options, 61.9% of participants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먼저 일어난 일</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…given 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 </a:t>
            </a:r>
            <a:pPr indent="0" marL="0">
              <a:buNone/>
            </a:pPr>
            <a:r>
              <a:rPr lang="en-US" sz="2000" b="1" dirty="0">
                <a:solidFill>
                  <a:srgbClr val="EF5B3F"/>
                </a:solidFill>
              </a:rPr>
              <a:t>[will yield / yield]</a:t>
            </a:r>
            <a:pPr indent="0" marL="0">
              <a:buNone/>
            </a:pPr>
            <a:r>
              <a:rPr lang="en-US" sz="2000" dirty="0">
                <a:solidFill>
                  <a:srgbClr val="1E2B2A"/>
                </a:solidFill>
              </a:rPr>
              <a:t> different results.</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 / will yield</a:t>
            </a:r>
            <a:endParaRPr lang="en-US" sz="1800" dirty="0"/>
          </a:p>
          <a:p>
            <a:pPr algn="ctr" indent="0" marL="0">
              <a:buNone/>
            </a:pPr>
            <a:r>
              <a:rPr lang="en-US" sz="1200" dirty="0">
                <a:solidFill>
                  <a:srgbClr val="1E2B2A"/>
                </a:solidFill>
              </a:rPr>
              <a:t>사역 make + 원형 / 동명사 주어 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93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identical</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동일한</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outcome</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결과</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20" name="Text 18"/>
          <p:cNvSpPr txBox="1"/>
          <p:nvPr/>
        </p:nvSpPr>
        <p:spPr>
          <a:xfrm>
            <a:off x="594360" y="694944"/>
            <a:ext cx="11018520" cy="3076106"/>
          </a:xfrm>
          <a:prstGeom prst="rect">
            <a:avLst/>
          </a:prstGeom>
          <a:noFill/>
          <a:ln/>
        </p:spPr>
        <p:txBody>
          <a:bodyPr wrap="square" lIns="0" tIns="0" rIns="0" bIns="0" rtlCol="0" anchor="t">
            <a:normAutofit/>
          </a:bodyPr>
          <a:lstStyle/>
          <a:p>
            <a:pPr indent="0" marL="0">
              <a:lnSpc>
                <a:spcPct val="118000"/>
              </a:lnSpc>
              <a:buNone/>
            </a:pPr>
            <a:r>
              <a:rPr lang="en-US" sz="1250" b="1" dirty="0">
                <a:solidFill>
                  <a:srgbClr val="1F7A64"/>
                </a:solidFill>
              </a:rPr>
              <a:t>(1) </a:t>
            </a:r>
            <a:pPr indent="0" marL="0">
              <a:lnSpc>
                <a:spcPct val="118000"/>
              </a:lnSpc>
              <a:buNone/>
            </a:pPr>
            <a:r>
              <a:rPr lang="en-US" sz="1650" dirty="0">
                <a:solidFill>
                  <a:srgbClr val="1E2B2A"/>
                </a:solidFill>
              </a:rPr>
              <a:t>In 2006, Benedetto De Martino conducted a famous psychology experiment.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(2) </a:t>
            </a:r>
            <a:pPr indent="0" marL="0">
              <a:lnSpc>
                <a:spcPct val="118000"/>
              </a:lnSpc>
              <a:buNone/>
            </a:pPr>
            <a:r>
              <a:rPr lang="en-US" sz="1650" dirty="0">
                <a:solidFill>
                  <a:srgbClr val="1E2B2A"/>
                </a:solidFill>
              </a:rPr>
              <a:t>The participants </a:t>
            </a:r>
            <a:pPr indent="0" marL="0">
              <a:lnSpc>
                <a:spcPct val="118000"/>
              </a:lnSpc>
              <a:buNone/>
            </a:pPr>
            <a:r>
              <a:rPr lang="en-US" sz="1650" b="1" dirty="0">
                <a:solidFill>
                  <a:srgbClr val="14453D"/>
                </a:solidFill>
                <a:highlight>
                  <a:srgbClr val="A9DDF3"/>
                </a:highlight>
              </a:rPr>
              <a:t>were each given $50 and separated into</a:t>
            </a:r>
            <a:pPr indent="0" marL="0">
              <a:lnSpc>
                <a:spcPct val="118000"/>
              </a:lnSpc>
              <a:buNone/>
            </a:pPr>
            <a:r>
              <a:rPr lang="en-US" sz="1650" dirty="0">
                <a:solidFill>
                  <a:srgbClr val="1E2B2A"/>
                </a:solidFill>
              </a:rPr>
              <a:t> two groups—group A and B.</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(3) </a:t>
            </a:r>
            <a:pPr indent="0" marL="0">
              <a:lnSpc>
                <a:spcPct val="118000"/>
              </a:lnSpc>
              <a:buNone/>
            </a:pPr>
            <a:r>
              <a:rPr lang="en-US" sz="1650" dirty="0">
                <a:solidFill>
                  <a:srgbClr val="1E2B2A"/>
                </a:solidFill>
              </a:rPr>
              <a:t>Group A was given two (a) </a:t>
            </a:r>
            <a:pPr indent="0" marL="0">
              <a:lnSpc>
                <a:spcPct val="118000"/>
              </a:lnSpc>
              <a:buNone/>
            </a:pPr>
            <a:r>
              <a:rPr lang="en-US" sz="1650" b="1" u="sng" dirty="0">
                <a:solidFill>
                  <a:srgbClr val="1E2B2A"/>
                </a:solidFill>
              </a:rPr>
              <a:t>options</a:t>
            </a:r>
            <a:pPr indent="0" marL="0">
              <a:lnSpc>
                <a:spcPct val="118000"/>
              </a:lnSpc>
              <a:buNone/>
            </a:pPr>
            <a:r>
              <a:rPr lang="en-US" sz="1650" dirty="0">
                <a:solidFill>
                  <a:srgbClr val="1E2B2A"/>
                </a:solidFill>
              </a:rPr>
              <a:t>, “You can either gamble with that money or </a:t>
            </a:r>
            <a:pPr indent="0" marL="0">
              <a:lnSpc>
                <a:spcPct val="118000"/>
              </a:lnSpc>
              <a:buNone/>
            </a:pPr>
            <a:r>
              <a:rPr lang="en-US" sz="1650" b="1" dirty="0">
                <a:solidFill>
                  <a:srgbClr val="1E2B2A"/>
                </a:solidFill>
                <a:highlight>
                  <a:srgbClr val="FFD45C"/>
                </a:highlight>
              </a:rPr>
              <a:t>lose $30</a:t>
            </a:r>
            <a:pPr indent="0" marL="0">
              <a:lnSpc>
                <a:spcPct val="118000"/>
              </a:lnSpc>
              <a:buNone/>
            </a:pPr>
            <a:r>
              <a:rPr lang="en-US" sz="1650" dirty="0">
                <a:solidFill>
                  <a:srgbClr val="1E2B2A"/>
                </a:solidFill>
              </a:rPr>
              <a:t> of it.”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(4) </a:t>
            </a:r>
            <a:pPr indent="0" marL="0">
              <a:lnSpc>
                <a:spcPct val="118000"/>
              </a:lnSpc>
              <a:buNone/>
            </a:pPr>
            <a:r>
              <a:rPr lang="en-US" sz="1650" dirty="0">
                <a:solidFill>
                  <a:srgbClr val="1E2B2A"/>
                </a:solidFill>
              </a:rPr>
              <a:t>Group B was also given two options: “You can either gamble with that money or </a:t>
            </a:r>
            <a:pPr indent="0" marL="0">
              <a:lnSpc>
                <a:spcPct val="118000"/>
              </a:lnSpc>
              <a:buNone/>
            </a:pPr>
            <a:r>
              <a:rPr lang="en-US" sz="1650" b="1" dirty="0">
                <a:solidFill>
                  <a:srgbClr val="1E2B2A"/>
                </a:solidFill>
                <a:highlight>
                  <a:srgbClr val="FFD45C"/>
                </a:highlight>
              </a:rPr>
              <a:t>keep $20</a:t>
            </a:r>
            <a:pPr indent="0" marL="0">
              <a:lnSpc>
                <a:spcPct val="118000"/>
              </a:lnSpc>
              <a:buNone/>
            </a:pPr>
            <a:r>
              <a:rPr lang="en-US" sz="1650" dirty="0">
                <a:solidFill>
                  <a:srgbClr val="1E2B2A"/>
                </a:solidFill>
              </a:rPr>
              <a:t> of it.”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(5) </a:t>
            </a:r>
            <a:pPr indent="0" marL="0">
              <a:lnSpc>
                <a:spcPct val="118000"/>
              </a:lnSpc>
              <a:buNone/>
            </a:pPr>
            <a:r>
              <a:rPr lang="en-US" sz="1650" b="1" dirty="0">
                <a:solidFill>
                  <a:srgbClr val="14453D"/>
                </a:solidFill>
                <a:highlight>
                  <a:srgbClr val="A9DDF3"/>
                </a:highlight>
              </a:rPr>
              <a:t>Having heard these options</a:t>
            </a:r>
            <a:pPr indent="0" marL="0">
              <a:lnSpc>
                <a:spcPct val="118000"/>
              </a:lnSpc>
              <a:buNone/>
            </a:pPr>
            <a:r>
              <a:rPr lang="en-US" sz="1650" dirty="0">
                <a:solidFill>
                  <a:srgbClr val="1E2B2A"/>
                </a:solidFill>
              </a:rPr>
              <a:t>, </a:t>
            </a:r>
            <a:pPr indent="0" marL="0">
              <a:lnSpc>
                <a:spcPct val="118000"/>
              </a:lnSpc>
              <a:buNone/>
            </a:pPr>
            <a:r>
              <a:rPr lang="en-US" sz="1650" b="1" dirty="0">
                <a:solidFill>
                  <a:srgbClr val="1E2B2A"/>
                </a:solidFill>
                <a:highlight>
                  <a:srgbClr val="FFD45C"/>
                </a:highlight>
              </a:rPr>
              <a:t>61.9%</a:t>
            </a:r>
            <a:pPr indent="0" marL="0">
              <a:lnSpc>
                <a:spcPct val="118000"/>
              </a:lnSpc>
              <a:buNone/>
            </a:pPr>
            <a:r>
              <a:rPr lang="en-US" sz="1650" dirty="0">
                <a:solidFill>
                  <a:srgbClr val="1E2B2A"/>
                </a:solidFill>
              </a:rPr>
              <a:t> of participants in group A chose to gamble, while only </a:t>
            </a:r>
            <a:pPr indent="0" marL="0">
              <a:lnSpc>
                <a:spcPct val="118000"/>
              </a:lnSpc>
              <a:buNone/>
            </a:pPr>
            <a:r>
              <a:rPr lang="en-US" sz="1650" b="1" dirty="0">
                <a:solidFill>
                  <a:srgbClr val="1E2B2A"/>
                </a:solidFill>
                <a:highlight>
                  <a:srgbClr val="FFD45C"/>
                </a:highlight>
              </a:rPr>
              <a:t>42.9%</a:t>
            </a:r>
            <a:pPr indent="0" marL="0">
              <a:lnSpc>
                <a:spcPct val="118000"/>
              </a:lnSpc>
              <a:buNone/>
            </a:pPr>
            <a:r>
              <a:rPr lang="en-US" sz="1650" dirty="0">
                <a:solidFill>
                  <a:srgbClr val="1E2B2A"/>
                </a:solidFill>
              </a:rPr>
              <a:t> of participants in group B chose to gamble.</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(6) </a:t>
            </a:r>
            <a:pPr indent="0" marL="0">
              <a:lnSpc>
                <a:spcPct val="118000"/>
              </a:lnSpc>
              <a:buNone/>
            </a:pPr>
            <a:r>
              <a:rPr lang="en-US" sz="1650" dirty="0">
                <a:solidFill>
                  <a:srgbClr val="1E2B2A"/>
                </a:solidFill>
              </a:rPr>
              <a:t>As you may have noticed, the two groups were given </a:t>
            </a:r>
            <a:pPr indent="0" marL="0">
              <a:lnSpc>
                <a:spcPct val="118000"/>
              </a:lnSpc>
              <a:buNone/>
            </a:pPr>
            <a:r>
              <a:rPr lang="en-US" sz="1650" b="1" dirty="0">
                <a:solidFill>
                  <a:srgbClr val="14453D"/>
                </a:solidFill>
                <a:highlight>
                  <a:srgbClr val="A9DDF3"/>
                </a:highlight>
              </a:rPr>
              <a:t>options that actually led to an identical outcome</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(7) </a:t>
            </a:r>
            <a:pPr indent="0" marL="0">
              <a:lnSpc>
                <a:spcPct val="118000"/>
              </a:lnSpc>
              <a:buNone/>
            </a:pPr>
            <a:r>
              <a:rPr lang="en-US" sz="1650" dirty="0">
                <a:solidFill>
                  <a:srgbClr val="1E2B2A"/>
                </a:solidFill>
              </a:rPr>
              <a:t>However, because the choices were framed using two different terms, </a:t>
            </a:r>
            <a:pPr indent="0" marL="0">
              <a:lnSpc>
                <a:spcPct val="118000"/>
              </a:lnSpc>
              <a:buNone/>
            </a:pPr>
            <a:r>
              <a:rPr lang="en-US" sz="1650" b="1" dirty="0">
                <a:solidFill>
                  <a:srgbClr val="1E2B2A"/>
                </a:solidFill>
                <a:highlight>
                  <a:srgbClr val="FFD45C"/>
                </a:highlight>
              </a:rPr>
              <a:t>‘lose’ versus ‘keep’</a:t>
            </a:r>
            <a:pPr indent="0" marL="0">
              <a:lnSpc>
                <a:spcPct val="118000"/>
              </a:lnSpc>
              <a:buNone/>
            </a:pPr>
            <a:r>
              <a:rPr lang="en-US" sz="1650" dirty="0">
                <a:solidFill>
                  <a:srgbClr val="1E2B2A"/>
                </a:solidFill>
              </a:rPr>
              <a:t>, the participants </a:t>
            </a:r>
            <a:pPr indent="0" marL="0">
              <a:lnSpc>
                <a:spcPct val="118000"/>
              </a:lnSpc>
              <a:buNone/>
            </a:pPr>
            <a:r>
              <a:rPr lang="en-US" sz="1650" b="1" dirty="0">
                <a:solidFill>
                  <a:srgbClr val="1E2B2A"/>
                </a:solidFill>
                <a:highlight>
                  <a:srgbClr val="FFD45C"/>
                </a:highlight>
              </a:rPr>
              <a:t>came to different decisions</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(8) </a:t>
            </a:r>
            <a:pPr indent="0" marL="0">
              <a:lnSpc>
                <a:spcPct val="118000"/>
              </a:lnSpc>
              <a:buNone/>
            </a:pPr>
            <a:r>
              <a:rPr lang="en-US" sz="1650" dirty="0">
                <a:solidFill>
                  <a:srgbClr val="1E2B2A"/>
                </a:solidFill>
              </a:rPr>
              <a:t>(b) </a:t>
            </a:r>
            <a:pPr indent="0" marL="0">
              <a:lnSpc>
                <a:spcPct val="118000"/>
              </a:lnSpc>
              <a:buNone/>
            </a:pPr>
            <a:r>
              <a:rPr lang="en-US" sz="1650" b="1" u="sng" dirty="0">
                <a:solidFill>
                  <a:srgbClr val="1E2B2A"/>
                </a:solidFill>
              </a:rPr>
              <a:t>This</a:t>
            </a:r>
            <a:pPr indent="0" marL="0">
              <a:lnSpc>
                <a:spcPct val="118000"/>
              </a:lnSpc>
              <a:buNone/>
            </a:pPr>
            <a:r>
              <a:rPr lang="en-US" sz="1650" dirty="0">
                <a:solidFill>
                  <a:srgbClr val="1E2B2A"/>
                </a:solidFill>
              </a:rPr>
              <a:t> is called the “framing effect”.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(9) </a:t>
            </a:r>
            <a:pPr indent="0" marL="0">
              <a:lnSpc>
                <a:spcPct val="118000"/>
              </a:lnSpc>
              <a:buNone/>
            </a:pPr>
            <a:r>
              <a:rPr lang="en-US" sz="1650" b="1" dirty="0">
                <a:solidFill>
                  <a:srgbClr val="14453D"/>
                </a:solidFill>
                <a:highlight>
                  <a:srgbClr val="A9DDF3"/>
                </a:highlight>
              </a:rPr>
              <a:t>Using words that make people think of </a:t>
            </a:r>
            <a:pPr indent="0" marL="0">
              <a:lnSpc>
                <a:spcPct val="118000"/>
              </a:lnSpc>
              <a:buNone/>
            </a:pPr>
            <a:r>
              <a:rPr lang="en-US" sz="1650" b="1" u="sng" dirty="0">
                <a:solidFill>
                  <a:srgbClr val="1E2B2A"/>
                </a:solidFill>
                <a:highlight>
                  <a:srgbClr val="FFD45C"/>
                </a:highlight>
                <a:uFill>
                  <a:solidFill>
                    <a:srgbClr val="2C7DA0"/>
                  </a:solidFill>
                </a:uFill>
              </a:rPr>
              <a:t>a negative outcome</a:t>
            </a:r>
            <a:pPr indent="0" marL="0">
              <a:lnSpc>
                <a:spcPct val="118000"/>
              </a:lnSpc>
              <a:buNone/>
            </a:pPr>
            <a:r>
              <a:rPr lang="en-US" sz="1650" b="1" dirty="0">
                <a:solidFill>
                  <a:srgbClr val="14453D"/>
                </a:solidFill>
                <a:highlight>
                  <a:srgbClr val="A9DDF3"/>
                </a:highlight>
              </a:rPr>
              <a:t> will yield</a:t>
            </a:r>
            <a:pPr indent="0" marL="0">
              <a:lnSpc>
                <a:spcPct val="118000"/>
              </a:lnSpc>
              <a:buNone/>
            </a:pPr>
            <a:r>
              <a:rPr lang="en-US" sz="1650" dirty="0">
                <a:solidFill>
                  <a:srgbClr val="1E2B2A"/>
                </a:solidFill>
              </a:rPr>
              <a:t> different behavioral results than using words that make them think of a positive outcome.</a:t>
            </a:r>
            <a:endParaRPr lang="en-US" sz="1250" dirty="0"/>
          </a:p>
        </p:txBody>
      </p:sp>
      <p:sp>
        <p:nvSpPr>
          <p:cNvPr id="21" name="Shape 19"/>
          <p:cNvSpPr/>
          <p:nvPr/>
        </p:nvSpPr>
        <p:spPr>
          <a:xfrm>
            <a:off x="548640" y="3825914"/>
            <a:ext cx="11109960" cy="794614"/>
          </a:xfrm>
          <a:prstGeom prst="roundRect">
            <a:avLst>
              <a:gd name="adj" fmla="val 9206"/>
            </a:avLst>
          </a:prstGeom>
          <a:solidFill>
            <a:srgbClr val="FFF8EC"/>
          </a:solidFill>
          <a:ln w="28575">
            <a:solidFill>
              <a:srgbClr val="EF5B3F"/>
            </a:solidFill>
            <a:prstDash val="solid"/>
          </a:ln>
        </p:spPr>
      </p:sp>
      <p:sp>
        <p:nvSpPr>
          <p:cNvPr id="22" name="Text 20"/>
          <p:cNvSpPr txBox="1"/>
          <p:nvPr/>
        </p:nvSpPr>
        <p:spPr>
          <a:xfrm>
            <a:off x="685800" y="3862490"/>
            <a:ext cx="10881360" cy="721462"/>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650" b="1" dirty="0">
                <a:solidFill>
                  <a:srgbClr val="14453D"/>
                </a:solidFill>
              </a:rPr>
              <a:t>When people face a </a:t>
            </a:r>
            <a:pPr indent="0" marL="0">
              <a:lnSpc>
                <a:spcPct val="115000"/>
              </a:lnSpc>
              <a:buNone/>
            </a:pPr>
            <a:r>
              <a:rPr lang="en-US" sz="1650" b="1" dirty="0">
                <a:solidFill>
                  <a:srgbClr val="EF5B3F"/>
                </a:solidFill>
              </a:rPr>
              <a:t>(A)</a:t>
            </a:r>
            <a:pPr indent="0" marL="0">
              <a:lnSpc>
                <a:spcPct val="115000"/>
              </a:lnSpc>
              <a:buNone/>
            </a:pPr>
            <a:r>
              <a:rPr lang="en-US" sz="1650" b="1" dirty="0">
                <a:solidFill>
                  <a:srgbClr val="14453D"/>
                </a:solidFill>
              </a:rPr>
              <a:t> situation, they are not likely to choose an option that makes them expect a possible </a:t>
            </a:r>
            <a:pPr indent="0" marL="0">
              <a:lnSpc>
                <a:spcPct val="115000"/>
              </a:lnSpc>
              <a:buNone/>
            </a:pPr>
            <a:r>
              <a:rPr lang="en-US" sz="1650" b="1" dirty="0">
                <a:solidFill>
                  <a:srgbClr val="EF5B3F"/>
                </a:solidFill>
              </a:rPr>
              <a:t>(B)</a:t>
            </a:r>
            <a:pPr indent="0" marL="0">
              <a:lnSpc>
                <a:spcPct val="115000"/>
              </a:lnSpc>
              <a:buNone/>
            </a:pPr>
            <a:r>
              <a:rPr lang="en-US" sz="1650" b="1" dirty="0">
                <a:solidFill>
                  <a:srgbClr val="14453D"/>
                </a:solidFill>
              </a:rPr>
              <a:t>.</a:t>
            </a:r>
            <a:endParaRPr lang="en-US" sz="1200" dirty="0"/>
          </a:p>
        </p:txBody>
      </p:sp>
      <p:sp>
        <p:nvSpPr>
          <p:cNvPr id="23" name="Text 21"/>
          <p:cNvSpPr txBox="1"/>
          <p:nvPr/>
        </p:nvSpPr>
        <p:spPr>
          <a:xfrm>
            <a:off x="594360" y="4693679"/>
            <a:ext cx="11018520" cy="591553"/>
          </a:xfrm>
          <a:prstGeom prst="rect">
            <a:avLst/>
          </a:prstGeom>
          <a:noFill/>
          <a:ln/>
        </p:spPr>
        <p:txBody>
          <a:bodyPr wrap="square" lIns="0" tIns="0" rIns="0" bIns="0" rtlCol="0" anchor="t">
            <a:normAutofit/>
          </a:bodyPr>
          <a:lstStyle/>
          <a:p>
            <a:pPr indent="0" marL="0">
              <a:buNone/>
            </a:pPr>
            <a:r>
              <a:rPr lang="en-US" sz="1350" dirty="0">
                <a:solidFill>
                  <a:srgbClr val="6E7F7C"/>
                </a:solidFill>
              </a:rPr>
              <a:t>① profit‑sharing – trade</a:t>
            </a:r>
            <a:pPr indent="0" marL="0">
              <a:buNone/>
            </a:pPr>
            <a:r>
              <a:rPr lang="en-US" sz="1350" dirty="0">
                <a:solidFill>
                  <a:srgbClr val="000000"/>
                </a:solidFill>
              </a:rPr>
              <a:t>     </a:t>
            </a:r>
            <a:pPr indent="0" marL="0">
              <a:buNone/>
            </a:pPr>
            <a:r>
              <a:rPr lang="en-US" sz="1350" dirty="0">
                <a:solidFill>
                  <a:srgbClr val="6E7F7C"/>
                </a:solidFill>
              </a:rPr>
              <a:t>② life‑threatening – profit</a:t>
            </a:r>
            <a:pPr indent="0" marL="0">
              <a:buNone/>
            </a:pPr>
            <a:r>
              <a:rPr lang="en-US" sz="1350" dirty="0">
                <a:solidFill>
                  <a:srgbClr val="000000"/>
                </a:solidFill>
              </a:rPr>
              <a:t>     </a:t>
            </a:r>
            <a:pPr indent="0" marL="0">
              <a:buNone/>
            </a:pPr>
            <a:r>
              <a:rPr lang="en-US" sz="1350" dirty="0">
                <a:solidFill>
                  <a:srgbClr val="6E7F7C"/>
                </a:solidFill>
              </a:rPr>
              <a:t>③ life‑threatening – loss</a:t>
            </a:r>
            <a:pPr indent="0" marL="0">
              <a:buNone/>
            </a:pPr>
            <a:r>
              <a:rPr lang="en-US" sz="1350" dirty="0">
                <a:solidFill>
                  <a:srgbClr val="000000"/>
                </a:solidFill>
              </a:rPr>
              <a:t>     </a:t>
            </a:r>
            <a:pPr indent="0" marL="0">
              <a:buNone/>
            </a:pPr>
            <a:r>
              <a:rPr lang="en-US" sz="1350" dirty="0">
                <a:solidFill>
                  <a:srgbClr val="6E7F7C"/>
                </a:solidFill>
              </a:rPr>
              <a:t>④ decision‑making – profit</a:t>
            </a:r>
            <a:pPr indent="0" marL="0">
              <a:buNone/>
            </a:pPr>
            <a:r>
              <a:rPr lang="en-US" sz="1350" dirty="0">
                <a:solidFill>
                  <a:srgbClr val="000000"/>
                </a:solidFill>
              </a:rPr>
              <a:t>     </a:t>
            </a:r>
            <a:pPr indent="0" marL="0">
              <a:buNone/>
            </a:pPr>
            <a:r>
              <a:rPr lang="en-US" sz="1350" b="1" dirty="0">
                <a:solidFill>
                  <a:srgbClr val="EF5B3F"/>
                </a:solidFill>
              </a:rPr>
              <a:t>⑤ decision‑making – loss</a:t>
            </a:r>
            <a:pPr indent="0" marL="0">
              <a:buNone/>
            </a:pPr>
            <a:r>
              <a:rPr lang="en-US" sz="1150" b="1" dirty="0">
                <a:solidFill>
                  <a:srgbClr val="EF5B3F"/>
                </a:solidFill>
              </a:rPr>
              <a:t> ✔</a:t>
            </a:r>
            <a:endParaRPr lang="en-US" sz="13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50달러를 받은 두 그룹에게 '도박 vs 확정' 선택지 제시</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 — 실제 결과는 같음</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'잃는다'를 들은 A 그룹이 도박을 훨씬 많이 선택 (61.9% vs 42.9%)</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틀 효과: 손실(loss)을 떠올리게 하는 선택지는 피한다</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틀 효과: 같은 결과도 '어떻게 표현하느냐'에 따라 선택이 달라진다</a:t>
            </a:r>
            <a:endParaRPr lang="en-US" sz="1500" dirty="0"/>
          </a:p>
          <a:p>
            <a:pPr marL="342900" indent="-342900">
              <a:spcAft>
                <a:spcPts val="600"/>
              </a:spcAft>
              <a:buSzPct val="100000"/>
              <a:buChar char="✔"/>
            </a:pPr>
            <a:r>
              <a:rPr lang="en-US" sz="1500" dirty="0">
                <a:solidFill>
                  <a:srgbClr val="1E2B2A"/>
                </a:solidFill>
              </a:rPr>
              <a:t>사람은 '손실'이라는 말을 싫어한다 (lose &lt; keep)</a:t>
            </a:r>
            <a:endParaRPr lang="en-US" sz="1500" dirty="0"/>
          </a:p>
          <a:p>
            <a:pPr marL="342900" indent="-342900">
              <a:spcAft>
                <a:spcPts val="600"/>
              </a:spcAft>
              <a:buSzPct val="100000"/>
              <a:buChar char="✔"/>
            </a:pPr>
            <a:r>
              <a:rPr lang="en-US" sz="1500" dirty="0">
                <a:solidFill>
                  <a:srgbClr val="1E2B2A"/>
                </a:solidFill>
              </a:rPr>
              <a:t>Having heard ~: 완료 분사구문</a:t>
            </a:r>
            <a:endParaRPr lang="en-US" sz="1500" dirty="0"/>
          </a:p>
          <a:p>
            <a:pPr marL="342900" indent="-342900">
              <a:spcAft>
                <a:spcPts val="600"/>
              </a:spcAft>
              <a:buSzPct val="100000"/>
              <a:buChar char="✔"/>
            </a:pPr>
            <a:r>
              <a:rPr lang="en-US" sz="1500" dirty="0">
                <a:solidFill>
                  <a:srgbClr val="1E2B2A"/>
                </a:solidFill>
              </a:rPr>
              <a:t>make + O + 동사원형</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equivalent ↔ different ⊕ identity, identify</a:t>
            </a:r>
            <a:endParaRPr lang="en-US" sz="1300" dirty="0"/>
          </a:p>
          <a:p>
            <a:pPr indent="0" marL="0">
              <a:spcAft>
                <a:spcPts val="500"/>
              </a:spcAft>
              <a:buNone/>
            </a:pPr>
            <a:r>
              <a:rPr lang="en-US" sz="1300" b="1" dirty="0">
                <a:solidFill>
                  <a:srgbClr val="1F7A64"/>
                </a:solidFill>
              </a:rPr>
              <a:t>outcome  </a:t>
            </a:r>
            <a:pPr indent="0" marL="0">
              <a:spcAft>
                <a:spcPts val="500"/>
              </a:spcAft>
              <a:buNone/>
            </a:pPr>
            <a:r>
              <a:rPr lang="en-US" sz="1300" dirty="0">
                <a:solidFill>
                  <a:srgbClr val="1E2B2A"/>
                </a:solidFill>
              </a:rPr>
              <a:t>≒ result, consequence</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bring about, result in</a:t>
            </a:r>
            <a:endParaRPr lang="en-US" sz="1300" dirty="0"/>
          </a:p>
          <a:p>
            <a:pPr indent="0" marL="0">
              <a:spcAft>
                <a:spcPts val="500"/>
              </a:spcAft>
              <a:buNone/>
            </a:pPr>
            <a:r>
              <a:rPr lang="en-US" sz="1300" b="1" dirty="0">
                <a:solidFill>
                  <a:srgbClr val="1F7A64"/>
                </a:solidFill>
              </a:rPr>
              <a:t>conduct  </a:t>
            </a:r>
            <a:pPr indent="0" marL="0">
              <a:spcAft>
                <a:spcPts val="500"/>
              </a:spcAft>
              <a:buNone/>
            </a:pPr>
            <a:r>
              <a:rPr lang="en-US" sz="1300" dirty="0">
                <a:solidFill>
                  <a:srgbClr val="1E2B2A"/>
                </a:solidFill>
              </a:rPr>
              <a:t>≒ carry out, perform (an experiment)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express, phrase ⊕ framing</a:t>
            </a:r>
            <a:endParaRPr lang="en-US" sz="1300" dirty="0"/>
          </a:p>
          <a:p>
            <a:pPr indent="0" marL="0">
              <a:spcAft>
                <a:spcPts val="500"/>
              </a:spcAft>
              <a:buNone/>
            </a:pPr>
            <a:r>
              <a:rPr lang="en-US" sz="1300" b="1" dirty="0">
                <a:solidFill>
                  <a:srgbClr val="1F7A64"/>
                </a:solidFill>
              </a:rPr>
              <a:t>negative  </a:t>
            </a:r>
            <a:pPr indent="0" marL="0">
              <a:spcAft>
                <a:spcPts val="500"/>
              </a:spcAft>
              <a:buNone/>
            </a:pPr>
            <a:r>
              <a:rPr lang="en-US" sz="1300" dirty="0">
                <a:solidFill>
                  <a:srgbClr val="1E2B2A"/>
                </a:solidFill>
              </a:rPr>
              <a:t>↔ positive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주제를 다음과 같이 쓸 때, 빈칸에 들어갈 말을 본문에서 찾아 쓰시오.</a:t>
            </a:r>
            <a:endParaRPr lang="en-US" sz="1700" dirty="0"/>
          </a:p>
          <a:p>
            <a:pPr indent="0" marL="0">
              <a:buNone/>
            </a:pPr>
            <a:r>
              <a:rPr lang="en-US" sz="1700" dirty="0">
                <a:solidFill>
                  <a:srgbClr val="1E2B2A"/>
                </a:solidFill>
              </a:rPr>
              <a:t>how human brains are affected by ________ manipulation</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framing</a:t>
            </a:r>
            <a:endParaRPr lang="en-US" sz="1700" dirty="0"/>
          </a:p>
        </p:txBody>
      </p:sp>
      <p:sp>
        <p:nvSpPr>
          <p:cNvPr id="9" name="Shape 7"/>
          <p:cNvSpPr/>
          <p:nvPr/>
        </p:nvSpPr>
        <p:spPr>
          <a:xfrm>
            <a:off x="548640" y="2423160"/>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459736"/>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options와 같은 뜻을 가진 단어를 본문에서 찾아 쓰시오.</a:t>
            </a:r>
            <a:endParaRPr lang="en-US" sz="1700" dirty="0"/>
          </a:p>
        </p:txBody>
      </p:sp>
      <p:sp>
        <p:nvSpPr>
          <p:cNvPr id="12" name="ANIM_x1"/>
          <p:cNvSpPr txBox="1"/>
          <p:nvPr/>
        </p:nvSpPr>
        <p:spPr>
          <a:xfrm>
            <a:off x="9052560" y="249631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choices</a:t>
            </a:r>
            <a:endParaRPr lang="en-US" sz="1700" dirty="0"/>
          </a:p>
        </p:txBody>
      </p:sp>
      <p:sp>
        <p:nvSpPr>
          <p:cNvPr id="13" name="Shape 11"/>
          <p:cNvSpPr/>
          <p:nvPr/>
        </p:nvSpPr>
        <p:spPr>
          <a:xfrm>
            <a:off x="548640" y="3044952"/>
            <a:ext cx="11064240" cy="896112"/>
          </a:xfrm>
          <a:prstGeom prst="roundRect">
            <a:avLst>
              <a:gd name="adj" fmla="val 8163"/>
            </a:avLst>
          </a:prstGeom>
          <a:solidFill>
            <a:srgbClr val="F7FAF9"/>
          </a:solidFill>
          <a:ln w="12700">
            <a:solidFill>
              <a:srgbClr val="E6F2ED"/>
            </a:solidFill>
            <a:prstDash val="solid"/>
          </a:ln>
        </p:spPr>
      </p:sp>
      <p:sp>
        <p:nvSpPr>
          <p:cNvPr id="14" name="Text 12"/>
          <p:cNvSpPr/>
          <p:nvPr/>
        </p:nvSpPr>
        <p:spPr>
          <a:xfrm>
            <a:off x="658368" y="3136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081528"/>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(b) This가 뜻하는 바를 우리말로 쓰시오.</a:t>
            </a:r>
            <a:endParaRPr lang="en-US" sz="1700" dirty="0"/>
          </a:p>
        </p:txBody>
      </p:sp>
      <p:sp>
        <p:nvSpPr>
          <p:cNvPr id="16" name="ANIM_x2"/>
          <p:cNvSpPr txBox="1"/>
          <p:nvPr/>
        </p:nvSpPr>
        <p:spPr>
          <a:xfrm>
            <a:off x="1188720" y="3520440"/>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선택지들이 ‘잃다’와 ‘갖다’의 두 개의 다른 용어로 표현되어서, 참가자들이 서로 다른 행동상의 결정을 내리게 된 것</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[While studying / While studied]</a:t>
            </a:r>
            <a:pPr indent="0" marL="0">
              <a:buNone/>
            </a:pPr>
            <a:r>
              <a:rPr lang="en-US" sz="2000" dirty="0">
                <a:solidFill>
                  <a:srgbClr val="1E2B2A"/>
                </a:solidFill>
              </a:rPr>
              <a:t> obesity in human networks, Christakis made a discovery.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While studying</a:t>
            </a:r>
            <a:endParaRPr lang="en-US" sz="1800" dirty="0"/>
          </a:p>
          <a:p>
            <a:pPr algn="ctr" indent="0" marL="0">
              <a:buNone/>
            </a:pPr>
            <a:r>
              <a:rPr lang="en-US" sz="1200" dirty="0">
                <a:solidFill>
                  <a:srgbClr val="1E2B2A"/>
                </a:solidFill>
              </a:rPr>
              <a:t>While they were studying (능동)</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…there is a greater chance </a:t>
            </a:r>
            <a:pPr indent="0" marL="0">
              <a:buNone/>
            </a:pPr>
            <a:r>
              <a:rPr lang="en-US" sz="2000" b="1" dirty="0">
                <a:solidFill>
                  <a:srgbClr val="EF5B3F"/>
                </a:solidFill>
              </a:rPr>
              <a:t>[that / which]</a:t>
            </a:r>
            <a:pPr indent="0" marL="0">
              <a:buNone/>
            </a:pPr>
            <a:r>
              <a:rPr lang="en-US" sz="2000" dirty="0">
                <a:solidFill>
                  <a:srgbClr val="1E2B2A"/>
                </a:solidFill>
              </a:rPr>
              <a:t> you will become obese yourself.</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동격의 that (chance = 뒤 절), 완전한 절</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94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obesity</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비만</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colleagues</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동료들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inclined</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~하고 싶은</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transfer</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전이</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barely</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거의 ~않다</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determine</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결정하다</a:t>
            </a:r>
            <a:endParaRPr lang="en-US" sz="1400" dirty="0"/>
          </a:p>
        </p:txBody>
      </p:sp>
      <p:sp>
        <p:nvSpPr>
          <p:cNvPr id="20" name="Text 18"/>
          <p:cNvSpPr txBox="1"/>
          <p:nvPr/>
        </p:nvSpPr>
        <p:spPr>
          <a:xfrm>
            <a:off x="594360" y="694944"/>
            <a:ext cx="11018520" cy="3039600"/>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b="1" dirty="0">
                <a:solidFill>
                  <a:srgbClr val="14453D"/>
                </a:solidFill>
                <a:highlight>
                  <a:srgbClr val="A9DDF3"/>
                </a:highlight>
              </a:rPr>
              <a:t>While studying obesity</a:t>
            </a:r>
            <a:pPr indent="0" marL="0">
              <a:lnSpc>
                <a:spcPct val="118000"/>
              </a:lnSpc>
              <a:buNone/>
            </a:pPr>
            <a:r>
              <a:rPr lang="en-US" sz="1700" dirty="0">
                <a:solidFill>
                  <a:srgbClr val="1E2B2A"/>
                </a:solidFill>
              </a:rPr>
              <a:t> in human networks, Nicholas Christakis and his colleagues at Harvard University made an important discovery: if you have obese friends, there is </a:t>
            </a:r>
            <a:pPr indent="0" marL="0">
              <a:lnSpc>
                <a:spcPct val="118000"/>
              </a:lnSpc>
              <a:buNone/>
            </a:pPr>
            <a:r>
              <a:rPr lang="en-US" sz="1700" b="1" dirty="0">
                <a:solidFill>
                  <a:srgbClr val="14453D"/>
                </a:solidFill>
                <a:highlight>
                  <a:srgbClr val="A9DDF3"/>
                </a:highlight>
              </a:rPr>
              <a:t>a greater chance that you will become obese yourself</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dirty="0">
                <a:solidFill>
                  <a:srgbClr val="1E2B2A"/>
                </a:solidFill>
              </a:rPr>
              <a:t>Similarly, if you have fit and healthy friends, you are more likely to be fit and healthy.</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dirty="0">
                <a:solidFill>
                  <a:srgbClr val="1E2B2A"/>
                </a:solidFill>
              </a:rPr>
              <a:t>This happens because we tend to </a:t>
            </a:r>
            <a:pPr indent="0" marL="0">
              <a:lnSpc>
                <a:spcPct val="118000"/>
              </a:lnSpc>
              <a:buNone/>
            </a:pPr>
            <a:r>
              <a:rPr lang="en-US" sz="1700" b="1" dirty="0">
                <a:solidFill>
                  <a:srgbClr val="1E2B2A"/>
                </a:solidFill>
                <a:highlight>
                  <a:srgbClr val="FFD45C"/>
                </a:highlight>
              </a:rPr>
              <a:t>copy the behavior of those around us</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For example, if your friends invite you to restaurants that serve fatty foods, you will </a:t>
            </a:r>
            <a:pPr indent="0" marL="0">
              <a:lnSpc>
                <a:spcPct val="118000"/>
              </a:lnSpc>
              <a:buNone/>
            </a:pPr>
            <a:r>
              <a:rPr lang="en-US" sz="1700" b="1" dirty="0">
                <a:solidFill>
                  <a:srgbClr val="14453D"/>
                </a:solidFill>
                <a:highlight>
                  <a:srgbClr val="A9DDF3"/>
                </a:highlight>
              </a:rPr>
              <a:t>become more inclined to eat</a:t>
            </a:r>
            <a:pPr indent="0" marL="0">
              <a:lnSpc>
                <a:spcPct val="118000"/>
              </a:lnSpc>
              <a:buNone/>
            </a:pPr>
            <a:r>
              <a:rPr lang="en-US" sz="1700" dirty="0">
                <a:solidFill>
                  <a:srgbClr val="1E2B2A"/>
                </a:solidFill>
              </a:rPr>
              <a:t> fatty food.</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On the other hand, you may start jogging on your own after you have run beside your friend a few times.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(6) </a:t>
            </a:r>
            <a:pPr indent="0" marL="0">
              <a:lnSpc>
                <a:spcPct val="118000"/>
              </a:lnSpc>
              <a:buNone/>
            </a:pPr>
            <a:r>
              <a:rPr lang="en-US" sz="1700" dirty="0">
                <a:solidFill>
                  <a:srgbClr val="1E2B2A"/>
                </a:solidFill>
              </a:rPr>
              <a:t>Nicholas calls this </a:t>
            </a:r>
            <a:pPr indent="0" marL="0">
              <a:lnSpc>
                <a:spcPct val="118000"/>
              </a:lnSpc>
              <a:buNone/>
            </a:pPr>
            <a:r>
              <a:rPr lang="en-US" sz="1700" b="1" dirty="0">
                <a:solidFill>
                  <a:srgbClr val="1E2B2A"/>
                </a:solidFill>
                <a:highlight>
                  <a:srgbClr val="FFD45C"/>
                </a:highlight>
              </a:rPr>
              <a:t>transfer of behavior</a:t>
            </a:r>
            <a:pPr indent="0" marL="0">
              <a:lnSpc>
                <a:spcPct val="118000"/>
              </a:lnSpc>
              <a:buNone/>
            </a:pPr>
            <a:r>
              <a:rPr lang="en-US" sz="1700" dirty="0">
                <a:solidFill>
                  <a:srgbClr val="1E2B2A"/>
                </a:solidFill>
              </a:rPr>
              <a:t> “social contagion."</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(7) </a:t>
            </a:r>
            <a:pPr indent="0" marL="0">
              <a:lnSpc>
                <a:spcPct val="118000"/>
              </a:lnSpc>
              <a:buNone/>
            </a:pPr>
            <a:r>
              <a:rPr lang="en-US" sz="1700" b="1" dirty="0">
                <a:solidFill>
                  <a:srgbClr val="14453D"/>
                </a:solidFill>
                <a:highlight>
                  <a:srgbClr val="A9DDF3"/>
                </a:highlight>
              </a:rPr>
              <a:t>Many cases of such social contagion happen</a:t>
            </a:r>
            <a:pPr indent="0" marL="0">
              <a:lnSpc>
                <a:spcPct val="118000"/>
              </a:lnSpc>
              <a:buNone/>
            </a:pPr>
            <a:r>
              <a:rPr lang="en-US" sz="1700" dirty="0">
                <a:solidFill>
                  <a:srgbClr val="1E2B2A"/>
                </a:solidFill>
              </a:rPr>
              <a:t> in subtle ways in our daily lives </a:t>
            </a:r>
            <a:pPr indent="0" marL="0">
              <a:lnSpc>
                <a:spcPct val="118000"/>
              </a:lnSpc>
              <a:buNone/>
            </a:pPr>
            <a:r>
              <a:rPr lang="en-US" sz="1700" b="1" dirty="0">
                <a:solidFill>
                  <a:srgbClr val="1E2B2A"/>
                </a:solidFill>
                <a:highlight>
                  <a:srgbClr val="FFD45C"/>
                </a:highlight>
              </a:rPr>
              <a:t>through social networks</a:t>
            </a:r>
            <a:pPr indent="0" marL="0">
              <a:lnSpc>
                <a:spcPct val="118000"/>
              </a:lnSpc>
              <a:buNone/>
            </a:pPr>
            <a:r>
              <a:rPr lang="en-US" sz="1700" dirty="0">
                <a:solidFill>
                  <a:srgbClr val="1E2B2A"/>
                </a:solidFill>
              </a:rPr>
              <a:t>: the spread of smoking, the spread of diet, even the spread of happiness.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(8) </a:t>
            </a:r>
            <a:pPr indent="0" marL="0">
              <a:lnSpc>
                <a:spcPct val="118000"/>
              </a:lnSpc>
              <a:buNone/>
            </a:pPr>
            <a:r>
              <a:rPr lang="en-US" sz="1700" b="1" dirty="0">
                <a:solidFill>
                  <a:srgbClr val="14453D"/>
                </a:solidFill>
                <a:highlight>
                  <a:srgbClr val="A9DDF3"/>
                </a:highlight>
              </a:rPr>
              <a:t>We barely notice</a:t>
            </a:r>
            <a:pPr indent="0" marL="0">
              <a:lnSpc>
                <a:spcPct val="118000"/>
              </a:lnSpc>
              <a:buNone/>
            </a:pPr>
            <a:r>
              <a:rPr lang="en-US" sz="1700" dirty="0">
                <a:solidFill>
                  <a:srgbClr val="1E2B2A"/>
                </a:solidFill>
              </a:rPr>
              <a:t> this interesting hidden principle, but it can actually determine many of our life choices.</a:t>
            </a:r>
            <a:endParaRPr lang="en-US" sz="1300" dirty="0"/>
          </a:p>
        </p:txBody>
      </p:sp>
      <p:sp>
        <p:nvSpPr>
          <p:cNvPr id="21" name="Shape 19"/>
          <p:cNvSpPr/>
          <p:nvPr/>
        </p:nvSpPr>
        <p:spPr>
          <a:xfrm>
            <a:off x="548640" y="3789408"/>
            <a:ext cx="11109960" cy="812597"/>
          </a:xfrm>
          <a:prstGeom prst="roundRect">
            <a:avLst>
              <a:gd name="adj" fmla="val 9002"/>
            </a:avLst>
          </a:prstGeom>
          <a:solidFill>
            <a:srgbClr val="FFF8EC"/>
          </a:solidFill>
          <a:ln w="28575">
            <a:solidFill>
              <a:srgbClr val="EF5B3F"/>
            </a:solidFill>
            <a:prstDash val="solid"/>
          </a:ln>
        </p:spPr>
      </p:sp>
      <p:sp>
        <p:nvSpPr>
          <p:cNvPr id="22" name="Text 20"/>
          <p:cNvSpPr txBox="1"/>
          <p:nvPr/>
        </p:nvSpPr>
        <p:spPr>
          <a:xfrm>
            <a:off x="685800" y="3825984"/>
            <a:ext cx="10881360" cy="739445"/>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The social contagion theory illustrates how one person’s action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another’s desire to perform the same action through social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a:t>
            </a:r>
            <a:endParaRPr lang="en-US" sz="1200" dirty="0"/>
          </a:p>
        </p:txBody>
      </p:sp>
      <p:sp>
        <p:nvSpPr>
          <p:cNvPr id="23" name="Text 21"/>
          <p:cNvSpPr txBox="1"/>
          <p:nvPr/>
        </p:nvSpPr>
        <p:spPr>
          <a:xfrm>
            <a:off x="594360" y="4675157"/>
            <a:ext cx="11018520" cy="610075"/>
          </a:xfrm>
          <a:prstGeom prst="rect">
            <a:avLst/>
          </a:prstGeom>
          <a:noFill/>
          <a:ln/>
        </p:spPr>
        <p:txBody>
          <a:bodyPr wrap="square" lIns="0" tIns="0" rIns="0" bIns="0" rtlCol="0" anchor="t">
            <a:normAutofit/>
          </a:bodyPr>
          <a:lstStyle/>
          <a:p>
            <a:pPr indent="0" marL="0">
              <a:buNone/>
            </a:pPr>
            <a:r>
              <a:rPr lang="en-US" sz="1400" b="1" dirty="0">
                <a:solidFill>
                  <a:srgbClr val="EF5B3F"/>
                </a:solidFill>
              </a:rPr>
              <a:t>① triggers – contacts</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② reflects – contacts</a:t>
            </a:r>
            <a:pPr indent="0" marL="0">
              <a:buNone/>
            </a:pPr>
            <a:r>
              <a:rPr lang="en-US" sz="1400" dirty="0">
                <a:solidFill>
                  <a:srgbClr val="000000"/>
                </a:solidFill>
              </a:rPr>
              <a:t>     </a:t>
            </a:r>
            <a:pPr indent="0" marL="0">
              <a:buNone/>
            </a:pPr>
            <a:r>
              <a:rPr lang="en-US" sz="1400" dirty="0">
                <a:solidFill>
                  <a:srgbClr val="6E7F7C"/>
                </a:solidFill>
              </a:rPr>
              <a:t>③ triggers – structures</a:t>
            </a:r>
            <a:pPr indent="0" marL="0">
              <a:buNone/>
            </a:pPr>
            <a:r>
              <a:rPr lang="en-US" sz="1400" dirty="0">
                <a:solidFill>
                  <a:srgbClr val="000000"/>
                </a:solidFill>
              </a:rPr>
              <a:t>     </a:t>
            </a:r>
            <a:pPr indent="0" marL="0">
              <a:buNone/>
            </a:pPr>
            <a:r>
              <a:rPr lang="en-US" sz="1400" dirty="0">
                <a:solidFill>
                  <a:srgbClr val="6E7F7C"/>
                </a:solidFill>
              </a:rPr>
              <a:t>④ approves – structures</a:t>
            </a:r>
            <a:pPr indent="0" marL="0">
              <a:buNone/>
            </a:pPr>
            <a:r>
              <a:rPr lang="en-US" sz="1400" dirty="0">
                <a:solidFill>
                  <a:srgbClr val="000000"/>
                </a:solidFill>
              </a:rPr>
              <a:t>     </a:t>
            </a:r>
            <a:pPr indent="0" marL="0">
              <a:buNone/>
            </a:pPr>
            <a:r>
              <a:rPr lang="en-US" sz="1400" dirty="0">
                <a:solidFill>
                  <a:srgbClr val="6E7F7C"/>
                </a:solidFill>
              </a:rPr>
              <a:t>⑤ approves – pressure</a:t>
            </a:r>
            <a:endParaRPr lang="en-US" sz="14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01 주제문 – 예시1 – 예시2   ·   </a:t>
            </a:r>
            <a:pPr indent="0" marL="0">
              <a:buNone/>
            </a:pPr>
            <a:r>
              <a:rPr lang="en-US" sz="1300" b="1" dirty="0">
                <a:solidFill>
                  <a:srgbClr val="14453D"/>
                </a:solidFill>
              </a:rPr>
              <a:t>UNIT 06 원인 – 결과</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발견</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비만인 친구가 있으면 나도 비만, 건강한 친구가 있으면 나도 건강</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이유</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우리는 주변 사람들의 행동을 따라 한다</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친구 따라 기름진 음식 / 친구 따라 조깅 시작</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사회적 전염: 행동이 사회적 관계망(contacts)을 통해 퍼진다</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For example 뒤 예시는 '공통점'만 잡으면 된다</a:t>
            </a:r>
            <a:endParaRPr lang="en-US" sz="1500" dirty="0"/>
          </a:p>
          <a:p>
            <a:pPr marL="342900" indent="-342900">
              <a:spcAft>
                <a:spcPts val="600"/>
              </a:spcAft>
              <a:buSzPct val="100000"/>
              <a:buChar char="✔"/>
            </a:pPr>
            <a:r>
              <a:rPr lang="en-US" sz="1500" dirty="0">
                <a:solidFill>
                  <a:srgbClr val="1E2B2A"/>
                </a:solidFill>
              </a:rPr>
              <a:t>social contagion: 행동이 사람 사이로 번진다</a:t>
            </a:r>
            <a:endParaRPr lang="en-US" sz="1500" dirty="0"/>
          </a:p>
          <a:p>
            <a:pPr marL="342900" indent="-342900">
              <a:spcAft>
                <a:spcPts val="600"/>
              </a:spcAft>
              <a:buSzPct val="100000"/>
              <a:buChar char="✔"/>
            </a:pPr>
            <a:r>
              <a:rPr lang="en-US" sz="1500" dirty="0">
                <a:solidFill>
                  <a:srgbClr val="1E2B2A"/>
                </a:solidFill>
              </a:rPr>
              <a:t>주어 Many cases → 동사 happen (수일치)</a:t>
            </a:r>
            <a:endParaRPr lang="en-US" sz="1500" dirty="0"/>
          </a:p>
          <a:p>
            <a:pPr marL="342900" indent="-342900">
              <a:spcAft>
                <a:spcPts val="600"/>
              </a:spcAft>
              <a:buSzPct val="100000"/>
              <a:buChar char="✔"/>
            </a:pPr>
            <a:r>
              <a:rPr lang="en-US" sz="1500" dirty="0">
                <a:solidFill>
                  <a:srgbClr val="1E2B2A"/>
                </a:solidFill>
              </a:rPr>
              <a:t>barely = 거의 ~않다 (부정어)</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subtle  </a:t>
            </a:r>
            <a:pPr indent="0" marL="0">
              <a:spcAft>
                <a:spcPts val="500"/>
              </a:spcAft>
              <a:buNone/>
            </a:pPr>
            <a:r>
              <a:rPr lang="en-US" sz="1300" dirty="0">
                <a:solidFill>
                  <a:srgbClr val="1E2B2A"/>
                </a:solidFill>
              </a:rPr>
              <a:t>≒ slight, delicate ↔ obvious, apparent</a:t>
            </a:r>
            <a:endParaRPr lang="en-US" sz="1300" dirty="0"/>
          </a:p>
          <a:p>
            <a:pPr indent="0" marL="0">
              <a:spcAft>
                <a:spcPts val="500"/>
              </a:spcAft>
              <a:buNone/>
            </a:pPr>
            <a:r>
              <a:rPr lang="en-US" sz="1300" b="1" dirty="0">
                <a:solidFill>
                  <a:srgbClr val="1F7A64"/>
                </a:solidFill>
              </a:rPr>
              <a:t>barely  </a:t>
            </a:r>
            <a:pPr indent="0" marL="0">
              <a:spcAft>
                <a:spcPts val="500"/>
              </a:spcAft>
              <a:buNone/>
            </a:pPr>
            <a:r>
              <a:rPr lang="en-US" sz="1300" dirty="0">
                <a:solidFill>
                  <a:srgbClr val="1E2B2A"/>
                </a:solidFill>
              </a:rPr>
              <a:t>≒ hardly, scarcely (부정어)</a:t>
            </a:r>
            <a:endParaRPr lang="en-US" sz="1300" dirty="0"/>
          </a:p>
          <a:p>
            <a:pPr indent="0" marL="0">
              <a:spcAft>
                <a:spcPts val="500"/>
              </a:spcAft>
              <a:buNone/>
            </a:pPr>
            <a:r>
              <a:rPr lang="en-US" sz="1300" b="1" dirty="0">
                <a:solidFill>
                  <a:srgbClr val="1F7A64"/>
                </a:solidFill>
              </a:rPr>
              <a:t>inclined to V  </a:t>
            </a:r>
            <a:pPr indent="0" marL="0">
              <a:spcAft>
                <a:spcPts val="500"/>
              </a:spcAft>
              <a:buNone/>
            </a:pPr>
            <a:r>
              <a:rPr lang="en-US" sz="1300" dirty="0">
                <a:solidFill>
                  <a:srgbClr val="1E2B2A"/>
                </a:solidFill>
              </a:rPr>
              <a:t>≒ tend to V, be likely to V, be apt to V</a:t>
            </a:r>
            <a:endParaRPr lang="en-US" sz="1300" dirty="0"/>
          </a:p>
          <a:p>
            <a:pPr indent="0" marL="0">
              <a:spcAft>
                <a:spcPts val="500"/>
              </a:spcAft>
              <a:buNone/>
            </a:pPr>
            <a:r>
              <a:rPr lang="en-US" sz="1300" b="1" dirty="0">
                <a:solidFill>
                  <a:srgbClr val="1F7A64"/>
                </a:solidFill>
              </a:rPr>
              <a:t>determine  </a:t>
            </a:r>
            <a:pPr indent="0" marL="0">
              <a:spcAft>
                <a:spcPts val="500"/>
              </a:spcAft>
              <a:buNone/>
            </a:pPr>
            <a:r>
              <a:rPr lang="en-US" sz="1300" dirty="0">
                <a:solidFill>
                  <a:srgbClr val="1E2B2A"/>
                </a:solidFill>
              </a:rPr>
              <a:t>≒ decide, shape ⊕ determination</a:t>
            </a:r>
            <a:endParaRPr lang="en-US" sz="1300" dirty="0"/>
          </a:p>
          <a:p>
            <a:pPr indent="0" marL="0">
              <a:spcAft>
                <a:spcPts val="500"/>
              </a:spcAft>
              <a:buNone/>
            </a:pPr>
            <a:r>
              <a:rPr lang="en-US" sz="1300" b="1" dirty="0">
                <a:solidFill>
                  <a:srgbClr val="1F7A64"/>
                </a:solidFill>
              </a:rPr>
              <a:t>transfer  </a:t>
            </a:r>
            <a:pPr indent="0" marL="0">
              <a:spcAft>
                <a:spcPts val="500"/>
              </a:spcAft>
              <a:buNone/>
            </a:pPr>
            <a:r>
              <a:rPr lang="en-US" sz="1300" dirty="0">
                <a:solidFill>
                  <a:srgbClr val="1E2B2A"/>
                </a:solidFill>
              </a:rPr>
              <a:t>≒ spread, transmission</a:t>
            </a:r>
            <a:endParaRPr lang="en-US" sz="1300" dirty="0"/>
          </a:p>
          <a:p>
            <a:pPr indent="0" marL="0">
              <a:spcAft>
                <a:spcPts val="500"/>
              </a:spcAft>
              <a:buNone/>
            </a:pPr>
            <a:r>
              <a:rPr lang="en-US" sz="1300" b="1" dirty="0">
                <a:solidFill>
                  <a:srgbClr val="1F7A64"/>
                </a:solidFill>
              </a:rPr>
              <a:t>obese  </a:t>
            </a:r>
            <a:pPr indent="0" marL="0">
              <a:spcAft>
                <a:spcPts val="500"/>
              </a:spcAft>
              <a:buNone/>
            </a:pPr>
            <a:r>
              <a:rPr lang="en-US" sz="1300" dirty="0">
                <a:solidFill>
                  <a:srgbClr val="1E2B2A"/>
                </a:solidFill>
              </a:rPr>
              <a:t>↔ thin ⊕ obesity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While studying</a:t>
            </a:r>
            <a:pPr indent="0" marL="0">
              <a:buNone/>
            </a:pPr>
            <a:r>
              <a:rPr lang="en-US" sz="1700" dirty="0">
                <a:solidFill>
                  <a:srgbClr val="1E2B2A"/>
                </a:solidFill>
              </a:rPr>
              <a:t> obesity in human networks, Nicholas Christakis and his colleagues at Harvard University made an important discovery. </a:t>
            </a:r>
            <a:pPr indent="0" marL="0">
              <a:buNone/>
            </a:pPr>
            <a:r>
              <a:rPr lang="en-US" sz="1700" b="1" dirty="0">
                <a:solidFill>
                  <a:srgbClr val="EF5B3F"/>
                </a:solidFill>
              </a:rPr>
              <a:t>[부사절 - 시간]</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인간 관계에서의 비만을 연구하는 동안, Harvard University의 Nicholas Christakis와 그의 동료들은 중요한 발견을 해냈다.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We </a:t>
            </a:r>
            <a:pPr indent="0" marL="0">
              <a:buNone/>
            </a:pPr>
            <a:r>
              <a:rPr lang="en-US" sz="1700" b="1" u="sng" dirty="0">
                <a:solidFill>
                  <a:srgbClr val="14453D"/>
                </a:solidFill>
              </a:rPr>
              <a:t>barely</a:t>
            </a:r>
            <a:pPr indent="0" marL="0">
              <a:buNone/>
            </a:pPr>
            <a:r>
              <a:rPr lang="en-US" sz="1700" dirty="0">
                <a:solidFill>
                  <a:srgbClr val="1E2B2A"/>
                </a:solidFill>
              </a:rPr>
              <a:t> notice this interesting hidden principle, but it can actually determine many of our life choices. </a:t>
            </a:r>
            <a:pPr indent="0" marL="0">
              <a:buNone/>
            </a:pPr>
            <a:r>
              <a:rPr lang="en-US" sz="1700" b="1" dirty="0">
                <a:solidFill>
                  <a:srgbClr val="EF5B3F"/>
                </a:solidFill>
              </a:rPr>
              <a:t>[부정부사]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우리는 이 흥미로운 숨겨진 원리를 거의 알아차리지 못하지만, 그것은 실제로 우리의 삶의 선택들 중 많은 것들을 결정할 수 있다.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빈칸에 들어갈 알맞은 말을 고르시오.</a:t>
            </a:r>
            <a:endParaRPr lang="en-US" sz="1500" dirty="0"/>
          </a:p>
        </p:txBody>
      </p:sp>
      <p:sp>
        <p:nvSpPr>
          <p:cNvPr id="14" name="Shape 12"/>
          <p:cNvSpPr/>
          <p:nvPr/>
        </p:nvSpPr>
        <p:spPr>
          <a:xfrm>
            <a:off x="548640" y="4389120"/>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The </a:t>
            </a:r>
            <a:pPr indent="0" marL="0">
              <a:buNone/>
            </a:pPr>
            <a:r>
              <a:rPr lang="en-US" sz="1700" b="1" dirty="0">
                <a:solidFill>
                  <a:srgbClr val="EF5B3F"/>
                </a:solidFill>
              </a:rPr>
              <a:t>[colleague / supervisor]</a:t>
            </a:r>
            <a:pPr indent="0" marL="0">
              <a:buNone/>
            </a:pPr>
            <a:r>
              <a:rPr lang="en-US" sz="1700" dirty="0">
                <a:solidFill>
                  <a:srgbClr val="1E2B2A"/>
                </a:solidFill>
              </a:rPr>
              <a:t> ordered all the team members to back up their files by Friday.</a:t>
            </a:r>
            <a:endParaRPr lang="en-US" sz="1700" dirty="0"/>
          </a:p>
        </p:txBody>
      </p:sp>
      <p:sp>
        <p:nvSpPr>
          <p:cNvPr id="17" name="ANIM_x2"/>
          <p:cNvSpPr txBox="1"/>
          <p:nvPr/>
        </p:nvSpPr>
        <p:spPr>
          <a:xfrm>
            <a:off x="9052560" y="4462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supervisor</a:t>
            </a:r>
            <a:endParaRPr lang="en-US" sz="1700" dirty="0"/>
          </a:p>
        </p:txBody>
      </p:sp>
      <p:sp>
        <p:nvSpPr>
          <p:cNvPr id="18" name="Shape 16"/>
          <p:cNvSpPr/>
          <p:nvPr/>
        </p:nvSpPr>
        <p:spPr>
          <a:xfrm>
            <a:off x="548640" y="5212080"/>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303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24865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he kept smiling, she detected </a:t>
            </a:r>
            <a:pPr indent="0" marL="0">
              <a:buNone/>
            </a:pPr>
            <a:r>
              <a:rPr lang="en-US" sz="1700" b="1" dirty="0">
                <a:solidFill>
                  <a:srgbClr val="EF5B3F"/>
                </a:solidFill>
              </a:rPr>
              <a:t>[subtle / obvious]</a:t>
            </a:r>
            <a:pPr indent="0" marL="0">
              <a:buNone/>
            </a:pPr>
            <a:r>
              <a:rPr lang="en-US" sz="1700" dirty="0">
                <a:solidFill>
                  <a:srgbClr val="1E2B2A"/>
                </a:solidFill>
              </a:rPr>
              <a:t> changes in his mood.</a:t>
            </a:r>
            <a:endParaRPr lang="en-US" sz="1700" dirty="0"/>
          </a:p>
        </p:txBody>
      </p:sp>
      <p:sp>
        <p:nvSpPr>
          <p:cNvPr id="21" name="ANIM_x3"/>
          <p:cNvSpPr txBox="1"/>
          <p:nvPr/>
        </p:nvSpPr>
        <p:spPr>
          <a:xfrm>
            <a:off x="9052560" y="528523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subtle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if your friends invite you to restaurants that serve fatty foods, you will become more inclined </a:t>
            </a:r>
            <a:pPr indent="0" marL="0">
              <a:buNone/>
            </a:pPr>
            <a:r>
              <a:rPr lang="en-US" sz="1700" b="1" dirty="0">
                <a:solidFill>
                  <a:srgbClr val="EF5B3F"/>
                </a:solidFill>
              </a:rPr>
              <a:t>[eating / to eat]</a:t>
            </a:r>
            <a:pPr indent="0" marL="0">
              <a:buNone/>
            </a:pPr>
            <a:r>
              <a:rPr lang="en-US" sz="1700" dirty="0">
                <a:solidFill>
                  <a:srgbClr val="1E2B2A"/>
                </a:solidFill>
              </a:rPr>
              <a:t> fatty food.</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to eat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in our daily lives through social networks.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happen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getting]</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a:t>
            </a:r>
            <a:pPr indent="0" marL="0">
              <a:buNone/>
            </a:pPr>
            <a:r>
              <a:rPr lang="en-US" sz="2000" b="1" dirty="0">
                <a:solidFill>
                  <a:srgbClr val="EF5B3F"/>
                </a:solidFill>
              </a:rPr>
              <a:t>[to clearly see / clearly see]</a:t>
            </a:r>
            <a:pPr indent="0" marL="0">
              <a:buNone/>
            </a:pPr>
            <a:r>
              <a:rPr lang="en-US" sz="2000" dirty="0">
                <a:solidFill>
                  <a:srgbClr val="1E2B2A"/>
                </a:solidFill>
              </a:rPr>
              <a:t> potential problems.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clearly see</a:t>
            </a:r>
            <a:endParaRPr lang="en-US" sz="1800" dirty="0"/>
          </a:p>
          <a:p>
            <a:pPr algn="ctr" indent="0" marL="0">
              <a:buNone/>
            </a:pPr>
            <a:r>
              <a:rPr lang="en-US" sz="1200" dirty="0">
                <a:solidFill>
                  <a:srgbClr val="1E2B2A"/>
                </a:solidFill>
              </a:rPr>
              <a:t>enable O to V / 부사 clearly</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95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694944"/>
            <a:ext cx="11018520" cy="3076106"/>
          </a:xfrm>
          <a:prstGeom prst="rect">
            <a:avLst/>
          </a:prstGeom>
          <a:noFill/>
          <a:ln/>
        </p:spPr>
        <p:txBody>
          <a:bodyPr wrap="square" lIns="0" tIns="0" rIns="0" bIns="0" rtlCol="0" anchor="t">
            <a:normAutofit/>
          </a:bodyPr>
          <a:lstStyle/>
          <a:p>
            <a:pPr indent="0" marL="0">
              <a:lnSpc>
                <a:spcPct val="118000"/>
              </a:lnSpc>
              <a:buNone/>
            </a:pPr>
            <a:r>
              <a:rPr lang="en-US" sz="1250" b="1" dirty="0">
                <a:solidFill>
                  <a:srgbClr val="1F7A64"/>
                </a:solidFill>
              </a:rPr>
              <a:t>(1) </a:t>
            </a:r>
            <a:pPr indent="0" marL="0">
              <a:lnSpc>
                <a:spcPct val="118000"/>
              </a:lnSpc>
              <a:buNone/>
            </a:pPr>
            <a:r>
              <a:rPr lang="en-US" sz="1650" dirty="0">
                <a:solidFill>
                  <a:srgbClr val="1E2B2A"/>
                </a:solidFill>
              </a:rPr>
              <a:t>Have you ever thought about </a:t>
            </a:r>
            <a:pPr indent="0" marL="0">
              <a:lnSpc>
                <a:spcPct val="118000"/>
              </a:lnSpc>
              <a:buNone/>
            </a:pPr>
            <a:r>
              <a:rPr lang="en-US" sz="1650" b="1" dirty="0">
                <a:solidFill>
                  <a:srgbClr val="14453D"/>
                </a:solidFill>
                <a:highlight>
                  <a:srgbClr val="A9DDF3"/>
                </a:highlight>
              </a:rPr>
              <a:t>what you are good at and not so good at</a:t>
            </a:r>
            <a:pPr indent="0" marL="0">
              <a:lnSpc>
                <a:spcPct val="118000"/>
              </a:lnSpc>
              <a:buNone/>
            </a:pPr>
            <a:r>
              <a:rPr lang="en-US" sz="1650" dirty="0">
                <a:solidFill>
                  <a:srgbClr val="1E2B2A"/>
                </a:solidFill>
              </a:rPr>
              <a:t> during internal conversations with yourself?</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(2) </a:t>
            </a:r>
            <a:pPr indent="0" marL="0">
              <a:lnSpc>
                <a:spcPct val="118000"/>
              </a:lnSpc>
              <a:buNone/>
            </a:pPr>
            <a:r>
              <a:rPr lang="en-US" sz="1650" dirty="0">
                <a:solidFill>
                  <a:srgbClr val="1E2B2A"/>
                </a:solidFill>
              </a:rPr>
              <a:t>Inner thought processes like this </a:t>
            </a:r>
            <a:pPr indent="0" marL="0">
              <a:lnSpc>
                <a:spcPct val="118000"/>
              </a:lnSpc>
              <a:buNone/>
            </a:pPr>
            <a:r>
              <a:rPr lang="en-US" sz="1650" b="1" dirty="0">
                <a:solidFill>
                  <a:srgbClr val="14453D"/>
                </a:solidFill>
                <a:highlight>
                  <a:srgbClr val="A9DDF3"/>
                </a:highlight>
              </a:rPr>
              <a:t>help you get a clearer picture</a:t>
            </a:r>
            <a:pPr indent="0" marL="0">
              <a:lnSpc>
                <a:spcPct val="118000"/>
              </a:lnSpc>
              <a:buNone/>
            </a:pPr>
            <a:r>
              <a:rPr lang="en-US" sz="1650" dirty="0">
                <a:solidFill>
                  <a:srgbClr val="1E2B2A"/>
                </a:solidFill>
              </a:rPr>
              <a:t> of your strengths and weaknesses.</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(3) </a:t>
            </a:r>
            <a:pPr indent="0" marL="0">
              <a:lnSpc>
                <a:spcPct val="118000"/>
              </a:lnSpc>
              <a:buNone/>
            </a:pPr>
            <a:r>
              <a:rPr lang="en-US" sz="1650" dirty="0">
                <a:solidFill>
                  <a:srgbClr val="1E2B2A"/>
                </a:solidFill>
              </a:rPr>
              <a:t>During the process, you may </a:t>
            </a:r>
            <a:pPr indent="0" marL="0">
              <a:lnSpc>
                <a:spcPct val="118000"/>
              </a:lnSpc>
              <a:buNone/>
            </a:pPr>
            <a:r>
              <a:rPr lang="en-US" sz="1650" b="1" dirty="0">
                <a:solidFill>
                  <a:srgbClr val="1E2B2A"/>
                </a:solidFill>
                <a:highlight>
                  <a:srgbClr val="FFD45C"/>
                </a:highlight>
              </a:rPr>
              <a:t>ask yourself a series of questions</a:t>
            </a:r>
            <a:pPr indent="0" marL="0">
              <a:lnSpc>
                <a:spcPct val="118000"/>
              </a:lnSpc>
              <a:buNone/>
            </a:pPr>
            <a:r>
              <a:rPr lang="en-US" sz="1650" dirty="0">
                <a:solidFill>
                  <a:srgbClr val="1E2B2A"/>
                </a:solidFill>
              </a:rPr>
              <a:t> to identify blind spots that may be blocking you from reaching your goals.</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(4) </a:t>
            </a:r>
            <a:pPr indent="0" marL="0">
              <a:lnSpc>
                <a:spcPct val="118000"/>
              </a:lnSpc>
              <a:buNone/>
            </a:pPr>
            <a:r>
              <a:rPr lang="en-US" sz="1650" dirty="0">
                <a:solidFill>
                  <a:srgbClr val="1E2B2A"/>
                </a:solidFill>
              </a:rPr>
              <a:t>This reflection process </a:t>
            </a:r>
            <a:pPr indent="0" marL="0">
              <a:lnSpc>
                <a:spcPct val="118000"/>
              </a:lnSpc>
              <a:buNone/>
            </a:pPr>
            <a:r>
              <a:rPr lang="en-US" sz="1650" b="1" dirty="0">
                <a:solidFill>
                  <a:srgbClr val="14453D"/>
                </a:solidFill>
                <a:highlight>
                  <a:srgbClr val="A9DDF3"/>
                </a:highlight>
              </a:rPr>
              <a:t>enables you to clearly see</a:t>
            </a:r>
            <a:pPr indent="0" marL="0">
              <a:lnSpc>
                <a:spcPct val="118000"/>
              </a:lnSpc>
              <a:buNone/>
            </a:pPr>
            <a:r>
              <a:rPr lang="en-US" sz="1650" dirty="0">
                <a:solidFill>
                  <a:srgbClr val="1E2B2A"/>
                </a:solidFill>
              </a:rPr>
              <a:t> potential problems and ways to fix them.</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(5) </a:t>
            </a:r>
            <a:pPr indent="0" marL="0">
              <a:lnSpc>
                <a:spcPct val="118000"/>
              </a:lnSpc>
              <a:buNone/>
            </a:pPr>
            <a:r>
              <a:rPr lang="en-US" sz="1650" b="1" dirty="0">
                <a:solidFill>
                  <a:srgbClr val="14453D"/>
                </a:solidFill>
                <a:highlight>
                  <a:srgbClr val="A9DDF3"/>
                </a:highlight>
              </a:rPr>
              <a:t>It is </a:t>
            </a:r>
            <a:pPr indent="0" marL="0">
              <a:lnSpc>
                <a:spcPct val="118000"/>
              </a:lnSpc>
              <a:buNone/>
            </a:pPr>
            <a:r>
              <a:rPr lang="en-US" sz="1650" b="1" u="sng" dirty="0">
                <a:solidFill>
                  <a:srgbClr val="1E2B2A"/>
                </a:solidFill>
                <a:highlight>
                  <a:srgbClr val="FFD45C"/>
                </a:highlight>
                <a:uFill>
                  <a:solidFill>
                    <a:srgbClr val="2C7DA0"/>
                  </a:solidFill>
                </a:uFill>
              </a:rPr>
              <a:t>not only essential in personal development but also critical</a:t>
            </a:r>
            <a:pPr indent="0" marL="0">
              <a:lnSpc>
                <a:spcPct val="118000"/>
              </a:lnSpc>
              <a:buNone/>
            </a:pPr>
            <a:r>
              <a:rPr lang="en-US" sz="1650" b="1" dirty="0">
                <a:solidFill>
                  <a:srgbClr val="1E2B2A"/>
                </a:solidFill>
                <a:highlight>
                  <a:srgbClr val="FFD45C"/>
                </a:highlight>
              </a:rPr>
              <a:t> to corporate success</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(6) </a:t>
            </a:r>
            <a:pPr indent="0" marL="0">
              <a:lnSpc>
                <a:spcPct val="118000"/>
              </a:lnSpc>
              <a:buNone/>
            </a:pPr>
            <a:r>
              <a:rPr lang="en-US" sz="1650" dirty="0">
                <a:solidFill>
                  <a:srgbClr val="1E2B2A"/>
                </a:solidFill>
              </a:rPr>
              <a:t>The most consistently innovative companies in the world </a:t>
            </a:r>
            <a:pPr indent="0" marL="0">
              <a:lnSpc>
                <a:spcPct val="118000"/>
              </a:lnSpc>
              <a:buNone/>
            </a:pPr>
            <a:r>
              <a:rPr lang="en-US" sz="1650" b="1" dirty="0">
                <a:solidFill>
                  <a:srgbClr val="1E2B2A"/>
                </a:solidFill>
                <a:highlight>
                  <a:srgbClr val="FFD45C"/>
                </a:highlight>
              </a:rPr>
              <a:t>promote a culture</a:t>
            </a:r>
            <a:pPr indent="0" marL="0">
              <a:lnSpc>
                <a:spcPct val="118000"/>
              </a:lnSpc>
              <a:buNone/>
            </a:pPr>
            <a:r>
              <a:rPr lang="en-US" sz="1650" dirty="0">
                <a:solidFill>
                  <a:srgbClr val="1E2B2A"/>
                </a:solidFill>
              </a:rPr>
              <a:t> which includes this self-inquiry.</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(7) </a:t>
            </a:r>
            <a:pPr indent="0" marL="0">
              <a:lnSpc>
                <a:spcPct val="118000"/>
              </a:lnSpc>
              <a:buNone/>
            </a:pPr>
            <a:r>
              <a:rPr lang="en-US" sz="16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(8) </a:t>
            </a:r>
            <a:pPr indent="0" marL="0">
              <a:lnSpc>
                <a:spcPct val="118000"/>
              </a:lnSpc>
              <a:buNone/>
            </a:pPr>
            <a:r>
              <a:rPr lang="en-US" sz="1650" b="1" dirty="0">
                <a:solidFill>
                  <a:srgbClr val="14453D"/>
                </a:solidFill>
                <a:highlight>
                  <a:srgbClr val="A9DDF3"/>
                </a:highlight>
              </a:rPr>
              <a:t>It is this self-awareness that allows</a:t>
            </a:r>
            <a:pPr indent="0" marL="0">
              <a:lnSpc>
                <a:spcPct val="118000"/>
              </a:lnSpc>
              <a:buNone/>
            </a:pPr>
            <a:r>
              <a:rPr lang="en-US" sz="1650" dirty="0">
                <a:solidFill>
                  <a:srgbClr val="1E2B2A"/>
                </a:solidFill>
              </a:rPr>
              <a:t> the company to excel at developing innovative and outstanding products.</a:t>
            </a:r>
            <a:endParaRPr lang="en-US" sz="1250" dirty="0"/>
          </a:p>
        </p:txBody>
      </p:sp>
      <p:sp>
        <p:nvSpPr>
          <p:cNvPr id="21" name="Shape 19"/>
          <p:cNvSpPr/>
          <p:nvPr/>
        </p:nvSpPr>
        <p:spPr>
          <a:xfrm>
            <a:off x="548640" y="3825914"/>
            <a:ext cx="11109960" cy="794614"/>
          </a:xfrm>
          <a:prstGeom prst="roundRect">
            <a:avLst>
              <a:gd name="adj" fmla="val 9206"/>
            </a:avLst>
          </a:prstGeom>
          <a:solidFill>
            <a:srgbClr val="FFF8EC"/>
          </a:solidFill>
          <a:ln w="28575">
            <a:solidFill>
              <a:srgbClr val="EF5B3F"/>
            </a:solidFill>
            <a:prstDash val="solid"/>
          </a:ln>
        </p:spPr>
      </p:sp>
      <p:sp>
        <p:nvSpPr>
          <p:cNvPr id="22" name="Text 20"/>
          <p:cNvSpPr txBox="1"/>
          <p:nvPr/>
        </p:nvSpPr>
        <p:spPr>
          <a:xfrm>
            <a:off x="685800" y="3862490"/>
            <a:ext cx="10881360" cy="721462"/>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650" b="1" dirty="0">
                <a:solidFill>
                  <a:srgbClr val="14453D"/>
                </a:solidFill>
              </a:rPr>
              <a:t>Our </a:t>
            </a:r>
            <a:pPr indent="0" marL="0">
              <a:lnSpc>
                <a:spcPct val="115000"/>
              </a:lnSpc>
              <a:buNone/>
            </a:pPr>
            <a:r>
              <a:rPr lang="en-US" sz="1650" b="1" dirty="0">
                <a:solidFill>
                  <a:srgbClr val="EF5B3F"/>
                </a:solidFill>
              </a:rPr>
              <a:t>(A)</a:t>
            </a:r>
            <a:pPr indent="0" marL="0">
              <a:lnSpc>
                <a:spcPct val="115000"/>
              </a:lnSpc>
              <a:buNone/>
            </a:pPr>
            <a:r>
              <a:rPr lang="en-US" sz="1650" b="1" dirty="0">
                <a:solidFill>
                  <a:srgbClr val="14453D"/>
                </a:solidFill>
              </a:rPr>
              <a:t> efforts to understand the strong points and weak points of a subject through the process of self-reflection can lead to </a:t>
            </a:r>
            <a:pPr indent="0" marL="0">
              <a:lnSpc>
                <a:spcPct val="115000"/>
              </a:lnSpc>
              <a:buNone/>
            </a:pPr>
            <a:r>
              <a:rPr lang="en-US" sz="1650" b="1" dirty="0">
                <a:solidFill>
                  <a:srgbClr val="EF5B3F"/>
                </a:solidFill>
              </a:rPr>
              <a:t>(B)</a:t>
            </a:r>
            <a:pPr indent="0" marL="0">
              <a:lnSpc>
                <a:spcPct val="115000"/>
              </a:lnSpc>
              <a:buNone/>
            </a:pPr>
            <a:r>
              <a:rPr lang="en-US" sz="1650" b="1" dirty="0">
                <a:solidFill>
                  <a:srgbClr val="14453D"/>
                </a:solidFill>
              </a:rPr>
              <a:t> achievement as well as individual progress.</a:t>
            </a:r>
            <a:endParaRPr lang="en-US" sz="1200" dirty="0"/>
          </a:p>
        </p:txBody>
      </p:sp>
      <p:sp>
        <p:nvSpPr>
          <p:cNvPr id="23" name="Text 21"/>
          <p:cNvSpPr txBox="1"/>
          <p:nvPr/>
        </p:nvSpPr>
        <p:spPr>
          <a:xfrm>
            <a:off x="594360" y="4693679"/>
            <a:ext cx="11018520" cy="591553"/>
          </a:xfrm>
          <a:prstGeom prst="rect">
            <a:avLst/>
          </a:prstGeom>
          <a:noFill/>
          <a:ln/>
        </p:spPr>
        <p:txBody>
          <a:bodyPr wrap="square" lIns="0" tIns="0" rIns="0" bIns="0" rtlCol="0" anchor="t">
            <a:normAutofit/>
          </a:bodyPr>
          <a:lstStyle/>
          <a:p>
            <a:pPr indent="0" marL="0">
              <a:buNone/>
            </a:pPr>
            <a:r>
              <a:rPr lang="en-US" sz="1350" dirty="0">
                <a:solidFill>
                  <a:srgbClr val="6E7F7C"/>
                </a:solidFill>
              </a:rPr>
              <a:t>① inventive – professional</a:t>
            </a:r>
            <a:pPr indent="0" marL="0">
              <a:buNone/>
            </a:pPr>
            <a:r>
              <a:rPr lang="en-US" sz="1350" dirty="0">
                <a:solidFill>
                  <a:srgbClr val="000000"/>
                </a:solidFill>
              </a:rPr>
              <a:t>     </a:t>
            </a:r>
            <a:pPr indent="0" marL="0">
              <a:buNone/>
            </a:pPr>
            <a:r>
              <a:rPr lang="en-US" sz="1350" dirty="0">
                <a:solidFill>
                  <a:srgbClr val="6E7F7C"/>
                </a:solidFill>
              </a:rPr>
              <a:t>② inventive – unexpected</a:t>
            </a:r>
            <a:pPr indent="0" marL="0">
              <a:buNone/>
            </a:pPr>
            <a:r>
              <a:rPr lang="en-US" sz="1350" dirty="0">
                <a:solidFill>
                  <a:srgbClr val="000000"/>
                </a:solidFill>
              </a:rPr>
              <a:t>     </a:t>
            </a:r>
            <a:pPr indent="0" marL="0">
              <a:buNone/>
            </a:pPr>
            <a:r>
              <a:rPr lang="en-US" sz="1350" dirty="0">
                <a:solidFill>
                  <a:srgbClr val="6E7F7C"/>
                </a:solidFill>
              </a:rPr>
              <a:t>③ independent – immediate</a:t>
            </a:r>
            <a:pPr indent="0" marL="0">
              <a:buNone/>
            </a:pPr>
            <a:r>
              <a:rPr lang="en-US" sz="1350" dirty="0">
                <a:solidFill>
                  <a:srgbClr val="000000"/>
                </a:solidFill>
              </a:rPr>
              <a:t>     </a:t>
            </a:r>
            <a:pPr indent="0" marL="0">
              <a:buNone/>
            </a:pPr>
            <a:r>
              <a:rPr lang="en-US" sz="1350" b="1" dirty="0">
                <a:solidFill>
                  <a:srgbClr val="EF5B3F"/>
                </a:solidFill>
              </a:rPr>
              <a:t>④ conscious – collective</a:t>
            </a:r>
            <a:pPr indent="0" marL="0">
              <a:buNone/>
            </a:pPr>
            <a:r>
              <a:rPr lang="en-US" sz="1150" b="1" dirty="0">
                <a:solidFill>
                  <a:srgbClr val="EF5B3F"/>
                </a:solidFill>
              </a:rPr>
              <a:t> ✔</a:t>
            </a:r>
            <a:pPr indent="0" marL="0">
              <a:buNone/>
            </a:pPr>
            <a:r>
              <a:rPr lang="en-US" sz="1350" dirty="0">
                <a:solidFill>
                  <a:srgbClr val="000000"/>
                </a:solidFill>
              </a:rPr>
              <a:t>     </a:t>
            </a:r>
            <a:pPr indent="0" marL="0">
              <a:buNone/>
            </a:pPr>
            <a:r>
              <a:rPr lang="en-US" sz="1350" dirty="0">
                <a:solidFill>
                  <a:srgbClr val="6E7F7C"/>
                </a:solidFill>
              </a:rPr>
              <a:t>⑤ conscious – modest</a:t>
            </a:r>
            <a:endParaRPr lang="en-US" sz="13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09 질문 – 답변</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질문</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나는 무엇을 잘하고 못할까? — 내적 대화</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효과</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강점·약점을 분명히 보고, 맹점을 찾아 고칠 방법을 봄</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확장</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발전 + 기업의 성공에도 중요 (not only A but also B)</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구글: 금요일 자유 시간에 프로젝트 성찰 → 혁신 제품</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not only A but also B → B가 강조되는 내용</a:t>
            </a:r>
            <a:endParaRPr lang="en-US" sz="1500" dirty="0"/>
          </a:p>
          <a:p>
            <a:pPr marL="342900" indent="-342900">
              <a:spcAft>
                <a:spcPts val="600"/>
              </a:spcAft>
              <a:buSzPct val="100000"/>
              <a:buChar char="✔"/>
            </a:pPr>
            <a:r>
              <a:rPr lang="en-US" sz="1500" dirty="0">
                <a:solidFill>
                  <a:srgbClr val="1E2B2A"/>
                </a:solidFill>
              </a:rPr>
              <a:t>corporate success = collective achievement</a:t>
            </a:r>
            <a:endParaRPr lang="en-US" sz="1500" dirty="0"/>
          </a:p>
          <a:p>
            <a:pPr marL="342900" indent="-342900">
              <a:spcAft>
                <a:spcPts val="600"/>
              </a:spcAft>
              <a:buSzPct val="100000"/>
              <a:buChar char="✔"/>
            </a:pPr>
            <a:r>
              <a:rPr lang="en-US" sz="1500" dirty="0">
                <a:solidFill>
                  <a:srgbClr val="1E2B2A"/>
                </a:solidFill>
              </a:rPr>
              <a:t>It is ~ that 강조구문</a:t>
            </a:r>
            <a:endParaRPr lang="en-US" sz="1500" dirty="0"/>
          </a:p>
          <a:p>
            <a:pPr marL="342900" indent="-342900">
              <a:spcAft>
                <a:spcPts val="600"/>
              </a:spcAft>
              <a:buSzPct val="100000"/>
              <a:buChar char="✔"/>
            </a:pPr>
            <a:r>
              <a:rPr lang="en-US" sz="1500" dirty="0">
                <a:solidFill>
                  <a:srgbClr val="1E2B2A"/>
                </a:solidFill>
              </a:rPr>
              <a:t>enable O to V / 부사 clearly</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 ⊕ identity, identification</a:t>
            </a:r>
            <a:endParaRPr lang="en-US" sz="1300" dirty="0"/>
          </a:p>
          <a:p>
            <a:pPr indent="0" marL="0">
              <a:spcAft>
                <a:spcPts val="500"/>
              </a:spcAft>
              <a:buNone/>
            </a:pPr>
            <a:r>
              <a:rPr lang="en-US" sz="1300" b="1" dirty="0">
                <a:solidFill>
                  <a:srgbClr val="1F7A64"/>
                </a:solidFill>
              </a:rPr>
              <a:t>innovative  </a:t>
            </a:r>
            <a:pPr indent="0" marL="0">
              <a:spcAft>
                <a:spcPts val="500"/>
              </a:spcAft>
              <a:buNone/>
            </a:pPr>
            <a:r>
              <a:rPr lang="en-US" sz="1300" dirty="0">
                <a:solidFill>
                  <a:srgbClr val="1E2B2A"/>
                </a:solidFill>
              </a:rPr>
              <a:t>≒ creative, inventive ⊕ innovate, innovation</a:t>
            </a:r>
            <a:endParaRPr lang="en-US" sz="1300" dirty="0"/>
          </a:p>
          <a:p>
            <a:pPr indent="0" marL="0">
              <a:spcAft>
                <a:spcPts val="500"/>
              </a:spcAft>
              <a:buNone/>
            </a:pPr>
            <a:r>
              <a:rPr lang="en-US" sz="1300" b="1" dirty="0">
                <a:solidFill>
                  <a:srgbClr val="1F7A64"/>
                </a:solidFill>
              </a:rPr>
              <a:t>consistently  </a:t>
            </a:r>
            <a:pPr indent="0" marL="0">
              <a:spcAft>
                <a:spcPts val="500"/>
              </a:spcAft>
              <a:buNone/>
            </a:pPr>
            <a:r>
              <a:rPr lang="en-US" sz="1300" dirty="0">
                <a:solidFill>
                  <a:srgbClr val="1E2B2A"/>
                </a:solidFill>
              </a:rPr>
              <a:t>≒ constantly, steadily ↔ inconsistently ⊕ consistent, consistency</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 excellence</a:t>
            </a:r>
            <a:endParaRPr lang="en-US" sz="1300" dirty="0"/>
          </a:p>
          <a:p>
            <a:pPr indent="0" marL="0">
              <a:spcAft>
                <a:spcPts val="500"/>
              </a:spcAft>
              <a:buNone/>
            </a:pPr>
            <a:r>
              <a:rPr lang="en-US" sz="1300" b="1" dirty="0">
                <a:solidFill>
                  <a:srgbClr val="1F7A64"/>
                </a:solidFill>
              </a:rPr>
              <a:t>critical  </a:t>
            </a:r>
            <a:pPr indent="0" marL="0">
              <a:spcAft>
                <a:spcPts val="500"/>
              </a:spcAft>
              <a:buNone/>
            </a:pPr>
            <a:r>
              <a:rPr lang="en-US" sz="1300" dirty="0">
                <a:solidFill>
                  <a:srgbClr val="1E2B2A"/>
                </a:solidFill>
              </a:rPr>
              <a:t>≒ crucial, essential, vital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Inner thought processes</a:t>
            </a:r>
            <a:pPr indent="0" marL="0">
              <a:buNone/>
            </a:pPr>
            <a:r>
              <a:rPr lang="en-US" sz="1700" dirty="0">
                <a:solidFill>
                  <a:srgbClr val="1E2B2A"/>
                </a:solidFill>
              </a:rPr>
              <a:t> like this </a:t>
            </a:r>
            <a:pPr indent="0" marL="0">
              <a:buNone/>
            </a:pPr>
            <a:r>
              <a:rPr lang="en-US" sz="1700" b="1" u="sng" dirty="0">
                <a:solidFill>
                  <a:srgbClr val="14453D"/>
                </a:solidFill>
              </a:rPr>
              <a:t>help</a:t>
            </a:r>
            <a:pPr indent="0" marL="0">
              <a:buNone/>
            </a:pPr>
            <a:r>
              <a:rPr lang="en-US" sz="1700" dirty="0">
                <a:solidFill>
                  <a:srgbClr val="1E2B2A"/>
                </a:solidFill>
              </a:rPr>
              <a:t> you get a clearer picture of your strengths and weaknesses. </a:t>
            </a:r>
            <a:pPr indent="0" marL="0">
              <a:buNone/>
            </a:pPr>
            <a:r>
              <a:rPr lang="en-US" sz="1700" b="1" dirty="0">
                <a:solidFill>
                  <a:srgbClr val="EF5B3F"/>
                </a:solidFill>
              </a:rPr>
              <a:t>[주어 - 동사]</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이와 같은 내면의 사고 과정은 당신이 당신의 강점과 약점에 대해 더 분명한 그림을 얻도록 도와준다.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most </a:t>
            </a:r>
            <a:pPr indent="0" marL="0">
              <a:buNone/>
            </a:pPr>
            <a:r>
              <a:rPr lang="en-US" sz="1700" b="1" u="sng" dirty="0">
                <a:solidFill>
                  <a:srgbClr val="14453D"/>
                </a:solidFill>
              </a:rPr>
              <a:t>consistently</a:t>
            </a:r>
            <a:pPr indent="0" marL="0">
              <a:buNone/>
            </a:pPr>
            <a:r>
              <a:rPr lang="en-US" sz="1700" dirty="0">
                <a:solidFill>
                  <a:srgbClr val="1E2B2A"/>
                </a:solidFill>
              </a:rPr>
              <a:t> innovative companies in the world promote a culture which includes this self-inquiry. </a:t>
            </a:r>
            <a:pPr indent="0" marL="0">
              <a:buNone/>
            </a:pPr>
            <a:r>
              <a:rPr lang="en-US" sz="1700" b="1" dirty="0">
                <a:solidFill>
                  <a:srgbClr val="EF5B3F"/>
                </a:solidFill>
              </a:rPr>
              <a:t>[부사]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세계에서 가장 한결같이 획기적인 회사들은 이런 자기 탐구를 포함하는 문화를 장려한다.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어법상 올바른 형태를 넣어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CEO put emphasis on everyone’s initiative to pursue ________. (innovate)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innovation</a:t>
            </a:r>
            <a:endParaRPr lang="en-US" sz="1700" dirty="0"/>
          </a:p>
        </p:txBody>
      </p:sp>
      <p:sp>
        <p:nvSpPr>
          <p:cNvPr id="18" name="Shape 16"/>
          <p:cNvSpPr/>
          <p:nvPr/>
        </p:nvSpPr>
        <p:spPr>
          <a:xfrm>
            <a:off x="548640" y="5010912"/>
            <a:ext cx="11064240" cy="731520"/>
          </a:xfrm>
          <a:prstGeom prst="roundRect">
            <a:avLst>
              <a:gd name="adj" fmla="val 10000"/>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Leaving the restaurant, we couldn’t stop talking about how ________ the food was. (excel)</a:t>
            </a:r>
            <a:endParaRPr lang="en-US" sz="1700" dirty="0"/>
          </a:p>
        </p:txBody>
      </p:sp>
      <p:sp>
        <p:nvSpPr>
          <p:cNvPr id="21" name="ANIM_x3"/>
          <p:cNvSpPr txBox="1"/>
          <p:nvPr/>
        </p:nvSpPr>
        <p:spPr>
          <a:xfrm>
            <a:off x="9052560" y="508406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excellent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Have you ever thought about what you are good at and not so good at </a:t>
            </a:r>
            <a:pPr indent="0" marL="0">
              <a:buNone/>
            </a:pPr>
            <a:r>
              <a:rPr lang="en-US" sz="1700" b="1" dirty="0">
                <a:solidFill>
                  <a:srgbClr val="EF5B3F"/>
                </a:solidFill>
              </a:rPr>
              <a:t>[during / while]</a:t>
            </a:r>
            <a:pPr indent="0" marL="0">
              <a:buNone/>
            </a:pPr>
            <a:r>
              <a:rPr lang="en-US" sz="1700" dirty="0">
                <a:solidFill>
                  <a:srgbClr val="1E2B2A"/>
                </a:solidFill>
              </a:rPr>
              <a:t> internal conversations with yourself?</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during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to </a:t>
            </a:r>
            <a:pPr indent="0" marL="0">
              <a:buNone/>
            </a:pPr>
            <a:r>
              <a:rPr lang="en-US" sz="1700" b="1" dirty="0">
                <a:solidFill>
                  <a:srgbClr val="EF5B3F"/>
                </a:solidFill>
              </a:rPr>
              <a:t>[clear / clearly]</a:t>
            </a:r>
            <a:pPr indent="0" marL="0">
              <a:buNone/>
            </a:pPr>
            <a:r>
              <a:rPr lang="en-US" sz="1700" dirty="0">
                <a:solidFill>
                  <a:srgbClr val="1E2B2A"/>
                </a:solidFill>
              </a:rPr>
              <a:t> see potential problems and ways to fix them.</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systems.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수동태 불가</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your body’s organs, </a:t>
            </a:r>
            <a:pPr indent="0" marL="0">
              <a:buNone/>
            </a:pPr>
            <a:r>
              <a:rPr lang="en-US" sz="2000" b="1" dirty="0">
                <a:solidFill>
                  <a:srgbClr val="EF5B3F"/>
                </a:solidFill>
              </a:rPr>
              <a:t>[causing / caused]</a:t>
            </a:r>
            <a:pPr indent="0" marL="0">
              <a:buNone/>
            </a:pPr>
            <a:r>
              <a:rPr lang="en-US" sz="2000" dirty="0">
                <a:solidFill>
                  <a:srgbClr val="1E2B2A"/>
                </a:solidFill>
              </a:rPr>
              <a:t> them to respond accordingly.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causing</a:t>
            </a:r>
            <a:endParaRPr lang="en-US" sz="1800" dirty="0"/>
          </a:p>
          <a:p>
            <a:pPr algn="ctr" indent="0" marL="0">
              <a:buNone/>
            </a:pPr>
            <a:r>
              <a:rPr lang="en-US" sz="1200" dirty="0">
                <a:solidFill>
                  <a:srgbClr val="1E2B2A"/>
                </a:solidFill>
              </a:rPr>
              <a:t>결과의 분사구문 (능동) + cause O to V</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chemical odor.</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make O C: 명사 prey 수식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recognize </a:t>
            </a:r>
            <a:pPr indent="0" marL="0">
              <a:buNone/>
            </a:pPr>
            <a:r>
              <a:rPr lang="en-US" sz="2000" b="1" dirty="0">
                <a:solidFill>
                  <a:srgbClr val="EF5B3F"/>
                </a:solidFill>
              </a:rPr>
              <a:t>[whether / that]</a:t>
            </a:r>
            <a:pPr indent="0" marL="0">
              <a:buNone/>
            </a:pPr>
            <a:r>
              <a:rPr lang="en-US" sz="2000" dirty="0">
                <a:solidFill>
                  <a:srgbClr val="1E2B2A"/>
                </a:solidFill>
              </a:rPr>
              <a:t> the odor released is one of fear, danger, or hunger.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whether</a:t>
            </a:r>
            <a:endParaRPr lang="en-US" sz="1800" dirty="0"/>
          </a:p>
          <a:p>
            <a:pPr algn="ctr" indent="0" marL="0">
              <a:buNone/>
            </a:pPr>
            <a:r>
              <a:rPr lang="en-US" sz="1200" dirty="0">
                <a:solidFill>
                  <a:srgbClr val="1E2B2A"/>
                </a:solidFill>
              </a:rPr>
              <a:t>~인지 아닌지 (명사절)</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96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probability</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확률</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sophisticated</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정교한</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distinct</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별개의</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odor</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냄새</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crucial</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중대한</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marine</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해양의</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prey</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먹이</a:t>
            </a:r>
            <a:endParaRPr lang="en-US" sz="1400" dirty="0"/>
          </a:p>
        </p:txBody>
      </p:sp>
      <p:sp>
        <p:nvSpPr>
          <p:cNvPr id="20" name="Text 18"/>
          <p:cNvSpPr txBox="1"/>
          <p:nvPr/>
        </p:nvSpPr>
        <p:spPr>
          <a:xfrm>
            <a:off x="908685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predator</a:t>
            </a:r>
            <a:endParaRPr lang="en-US" sz="1500" dirty="0"/>
          </a:p>
        </p:txBody>
      </p:sp>
      <p:sp>
        <p:nvSpPr>
          <p:cNvPr id="21" name="ANIM_v7"/>
          <p:cNvSpPr txBox="1"/>
          <p:nvPr/>
        </p:nvSpPr>
        <p:spPr>
          <a:xfrm>
            <a:off x="1046416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포식자</a:t>
            </a:r>
            <a:endParaRPr lang="en-US" sz="1400" dirty="0"/>
          </a:p>
        </p:txBody>
      </p:sp>
      <p:sp>
        <p:nvSpPr>
          <p:cNvPr id="22" name="Text 20"/>
          <p:cNvSpPr txBox="1"/>
          <p:nvPr/>
        </p:nvSpPr>
        <p:spPr>
          <a:xfrm>
            <a:off x="594360" y="694944"/>
            <a:ext cx="11018520" cy="3039600"/>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To increase the probability of survival, many animals have evolved a sophisticated sense of smell</a:t>
            </a:r>
            <a:pPr indent="0" marL="0">
              <a:lnSpc>
                <a:spcPct val="118000"/>
              </a:lnSpc>
              <a:buNone/>
            </a:pPr>
            <a:r>
              <a:rPr lang="en-US" sz="1700" b="1" dirty="0">
                <a:solidFill>
                  <a:srgbClr val="14453D"/>
                </a:solidFill>
                <a:highlight>
                  <a:srgbClr val="A9DDF3"/>
                </a:highlight>
              </a:rPr>
              <a:t>, which consists of two distinct sensory systems</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dirty="0">
                <a:solidFill>
                  <a:srgbClr val="1E2B2A"/>
                </a:solidFill>
              </a:rPr>
              <a:t>The first system is responsible for detecting an odor.</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dirty="0">
                <a:solidFill>
                  <a:srgbClr val="1E2B2A"/>
                </a:solidFill>
              </a:rPr>
              <a:t>The second system is responsible for understanding that odor and communicating it to the part of the brain responsible for sending the proper messages to your body’s organs, </a:t>
            </a:r>
            <a:pPr indent="0" marL="0">
              <a:lnSpc>
                <a:spcPct val="118000"/>
              </a:lnSpc>
              <a:buNone/>
            </a:pPr>
            <a:r>
              <a:rPr lang="en-US" sz="1700" b="1" dirty="0">
                <a:solidFill>
                  <a:srgbClr val="14453D"/>
                </a:solidFill>
                <a:highlight>
                  <a:srgbClr val="A9DDF3"/>
                </a:highlight>
              </a:rPr>
              <a:t>causing them to respond accordingly</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The latter system plays a crucial role in </a:t>
            </a:r>
            <a:pPr indent="0" marL="0">
              <a:lnSpc>
                <a:spcPct val="118000"/>
              </a:lnSpc>
              <a:buNone/>
            </a:pPr>
            <a:r>
              <a:rPr lang="en-US" sz="1700" b="1" dirty="0">
                <a:solidFill>
                  <a:srgbClr val="1E2B2A"/>
                </a:solidFill>
                <a:highlight>
                  <a:srgbClr val="FFD45C"/>
                </a:highlight>
              </a:rPr>
              <a:t>interpreting the hidden messages</a:t>
            </a:r>
            <a:pPr indent="0" marL="0">
              <a:lnSpc>
                <a:spcPct val="118000"/>
              </a:lnSpc>
              <a:buNone/>
            </a:pPr>
            <a:r>
              <a:rPr lang="en-US" sz="1700" dirty="0">
                <a:solidFill>
                  <a:srgbClr val="1E2B2A"/>
                </a:solidFill>
              </a:rPr>
              <a:t> contained in different odors.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For example, many marine animals, </a:t>
            </a:r>
            <a:pPr indent="0" marL="0">
              <a:lnSpc>
                <a:spcPct val="118000"/>
              </a:lnSpc>
              <a:buNone/>
            </a:pPr>
            <a:r>
              <a:rPr lang="en-US" sz="1700" b="1" dirty="0">
                <a:solidFill>
                  <a:srgbClr val="14453D"/>
                </a:solidFill>
                <a:highlight>
                  <a:srgbClr val="A9DDF3"/>
                </a:highlight>
              </a:rPr>
              <a:t>including fish and lobsters</a:t>
            </a:r>
            <a:pPr indent="0" marL="0">
              <a:lnSpc>
                <a:spcPct val="118000"/>
              </a:lnSpc>
              <a:buNone/>
            </a:pPr>
            <a:r>
              <a:rPr lang="en-US" sz="1700" dirty="0">
                <a:solidFill>
                  <a:srgbClr val="1E2B2A"/>
                </a:solidFill>
              </a:rPr>
              <a:t>, release a specific chemical odor </a:t>
            </a:r>
            <a:pPr indent="0" marL="0">
              <a:lnSpc>
                <a:spcPct val="118000"/>
              </a:lnSpc>
              <a:buNone/>
            </a:pPr>
            <a:r>
              <a:rPr lang="en-US" sz="1700" b="1" dirty="0">
                <a:solidFill>
                  <a:srgbClr val="1E2B2A"/>
                </a:solidFill>
                <a:highlight>
                  <a:srgbClr val="FFD45C"/>
                </a:highlight>
              </a:rPr>
              <a:t>to warn others of the presence of danger</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(6) </a:t>
            </a:r>
            <a:pPr indent="0" marL="0">
              <a:lnSpc>
                <a:spcPct val="118000"/>
              </a:lnSpc>
              <a:buNone/>
            </a:pPr>
            <a:r>
              <a:rPr lang="en-US" sz="1700" b="1" dirty="0">
                <a:solidFill>
                  <a:srgbClr val="14453D"/>
                </a:solidFill>
                <a:highlight>
                  <a:srgbClr val="A9DDF3"/>
                </a:highlight>
              </a:rPr>
              <a:t>Failure to detect and decode this odor properly would make the subject easy prey</a:t>
            </a:r>
            <a:pPr indent="0" marL="0">
              <a:lnSpc>
                <a:spcPct val="118000"/>
              </a:lnSpc>
              <a:buNone/>
            </a:pPr>
            <a:r>
              <a:rPr lang="en-US" sz="1700" dirty="0">
                <a:solidFill>
                  <a:srgbClr val="1E2B2A"/>
                </a:solidFill>
              </a:rPr>
              <a:t> for a predator.</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(7) </a:t>
            </a:r>
            <a:pPr indent="0" marL="0">
              <a:lnSpc>
                <a:spcPct val="118000"/>
              </a:lnSpc>
              <a:buNone/>
            </a:pPr>
            <a:r>
              <a:rPr lang="en-US" sz="1700" dirty="0">
                <a:solidFill>
                  <a:srgbClr val="1E2B2A"/>
                </a:solidFill>
              </a:rPr>
              <a:t>Consequently, </a:t>
            </a:r>
            <a:pPr indent="0" marL="0">
              <a:lnSpc>
                <a:spcPct val="118000"/>
              </a:lnSpc>
              <a:buNone/>
            </a:pPr>
            <a:r>
              <a:rPr lang="en-US" sz="1700" b="1" dirty="0">
                <a:solidFill>
                  <a:srgbClr val="1E2B2A"/>
                </a:solidFill>
                <a:highlight>
                  <a:srgbClr val="FFD45C"/>
                </a:highlight>
              </a:rPr>
              <a:t>the ability to recognize</a:t>
            </a:r>
            <a:pPr indent="0" marL="0">
              <a:lnSpc>
                <a:spcPct val="118000"/>
              </a:lnSpc>
              <a:buNone/>
            </a:pPr>
            <a:r>
              <a:rPr lang="en-US" sz="1700" dirty="0">
                <a:solidFill>
                  <a:srgbClr val="1E2B2A"/>
                </a:solidFill>
              </a:rPr>
              <a:t> </a:t>
            </a:r>
            <a:pPr indent="0" marL="0">
              <a:lnSpc>
                <a:spcPct val="118000"/>
              </a:lnSpc>
              <a:buNone/>
            </a:pPr>
            <a:r>
              <a:rPr lang="en-US" sz="1700" b="1" dirty="0">
                <a:solidFill>
                  <a:srgbClr val="14453D"/>
                </a:solidFill>
                <a:highlight>
                  <a:srgbClr val="A9DDF3"/>
                </a:highlight>
              </a:rPr>
              <a:t>whether the odor released is one of fear</a:t>
            </a:r>
            <a:pPr indent="0" marL="0">
              <a:lnSpc>
                <a:spcPct val="118000"/>
              </a:lnSpc>
              <a:buNone/>
            </a:pPr>
            <a:r>
              <a:rPr lang="en-US" sz="1700" dirty="0">
                <a:solidFill>
                  <a:srgbClr val="1E2B2A"/>
                </a:solidFill>
              </a:rPr>
              <a:t>, danger, or hunger is vital to an animal’s survival.</a:t>
            </a:r>
            <a:endParaRPr lang="en-US" sz="1300" dirty="0"/>
          </a:p>
        </p:txBody>
      </p:sp>
      <p:sp>
        <p:nvSpPr>
          <p:cNvPr id="23" name="Shape 21"/>
          <p:cNvSpPr/>
          <p:nvPr/>
        </p:nvSpPr>
        <p:spPr>
          <a:xfrm>
            <a:off x="548640" y="3789408"/>
            <a:ext cx="11109960" cy="812597"/>
          </a:xfrm>
          <a:prstGeom prst="roundRect">
            <a:avLst>
              <a:gd name="adj" fmla="val 9002"/>
            </a:avLst>
          </a:prstGeom>
          <a:solidFill>
            <a:srgbClr val="FFF8EC"/>
          </a:solidFill>
          <a:ln w="28575">
            <a:solidFill>
              <a:srgbClr val="EF5B3F"/>
            </a:solidFill>
            <a:prstDash val="solid"/>
          </a:ln>
        </p:spPr>
      </p:sp>
      <p:sp>
        <p:nvSpPr>
          <p:cNvPr id="24" name="Text 22"/>
          <p:cNvSpPr txBox="1"/>
          <p:nvPr/>
        </p:nvSpPr>
        <p:spPr>
          <a:xfrm>
            <a:off x="685800" y="3825984"/>
            <a:ext cx="10881360" cy="739445"/>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Survival of some animals can depend on two sensory systems, the functions of which involve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odors that other subjects release to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 approaching danger to other members of the species.</a:t>
            </a:r>
            <a:endParaRPr lang="en-US" sz="1200" dirty="0"/>
          </a:p>
        </p:txBody>
      </p:sp>
      <p:sp>
        <p:nvSpPr>
          <p:cNvPr id="25" name="Text 23"/>
          <p:cNvSpPr txBox="1"/>
          <p:nvPr/>
        </p:nvSpPr>
        <p:spPr>
          <a:xfrm>
            <a:off x="594360" y="4675157"/>
            <a:ext cx="11018520" cy="610075"/>
          </a:xfrm>
          <a:prstGeom prst="rect">
            <a:avLst/>
          </a:prstGeom>
          <a:noFill/>
          <a:ln/>
        </p:spPr>
        <p:txBody>
          <a:bodyPr wrap="square" lIns="0" tIns="0" rIns="0" bIns="0" rtlCol="0" anchor="t">
            <a:normAutofit/>
          </a:bodyPr>
          <a:lstStyle/>
          <a:p>
            <a:pPr indent="0" marL="0">
              <a:buNone/>
            </a:pPr>
            <a:r>
              <a:rPr lang="en-US" sz="1400" dirty="0">
                <a:solidFill>
                  <a:srgbClr val="6E7F7C"/>
                </a:solidFill>
              </a:rPr>
              <a:t>① eliminating – defeat</a:t>
            </a:r>
            <a:pPr indent="0" marL="0">
              <a:buNone/>
            </a:pPr>
            <a:r>
              <a:rPr lang="en-US" sz="1400" dirty="0">
                <a:solidFill>
                  <a:srgbClr val="000000"/>
                </a:solidFill>
              </a:rPr>
              <a:t>     </a:t>
            </a:r>
            <a:pPr indent="0" marL="0">
              <a:buNone/>
            </a:pPr>
            <a:r>
              <a:rPr lang="en-US" sz="1400" b="1" dirty="0">
                <a:solidFill>
                  <a:srgbClr val="EF5B3F"/>
                </a:solidFill>
              </a:rPr>
              <a:t>② interpreting – signal</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③ interpreting – defeat</a:t>
            </a:r>
            <a:pPr indent="0" marL="0">
              <a:buNone/>
            </a:pPr>
            <a:r>
              <a:rPr lang="en-US" sz="1400" dirty="0">
                <a:solidFill>
                  <a:srgbClr val="000000"/>
                </a:solidFill>
              </a:rPr>
              <a:t>     </a:t>
            </a:r>
            <a:pPr indent="0" marL="0">
              <a:buNone/>
            </a:pPr>
            <a:r>
              <a:rPr lang="en-US" sz="1400" dirty="0">
                <a:solidFill>
                  <a:srgbClr val="6E7F7C"/>
                </a:solidFill>
              </a:rPr>
              <a:t>④ distributing – signal</a:t>
            </a:r>
            <a:pPr indent="0" marL="0">
              <a:buNone/>
            </a:pPr>
            <a:r>
              <a:rPr lang="en-US" sz="1400" dirty="0">
                <a:solidFill>
                  <a:srgbClr val="000000"/>
                </a:solidFill>
              </a:rPr>
              <a:t>     </a:t>
            </a:r>
            <a:pPr indent="0" marL="0">
              <a:buNone/>
            </a:pPr>
            <a:r>
              <a:rPr lang="en-US" sz="1400" dirty="0">
                <a:solidFill>
                  <a:srgbClr val="6E7F7C"/>
                </a:solidFill>
              </a:rPr>
              <a:t>⑤ distributing – escape</a:t>
            </a:r>
            <a:endParaRPr lang="en-US" sz="1400" dirty="0"/>
          </a:p>
        </p:txBody>
      </p:sp>
      <p:sp>
        <p:nvSpPr>
          <p:cNvPr id="27"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01 주제문 – 예시1 – 예시2   ·   </a:t>
            </a:r>
            <a:pPr indent="0" marL="0">
              <a:buNone/>
            </a:pPr>
            <a:r>
              <a:rPr lang="en-US" sz="1300" b="1" dirty="0">
                <a:solidFill>
                  <a:srgbClr val="14453D"/>
                </a:solidFill>
              </a:rPr>
              <a:t>UNIT 02 도입 – 주제문 – 예시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주제</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생존을 위해 동물은 두 개의 감각 체계로 된 정교한 후각을 가짐</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체계 ①②</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① 냄새 감지 ② 냄새를 이해·해석해 뇌로 전달</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해양 동물은 위험을 '경고'하려고 화학적 냄새를 방출</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냄새의 의미를 알아보는(해석) 능력 = 생존에 필수</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warn = 신호를 보내다(signal)로 바꿔 쓰기</a:t>
            </a:r>
            <a:endParaRPr lang="en-US" sz="1500" dirty="0"/>
          </a:p>
          <a:p>
            <a:pPr marL="342900" indent="-342900">
              <a:spcAft>
                <a:spcPts val="600"/>
              </a:spcAft>
              <a:buSzPct val="100000"/>
              <a:buChar char="✔"/>
            </a:pPr>
            <a:r>
              <a:rPr lang="en-US" sz="1500" dirty="0">
                <a:solidFill>
                  <a:srgbClr val="1E2B2A"/>
                </a:solidFill>
              </a:rPr>
              <a:t>the latter = 후자 (두 번째 체계)</a:t>
            </a:r>
            <a:endParaRPr lang="en-US" sz="1500" dirty="0"/>
          </a:p>
          <a:p>
            <a:pPr marL="342900" indent="-342900">
              <a:spcAft>
                <a:spcPts val="600"/>
              </a:spcAft>
              <a:buSzPct val="100000"/>
              <a:buChar char="✔"/>
            </a:pPr>
            <a:r>
              <a:rPr lang="en-US" sz="1500" dirty="0">
                <a:solidFill>
                  <a:srgbClr val="1E2B2A"/>
                </a:solidFill>
              </a:rPr>
              <a:t>consist of는 수동태 불가</a:t>
            </a:r>
            <a:endParaRPr lang="en-US" sz="1500" dirty="0"/>
          </a:p>
          <a:p>
            <a:pPr marL="342900" indent="-342900">
              <a:spcAft>
                <a:spcPts val="600"/>
              </a:spcAft>
              <a:buSzPct val="100000"/>
              <a:buChar char="✔"/>
            </a:pPr>
            <a:r>
              <a:rPr lang="en-US" sz="1500" dirty="0">
                <a:solidFill>
                  <a:srgbClr val="1E2B2A"/>
                </a:solidFill>
              </a:rPr>
              <a:t>make + O + 형용사 (easy prey)</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sophisticated  </a:t>
            </a:r>
            <a:pPr indent="0" marL="0">
              <a:spcAft>
                <a:spcPts val="500"/>
              </a:spcAft>
              <a:buNone/>
            </a:pPr>
            <a:r>
              <a:rPr lang="en-US" sz="1300" dirty="0">
                <a:solidFill>
                  <a:srgbClr val="1E2B2A"/>
                </a:solidFill>
              </a:rPr>
              <a:t>≒ complex, elaborate ↔ simple, crude</a:t>
            </a:r>
            <a:endParaRPr lang="en-US" sz="1300" dirty="0"/>
          </a:p>
          <a:p>
            <a:pPr indent="0" marL="0">
              <a:spcAft>
                <a:spcPts val="500"/>
              </a:spcAft>
              <a:buNone/>
            </a:pPr>
            <a:r>
              <a:rPr lang="en-US" sz="1300" b="1" dirty="0">
                <a:solidFill>
                  <a:srgbClr val="1F7A64"/>
                </a:solidFill>
              </a:rPr>
              <a:t>distinct  </a:t>
            </a:r>
            <a:pPr indent="0" marL="0">
              <a:spcAft>
                <a:spcPts val="500"/>
              </a:spcAft>
              <a:buNone/>
            </a:pPr>
            <a:r>
              <a:rPr lang="en-US" sz="1300" dirty="0">
                <a:solidFill>
                  <a:srgbClr val="1E2B2A"/>
                </a:solidFill>
              </a:rPr>
              <a:t>≒ separate, different ⊕ distinction, distinguish</a:t>
            </a:r>
            <a:endParaRPr lang="en-US" sz="1300" dirty="0"/>
          </a:p>
          <a:p>
            <a:pPr indent="0" marL="0">
              <a:spcAft>
                <a:spcPts val="500"/>
              </a:spcAft>
              <a:buNone/>
            </a:pPr>
            <a:r>
              <a:rPr lang="en-US" sz="1300" b="1" dirty="0">
                <a:solidFill>
                  <a:srgbClr val="1F7A64"/>
                </a:solidFill>
              </a:rPr>
              <a:t>presence  </a:t>
            </a:r>
            <a:pPr indent="0" marL="0">
              <a:spcAft>
                <a:spcPts val="500"/>
              </a:spcAft>
              <a:buNone/>
            </a:pPr>
            <a:r>
              <a:rPr lang="en-US" sz="1300" dirty="0">
                <a:solidFill>
                  <a:srgbClr val="1E2B2A"/>
                </a:solidFill>
              </a:rPr>
              <a:t>↔ absence ⊕ present</a:t>
            </a:r>
            <a:endParaRPr lang="en-US" sz="1300" dirty="0"/>
          </a:p>
          <a:p>
            <a:pPr indent="0" marL="0">
              <a:spcAft>
                <a:spcPts val="500"/>
              </a:spcAft>
              <a:buNone/>
            </a:pPr>
            <a:r>
              <a:rPr lang="en-US" sz="1300" b="1" dirty="0">
                <a:solidFill>
                  <a:srgbClr val="1F7A64"/>
                </a:solidFill>
              </a:rPr>
              <a:t>crucial  </a:t>
            </a:r>
            <a:pPr indent="0" marL="0">
              <a:spcAft>
                <a:spcPts val="500"/>
              </a:spcAft>
              <a:buNone/>
            </a:pPr>
            <a:r>
              <a:rPr lang="en-US" sz="1300" dirty="0">
                <a:solidFill>
                  <a:srgbClr val="1E2B2A"/>
                </a:solidFill>
              </a:rPr>
              <a:t>≒ vital, essential, critical</a:t>
            </a:r>
            <a:endParaRPr lang="en-US" sz="1300" dirty="0"/>
          </a:p>
          <a:p>
            <a:pPr indent="0" marL="0">
              <a:spcAft>
                <a:spcPts val="500"/>
              </a:spcAft>
              <a:buNone/>
            </a:pPr>
            <a:r>
              <a:rPr lang="en-US" sz="1300" b="1" dirty="0">
                <a:solidFill>
                  <a:srgbClr val="1F7A64"/>
                </a:solidFill>
              </a:rPr>
              <a:t>interpret  </a:t>
            </a:r>
            <a:pPr indent="0" marL="0">
              <a:spcAft>
                <a:spcPts val="500"/>
              </a:spcAft>
              <a:buNone/>
            </a:pPr>
            <a:r>
              <a:rPr lang="en-US" sz="1300" dirty="0">
                <a:solidFill>
                  <a:srgbClr val="1E2B2A"/>
                </a:solidFill>
              </a:rPr>
              <a:t>≒ decode, understand ⊕ interpretation</a:t>
            </a:r>
            <a:endParaRPr lang="en-US" sz="1300" dirty="0"/>
          </a:p>
          <a:p>
            <a:pPr indent="0" marL="0">
              <a:spcAft>
                <a:spcPts val="500"/>
              </a:spcAft>
              <a:buNone/>
            </a:pPr>
            <a:r>
              <a:rPr lang="en-US" sz="1300" b="1" dirty="0">
                <a:solidFill>
                  <a:srgbClr val="1F7A64"/>
                </a:solidFill>
              </a:rPr>
              <a:t>predator  </a:t>
            </a:r>
            <a:pPr indent="0" marL="0">
              <a:spcAft>
                <a:spcPts val="500"/>
              </a:spcAft>
              <a:buNone/>
            </a:pPr>
            <a:r>
              <a:rPr lang="en-US" sz="1300" dirty="0">
                <a:solidFill>
                  <a:srgbClr val="1E2B2A"/>
                </a:solidFill>
              </a:rPr>
              <a:t>↔ prey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Failure to detect and decode this odor properly would </a:t>
            </a:r>
            <a:pPr indent="0" marL="0">
              <a:buNone/>
            </a:pPr>
            <a:r>
              <a:rPr lang="en-US" sz="1700" b="1" u="sng" dirty="0">
                <a:solidFill>
                  <a:srgbClr val="14453D"/>
                </a:solidFill>
              </a:rPr>
              <a:t>make the subject easy prey</a:t>
            </a:r>
            <a:pPr indent="0" marL="0">
              <a:buNone/>
            </a:pPr>
            <a:r>
              <a:rPr lang="en-US" sz="1700" dirty="0">
                <a:solidFill>
                  <a:srgbClr val="1E2B2A"/>
                </a:solidFill>
              </a:rPr>
              <a:t> for a predator. </a:t>
            </a:r>
            <a:pPr indent="0" marL="0">
              <a:buNone/>
            </a:pPr>
            <a:r>
              <a:rPr lang="en-US" sz="1700" b="1" dirty="0">
                <a:solidFill>
                  <a:srgbClr val="EF5B3F"/>
                </a:solidFill>
              </a:rPr>
              <a:t>[5형식 문장]</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 냄새를 적절히 감지하고 판독하지 못하는 것은 그 대상을 포식자에게 쉬운 먹이로 만들 것이다.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Consequently, the ability to recognize </a:t>
            </a:r>
            <a:pPr indent="0" marL="0">
              <a:buNone/>
            </a:pPr>
            <a:r>
              <a:rPr lang="en-US" sz="1700" b="1" u="sng" dirty="0">
                <a:solidFill>
                  <a:srgbClr val="14453D"/>
                </a:solidFill>
              </a:rPr>
              <a:t>whether the odor released is one of fear, danger, or hunger</a:t>
            </a:r>
            <a:pPr indent="0" marL="0">
              <a:buNone/>
            </a:pPr>
            <a:r>
              <a:rPr lang="en-US" sz="1700" dirty="0">
                <a:solidFill>
                  <a:srgbClr val="1E2B2A"/>
                </a:solidFill>
              </a:rPr>
              <a:t> is vital to an animal’s survival. </a:t>
            </a:r>
            <a:pPr indent="0" marL="0">
              <a:buNone/>
            </a:pPr>
            <a:r>
              <a:rPr lang="en-US" sz="1700" b="1" dirty="0">
                <a:solidFill>
                  <a:srgbClr val="EF5B3F"/>
                </a:solidFill>
              </a:rPr>
              <a:t>[명사절]</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결과적으로, 방출된 냄새가 두려움, 위험, 혹은 배고픔의 그것인지를 알아보는 능력은 동물의 생존에 필수적이다.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반의어를 윗글에서 찾아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He was fascinated by the ________ artwork made with an eggshell. (simple)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sophisticated</a:t>
            </a:r>
            <a:endParaRPr lang="en-US" sz="1700" dirty="0"/>
          </a:p>
        </p:txBody>
      </p:sp>
      <p:sp>
        <p:nvSpPr>
          <p:cNvPr id="18" name="Shape 16"/>
          <p:cNvSpPr/>
          <p:nvPr/>
        </p:nvSpPr>
        <p:spPr>
          <a:xfrm>
            <a:off x="548640" y="5010912"/>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telescope enabled us to confirm the ________ of other galaxies. (absence)</a:t>
            </a:r>
            <a:endParaRPr lang="en-US" sz="1700" dirty="0"/>
          </a:p>
        </p:txBody>
      </p:sp>
      <p:sp>
        <p:nvSpPr>
          <p:cNvPr id="21" name="ANIM_x3"/>
          <p:cNvSpPr txBox="1"/>
          <p:nvPr/>
        </p:nvSpPr>
        <p:spPr>
          <a:xfrm>
            <a:off x="9052560" y="508406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presence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To increase the probability of survival, many animals have evolved a sophisticated sense of smell, which </a:t>
            </a:r>
            <a:pPr indent="0" marL="0">
              <a:buNone/>
            </a:pPr>
            <a:r>
              <a:rPr lang="en-US" sz="1700" b="1" dirty="0">
                <a:solidFill>
                  <a:srgbClr val="EF5B3F"/>
                </a:solidFill>
              </a:rPr>
              <a:t>[consist / consists]</a:t>
            </a:r>
            <a:pPr indent="0" marL="0">
              <a:buNone/>
            </a:pPr>
            <a:r>
              <a:rPr lang="en-US" sz="1700" dirty="0">
                <a:solidFill>
                  <a:srgbClr val="1E2B2A"/>
                </a:solidFill>
              </a:rPr>
              <a:t> of two distinct sensory systems.</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consists</a:t>
            </a:r>
            <a:endParaRPr lang="en-US" sz="1700" dirty="0"/>
          </a:p>
        </p:txBody>
      </p:sp>
      <p:sp>
        <p:nvSpPr>
          <p:cNvPr id="9" name="Shape 7"/>
          <p:cNvSpPr/>
          <p:nvPr/>
        </p:nvSpPr>
        <p:spPr>
          <a:xfrm>
            <a:off x="548640" y="2624328"/>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many marine animals, </a:t>
            </a:r>
            <a:pPr indent="0" marL="0">
              <a:buNone/>
            </a:pPr>
            <a:r>
              <a:rPr lang="en-US" sz="1700" b="1" dirty="0">
                <a:solidFill>
                  <a:srgbClr val="EF5B3F"/>
                </a:solidFill>
              </a:rPr>
              <a:t>[include / including]</a:t>
            </a:r>
            <a:pPr indent="0" marL="0">
              <a:buNone/>
            </a:pPr>
            <a:r>
              <a:rPr lang="en-US" sz="1700" dirty="0">
                <a:solidFill>
                  <a:srgbClr val="1E2B2A"/>
                </a:solidFill>
              </a:rPr>
              <a:t> fish and lobsters, release a specific chemical odor to warn others of the presence of danger.</a:t>
            </a:r>
            <a:endParaRPr lang="en-US" sz="1700" dirty="0"/>
          </a:p>
        </p:txBody>
      </p:sp>
      <p:sp>
        <p:nvSpPr>
          <p:cNvPr id="12" name="ANIM_x1"/>
          <p:cNvSpPr txBox="1"/>
          <p:nvPr/>
        </p:nvSpPr>
        <p:spPr>
          <a:xfrm>
            <a:off x="9052560" y="2697480"/>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One study attributed this phenomenon </a:t>
            </a:r>
            <a:pPr indent="0" marL="0">
              <a:buNone/>
            </a:pPr>
            <a:r>
              <a:rPr lang="en-US" sz="2000" b="1" dirty="0">
                <a:solidFill>
                  <a:srgbClr val="EF5B3F"/>
                </a:solidFill>
              </a:rPr>
              <a:t>[to / with]</a:t>
            </a:r>
            <a:pPr indent="0" marL="0">
              <a:buNone/>
            </a:pPr>
            <a:r>
              <a:rPr lang="en-US" sz="2000" dirty="0">
                <a:solidFill>
                  <a:srgbClr val="1E2B2A"/>
                </a:solidFill>
              </a:rPr>
              <a:t> cultural differences.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a:t>
            </a:r>
            <a:endParaRPr lang="en-US" sz="1800" dirty="0"/>
          </a:p>
          <a:p>
            <a:pPr algn="ctr" indent="0" marL="0">
              <a:buNone/>
            </a:pPr>
            <a:r>
              <a:rPr lang="en-US" sz="1200" dirty="0">
                <a:solidFill>
                  <a:srgbClr val="1E2B2A"/>
                </a:solidFill>
              </a:rPr>
              <a:t>attribute A to B</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When they were asked (수동)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Asians are more likely than Westerners </a:t>
            </a:r>
            <a:pPr indent="0" marL="0">
              <a:buNone/>
            </a:pPr>
            <a:r>
              <a:rPr lang="en-US" sz="2000" b="1" dirty="0">
                <a:solidFill>
                  <a:srgbClr val="EF5B3F"/>
                </a:solidFill>
              </a:rPr>
              <a:t>[to consider / considering]</a:t>
            </a:r>
            <a:pPr indent="0" marL="0">
              <a:buNone/>
            </a:pPr>
            <a:r>
              <a:rPr lang="en-US" sz="2000" dirty="0">
                <a:solidFill>
                  <a:srgbClr val="1E2B2A"/>
                </a:solidFill>
              </a:rPr>
              <a:t> the entire context.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consider</a:t>
            </a:r>
            <a:endParaRPr lang="en-US" sz="1800" dirty="0"/>
          </a:p>
          <a:p>
            <a:pPr algn="ctr" indent="0" marL="0">
              <a:buNone/>
            </a:pPr>
            <a:r>
              <a:rPr lang="en-US" sz="1200" dirty="0">
                <a:solidFill>
                  <a:srgbClr val="1E2B2A"/>
                </a:solidFill>
              </a:rPr>
              <a:t>be likely to V</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능동 분사구문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97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phenomenon</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현상</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attributed</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~의 탓으로 돌렸다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tropical</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열대의</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corals</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산호</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perceiving</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인식하는</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specifics</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세부 사항</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invaluable</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매우 귀중한</a:t>
            </a:r>
            <a:endParaRPr lang="en-US" sz="1400" dirty="0"/>
          </a:p>
        </p:txBody>
      </p:sp>
      <p:sp>
        <p:nvSpPr>
          <p:cNvPr id="20" name="Text 18"/>
          <p:cNvSpPr txBox="1"/>
          <p:nvPr/>
        </p:nvSpPr>
        <p:spPr>
          <a:xfrm>
            <a:off x="594360" y="694944"/>
            <a:ext cx="11018520" cy="3326162"/>
          </a:xfrm>
          <a:prstGeom prst="rect">
            <a:avLst/>
          </a:prstGeom>
          <a:noFill/>
          <a:ln/>
        </p:spPr>
        <p:txBody>
          <a:bodyPr wrap="square" lIns="0" tIns="0" rIns="0" bIns="0" rtlCol="0" anchor="t">
            <a:normAutofit/>
          </a:bodyPr>
          <a:lstStyle/>
          <a:p>
            <a:pPr indent="0" marL="0">
              <a:lnSpc>
                <a:spcPct val="118000"/>
              </a:lnSpc>
              <a:buNone/>
            </a:pPr>
            <a:r>
              <a:rPr lang="en-US" sz="1250" b="1" dirty="0">
                <a:solidFill>
                  <a:srgbClr val="1F7A64"/>
                </a:solidFill>
              </a:rPr>
              <a:t>(1) </a:t>
            </a:r>
            <a:pPr indent="0" marL="0">
              <a:lnSpc>
                <a:spcPct val="118000"/>
              </a:lnSpc>
              <a:buNone/>
            </a:pPr>
            <a:r>
              <a:rPr lang="en-US" sz="1650" dirty="0">
                <a:solidFill>
                  <a:srgbClr val="1E2B2A"/>
                </a:solidFill>
              </a:rPr>
              <a:t>If Asians and Westerners are shown the same thing, </a:t>
            </a:r>
            <a:pPr indent="0" marL="0">
              <a:lnSpc>
                <a:spcPct val="118000"/>
              </a:lnSpc>
              <a:buNone/>
            </a:pPr>
            <a:r>
              <a:rPr lang="en-US" sz="1650" b="1" dirty="0">
                <a:solidFill>
                  <a:srgbClr val="14453D"/>
                </a:solidFill>
                <a:highlight>
                  <a:srgbClr val="A9DDF3"/>
                </a:highlight>
              </a:rPr>
              <a:t>they will likely look at different parts of it</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(2) </a:t>
            </a:r>
            <a:pPr indent="0" marL="0">
              <a:lnSpc>
                <a:spcPct val="118000"/>
              </a:lnSpc>
              <a:buNone/>
            </a:pPr>
            <a:r>
              <a:rPr lang="en-US" sz="1650" dirty="0">
                <a:solidFill>
                  <a:srgbClr val="1E2B2A"/>
                </a:solidFill>
              </a:rPr>
              <a:t>One study </a:t>
            </a:r>
            <a:pPr indent="0" marL="0">
              <a:lnSpc>
                <a:spcPct val="118000"/>
              </a:lnSpc>
              <a:buNone/>
            </a:pPr>
            <a:r>
              <a:rPr lang="en-US" sz="1650" b="1" dirty="0">
                <a:solidFill>
                  <a:srgbClr val="14453D"/>
                </a:solidFill>
                <a:highlight>
                  <a:srgbClr val="A9DDF3"/>
                </a:highlight>
              </a:rPr>
              <a:t>attributed this phenomenon to</a:t>
            </a:r>
            <a:pPr indent="0" marL="0">
              <a:lnSpc>
                <a:spcPct val="118000"/>
              </a:lnSpc>
              <a:buNone/>
            </a:pPr>
            <a:r>
              <a:rPr lang="en-US" sz="1650" dirty="0">
                <a:solidFill>
                  <a:srgbClr val="1E2B2A"/>
                </a:solidFill>
              </a:rPr>
              <a:t> </a:t>
            </a:r>
            <a:pPr indent="0" marL="0">
              <a:lnSpc>
                <a:spcPct val="118000"/>
              </a:lnSpc>
              <a:buNone/>
            </a:pPr>
            <a:r>
              <a:rPr lang="en-US" sz="1650" b="1" dirty="0">
                <a:solidFill>
                  <a:srgbClr val="1E2B2A"/>
                </a:solidFill>
                <a:highlight>
                  <a:srgbClr val="FFD45C"/>
                </a:highlight>
              </a:rPr>
              <a:t>cultural differences in their thinking styles</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(3) </a:t>
            </a:r>
            <a:pPr indent="0" marL="0">
              <a:lnSpc>
                <a:spcPct val="118000"/>
              </a:lnSpc>
              <a:buNone/>
            </a:pPr>
            <a:r>
              <a:rPr lang="en-US" sz="1650" dirty="0">
                <a:solidFill>
                  <a:srgbClr val="1E2B2A"/>
                </a:solidFill>
              </a:rPr>
              <a:t>As part of an experiment, American and Japanese participants were presented with a twenty-second animated video of underwater scenes.</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(4) </a:t>
            </a:r>
            <a:pPr indent="0" marL="0">
              <a:lnSpc>
                <a:spcPct val="118000"/>
              </a:lnSpc>
              <a:buNone/>
            </a:pPr>
            <a:r>
              <a:rPr lang="en-US" sz="1650" b="1" dirty="0">
                <a:solidFill>
                  <a:srgbClr val="14453D"/>
                </a:solidFill>
                <a:highlight>
                  <a:srgbClr val="A9DDF3"/>
                </a:highlight>
              </a:rPr>
              <a:t>When asked what they had observed afterwards</a:t>
            </a:r>
            <a:pPr indent="0" marL="0">
              <a:lnSpc>
                <a:spcPct val="118000"/>
              </a:lnSpc>
              <a:buNone/>
            </a:pPr>
            <a:r>
              <a:rPr lang="en-US" sz="1650" dirty="0">
                <a:solidFill>
                  <a:srgbClr val="1E2B2A"/>
                </a:solidFill>
              </a:rPr>
              <a:t>, the Americans said they had focused on objects in the front of the scenery, such as tropical fish.</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(5) </a:t>
            </a:r>
            <a:pPr indent="0" marL="0">
              <a:lnSpc>
                <a:spcPct val="118000"/>
              </a:lnSpc>
              <a:buNone/>
            </a:pPr>
            <a:r>
              <a:rPr lang="en-US" sz="1650" dirty="0">
                <a:solidFill>
                  <a:srgbClr val="1E2B2A"/>
                </a:solidFill>
              </a:rPr>
              <a:t>Meanwhile, the Japanese had focused on the objects in the background, such as colorful corals.</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(6) </a:t>
            </a:r>
            <a:pPr indent="0" marL="0">
              <a:lnSpc>
                <a:spcPct val="118000"/>
              </a:lnSpc>
              <a:buNone/>
            </a:pPr>
            <a:r>
              <a:rPr lang="en-US" sz="1650" dirty="0">
                <a:solidFill>
                  <a:srgbClr val="1E2B2A"/>
                </a:solidFill>
              </a:rPr>
              <a:t>This result shows evidence that Asians are </a:t>
            </a:r>
            <a:pPr indent="0" marL="0">
              <a:lnSpc>
                <a:spcPct val="118000"/>
              </a:lnSpc>
              <a:buNone/>
            </a:pPr>
            <a:r>
              <a:rPr lang="en-US" sz="1650" b="1" dirty="0">
                <a:solidFill>
                  <a:srgbClr val="14453D"/>
                </a:solidFill>
                <a:highlight>
                  <a:srgbClr val="A9DDF3"/>
                </a:highlight>
              </a:rPr>
              <a:t>more likely than Westerners to </a:t>
            </a:r>
            <a:pPr indent="0" marL="0">
              <a:lnSpc>
                <a:spcPct val="118000"/>
              </a:lnSpc>
              <a:buNone/>
            </a:pPr>
            <a:r>
              <a:rPr lang="en-US" sz="1650" b="1" u="sng" dirty="0">
                <a:solidFill>
                  <a:srgbClr val="1E2B2A"/>
                </a:solidFill>
                <a:highlight>
                  <a:srgbClr val="FFD45C"/>
                </a:highlight>
                <a:uFill>
                  <a:solidFill>
                    <a:srgbClr val="2C7DA0"/>
                  </a:solidFill>
                </a:uFill>
              </a:rPr>
              <a:t>consider</a:t>
            </a:r>
            <a:pPr indent="0" marL="0">
              <a:lnSpc>
                <a:spcPct val="118000"/>
              </a:lnSpc>
              <a:buNone/>
            </a:pPr>
            <a:r>
              <a:rPr lang="en-US" sz="1650" b="1" dirty="0">
                <a:solidFill>
                  <a:srgbClr val="1E2B2A"/>
                </a:solidFill>
                <a:highlight>
                  <a:srgbClr val="FFD45C"/>
                </a:highlight>
              </a:rPr>
              <a:t> the entire context</a:t>
            </a:r>
            <a:pPr indent="0" marL="0">
              <a:lnSpc>
                <a:spcPct val="118000"/>
              </a:lnSpc>
              <a:buNone/>
            </a:pPr>
            <a:r>
              <a:rPr lang="en-US" sz="1650" dirty="0">
                <a:solidFill>
                  <a:srgbClr val="1E2B2A"/>
                </a:solidFill>
              </a:rPr>
              <a:t> when perceiving information.</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(7) </a:t>
            </a:r>
            <a:pPr indent="0" marL="0">
              <a:lnSpc>
                <a:spcPct val="118000"/>
              </a:lnSpc>
              <a:buNone/>
            </a:pPr>
            <a:r>
              <a:rPr lang="en-US" sz="1650" dirty="0">
                <a:solidFill>
                  <a:srgbClr val="1E2B2A"/>
                </a:solidFill>
              </a:rPr>
              <a:t>On the other hand, Westerners are more </a:t>
            </a:r>
            <a:pPr indent="0" marL="0">
              <a:lnSpc>
                <a:spcPct val="118000"/>
              </a:lnSpc>
              <a:buNone/>
            </a:pPr>
            <a:r>
              <a:rPr lang="en-US" sz="1650" b="1" dirty="0">
                <a:solidFill>
                  <a:srgbClr val="1E2B2A"/>
                </a:solidFill>
                <a:highlight>
                  <a:srgbClr val="FFD45C"/>
                </a:highlight>
              </a:rPr>
              <a:t>independent and analytical</a:t>
            </a:r>
            <a:pPr indent="0" marL="0">
              <a:lnSpc>
                <a:spcPct val="118000"/>
              </a:lnSpc>
              <a:buNone/>
            </a:pPr>
            <a:r>
              <a:rPr lang="en-US" sz="1650" dirty="0">
                <a:solidFill>
                  <a:srgbClr val="1E2B2A"/>
                </a:solidFill>
              </a:rPr>
              <a:t> in their information processing</a:t>
            </a:r>
            <a:pPr indent="0" marL="0">
              <a:lnSpc>
                <a:spcPct val="118000"/>
              </a:lnSpc>
              <a:buNone/>
            </a:pPr>
            <a:r>
              <a:rPr lang="en-US" sz="1650" b="1" dirty="0">
                <a:solidFill>
                  <a:srgbClr val="14453D"/>
                </a:solidFill>
                <a:highlight>
                  <a:srgbClr val="A9DDF3"/>
                </a:highlight>
              </a:rPr>
              <a:t>, often noticing specifics</a:t>
            </a:r>
            <a:pPr indent="0" marL="0">
              <a:lnSpc>
                <a:spcPct val="118000"/>
              </a:lnSpc>
              <a:buNone/>
            </a:pPr>
            <a:r>
              <a:rPr lang="en-US" sz="1650" dirty="0">
                <a:solidFill>
                  <a:srgbClr val="1E2B2A"/>
                </a:solidFill>
              </a:rPr>
              <a:t>.</a:t>
            </a:r>
            <a:pPr indent="0" marL="0">
              <a:lnSpc>
                <a:spcPct val="118000"/>
              </a:lnSpc>
              <a:buNone/>
            </a:pPr>
            <a:r>
              <a:rPr lang="en-US" sz="1650" dirty="0">
                <a:solidFill>
                  <a:srgbClr val="000000"/>
                </a:solidFill>
              </a:rPr>
              <a:t> </a:t>
            </a:r>
            <a:pPr indent="0" marL="0">
              <a:lnSpc>
                <a:spcPct val="118000"/>
              </a:lnSpc>
              <a:buNone/>
            </a:pPr>
            <a:r>
              <a:rPr lang="en-US" sz="1250" b="1" dirty="0">
                <a:solidFill>
                  <a:srgbClr val="1F7A64"/>
                </a:solidFill>
              </a:rPr>
              <a:t>(8) </a:t>
            </a:r>
            <a:pPr indent="0" marL="0">
              <a:lnSpc>
                <a:spcPct val="118000"/>
              </a:lnSpc>
              <a:buNone/>
            </a:pPr>
            <a:r>
              <a:rPr lang="en-US" sz="1650" dirty="0">
                <a:solidFill>
                  <a:srgbClr val="1E2B2A"/>
                </a:solidFill>
              </a:rPr>
              <a:t>This diversity in thinking styles can be an </a:t>
            </a:r>
            <a:pPr indent="0" marL="0">
              <a:lnSpc>
                <a:spcPct val="118000"/>
              </a:lnSpc>
              <a:buNone/>
            </a:pPr>
            <a:r>
              <a:rPr lang="en-US" sz="1650" b="1" dirty="0">
                <a:solidFill>
                  <a:srgbClr val="1E2B2A"/>
                </a:solidFill>
                <a:highlight>
                  <a:srgbClr val="FFD45C"/>
                </a:highlight>
              </a:rPr>
              <a:t>invaluable source of team strength</a:t>
            </a:r>
            <a:pPr indent="0" marL="0">
              <a:lnSpc>
                <a:spcPct val="118000"/>
              </a:lnSpc>
              <a:buNone/>
            </a:pPr>
            <a:r>
              <a:rPr lang="en-US" sz="1650" dirty="0">
                <a:solidFill>
                  <a:srgbClr val="1E2B2A"/>
                </a:solidFill>
              </a:rPr>
              <a:t> if the team includes some members who can focus on the minor details and others who can see the big picture.</a:t>
            </a:r>
            <a:endParaRPr lang="en-US" sz="1250" dirty="0"/>
          </a:p>
        </p:txBody>
      </p:sp>
      <p:sp>
        <p:nvSpPr>
          <p:cNvPr id="21" name="Shape 19"/>
          <p:cNvSpPr/>
          <p:nvPr/>
        </p:nvSpPr>
        <p:spPr>
          <a:xfrm>
            <a:off x="548640" y="4075970"/>
            <a:ext cx="11109960" cy="794614"/>
          </a:xfrm>
          <a:prstGeom prst="roundRect">
            <a:avLst>
              <a:gd name="adj" fmla="val 9206"/>
            </a:avLst>
          </a:prstGeom>
          <a:solidFill>
            <a:srgbClr val="FFF8EC"/>
          </a:solidFill>
          <a:ln w="28575">
            <a:solidFill>
              <a:srgbClr val="EF5B3F"/>
            </a:solidFill>
            <a:prstDash val="solid"/>
          </a:ln>
        </p:spPr>
      </p:sp>
      <p:sp>
        <p:nvSpPr>
          <p:cNvPr id="22" name="Text 20"/>
          <p:cNvSpPr txBox="1"/>
          <p:nvPr/>
        </p:nvSpPr>
        <p:spPr>
          <a:xfrm>
            <a:off x="685800" y="4112546"/>
            <a:ext cx="10881360" cy="721462"/>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650" b="1" dirty="0">
                <a:solidFill>
                  <a:srgbClr val="14453D"/>
                </a:solidFill>
              </a:rPr>
              <a:t>People tend to have a </a:t>
            </a:r>
            <a:pPr indent="0" marL="0">
              <a:lnSpc>
                <a:spcPct val="115000"/>
              </a:lnSpc>
              <a:buNone/>
            </a:pPr>
            <a:r>
              <a:rPr lang="en-US" sz="1650" b="1" dirty="0">
                <a:solidFill>
                  <a:srgbClr val="EF5B3F"/>
                </a:solidFill>
              </a:rPr>
              <a:t>(A)</a:t>
            </a:r>
            <a:pPr indent="0" marL="0">
              <a:lnSpc>
                <a:spcPct val="115000"/>
              </a:lnSpc>
              <a:buNone/>
            </a:pPr>
            <a:r>
              <a:rPr lang="en-US" sz="1650" b="1" dirty="0">
                <a:solidFill>
                  <a:srgbClr val="14453D"/>
                </a:solidFill>
              </a:rPr>
              <a:t> way of thinking based on their cultural backgrounds, so having cultural diversity on a team can </a:t>
            </a:r>
            <a:pPr indent="0" marL="0">
              <a:lnSpc>
                <a:spcPct val="115000"/>
              </a:lnSpc>
              <a:buNone/>
            </a:pPr>
            <a:r>
              <a:rPr lang="en-US" sz="1650" b="1" dirty="0">
                <a:solidFill>
                  <a:srgbClr val="EF5B3F"/>
                </a:solidFill>
              </a:rPr>
              <a:t>(B)</a:t>
            </a:r>
            <a:pPr indent="0" marL="0">
              <a:lnSpc>
                <a:spcPct val="115000"/>
              </a:lnSpc>
              <a:buNone/>
            </a:pPr>
            <a:r>
              <a:rPr lang="en-US" sz="1650" b="1" dirty="0">
                <a:solidFill>
                  <a:srgbClr val="14453D"/>
                </a:solidFill>
              </a:rPr>
              <a:t> teamwork.</a:t>
            </a:r>
            <a:endParaRPr lang="en-US" sz="1200" dirty="0"/>
          </a:p>
        </p:txBody>
      </p:sp>
      <p:sp>
        <p:nvSpPr>
          <p:cNvPr id="23" name="Text 21"/>
          <p:cNvSpPr txBox="1"/>
          <p:nvPr/>
        </p:nvSpPr>
        <p:spPr>
          <a:xfrm>
            <a:off x="594360" y="4943736"/>
            <a:ext cx="11018520" cy="341496"/>
          </a:xfrm>
          <a:prstGeom prst="rect">
            <a:avLst/>
          </a:prstGeom>
          <a:noFill/>
          <a:ln/>
        </p:spPr>
        <p:txBody>
          <a:bodyPr wrap="square" lIns="0" tIns="0" rIns="0" bIns="0" rtlCol="0" anchor="t">
            <a:normAutofit/>
          </a:bodyPr>
          <a:lstStyle/>
          <a:p>
            <a:pPr indent="0" marL="0">
              <a:buNone/>
            </a:pPr>
            <a:r>
              <a:rPr lang="en-US" sz="1350" dirty="0">
                <a:solidFill>
                  <a:srgbClr val="6E7F7C"/>
                </a:solidFill>
              </a:rPr>
              <a:t>① superficial – allocate</a:t>
            </a:r>
            <a:pPr indent="0" marL="0">
              <a:buNone/>
            </a:pPr>
            <a:r>
              <a:rPr lang="en-US" sz="1350" dirty="0">
                <a:solidFill>
                  <a:srgbClr val="000000"/>
                </a:solidFill>
              </a:rPr>
              <a:t>     </a:t>
            </a:r>
            <a:pPr indent="0" marL="0">
              <a:buNone/>
            </a:pPr>
            <a:r>
              <a:rPr lang="en-US" sz="1350" dirty="0">
                <a:solidFill>
                  <a:srgbClr val="6E7F7C"/>
                </a:solidFill>
              </a:rPr>
              <a:t>② practical – enhance</a:t>
            </a:r>
            <a:pPr indent="0" marL="0">
              <a:buNone/>
            </a:pPr>
            <a:r>
              <a:rPr lang="en-US" sz="1350" dirty="0">
                <a:solidFill>
                  <a:srgbClr val="000000"/>
                </a:solidFill>
              </a:rPr>
              <a:t>     </a:t>
            </a:r>
            <a:pPr indent="0" marL="0">
              <a:buNone/>
            </a:pPr>
            <a:r>
              <a:rPr lang="en-US" sz="1350" dirty="0">
                <a:solidFill>
                  <a:srgbClr val="6E7F7C"/>
                </a:solidFill>
              </a:rPr>
              <a:t>③ distinct – allocate</a:t>
            </a:r>
            <a:pPr indent="0" marL="0">
              <a:buNone/>
            </a:pPr>
            <a:r>
              <a:rPr lang="en-US" sz="1350" dirty="0">
                <a:solidFill>
                  <a:srgbClr val="000000"/>
                </a:solidFill>
              </a:rPr>
              <a:t>     </a:t>
            </a:r>
            <a:pPr indent="0" marL="0">
              <a:buNone/>
            </a:pPr>
            <a:r>
              <a:rPr lang="en-US" sz="1350" b="1" dirty="0">
                <a:solidFill>
                  <a:srgbClr val="EF5B3F"/>
                </a:solidFill>
              </a:rPr>
              <a:t>④ preferred – enhance</a:t>
            </a:r>
            <a:pPr indent="0" marL="0">
              <a:buNone/>
            </a:pPr>
            <a:r>
              <a:rPr lang="en-US" sz="1150" b="1" dirty="0">
                <a:solidFill>
                  <a:srgbClr val="EF5B3F"/>
                </a:solidFill>
              </a:rPr>
              <a:t> ✔</a:t>
            </a:r>
            <a:pPr indent="0" marL="0">
              <a:buNone/>
            </a:pPr>
            <a:r>
              <a:rPr lang="en-US" sz="1350" dirty="0">
                <a:solidFill>
                  <a:srgbClr val="000000"/>
                </a:solidFill>
              </a:rPr>
              <a:t>     </a:t>
            </a:r>
            <a:pPr indent="0" marL="0">
              <a:buNone/>
            </a:pPr>
            <a:r>
              <a:rPr lang="en-US" sz="1350" dirty="0">
                <a:solidFill>
                  <a:srgbClr val="6E7F7C"/>
                </a:solidFill>
              </a:rPr>
              <a:t>⑤ expanded – undermine</a:t>
            </a:r>
            <a:endParaRPr lang="en-US" sz="13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   ·   </a:t>
            </a:r>
            <a:pPr indent="0" marL="0">
              <a:buNone/>
            </a:pPr>
            <a:r>
              <a:rPr lang="en-US" sz="1300" b="1" dirty="0">
                <a:solidFill>
                  <a:srgbClr val="14453D"/>
                </a:solidFill>
              </a:rPr>
              <a:t>UNIT 08 비교 / 대조</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현상</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같은 것을 봐도 아시아인과 서양인은 다른 부분을 본다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수중 영상: 미국인 = 앞쪽 열대어 / 일본인 = 배경 산호</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해석</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아시아인 = 전체 맥락, 서양인 = 독립적·분석적 (각자 선호하는 방식)</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사고방식의 다양성 = 팀 역량의 귀중한 원천 (팀워크 향상)</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쉬운 칸(B)부터 확정 → 선택지 줄이기</a:t>
            </a:r>
            <a:endParaRPr lang="en-US" sz="1500" dirty="0"/>
          </a:p>
          <a:p>
            <a:pPr marL="342900" indent="-342900">
              <a:spcAft>
                <a:spcPts val="600"/>
              </a:spcAft>
              <a:buSzPct val="100000"/>
              <a:buChar char="✔"/>
            </a:pPr>
            <a:r>
              <a:rPr lang="en-US" sz="1500" dirty="0">
                <a:solidFill>
                  <a:srgbClr val="1E2B2A"/>
                </a:solidFill>
              </a:rPr>
              <a:t>attribute A to B: A를 B의 탓으로 보다</a:t>
            </a:r>
            <a:endParaRPr lang="en-US" sz="1500" dirty="0"/>
          </a:p>
          <a:p>
            <a:pPr marL="342900" indent="-342900">
              <a:spcAft>
                <a:spcPts val="600"/>
              </a:spcAft>
              <a:buSzPct val="100000"/>
              <a:buChar char="✔"/>
            </a:pPr>
            <a:r>
              <a:rPr lang="en-US" sz="1500" dirty="0">
                <a:solidFill>
                  <a:srgbClr val="1E2B2A"/>
                </a:solidFill>
              </a:rPr>
              <a:t>When asked ~ (수동 분사구문)</a:t>
            </a:r>
            <a:endParaRPr lang="en-US" sz="1500" dirty="0"/>
          </a:p>
          <a:p>
            <a:pPr marL="342900" indent="-342900">
              <a:spcAft>
                <a:spcPts val="600"/>
              </a:spcAft>
              <a:buSzPct val="100000"/>
              <a:buChar char="✔"/>
            </a:pPr>
            <a:r>
              <a:rPr lang="en-US" sz="1500" dirty="0">
                <a:solidFill>
                  <a:srgbClr val="1E2B2A"/>
                </a:solidFill>
              </a:rPr>
              <a:t>수능특강 03강 Ex 3과 같은 실험 (분석적 vs 총체적)</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attribute A to B  </a:t>
            </a:r>
            <a:pPr indent="0" marL="0">
              <a:spcAft>
                <a:spcPts val="500"/>
              </a:spcAft>
              <a:buNone/>
            </a:pPr>
            <a:r>
              <a:rPr lang="en-US" sz="1300" dirty="0">
                <a:solidFill>
                  <a:srgbClr val="1E2B2A"/>
                </a:solidFill>
              </a:rPr>
              <a:t>≒ ascribe A to B, put A down to B (A를 B의 탓으로 돌리다)</a:t>
            </a:r>
            <a:endParaRPr lang="en-US" sz="1300" dirty="0"/>
          </a:p>
          <a:p>
            <a:pPr indent="0" marL="0">
              <a:spcAft>
                <a:spcPts val="500"/>
              </a:spcAft>
              <a:buNone/>
            </a:pPr>
            <a:r>
              <a:rPr lang="en-US" sz="1300" b="1" dirty="0">
                <a:solidFill>
                  <a:srgbClr val="1F7A64"/>
                </a:solidFill>
              </a:rPr>
              <a:t>phenomenon  </a:t>
            </a:r>
            <a:pPr indent="0" marL="0">
              <a:spcAft>
                <a:spcPts val="500"/>
              </a:spcAft>
              <a:buNone/>
            </a:pPr>
            <a:r>
              <a:rPr lang="en-US" sz="1300" dirty="0">
                <a:solidFill>
                  <a:srgbClr val="1E2B2A"/>
                </a:solidFill>
              </a:rPr>
              <a:t>≒ occurrence (복수 phenomena)</a:t>
            </a:r>
            <a:endParaRPr lang="en-US" sz="1300" dirty="0"/>
          </a:p>
          <a:p>
            <a:pPr indent="0" marL="0">
              <a:spcAft>
                <a:spcPts val="500"/>
              </a:spcAft>
              <a:buNone/>
            </a:pPr>
            <a:r>
              <a:rPr lang="en-US" sz="1300" b="1" dirty="0">
                <a:solidFill>
                  <a:srgbClr val="1F7A64"/>
                </a:solidFill>
              </a:rPr>
              <a:t>invaluable  </a:t>
            </a:r>
            <a:pPr indent="0" marL="0">
              <a:spcAft>
                <a:spcPts val="500"/>
              </a:spcAft>
              <a:buNone/>
            </a:pPr>
            <a:r>
              <a:rPr lang="en-US" sz="1300" dirty="0">
                <a:solidFill>
                  <a:srgbClr val="1E2B2A"/>
                </a:solidFill>
              </a:rPr>
              <a:t>≒ priceless, very valuable ↔ worthless (in- = 부정 아님!)</a:t>
            </a:r>
            <a:endParaRPr lang="en-US" sz="1300" dirty="0"/>
          </a:p>
          <a:p>
            <a:pPr indent="0" marL="0">
              <a:spcAft>
                <a:spcPts val="500"/>
              </a:spcAft>
              <a:buNone/>
            </a:pPr>
            <a:r>
              <a:rPr lang="en-US" sz="1300" b="1" dirty="0">
                <a:solidFill>
                  <a:srgbClr val="1F7A64"/>
                </a:solidFill>
              </a:rPr>
              <a:t>analytical  </a:t>
            </a:r>
            <a:pPr indent="0" marL="0">
              <a:spcAft>
                <a:spcPts val="500"/>
              </a:spcAft>
              <a:buNone/>
            </a:pPr>
            <a:r>
              <a:rPr lang="en-US" sz="1300" dirty="0">
                <a:solidFill>
                  <a:srgbClr val="1E2B2A"/>
                </a:solidFill>
              </a:rPr>
              <a:t>⊕ analyze, analysis ↔ holistic</a:t>
            </a:r>
            <a:endParaRPr lang="en-US" sz="1300" dirty="0"/>
          </a:p>
          <a:p>
            <a:pPr indent="0" marL="0">
              <a:spcAft>
                <a:spcPts val="500"/>
              </a:spcAft>
              <a:buNone/>
            </a:pPr>
            <a:r>
              <a:rPr lang="en-US" sz="1300" b="1" dirty="0">
                <a:solidFill>
                  <a:srgbClr val="1F7A64"/>
                </a:solidFill>
              </a:rPr>
              <a:t>perceive  </a:t>
            </a:r>
            <a:pPr indent="0" marL="0">
              <a:spcAft>
                <a:spcPts val="500"/>
              </a:spcAft>
              <a:buNone/>
            </a:pPr>
            <a:r>
              <a:rPr lang="en-US" sz="1300" dirty="0">
                <a:solidFill>
                  <a:srgbClr val="1E2B2A"/>
                </a:solidFill>
              </a:rPr>
              <a:t>≒ notice, recognize ⊕ perception</a:t>
            </a:r>
            <a:endParaRPr lang="en-US" sz="1300" dirty="0"/>
          </a:p>
          <a:p>
            <a:pPr indent="0" marL="0">
              <a:spcAft>
                <a:spcPts val="500"/>
              </a:spcAft>
              <a:buNone/>
            </a:pPr>
            <a:r>
              <a:rPr lang="en-US" sz="1300" b="1" dirty="0">
                <a:solidFill>
                  <a:srgbClr val="1F7A64"/>
                </a:solidFill>
              </a:rPr>
              <a:t>specifics  </a:t>
            </a:r>
            <a:pPr indent="0" marL="0">
              <a:spcAft>
                <a:spcPts val="500"/>
              </a:spcAft>
              <a:buNone/>
            </a:pPr>
            <a:r>
              <a:rPr lang="en-US" sz="1300" dirty="0">
                <a:solidFill>
                  <a:srgbClr val="1E2B2A"/>
                </a:solidFill>
              </a:rPr>
              <a:t>≒ details ↔ the big picture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When asked</a:t>
            </a:r>
            <a:pPr indent="0" marL="0">
              <a:buNone/>
            </a:pPr>
            <a:r>
              <a:rPr lang="en-US" sz="1700" dirty="0">
                <a:solidFill>
                  <a:srgbClr val="1E2B2A"/>
                </a:solidFill>
              </a:rPr>
              <a:t> what they had observed afterwards, the Americans said they had focused on objects in the front of the scenery, such as tropical fish. </a:t>
            </a:r>
            <a:pPr indent="0" marL="0">
              <a:buNone/>
            </a:pPr>
            <a:r>
              <a:rPr lang="en-US" sz="1700" b="1" dirty="0">
                <a:solidFill>
                  <a:srgbClr val="EF5B3F"/>
                </a:solidFill>
              </a:rPr>
              <a:t>[분사구문]</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나중에 그들이 무엇을 봤는지 질문받았을 때, 그 미국인들은 (그들이) 열대어와 같이 보통 풍경의 앞쪽에 있는 사물들에 집중했었다고 말했다.</a:t>
            </a:r>
            <a:endParaRPr lang="en-US" sz="1400" dirty="0"/>
          </a:p>
        </p:txBody>
      </p:sp>
      <p:sp>
        <p:nvSpPr>
          <p:cNvPr id="9" name="Shape 7"/>
          <p:cNvSpPr/>
          <p:nvPr/>
        </p:nvSpPr>
        <p:spPr>
          <a:xfrm>
            <a:off x="548640" y="2788920"/>
            <a:ext cx="11064240" cy="896112"/>
          </a:xfrm>
          <a:prstGeom prst="roundRect">
            <a:avLst>
              <a:gd name="adj" fmla="val 8163"/>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438912"/>
          </a:xfrm>
          <a:prstGeom prst="rect">
            <a:avLst/>
          </a:prstGeom>
          <a:noFill/>
          <a:ln/>
        </p:spPr>
        <p:txBody>
          <a:bodyPr wrap="square" lIns="0" tIns="0" rIns="0" bIns="0" rtlCol="0" anchor="ctr">
            <a:normAutofit/>
          </a:bodyPr>
          <a:lstStyle/>
          <a:p>
            <a:pPr indent="0" marL="0">
              <a:buNone/>
            </a:pPr>
            <a:r>
              <a:rPr lang="en-US" sz="1700" dirty="0">
                <a:solidFill>
                  <a:srgbClr val="1E2B2A"/>
                </a:solidFill>
              </a:rPr>
              <a:t>Meanwhile, the Japanese </a:t>
            </a:r>
            <a:pPr indent="0" marL="0">
              <a:buNone/>
            </a:pPr>
            <a:r>
              <a:rPr lang="en-US" sz="1700" b="1" u="sng" dirty="0">
                <a:solidFill>
                  <a:srgbClr val="14453D"/>
                </a:solidFill>
              </a:rPr>
              <a:t>had focused</a:t>
            </a:r>
            <a:pPr indent="0" marL="0">
              <a:buNone/>
            </a:pPr>
            <a:r>
              <a:rPr lang="en-US" sz="1700" dirty="0">
                <a:solidFill>
                  <a:srgbClr val="1E2B2A"/>
                </a:solidFill>
              </a:rPr>
              <a:t> on the objects in the background, such as colorful corals. </a:t>
            </a:r>
            <a:pPr indent="0" marL="0">
              <a:buNone/>
            </a:pPr>
            <a:r>
              <a:rPr lang="en-US" sz="1700" b="1" dirty="0">
                <a:solidFill>
                  <a:srgbClr val="EF5B3F"/>
                </a:solidFill>
              </a:rPr>
              <a:t>[과거완료]</a:t>
            </a:r>
            <a:endParaRPr lang="en-US" sz="1700" dirty="0"/>
          </a:p>
        </p:txBody>
      </p:sp>
      <p:sp>
        <p:nvSpPr>
          <p:cNvPr id="12" name="ANIM_x1"/>
          <p:cNvSpPr txBox="1"/>
          <p:nvPr/>
        </p:nvSpPr>
        <p:spPr>
          <a:xfrm>
            <a:off x="1188720" y="326440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한편, 일본인들은 형형색색의 산호와 같이 배경에 있는 사물들에 집중했(었)다.</a:t>
            </a:r>
            <a:endParaRPr lang="en-US" sz="1400" dirty="0"/>
          </a:p>
        </p:txBody>
      </p:sp>
      <p:sp>
        <p:nvSpPr>
          <p:cNvPr id="13" name="Text 11"/>
          <p:cNvSpPr txBox="1"/>
          <p:nvPr/>
        </p:nvSpPr>
        <p:spPr>
          <a:xfrm>
            <a:off x="548640" y="3776472"/>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영영 풀이에 해당하는 단어를 윗글에서 찾아 쓰시오.</a:t>
            </a:r>
            <a:endParaRPr lang="en-US" sz="1500" dirty="0"/>
          </a:p>
        </p:txBody>
      </p:sp>
      <p:sp>
        <p:nvSpPr>
          <p:cNvPr id="14" name="Shape 12"/>
          <p:cNvSpPr/>
          <p:nvPr/>
        </p:nvSpPr>
        <p:spPr>
          <a:xfrm>
            <a:off x="548640" y="4187952"/>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279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22452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a fact or situation that is difficult to explain or remarkable to attract people's interest</a:t>
            </a:r>
            <a:endParaRPr lang="en-US" sz="1700" dirty="0"/>
          </a:p>
        </p:txBody>
      </p:sp>
      <p:sp>
        <p:nvSpPr>
          <p:cNvPr id="17" name="ANIM_x2"/>
          <p:cNvSpPr txBox="1"/>
          <p:nvPr/>
        </p:nvSpPr>
        <p:spPr>
          <a:xfrm>
            <a:off x="9052560" y="426110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phenomenon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If Asians and Westerners are shown the same thing, they will likely look at different parts of </a:t>
            </a:r>
            <a:pPr indent="0" marL="0">
              <a:buNone/>
            </a:pPr>
            <a:r>
              <a:rPr lang="en-US" sz="1700" b="1" dirty="0">
                <a:solidFill>
                  <a:srgbClr val="EF5B3F"/>
                </a:solidFill>
              </a:rPr>
              <a:t>[it / them]</a:t>
            </a:r>
            <a:pPr indent="0" marL="0">
              <a:buNone/>
            </a:pPr>
            <a:r>
              <a:rPr lang="en-US" sz="1700" dirty="0">
                <a:solidFill>
                  <a:srgbClr val="1E2B2A"/>
                </a:solidFill>
              </a:rPr>
              <a:t>.</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On the other hand, Westerners are more independent and analytical in their information processing, often </a:t>
            </a:r>
            <a:pPr indent="0" marL="0">
              <a:buNone/>
            </a:pPr>
            <a:r>
              <a:rPr lang="en-US" sz="1700" b="1" dirty="0">
                <a:solidFill>
                  <a:srgbClr val="EF5B3F"/>
                </a:solidFill>
              </a:rPr>
              <a:t>[noticing / noticed]</a:t>
            </a:r>
            <a:pPr indent="0" marL="0">
              <a:buNone/>
            </a:pPr>
            <a:r>
              <a:rPr lang="en-US" sz="1700" dirty="0">
                <a:solidFill>
                  <a:srgbClr val="1E2B2A"/>
                </a:solidFill>
              </a:rPr>
              <a:t> specifics.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noticing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Order effect is the prejudicial impact </a:t>
            </a:r>
            <a:pPr indent="0" marL="0">
              <a:buNone/>
            </a:pPr>
            <a:r>
              <a:rPr lang="en-US" sz="2000" b="1" dirty="0">
                <a:solidFill>
                  <a:srgbClr val="EF5B3F"/>
                </a:solidFill>
              </a:rPr>
              <a:t>[that / what]</a:t>
            </a:r>
            <a:pPr indent="0" marL="0">
              <a:buNone/>
            </a:pPr>
            <a:r>
              <a:rPr lang="en-US" sz="2000" dirty="0">
                <a:solidFill>
                  <a:srgbClr val="1E2B2A"/>
                </a:solidFill>
              </a:rPr>
              <a:t> the presentation order … has on a respondent.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선행사 impact + 목적격 관계대명사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whether절 주어 → 단수</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 have + O + 원형</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maximum or minimum ratings occurred on the one </a:t>
            </a:r>
            <a:pPr indent="0" marL="0">
              <a:buNone/>
            </a:pPr>
            <a:r>
              <a:rPr lang="en-US" sz="2000" b="1" dirty="0">
                <a:solidFill>
                  <a:srgbClr val="EF5B3F"/>
                </a:solidFill>
              </a:rPr>
              <a:t>[presented / presenting]</a:t>
            </a:r>
            <a:pPr indent="0" marL="0">
              <a:buNone/>
            </a:pPr>
            <a:r>
              <a:rPr lang="en-US" sz="2000" dirty="0">
                <a:solidFill>
                  <a:srgbClr val="1E2B2A"/>
                </a:solidFill>
              </a:rPr>
              <a:t> first.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presented</a:t>
            </a:r>
            <a:endParaRPr lang="en-US" sz="1800" dirty="0"/>
          </a:p>
          <a:p>
            <a:pPr algn="ctr" indent="0" marL="0">
              <a:buNone/>
            </a:pPr>
            <a:r>
              <a:rPr lang="en-US" sz="1200" dirty="0">
                <a:solidFill>
                  <a:srgbClr val="1E2B2A"/>
                </a:solidFill>
              </a:rPr>
              <a:t>제시'된' 것 → 과거분사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맛보아진 음료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98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prejudicial</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편향된</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respondent</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응답자</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stimulus</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자극</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occupations</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직업</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regardless of</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~와 상관없이</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beverage</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음료</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significantly</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상당히</a:t>
            </a:r>
            <a:endParaRPr lang="en-US" sz="1400" dirty="0"/>
          </a:p>
        </p:txBody>
      </p:sp>
      <p:sp>
        <p:nvSpPr>
          <p:cNvPr id="20" name="Text 18"/>
          <p:cNvSpPr txBox="1"/>
          <p:nvPr/>
        </p:nvSpPr>
        <p:spPr>
          <a:xfrm>
            <a:off x="594360" y="694944"/>
            <a:ext cx="11018520" cy="3549873"/>
          </a:xfrm>
          <a:prstGeom prst="rect">
            <a:avLst/>
          </a:prstGeom>
          <a:noFill/>
          <a:ln/>
        </p:spPr>
        <p:txBody>
          <a:bodyPr wrap="square" lIns="0" tIns="0" rIns="0" bIns="0" rtlCol="0" anchor="t">
            <a:normAutofit/>
          </a:bodyPr>
          <a:lstStyle/>
          <a:p>
            <a:pPr indent="0" marL="0">
              <a:lnSpc>
                <a:spcPct val="118000"/>
              </a:lnSpc>
              <a:buNone/>
            </a:pPr>
            <a:r>
              <a:rPr lang="en-US" sz="1450" b="1" dirty="0">
                <a:solidFill>
                  <a:srgbClr val="1F7A64"/>
                </a:solidFill>
              </a:rPr>
              <a:t>(1) </a:t>
            </a:r>
            <a:pPr indent="0" marL="0">
              <a:lnSpc>
                <a:spcPct val="118000"/>
              </a:lnSpc>
              <a:buNone/>
            </a:pPr>
            <a:r>
              <a:rPr lang="en-US" sz="1850" dirty="0">
                <a:solidFill>
                  <a:srgbClr val="1E2B2A"/>
                </a:solidFill>
              </a:rPr>
              <a:t>Order effect is </a:t>
            </a:r>
            <a:pPr indent="0" marL="0">
              <a:lnSpc>
                <a:spcPct val="118000"/>
              </a:lnSpc>
              <a:buNone/>
            </a:pPr>
            <a:r>
              <a:rPr lang="en-US" sz="1850" b="1" dirty="0">
                <a:solidFill>
                  <a:srgbClr val="14453D"/>
                </a:solidFill>
                <a:highlight>
                  <a:srgbClr val="A9DDF3"/>
                </a:highlight>
              </a:rPr>
              <a:t>the prejudicial impact that the presentation order of a question, idea, answer, or product has on a respondent</a:t>
            </a:r>
            <a:pPr indent="0" marL="0">
              <a:lnSpc>
                <a:spcPct val="118000"/>
              </a:lnSpc>
              <a:buNone/>
            </a:pPr>
            <a:r>
              <a:rPr lang="en-US" sz="1850" dirty="0">
                <a:solidFill>
                  <a:srgbClr val="1E2B2A"/>
                </a:solidFill>
              </a:rPr>
              <a: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(2) </a:t>
            </a:r>
            <a:pPr indent="0" marL="0">
              <a:lnSpc>
                <a:spcPct val="118000"/>
              </a:lnSpc>
              <a:buNone/>
            </a:pPr>
            <a:r>
              <a:rPr lang="en-US" sz="1850" b="1" dirty="0">
                <a:solidFill>
                  <a:srgbClr val="14453D"/>
                </a:solidFill>
                <a:highlight>
                  <a:srgbClr val="A9DDF3"/>
                </a:highlight>
              </a:rPr>
              <a:t>Whether the item is located in the first, last, or middle position sometimes affects</a:t>
            </a:r>
            <a:pPr indent="0" marL="0">
              <a:lnSpc>
                <a:spcPct val="118000"/>
              </a:lnSpc>
              <a:buNone/>
            </a:pPr>
            <a:r>
              <a:rPr lang="en-US" sz="1850" dirty="0">
                <a:solidFill>
                  <a:srgbClr val="1E2B2A"/>
                </a:solidFill>
              </a:rPr>
              <a:t> the selection of or response to that item.</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(3) </a:t>
            </a:r>
            <a:pPr indent="0" marL="0">
              <a:lnSpc>
                <a:spcPct val="118000"/>
              </a:lnSpc>
              <a:buNone/>
            </a:pPr>
            <a:r>
              <a:rPr lang="en-US" sz="1850" dirty="0">
                <a:solidFill>
                  <a:srgbClr val="1E2B2A"/>
                </a:solidFill>
              </a:rPr>
              <a:t>There have been several studies that have noticed an order effect when an early stimulus acts as a frame of reference for later stimuli.</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(4) </a:t>
            </a:r>
            <a:pPr indent="0" marL="0">
              <a:lnSpc>
                <a:spcPct val="118000"/>
              </a:lnSpc>
              <a:buNone/>
            </a:pPr>
            <a:r>
              <a:rPr lang="en-US" sz="1850" dirty="0">
                <a:solidFill>
                  <a:srgbClr val="1E2B2A"/>
                </a:solidFill>
              </a:rPr>
              <a:t>Robert Ferber from Illinois University </a:t>
            </a:r>
            <a:pPr indent="0" marL="0">
              <a:lnSpc>
                <a:spcPct val="118000"/>
              </a:lnSpc>
              <a:buNone/>
            </a:pPr>
            <a:r>
              <a:rPr lang="en-US" sz="1850" b="1" dirty="0">
                <a:solidFill>
                  <a:srgbClr val="14453D"/>
                </a:solidFill>
                <a:highlight>
                  <a:srgbClr val="A9DDF3"/>
                </a:highlight>
              </a:rPr>
              <a:t>had respondents rate a list of occupations</a:t>
            </a:r>
            <a:pPr indent="0" marL="0">
              <a:lnSpc>
                <a:spcPct val="118000"/>
              </a:lnSpc>
              <a:buNone/>
            </a:pPr>
            <a:r>
              <a:rPr lang="en-US" sz="1850" dirty="0">
                <a:solidFill>
                  <a:srgbClr val="1E2B2A"/>
                </a:solidFill>
              </a:rPr>
              <a:t> and found that </a:t>
            </a:r>
            <a:pPr indent="0" marL="0">
              <a:lnSpc>
                <a:spcPct val="118000"/>
              </a:lnSpc>
              <a:buNone/>
            </a:pPr>
            <a:r>
              <a:rPr lang="en-US" sz="1850" b="1" dirty="0">
                <a:solidFill>
                  <a:srgbClr val="1E2B2A"/>
                </a:solidFill>
                <a:highlight>
                  <a:srgbClr val="FFD45C"/>
                </a:highlight>
              </a:rPr>
              <a:t>the maximum or minimum ratings occurred on </a:t>
            </a:r>
            <a:pPr indent="0" marL="0">
              <a:lnSpc>
                <a:spcPct val="118000"/>
              </a:lnSpc>
              <a:buNone/>
            </a:pPr>
            <a:r>
              <a:rPr lang="en-US" sz="1850" b="1" u="sng" dirty="0">
                <a:solidFill>
                  <a:srgbClr val="1E2B2A"/>
                </a:solidFill>
                <a:highlight>
                  <a:srgbClr val="FFD45C"/>
                </a:highlight>
                <a:uFill>
                  <a:solidFill>
                    <a:srgbClr val="2C7DA0"/>
                  </a:solidFill>
                </a:uFill>
              </a:rPr>
              <a:t>the one presented first</a:t>
            </a:r>
            <a:pPr indent="0" marL="0">
              <a:lnSpc>
                <a:spcPct val="118000"/>
              </a:lnSpc>
              <a:buNone/>
            </a:pPr>
            <a:r>
              <a:rPr lang="en-US" sz="1850" dirty="0">
                <a:solidFill>
                  <a:srgbClr val="1E2B2A"/>
                </a:solidFill>
              </a:rPr>
              <a:t>, regardless of the ordering of the occupations.</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(5) </a:t>
            </a:r>
            <a:pPr indent="0" marL="0">
              <a:lnSpc>
                <a:spcPct val="118000"/>
              </a:lnSpc>
              <a:buNone/>
            </a:pPr>
            <a:r>
              <a:rPr lang="en-US" sz="1850" dirty="0">
                <a:solidFill>
                  <a:srgbClr val="1E2B2A"/>
                </a:solidFill>
              </a:rPr>
              <a:t>In another study, the subjects were asked to rate a beverage on intention to buy on a scale ranging from “definitely would not buy” to “definitely would buy.”</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(6) </a:t>
            </a:r>
            <a:pPr indent="0" marL="0">
              <a:lnSpc>
                <a:spcPct val="118000"/>
              </a:lnSpc>
              <a:buNone/>
            </a:pPr>
            <a:r>
              <a:rPr lang="en-US" sz="1850" b="1" u="sng" dirty="0">
                <a:solidFill>
                  <a:srgbClr val="1E2B2A"/>
                </a:solidFill>
                <a:highlight>
                  <a:srgbClr val="FFD45C"/>
                </a:highlight>
                <a:uFill>
                  <a:solidFill>
                    <a:srgbClr val="2C7DA0"/>
                  </a:solidFill>
                </a:uFill>
              </a:rPr>
              <a:t>The first beverage tasted was rated</a:t>
            </a:r>
            <a:pPr indent="0" marL="0">
              <a:lnSpc>
                <a:spcPct val="118000"/>
              </a:lnSpc>
              <a:buNone/>
            </a:pPr>
            <a:r>
              <a:rPr lang="en-US" sz="1850" b="1" dirty="0">
                <a:solidFill>
                  <a:srgbClr val="1E2B2A"/>
                </a:solidFill>
                <a:highlight>
                  <a:srgbClr val="FFD45C"/>
                </a:highlight>
              </a:rPr>
              <a:t> significantly higher</a:t>
            </a:r>
            <a:pPr indent="0" marL="0">
              <a:lnSpc>
                <a:spcPct val="118000"/>
              </a:lnSpc>
              <a:buNone/>
            </a:pPr>
            <a:r>
              <a:rPr lang="en-US" sz="1850" dirty="0">
                <a:solidFill>
                  <a:srgbClr val="1E2B2A"/>
                </a:solidFill>
              </a:rPr>
              <a:t>.</a:t>
            </a:r>
            <a:endParaRPr lang="en-US" sz="1450" dirty="0"/>
          </a:p>
        </p:txBody>
      </p:sp>
      <p:sp>
        <p:nvSpPr>
          <p:cNvPr id="21" name="Shape 19"/>
          <p:cNvSpPr/>
          <p:nvPr/>
        </p:nvSpPr>
        <p:spPr>
          <a:xfrm>
            <a:off x="548640" y="4299681"/>
            <a:ext cx="11109960" cy="533857"/>
          </a:xfrm>
          <a:prstGeom prst="roundRect">
            <a:avLst>
              <a:gd name="adj" fmla="val 13703"/>
            </a:avLst>
          </a:prstGeom>
          <a:solidFill>
            <a:srgbClr val="FFF8EC"/>
          </a:solidFill>
          <a:ln w="28575">
            <a:solidFill>
              <a:srgbClr val="EF5B3F"/>
            </a:solidFill>
            <a:prstDash val="solid"/>
          </a:ln>
        </p:spPr>
      </p:sp>
      <p:sp>
        <p:nvSpPr>
          <p:cNvPr id="22" name="Text 20"/>
          <p:cNvSpPr txBox="1"/>
          <p:nvPr/>
        </p:nvSpPr>
        <p:spPr>
          <a:xfrm>
            <a:off x="685800" y="4336257"/>
            <a:ext cx="10881360" cy="460705"/>
          </a:xfrm>
          <a:prstGeom prst="rect">
            <a:avLst/>
          </a:prstGeom>
          <a:noFill/>
          <a:ln/>
        </p:spPr>
        <p:txBody>
          <a:bodyPr wrap="square" lIns="0" tIns="0" rIns="0" bIns="0" rtlCol="0" anchor="ctr">
            <a:normAutofit/>
          </a:bodyPr>
          <a:lstStyle/>
          <a:p>
            <a:pPr indent="0" marL="0">
              <a:lnSpc>
                <a:spcPct val="115000"/>
              </a:lnSpc>
              <a:buNone/>
            </a:pPr>
            <a:r>
              <a:rPr lang="en-US" sz="1250" b="1" dirty="0">
                <a:solidFill>
                  <a:srgbClr val="EF5B3F"/>
                </a:solidFill>
              </a:rPr>
              <a:t>요약문  </a:t>
            </a:r>
            <a:pPr indent="0" marL="0">
              <a:lnSpc>
                <a:spcPct val="115000"/>
              </a:lnSpc>
              <a:buNone/>
            </a:pPr>
            <a:r>
              <a:rPr lang="en-US" sz="1850" b="1" dirty="0">
                <a:solidFill>
                  <a:srgbClr val="14453D"/>
                </a:solidFill>
              </a:rPr>
              <a:t>The items presented in the </a:t>
            </a:r>
            <a:pPr indent="0" marL="0">
              <a:lnSpc>
                <a:spcPct val="115000"/>
              </a:lnSpc>
              <a:buNone/>
            </a:pPr>
            <a:r>
              <a:rPr lang="en-US" sz="1850" b="1" dirty="0">
                <a:solidFill>
                  <a:srgbClr val="EF5B3F"/>
                </a:solidFill>
              </a:rPr>
              <a:t>(A)</a:t>
            </a:r>
            <a:pPr indent="0" marL="0">
              <a:lnSpc>
                <a:spcPct val="115000"/>
              </a:lnSpc>
              <a:buNone/>
            </a:pPr>
            <a:r>
              <a:rPr lang="en-US" sz="1850" b="1" dirty="0">
                <a:solidFill>
                  <a:srgbClr val="14453D"/>
                </a:solidFill>
              </a:rPr>
              <a:t> position tend to get </a:t>
            </a:r>
            <a:pPr indent="0" marL="0">
              <a:lnSpc>
                <a:spcPct val="115000"/>
              </a:lnSpc>
              <a:buNone/>
            </a:pPr>
            <a:r>
              <a:rPr lang="en-US" sz="1850" b="1" dirty="0">
                <a:solidFill>
                  <a:srgbClr val="EF5B3F"/>
                </a:solidFill>
              </a:rPr>
              <a:t>(B)</a:t>
            </a:r>
            <a:pPr indent="0" marL="0">
              <a:lnSpc>
                <a:spcPct val="115000"/>
              </a:lnSpc>
              <a:buNone/>
            </a:pPr>
            <a:r>
              <a:rPr lang="en-US" sz="1850" b="1" dirty="0">
                <a:solidFill>
                  <a:srgbClr val="14453D"/>
                </a:solidFill>
              </a:rPr>
              <a:t> ratings by people.</a:t>
            </a:r>
            <a:endParaRPr lang="en-US" sz="1250" dirty="0"/>
          </a:p>
        </p:txBody>
      </p:sp>
      <p:sp>
        <p:nvSpPr>
          <p:cNvPr id="23" name="Text 21"/>
          <p:cNvSpPr txBox="1"/>
          <p:nvPr/>
        </p:nvSpPr>
        <p:spPr>
          <a:xfrm>
            <a:off x="594360" y="4906690"/>
            <a:ext cx="11018520" cy="378542"/>
          </a:xfrm>
          <a:prstGeom prst="rect">
            <a:avLst/>
          </a:prstGeom>
          <a:noFill/>
          <a:ln/>
        </p:spPr>
        <p:txBody>
          <a:bodyPr wrap="square" lIns="0" tIns="0" rIns="0" bIns="0" rtlCol="0" anchor="t">
            <a:normAutofit/>
          </a:bodyPr>
          <a:lstStyle/>
          <a:p>
            <a:pPr indent="0" marL="0">
              <a:buNone/>
            </a:pPr>
            <a:r>
              <a:rPr lang="en-US" sz="1550" b="1" dirty="0">
                <a:solidFill>
                  <a:srgbClr val="EF5B3F"/>
                </a:solidFill>
              </a:rPr>
              <a:t>① initial – extreme</a:t>
            </a:r>
            <a:pPr indent="0" marL="0">
              <a:buNone/>
            </a:pPr>
            <a:r>
              <a:rPr lang="en-US" sz="1350" b="1" dirty="0">
                <a:solidFill>
                  <a:srgbClr val="EF5B3F"/>
                </a:solidFill>
              </a:rPr>
              <a:t> ✔</a:t>
            </a:r>
            <a:pPr indent="0" marL="0">
              <a:buNone/>
            </a:pPr>
            <a:r>
              <a:rPr lang="en-US" sz="1550" dirty="0">
                <a:solidFill>
                  <a:srgbClr val="000000"/>
                </a:solidFill>
              </a:rPr>
              <a:t>     </a:t>
            </a:r>
            <a:pPr indent="0" marL="0">
              <a:buNone/>
            </a:pPr>
            <a:r>
              <a:rPr lang="en-US" sz="1550" dirty="0">
                <a:solidFill>
                  <a:srgbClr val="6E7F7C"/>
                </a:solidFill>
              </a:rPr>
              <a:t>② fixed – moderate</a:t>
            </a:r>
            <a:pPr indent="0" marL="0">
              <a:buNone/>
            </a:pPr>
            <a:r>
              <a:rPr lang="en-US" sz="1550" dirty="0">
                <a:solidFill>
                  <a:srgbClr val="000000"/>
                </a:solidFill>
              </a:rPr>
              <a:t>     </a:t>
            </a:r>
            <a:pPr indent="0" marL="0">
              <a:buNone/>
            </a:pPr>
            <a:r>
              <a:rPr lang="en-US" sz="1550" dirty="0">
                <a:solidFill>
                  <a:srgbClr val="6E7F7C"/>
                </a:solidFill>
              </a:rPr>
              <a:t>③ last – clear</a:t>
            </a:r>
            <a:pPr indent="0" marL="0">
              <a:buNone/>
            </a:pPr>
            <a:r>
              <a:rPr lang="en-US" sz="1550" dirty="0">
                <a:solidFill>
                  <a:srgbClr val="000000"/>
                </a:solidFill>
              </a:rPr>
              <a:t>     </a:t>
            </a:r>
            <a:pPr indent="0" marL="0">
              <a:buNone/>
            </a:pPr>
            <a:r>
              <a:rPr lang="en-US" sz="1550" dirty="0">
                <a:solidFill>
                  <a:srgbClr val="6E7F7C"/>
                </a:solidFill>
              </a:rPr>
              <a:t>④ random – uncertain</a:t>
            </a:r>
            <a:pPr indent="0" marL="0">
              <a:buNone/>
            </a:pPr>
            <a:r>
              <a:rPr lang="en-US" sz="1550" dirty="0">
                <a:solidFill>
                  <a:srgbClr val="000000"/>
                </a:solidFill>
              </a:rPr>
              <a:t>     </a:t>
            </a:r>
            <a:pPr indent="0" marL="0">
              <a:buNone/>
            </a:pPr>
            <a:r>
              <a:rPr lang="en-US" sz="1550" dirty="0">
                <a:solidFill>
                  <a:srgbClr val="6E7F7C"/>
                </a:solidFill>
              </a:rPr>
              <a:t>⑤ variable – average</a:t>
            </a:r>
            <a:endParaRPr lang="en-US" sz="15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정의</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순서 효과 = 제시 순서가 응답자에게 주는 편향된 영향</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원리</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초기 자극이 이후 자극의 기준틀이 된다</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직업 평가: 처음 것이 최고 또는 최저 (극단) 평가</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②</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음료 평가: 처음 맛본 음료가 훨씬 높은 평가</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maximum or minimum → extreme 으로 바꿔 말하기</a:t>
            </a:r>
            <a:endParaRPr lang="en-US" sz="1500" dirty="0"/>
          </a:p>
          <a:p>
            <a:pPr marL="342900" indent="-342900">
              <a:spcAft>
                <a:spcPts val="600"/>
              </a:spcAft>
              <a:buSzPct val="100000"/>
              <a:buChar char="✔"/>
            </a:pPr>
            <a:r>
              <a:rPr lang="en-US" sz="1500" dirty="0">
                <a:solidFill>
                  <a:srgbClr val="1E2B2A"/>
                </a:solidFill>
              </a:rPr>
              <a:t>본문에 나온 단어(last)라고 정답이 아니다</a:t>
            </a:r>
            <a:endParaRPr lang="en-US" sz="1500" dirty="0"/>
          </a:p>
          <a:p>
            <a:pPr marL="342900" indent="-342900">
              <a:spcAft>
                <a:spcPts val="600"/>
              </a:spcAft>
              <a:buSzPct val="100000"/>
              <a:buChar char="✔"/>
            </a:pPr>
            <a:r>
              <a:rPr lang="en-US" sz="1500" dirty="0">
                <a:solidFill>
                  <a:srgbClr val="1E2B2A"/>
                </a:solidFill>
              </a:rPr>
              <a:t>have + O + 동사원형 (사역)</a:t>
            </a:r>
            <a:endParaRPr lang="en-US" sz="1500" dirty="0"/>
          </a:p>
          <a:p>
            <a:pPr marL="342900" indent="-342900">
              <a:spcAft>
                <a:spcPts val="600"/>
              </a:spcAft>
              <a:buSzPct val="100000"/>
              <a:buChar char="✔"/>
            </a:pPr>
            <a:r>
              <a:rPr lang="en-US" sz="1500" dirty="0">
                <a:solidFill>
                  <a:srgbClr val="1E2B2A"/>
                </a:solidFill>
              </a:rPr>
              <a:t>whether절 주어 → 단수 동사</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regardless of  </a:t>
            </a:r>
            <a:pPr indent="0" marL="0">
              <a:spcAft>
                <a:spcPts val="500"/>
              </a:spcAft>
              <a:buNone/>
            </a:pPr>
            <a:r>
              <a:rPr lang="en-US" sz="1300" dirty="0">
                <a:solidFill>
                  <a:srgbClr val="1E2B2A"/>
                </a:solidFill>
              </a:rPr>
              <a:t>≒ irrespective of, no matter</a:t>
            </a:r>
            <a:endParaRPr lang="en-US" sz="1300" dirty="0"/>
          </a:p>
          <a:p>
            <a:pPr indent="0" marL="0">
              <a:spcAft>
                <a:spcPts val="500"/>
              </a:spcAft>
              <a:buNone/>
            </a:pPr>
            <a:r>
              <a:rPr lang="en-US" sz="1300" b="1" dirty="0">
                <a:solidFill>
                  <a:srgbClr val="1F7A64"/>
                </a:solidFill>
              </a:rPr>
              <a:t>prejudicial  </a:t>
            </a:r>
            <a:pPr indent="0" marL="0">
              <a:spcAft>
                <a:spcPts val="500"/>
              </a:spcAft>
              <a:buNone/>
            </a:pPr>
            <a:r>
              <a:rPr lang="en-US" sz="1300" dirty="0">
                <a:solidFill>
                  <a:srgbClr val="1E2B2A"/>
                </a:solidFill>
              </a:rPr>
              <a:t>≒ biased ⊕ prejudice</a:t>
            </a:r>
            <a:endParaRPr lang="en-US" sz="1300" dirty="0"/>
          </a:p>
          <a:p>
            <a:pPr indent="0" marL="0">
              <a:spcAft>
                <a:spcPts val="500"/>
              </a:spcAft>
              <a:buNone/>
            </a:pPr>
            <a:r>
              <a:rPr lang="en-US" sz="1300" b="1" dirty="0">
                <a:solidFill>
                  <a:srgbClr val="1F7A64"/>
                </a:solidFill>
              </a:rPr>
              <a:t>respondent  </a:t>
            </a:r>
            <a:pPr indent="0" marL="0">
              <a:spcAft>
                <a:spcPts val="500"/>
              </a:spcAft>
              <a:buNone/>
            </a:pPr>
            <a:r>
              <a:rPr lang="en-US" sz="1300" dirty="0">
                <a:solidFill>
                  <a:srgbClr val="1E2B2A"/>
                </a:solidFill>
              </a:rPr>
              <a:t>⊕ respond, response</a:t>
            </a:r>
            <a:endParaRPr lang="en-US" sz="1300" dirty="0"/>
          </a:p>
          <a:p>
            <a:pPr indent="0" marL="0">
              <a:spcAft>
                <a:spcPts val="500"/>
              </a:spcAft>
              <a:buNone/>
            </a:pPr>
            <a:r>
              <a:rPr lang="en-US" sz="1300" b="1" dirty="0">
                <a:solidFill>
                  <a:srgbClr val="1F7A64"/>
                </a:solidFill>
              </a:rPr>
              <a:t>significantly  </a:t>
            </a:r>
            <a:pPr indent="0" marL="0">
              <a:spcAft>
                <a:spcPts val="500"/>
              </a:spcAft>
              <a:buNone/>
            </a:pPr>
            <a:r>
              <a:rPr lang="en-US" sz="1300" dirty="0">
                <a:solidFill>
                  <a:srgbClr val="1E2B2A"/>
                </a:solidFill>
              </a:rPr>
              <a:t>≒ considerably, substantially ⊕ significant, significance</a:t>
            </a:r>
            <a:endParaRPr lang="en-US" sz="1300" dirty="0"/>
          </a:p>
          <a:p>
            <a:pPr indent="0" marL="0">
              <a:spcAft>
                <a:spcPts val="500"/>
              </a:spcAft>
              <a:buNone/>
            </a:pPr>
            <a:r>
              <a:rPr lang="en-US" sz="1300" b="1" dirty="0">
                <a:solidFill>
                  <a:srgbClr val="1F7A64"/>
                </a:solidFill>
              </a:rPr>
              <a:t>initial  </a:t>
            </a:r>
            <a:pPr indent="0" marL="0">
              <a:spcAft>
                <a:spcPts val="500"/>
              </a:spcAft>
              <a:buNone/>
            </a:pPr>
            <a:r>
              <a:rPr lang="en-US" sz="1300" dirty="0">
                <a:solidFill>
                  <a:srgbClr val="1E2B2A"/>
                </a:solidFill>
              </a:rPr>
              <a:t>≒ first, earliest ↔ final</a:t>
            </a:r>
            <a:endParaRPr lang="en-US" sz="1300" dirty="0"/>
          </a:p>
          <a:p>
            <a:pPr indent="0" marL="0">
              <a:spcAft>
                <a:spcPts val="500"/>
              </a:spcAft>
              <a:buNone/>
            </a:pPr>
            <a:r>
              <a:rPr lang="en-US" sz="1300" b="1" dirty="0">
                <a:solidFill>
                  <a:srgbClr val="1F7A64"/>
                </a:solidFill>
              </a:rPr>
              <a:t>extreme  </a:t>
            </a:r>
            <a:pPr indent="0" marL="0">
              <a:spcAft>
                <a:spcPts val="500"/>
              </a:spcAft>
              <a:buNone/>
            </a:pPr>
            <a:r>
              <a:rPr lang="en-US" sz="1300" dirty="0">
                <a:solidFill>
                  <a:srgbClr val="1E2B2A"/>
                </a:solidFill>
              </a:rPr>
              <a:t>≒ maximum or minimum ↔ moderate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success of dieting depends mostly on determination, persistence and </a:t>
            </a:r>
            <a:pPr indent="0" marL="0">
              <a:buNone/>
            </a:pPr>
            <a:r>
              <a:rPr lang="en-US" sz="2000" b="1" dirty="0">
                <a:solidFill>
                  <a:srgbClr val="EF5B3F"/>
                </a:solidFill>
              </a:rPr>
              <a:t>[self-discipline / self-disciplined]</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self-discipline</a:t>
            </a:r>
            <a:endParaRPr lang="en-US" sz="1800" dirty="0"/>
          </a:p>
          <a:p>
            <a:pPr algn="ctr" indent="0" marL="0">
              <a:buNone/>
            </a:pPr>
            <a:r>
              <a:rPr lang="en-US" sz="1200" dirty="0">
                <a:solidFill>
                  <a:srgbClr val="1E2B2A"/>
                </a:solidFill>
              </a:rPr>
              <a:t>명사 병렬 A, B and C</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…their subjective impression can lead them </a:t>
            </a:r>
            <a:pPr indent="0" marL="0">
              <a:buNone/>
            </a:pPr>
            <a:r>
              <a:rPr lang="en-US" sz="2000" b="1" dirty="0">
                <a:solidFill>
                  <a:srgbClr val="EF5B3F"/>
                </a:solidFill>
              </a:rPr>
              <a:t>[to give / giving]</a:t>
            </a:r>
            <a:pPr indent="0" marL="0">
              <a:buNone/>
            </a:pPr>
            <a:r>
              <a:rPr lang="en-US" sz="2000" dirty="0">
                <a:solidFill>
                  <a:srgbClr val="1E2B2A"/>
                </a:solidFill>
              </a:rPr>
              <a:t> up on it.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give</a:t>
            </a:r>
            <a:endParaRPr lang="en-US" sz="1800" dirty="0"/>
          </a:p>
          <a:p>
            <a:pPr algn="ctr" indent="0" marL="0">
              <a:buNone/>
            </a:pPr>
            <a:r>
              <a:rPr lang="en-US" sz="1200" dirty="0">
                <a:solidFill>
                  <a:srgbClr val="1E2B2A"/>
                </a:solidFill>
              </a:rPr>
              <a:t>lead O to V</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99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determination</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결단력</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persistence</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끈기</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self-discipline</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절제</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complicated</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복잡한</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keeping track of</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기록하기</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subjective</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주관적인</a:t>
            </a:r>
            <a:endParaRPr lang="en-US" sz="1400" dirty="0"/>
          </a:p>
        </p:txBody>
      </p:sp>
      <p:sp>
        <p:nvSpPr>
          <p:cNvPr id="20" name="Text 18"/>
          <p:cNvSpPr txBox="1"/>
          <p:nvPr/>
        </p:nvSpPr>
        <p:spPr>
          <a:xfrm>
            <a:off x="594360" y="694944"/>
            <a:ext cx="11018520" cy="3235257"/>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Many people think the success of dieting </a:t>
            </a:r>
            <a:pPr indent="0" marL="0">
              <a:lnSpc>
                <a:spcPct val="118000"/>
              </a:lnSpc>
              <a:buNone/>
            </a:pPr>
            <a:r>
              <a:rPr lang="en-US" sz="1900" b="1" dirty="0">
                <a:solidFill>
                  <a:srgbClr val="14453D"/>
                </a:solidFill>
                <a:highlight>
                  <a:srgbClr val="A9DDF3"/>
                </a:highlight>
              </a:rPr>
              <a:t>depends mostly on determination, persistence and self-discipline</a:t>
            </a:r>
            <a:pPr indent="0" marL="0">
              <a:lnSpc>
                <a:spcPct val="118000"/>
              </a:lnSpc>
              <a:buNone/>
            </a:pPr>
            <a:r>
              <a:rPr lang="en-US" sz="1900" dirty="0">
                <a:solidFill>
                  <a:srgbClr val="1E2B2A"/>
                </a:solidFill>
              </a:rPr>
              <a: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b="1" dirty="0">
                <a:solidFill>
                  <a:srgbClr val="1E2B2A"/>
                </a:solidFill>
                <a:highlight>
                  <a:srgbClr val="FFD45C"/>
                </a:highlight>
              </a:rPr>
              <a:t>While this mental power matters</a:t>
            </a:r>
            <a:pPr indent="0" marL="0">
              <a:lnSpc>
                <a:spcPct val="118000"/>
              </a:lnSpc>
              <a:buNone/>
            </a:pPr>
            <a:r>
              <a:rPr lang="en-US" sz="1900" dirty="0">
                <a:solidFill>
                  <a:srgbClr val="1E2B2A"/>
                </a:solidFill>
              </a:rPr>
              <a:t>, a new research has found that a much more subtle aspect of the diets themselves can also have a big influence on the pounds lost.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dirty="0">
                <a:solidFill>
                  <a:srgbClr val="1E2B2A"/>
                </a:solidFill>
              </a:rPr>
              <a:t>Researchers compared the dieting behavior of women following two very different diet plans.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dirty="0">
                <a:solidFill>
                  <a:srgbClr val="1E2B2A"/>
                </a:solidFill>
              </a:rPr>
              <a:t>They found that </a:t>
            </a:r>
            <a:pPr indent="0" marL="0">
              <a:lnSpc>
                <a:spcPct val="118000"/>
              </a:lnSpc>
              <a:buNone/>
            </a:pPr>
            <a:r>
              <a:rPr lang="en-US" sz="1900" b="1"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8000"/>
              </a:lnSpc>
              <a:buNone/>
            </a:pPr>
            <a:r>
              <a:rPr lang="en-US" sz="1900" dirty="0">
                <a:solidFill>
                  <a:srgbClr val="1E2B2A"/>
                </a:solidFill>
              </a:rPr>
              <a: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In other words, for people who go on </a:t>
            </a:r>
            <a:pPr indent="0" marL="0">
              <a:lnSpc>
                <a:spcPct val="118000"/>
              </a:lnSpc>
              <a:buNone/>
            </a:pPr>
            <a:r>
              <a:rPr lang="en-US" sz="1900" b="1" dirty="0">
                <a:solidFill>
                  <a:srgbClr val="14453D"/>
                </a:solidFill>
                <a:highlight>
                  <a:srgbClr val="A9DDF3"/>
                </a:highlight>
              </a:rPr>
              <a:t>a more complex diet that involves keeping track of</a:t>
            </a:r>
            <a:pPr indent="0" marL="0">
              <a:lnSpc>
                <a:spcPct val="118000"/>
              </a:lnSpc>
              <a:buNone/>
            </a:pPr>
            <a:r>
              <a:rPr lang="en-US" sz="1900" dirty="0">
                <a:solidFill>
                  <a:srgbClr val="1E2B2A"/>
                </a:solidFill>
              </a:rPr>
              <a:t> quantities and items eaten, their subjective impression of the difficulty of the diet </a:t>
            </a:r>
            <a:pPr indent="0" marL="0">
              <a:lnSpc>
                <a:spcPct val="118000"/>
              </a:lnSpc>
              <a:buNone/>
            </a:pPr>
            <a:r>
              <a:rPr lang="en-US" sz="1900" b="1" dirty="0">
                <a:solidFill>
                  <a:srgbClr val="14453D"/>
                </a:solidFill>
                <a:highlight>
                  <a:srgbClr val="A9DDF3"/>
                </a:highlight>
              </a:rPr>
              <a:t>can lead them to give up on it</a:t>
            </a:r>
            <a:pPr indent="0" marL="0">
              <a:lnSpc>
                <a:spcPct val="118000"/>
              </a:lnSpc>
              <a:buNone/>
            </a:pPr>
            <a:r>
              <a:rPr lang="en-US" sz="1900" dirty="0">
                <a:solidFill>
                  <a:srgbClr val="1E2B2A"/>
                </a:solidFill>
              </a:rPr>
              <a:t>.</a:t>
            </a:r>
            <a:endParaRPr lang="en-US" sz="1500" dirty="0"/>
          </a:p>
        </p:txBody>
      </p:sp>
      <p:sp>
        <p:nvSpPr>
          <p:cNvPr id="21" name="Shape 19"/>
          <p:cNvSpPr/>
          <p:nvPr/>
        </p:nvSpPr>
        <p:spPr>
          <a:xfrm>
            <a:off x="548640" y="3985065"/>
            <a:ext cx="11109960" cy="542849"/>
          </a:xfrm>
          <a:prstGeom prst="roundRect">
            <a:avLst>
              <a:gd name="adj" fmla="val 13476"/>
            </a:avLst>
          </a:prstGeom>
          <a:solidFill>
            <a:srgbClr val="FFF8EC"/>
          </a:solidFill>
          <a:ln w="28575">
            <a:solidFill>
              <a:srgbClr val="EF5B3F"/>
            </a:solidFill>
            <a:prstDash val="solid"/>
          </a:ln>
        </p:spPr>
      </p:sp>
      <p:sp>
        <p:nvSpPr>
          <p:cNvPr id="22" name="Text 20"/>
          <p:cNvSpPr txBox="1"/>
          <p:nvPr/>
        </p:nvSpPr>
        <p:spPr>
          <a:xfrm>
            <a:off x="685800" y="4021641"/>
            <a:ext cx="10881360" cy="469697"/>
          </a:xfrm>
          <a:prstGeom prst="rect">
            <a:avLst/>
          </a:prstGeom>
          <a:noFill/>
          <a:ln/>
        </p:spPr>
        <p:txBody>
          <a:bodyPr wrap="square" lIns="0" tIns="0" rIns="0" bIns="0" rtlCol="0" anchor="ctr">
            <a:normAutofit/>
          </a:bodyPr>
          <a:lstStyle/>
          <a:p>
            <a:pPr indent="0" marL="0">
              <a:lnSpc>
                <a:spcPct val="115000"/>
              </a:lnSpc>
              <a:buNone/>
            </a:pPr>
            <a:r>
              <a:rPr lang="en-US" sz="1300" b="1" dirty="0">
                <a:solidFill>
                  <a:srgbClr val="EF5B3F"/>
                </a:solidFill>
              </a:rPr>
              <a:t>요약문  </a:t>
            </a:r>
            <a:pPr indent="0" marL="0">
              <a:lnSpc>
                <a:spcPct val="115000"/>
              </a:lnSpc>
              <a:buNone/>
            </a:pPr>
            <a:r>
              <a:rPr lang="en-US" sz="1900" b="1" dirty="0">
                <a:solidFill>
                  <a:srgbClr val="14453D"/>
                </a:solidFill>
              </a:rPr>
              <a:t>To succeed in diet, </a:t>
            </a:r>
            <a:pPr indent="0" marL="0">
              <a:lnSpc>
                <a:spcPct val="115000"/>
              </a:lnSpc>
              <a:buNone/>
            </a:pPr>
            <a:r>
              <a:rPr lang="en-US" sz="1900" b="1" dirty="0">
                <a:solidFill>
                  <a:srgbClr val="EF5B3F"/>
                </a:solidFill>
              </a:rPr>
              <a:t>(A)</a:t>
            </a:r>
            <a:pPr indent="0" marL="0">
              <a:lnSpc>
                <a:spcPct val="115000"/>
              </a:lnSpc>
              <a:buNone/>
            </a:pPr>
            <a:r>
              <a:rPr lang="en-US" sz="1900" b="1" dirty="0">
                <a:solidFill>
                  <a:srgbClr val="14453D"/>
                </a:solidFill>
              </a:rPr>
              <a:t> of process for carrying it out is more important than </a:t>
            </a:r>
            <a:pPr indent="0" marL="0">
              <a:lnSpc>
                <a:spcPct val="115000"/>
              </a:lnSpc>
              <a:buNone/>
            </a:pPr>
            <a:r>
              <a:rPr lang="en-US" sz="1900" b="1" dirty="0">
                <a:solidFill>
                  <a:srgbClr val="EF5B3F"/>
                </a:solidFill>
              </a:rPr>
              <a:t>(B)</a:t>
            </a:r>
            <a:pPr indent="0" marL="0">
              <a:lnSpc>
                <a:spcPct val="115000"/>
              </a:lnSpc>
              <a:buNone/>
            </a:pPr>
            <a:r>
              <a:rPr lang="en-US" sz="1900" b="1" dirty="0">
                <a:solidFill>
                  <a:srgbClr val="14453D"/>
                </a:solidFill>
              </a:rPr>
              <a:t>.</a:t>
            </a:r>
            <a:endParaRPr lang="en-US" sz="1300" dirty="0"/>
          </a:p>
        </p:txBody>
      </p:sp>
      <p:sp>
        <p:nvSpPr>
          <p:cNvPr id="23" name="Text 21"/>
          <p:cNvSpPr txBox="1"/>
          <p:nvPr/>
        </p:nvSpPr>
        <p:spPr>
          <a:xfrm>
            <a:off x="594360" y="4601066"/>
            <a:ext cx="11018520" cy="684166"/>
          </a:xfrm>
          <a:prstGeom prst="rect">
            <a:avLst/>
          </a:prstGeom>
          <a:noFill/>
          <a:ln/>
        </p:spPr>
        <p:txBody>
          <a:bodyPr wrap="square" lIns="0" tIns="0" rIns="0" bIns="0" rtlCol="0" anchor="t">
            <a:normAutofit/>
          </a:bodyPr>
          <a:lstStyle/>
          <a:p>
            <a:pPr indent="0" marL="0">
              <a:buNone/>
            </a:pPr>
            <a:r>
              <a:rPr lang="en-US" sz="1600" dirty="0">
                <a:solidFill>
                  <a:srgbClr val="6E7F7C"/>
                </a:solidFill>
              </a:rPr>
              <a:t>① simplicity – necessity</a:t>
            </a:r>
            <a:pPr indent="0" marL="0">
              <a:buNone/>
            </a:pPr>
            <a:r>
              <a:rPr lang="en-US" sz="1600" dirty="0">
                <a:solidFill>
                  <a:srgbClr val="000000"/>
                </a:solidFill>
              </a:rPr>
              <a:t>     </a:t>
            </a:r>
            <a:pPr indent="0" marL="0">
              <a:buNone/>
            </a:pPr>
            <a:r>
              <a:rPr lang="en-US" sz="1600" b="1" dirty="0">
                <a:solidFill>
                  <a:srgbClr val="EF5B3F"/>
                </a:solidFill>
              </a:rPr>
              <a:t>② simplicity – willpower</a:t>
            </a:r>
            <a:pPr indent="0" marL="0">
              <a:buNone/>
            </a:pPr>
            <a:r>
              <a:rPr lang="en-US" sz="1400" b="1" dirty="0">
                <a:solidFill>
                  <a:srgbClr val="EF5B3F"/>
                </a:solidFill>
              </a:rPr>
              <a:t> ✔</a:t>
            </a:r>
            <a:pPr indent="0" marL="0">
              <a:buNone/>
            </a:pPr>
            <a:r>
              <a:rPr lang="en-US" sz="1600" dirty="0">
                <a:solidFill>
                  <a:srgbClr val="000000"/>
                </a:solidFill>
              </a:rPr>
              <a:t>     </a:t>
            </a:r>
            <a:pPr indent="0" marL="0">
              <a:buNone/>
            </a:pPr>
            <a:r>
              <a:rPr lang="en-US" sz="1600" dirty="0">
                <a:solidFill>
                  <a:srgbClr val="6E7F7C"/>
                </a:solidFill>
              </a:rPr>
              <a:t>③ popularity – necessity</a:t>
            </a:r>
            <a:pPr indent="0" marL="0">
              <a:buNone/>
            </a:pPr>
            <a:r>
              <a:rPr lang="en-US" sz="1600" dirty="0">
                <a:solidFill>
                  <a:srgbClr val="000000"/>
                </a:solidFill>
              </a:rPr>
              <a:t>     </a:t>
            </a:r>
            <a:pPr indent="0" marL="0">
              <a:buNone/>
            </a:pPr>
            <a:r>
              <a:rPr lang="en-US" sz="1600" dirty="0">
                <a:solidFill>
                  <a:srgbClr val="6E7F7C"/>
                </a:solidFill>
              </a:rPr>
              <a:t>④ consistency – willpower</a:t>
            </a:r>
            <a:pPr indent="0" marL="0">
              <a:buNone/>
            </a:pPr>
            <a:r>
              <a:rPr lang="en-US" sz="1600" dirty="0">
                <a:solidFill>
                  <a:srgbClr val="000000"/>
                </a:solidFill>
              </a:rPr>
              <a:t>     </a:t>
            </a:r>
            <a:pPr indent="0" marL="0">
              <a:buNone/>
            </a:pPr>
            <a:r>
              <a:rPr lang="en-US" sz="1600" dirty="0">
                <a:solidFill>
                  <a:srgbClr val="6E7F7C"/>
                </a:solidFill>
              </a:rPr>
              <a:t>⑤ consistency – expense</a:t>
            </a:r>
            <a:endParaRPr lang="en-US" sz="16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03 통념 – 반박   ·   </a:t>
            </a:r>
            <a:pPr indent="0" marL="0">
              <a:buNone/>
            </a:pPr>
            <a:r>
              <a:rPr lang="en-US" sz="1300" b="1" dirty="0">
                <a:solidFill>
                  <a:srgbClr val="14453D"/>
                </a:solidFill>
              </a:rPr>
              <a:t>UNIT 05 현상 – 문제 제기 – 해결책   ·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통념</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다이어트 성공 = 결단력·끈기·자기 절제 (정신력)</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While 정신력도 중요하지만 → 다이어트 자체의 미묘한 측면도 중요</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계획이 복잡하다고 느낄수록 더 빨리 포기</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복잡하다는 주관적 인상이 포기를 부른다 → 단순함이 핵심</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While(~이지만) = 반전 signal: 뒤가 진짜 주장</a:t>
            </a:r>
            <a:endParaRPr lang="en-US" sz="1500" dirty="0"/>
          </a:p>
          <a:p>
            <a:pPr marL="342900" indent="-342900">
              <a:spcAft>
                <a:spcPts val="600"/>
              </a:spcAft>
              <a:buSzPct val="100000"/>
              <a:buChar char="✔"/>
            </a:pPr>
            <a:r>
              <a:rPr lang="en-US" sz="1500" dirty="0">
                <a:solidFill>
                  <a:srgbClr val="1E2B2A"/>
                </a:solidFill>
              </a:rPr>
              <a:t>determination·persistence·self-discipline = willpower</a:t>
            </a:r>
            <a:endParaRPr lang="en-US" sz="1500" dirty="0"/>
          </a:p>
          <a:p>
            <a:pPr marL="342900" indent="-342900">
              <a:spcAft>
                <a:spcPts val="600"/>
              </a:spcAft>
              <a:buSzPct val="100000"/>
              <a:buChar char="✔"/>
            </a:pPr>
            <a:r>
              <a:rPr lang="en-US" sz="1500" dirty="0">
                <a:solidFill>
                  <a:srgbClr val="1E2B2A"/>
                </a:solidFill>
              </a:rPr>
              <a:t>the 비교급, the 비교급</a:t>
            </a:r>
            <a:endParaRPr lang="en-US" sz="1500" dirty="0"/>
          </a:p>
          <a:p>
            <a:pPr marL="342900" indent="-342900">
              <a:spcAft>
                <a:spcPts val="600"/>
              </a:spcAft>
              <a:buSzPct val="100000"/>
              <a:buChar char="✔"/>
            </a:pPr>
            <a:r>
              <a:rPr lang="en-US" sz="1500" dirty="0">
                <a:solidFill>
                  <a:srgbClr val="1E2B2A"/>
                </a:solidFill>
              </a:rPr>
              <a:t>involve + -ing</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persistence  </a:t>
            </a:r>
            <a:pPr indent="0" marL="0">
              <a:spcAft>
                <a:spcPts val="500"/>
              </a:spcAft>
              <a:buNone/>
            </a:pPr>
            <a:r>
              <a:rPr lang="en-US" sz="1300" dirty="0">
                <a:solidFill>
                  <a:srgbClr val="1E2B2A"/>
                </a:solidFill>
              </a:rPr>
              <a:t>≒ perseverance, determination ⊕ persist, persistent</a:t>
            </a:r>
            <a:endParaRPr lang="en-US" sz="1300" dirty="0"/>
          </a:p>
          <a:p>
            <a:pPr indent="0" marL="0">
              <a:spcAft>
                <a:spcPts val="500"/>
              </a:spcAft>
              <a:buNone/>
            </a:pPr>
            <a:r>
              <a:rPr lang="en-US" sz="1300" b="1" dirty="0">
                <a:solidFill>
                  <a:srgbClr val="1F7A64"/>
                </a:solidFill>
              </a:rPr>
              <a:t>complicated  </a:t>
            </a:r>
            <a:pPr indent="0" marL="0">
              <a:spcAft>
                <a:spcPts val="500"/>
              </a:spcAft>
              <a:buNone/>
            </a:pPr>
            <a:r>
              <a:rPr lang="en-US" sz="1300" dirty="0">
                <a:solidFill>
                  <a:srgbClr val="1E2B2A"/>
                </a:solidFill>
              </a:rPr>
              <a:t>≒ complex ↔ simple ⊕ complication</a:t>
            </a:r>
            <a:endParaRPr lang="en-US" sz="1300" dirty="0"/>
          </a:p>
          <a:p>
            <a:pPr indent="0" marL="0">
              <a:spcAft>
                <a:spcPts val="500"/>
              </a:spcAft>
              <a:buNone/>
            </a:pPr>
            <a:r>
              <a:rPr lang="en-US" sz="1300" b="1" dirty="0">
                <a:solidFill>
                  <a:srgbClr val="1F7A64"/>
                </a:solidFill>
              </a:rPr>
              <a:t>subjective  </a:t>
            </a:r>
            <a:pPr indent="0" marL="0">
              <a:spcAft>
                <a:spcPts val="500"/>
              </a:spcAft>
              <a:buNone/>
            </a:pPr>
            <a:r>
              <a:rPr lang="en-US" sz="1300" dirty="0">
                <a:solidFill>
                  <a:srgbClr val="1E2B2A"/>
                </a:solidFill>
              </a:rPr>
              <a:t>↔ objective</a:t>
            </a:r>
            <a:endParaRPr lang="en-US" sz="1300" dirty="0"/>
          </a:p>
          <a:p>
            <a:pPr indent="0" marL="0">
              <a:spcAft>
                <a:spcPts val="500"/>
              </a:spcAft>
              <a:buNone/>
            </a:pPr>
            <a:r>
              <a:rPr lang="en-US" sz="1300" b="1" dirty="0">
                <a:solidFill>
                  <a:srgbClr val="1F7A64"/>
                </a:solidFill>
              </a:rPr>
              <a:t>give up on  </a:t>
            </a:r>
            <a:pPr indent="0" marL="0">
              <a:spcAft>
                <a:spcPts val="500"/>
              </a:spcAft>
              <a:buNone/>
            </a:pPr>
            <a:r>
              <a:rPr lang="en-US" sz="1300" dirty="0">
                <a:solidFill>
                  <a:srgbClr val="1E2B2A"/>
                </a:solidFill>
              </a:rPr>
              <a:t>≒ drop, abandon, quit</a:t>
            </a:r>
            <a:endParaRPr lang="en-US" sz="1300" dirty="0"/>
          </a:p>
          <a:p>
            <a:pPr indent="0" marL="0">
              <a:spcAft>
                <a:spcPts val="500"/>
              </a:spcAft>
              <a:buNone/>
            </a:pPr>
            <a:r>
              <a:rPr lang="en-US" sz="1300" b="1" dirty="0">
                <a:solidFill>
                  <a:srgbClr val="1F7A64"/>
                </a:solidFill>
              </a:rPr>
              <a:t>keep track of  </a:t>
            </a:r>
            <a:pPr indent="0" marL="0">
              <a:spcAft>
                <a:spcPts val="500"/>
              </a:spcAft>
              <a:buNone/>
            </a:pPr>
            <a:r>
              <a:rPr lang="en-US" sz="1300" dirty="0">
                <a:solidFill>
                  <a:srgbClr val="1E2B2A"/>
                </a:solidFill>
              </a:rPr>
              <a:t>≒ record, monitor</a:t>
            </a:r>
            <a:endParaRPr lang="en-US" sz="1300" dirty="0"/>
          </a:p>
          <a:p>
            <a:pPr indent="0" marL="0">
              <a:spcAft>
                <a:spcPts val="500"/>
              </a:spcAft>
              <a:buNone/>
            </a:pPr>
            <a:r>
              <a:rPr lang="en-US" sz="1300" b="1" dirty="0">
                <a:solidFill>
                  <a:srgbClr val="1F7A64"/>
                </a:solidFill>
              </a:rPr>
              <a:t>willpower  </a:t>
            </a:r>
            <a:pPr indent="0" marL="0">
              <a:spcAft>
                <a:spcPts val="500"/>
              </a:spcAft>
              <a:buNone/>
            </a:pPr>
            <a:r>
              <a:rPr lang="en-US" sz="1300" dirty="0">
                <a:solidFill>
                  <a:srgbClr val="1E2B2A"/>
                </a:solidFill>
              </a:rPr>
              <a:t>≒ determination, self-discipline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while they are ignoring (능동)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주어 a job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[As / Since]</a:t>
            </a:r>
            <a:pPr indent="0" marL="0">
              <a:buNone/>
            </a:pPr>
            <a:r>
              <a:rPr lang="en-US" sz="2000" dirty="0">
                <a:solidFill>
                  <a:srgbClr val="1E2B2A"/>
                </a:solidFill>
              </a:rPr>
              <a:t> variety in work decreases, the amount of thought also decreases.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비례의 as: ~할수록</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100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mindlessly</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아무 생각 없이</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repetitive</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반복적인</a:t>
            </a:r>
            <a:endParaRPr lang="en-US" sz="1400" dirty="0"/>
          </a:p>
        </p:txBody>
      </p:sp>
      <p:sp>
        <p:nvSpPr>
          <p:cNvPr id="20" name="Text 18"/>
          <p:cNvSpPr txBox="1"/>
          <p:nvPr/>
        </p:nvSpPr>
        <p:spPr>
          <a:xfrm>
            <a:off x="594360" y="694944"/>
            <a:ext cx="11018520" cy="2966588"/>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1F7A64"/>
                </a:solidFill>
              </a:rPr>
              <a:t>(1) </a:t>
            </a:r>
            <a:pPr indent="0" marL="0">
              <a:lnSpc>
                <a:spcPct val="118000"/>
              </a:lnSpc>
              <a:buNone/>
            </a:pPr>
            <a:r>
              <a:rPr lang="en-US" sz="1800" dirty="0">
                <a:solidFill>
                  <a:srgbClr val="1E2B2A"/>
                </a:solidFill>
              </a:rPr>
              <a:t>Formal organizations such as multinational corporations </a:t>
            </a:r>
            <a:pPr indent="0" marL="0">
              <a:lnSpc>
                <a:spcPct val="118000"/>
              </a:lnSpc>
              <a:buNone/>
            </a:pPr>
            <a:r>
              <a:rPr lang="en-US" sz="1800" b="1" dirty="0">
                <a:solidFill>
                  <a:srgbClr val="14453D"/>
                </a:solidFill>
                <a:highlight>
                  <a:srgbClr val="A9DDF3"/>
                </a:highlight>
              </a:rPr>
              <a:t>train workers to perform their jobs</a:t>
            </a:r>
            <a:pPr indent="0" marL="0">
              <a:lnSpc>
                <a:spcPct val="118000"/>
              </a:lnSpc>
              <a:buNone/>
            </a:pPr>
            <a:r>
              <a:rPr lang="en-US" sz="1800" dirty="0">
                <a:solidFill>
                  <a:srgbClr val="1E2B2A"/>
                </a:solidFill>
              </a:rPr>
              <a:t> in a certain way and reward them for good performance.</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(2) </a:t>
            </a:r>
            <a:pPr indent="0" marL="0">
              <a:lnSpc>
                <a:spcPct val="118000"/>
              </a:lnSpc>
              <a:buNone/>
            </a:pPr>
            <a:r>
              <a:rPr lang="en-US" sz="1800" dirty="0">
                <a:solidFill>
                  <a:srgbClr val="1E2B2A"/>
                </a:solidFill>
              </a:rPr>
              <a:t>When workers are trained to respond mindlessly to the dictates of the job, however, </a:t>
            </a:r>
            <a:pPr indent="0" marL="0">
              <a:lnSpc>
                <a:spcPct val="118000"/>
              </a:lnSpc>
              <a:buNone/>
            </a:pPr>
            <a:r>
              <a:rPr lang="en-US" sz="1800" b="1" dirty="0">
                <a:solidFill>
                  <a:srgbClr val="14453D"/>
                </a:solidFill>
                <a:highlight>
                  <a:srgbClr val="A9DDF3"/>
                </a:highlight>
              </a:rPr>
              <a:t>they risk developing </a:t>
            </a:r>
            <a:pPr indent="0" marL="0">
              <a:lnSpc>
                <a:spcPct val="118000"/>
              </a:lnSpc>
              <a:buNone/>
            </a:pPr>
            <a:r>
              <a:rPr lang="en-US" sz="1800" b="1" u="sng" dirty="0">
                <a:solidFill>
                  <a:srgbClr val="1E2B2A"/>
                </a:solidFill>
                <a:highlight>
                  <a:srgbClr val="FFD45C"/>
                </a:highlight>
                <a:uFill>
                  <a:solidFill>
                    <a:srgbClr val="2C7DA0"/>
                  </a:solidFill>
                </a:uFill>
              </a:rPr>
              <a:t>trained incapacity</a:t>
            </a:r>
            <a:pPr indent="0" marL="0">
              <a:lnSpc>
                <a:spcPct val="118000"/>
              </a:lnSpc>
              <a:buNone/>
            </a:pPr>
            <a:r>
              <a:rPr lang="en-US" sz="1800" dirty="0">
                <a:solidFill>
                  <a:srgbClr val="1E2B2A"/>
                </a:solidFill>
              </a:rPr>
              <a:t>—</a:t>
            </a:r>
            <a:pPr indent="0" marL="0">
              <a:lnSpc>
                <a:spcPct val="118000"/>
              </a:lnSpc>
              <a:buNone/>
            </a:pPr>
            <a:r>
              <a:rPr lang="en-US" sz="1800" b="1" dirty="0">
                <a:solidFill>
                  <a:srgbClr val="1E2B2A"/>
                </a:solidFill>
                <a:highlight>
                  <a:srgbClr val="FFD45C"/>
                </a:highlight>
              </a:rPr>
              <a:t>the inability to respond to new or unusual circumstances</a:t>
            </a:r>
            <a:pPr indent="0" marL="0">
              <a:lnSpc>
                <a:spcPct val="118000"/>
              </a:lnSpc>
              <a:buNone/>
            </a:pPr>
            <a:r>
              <a:rPr lang="en-US" sz="1800" dirty="0">
                <a:solidFill>
                  <a:srgbClr val="1E2B2A"/>
                </a:solidFill>
              </a:rPr>
              <a:t> or to recognize when official rules or procedures do not apply or may be doing harm.</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(3) </a:t>
            </a:r>
            <a:pPr indent="0" marL="0">
              <a:lnSpc>
                <a:spcPct val="118000"/>
              </a:lnSpc>
              <a:buNone/>
            </a:pPr>
            <a:r>
              <a:rPr lang="en-US" sz="1800" dirty="0">
                <a:solidFill>
                  <a:srgbClr val="1E2B2A"/>
                </a:solidFill>
              </a:rPr>
              <a:t>In other words, workers are trained to do their jobs in an efficient way to meet organizational goals </a:t>
            </a:r>
            <a:pPr indent="0" marL="0">
              <a:lnSpc>
                <a:spcPct val="118000"/>
              </a:lnSpc>
              <a:buNone/>
            </a:pPr>
            <a:r>
              <a:rPr lang="en-US" sz="1800" b="1" dirty="0">
                <a:solidFill>
                  <a:srgbClr val="14453D"/>
                </a:solidFill>
                <a:highlight>
                  <a:srgbClr val="A9DDF3"/>
                </a:highlight>
              </a:rPr>
              <a:t>while ignoring other important matters</a:t>
            </a:r>
            <a:pPr indent="0" marL="0">
              <a:lnSpc>
                <a:spcPct val="118000"/>
              </a:lnSpc>
              <a:buNone/>
            </a:pPr>
            <a:r>
              <a:rPr lang="en-US" sz="1800" dirty="0">
                <a:solidFill>
                  <a:srgbClr val="1E2B2A"/>
                </a:solidFill>
              </a:rPr>
              <a:t> related to their health, the community, and the environment.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(4) </a:t>
            </a:r>
            <a:pPr indent="0" marL="0">
              <a:lnSpc>
                <a:spcPct val="118000"/>
              </a:lnSpc>
              <a:buNone/>
            </a:pPr>
            <a:r>
              <a:rPr lang="en-US" sz="1800" b="1" dirty="0">
                <a:solidFill>
                  <a:srgbClr val="14453D"/>
                </a:solidFill>
                <a:highlight>
                  <a:srgbClr val="A9DDF3"/>
                </a:highlight>
              </a:rPr>
              <a:t>At the root of </a:t>
            </a:r>
            <a:pPr indent="0" marL="0">
              <a:lnSpc>
                <a:spcPct val="118000"/>
              </a:lnSpc>
              <a:buNone/>
            </a:pPr>
            <a:r>
              <a:rPr lang="en-US" sz="1800" b="1" u="sng" dirty="0">
                <a:solidFill>
                  <a:srgbClr val="1E2B2A"/>
                </a:solidFill>
                <a:highlight>
                  <a:srgbClr val="FFD45C"/>
                </a:highlight>
                <a:uFill>
                  <a:solidFill>
                    <a:srgbClr val="2C7DA0"/>
                  </a:solidFill>
                </a:uFill>
              </a:rPr>
              <a:t>trained incapacity</a:t>
            </a:r>
            <a:pPr indent="0" marL="0">
              <a:lnSpc>
                <a:spcPct val="118000"/>
              </a:lnSpc>
              <a:buNone/>
            </a:pPr>
            <a:r>
              <a:rPr lang="en-US" sz="1800" b="1" dirty="0">
                <a:solidFill>
                  <a:srgbClr val="14453D"/>
                </a:solidFill>
                <a:highlight>
                  <a:srgbClr val="A9DDF3"/>
                </a:highlight>
              </a:rPr>
              <a:t> is a job</a:t>
            </a:r>
            <a:pPr indent="0" marL="0">
              <a:lnSpc>
                <a:spcPct val="118000"/>
              </a:lnSpc>
              <a:buNone/>
            </a:pPr>
            <a:r>
              <a:rPr lang="en-US" sz="1800" dirty="0">
                <a:solidFill>
                  <a:srgbClr val="1E2B2A"/>
                </a:solidFill>
              </a:rPr>
              <a:t> with </a:t>
            </a:r>
            <a:pPr indent="0" marL="0">
              <a:lnSpc>
                <a:spcPct val="118000"/>
              </a:lnSpc>
              <a:buNone/>
            </a:pPr>
            <a:r>
              <a:rPr lang="en-US" sz="1800" b="1" dirty="0">
                <a:solidFill>
                  <a:srgbClr val="1E2B2A"/>
                </a:solidFill>
                <a:highlight>
                  <a:srgbClr val="FFD45C"/>
                </a:highlight>
              </a:rPr>
              <a:t>little variety and repetitive tasks</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(5) </a:t>
            </a:r>
            <a:pPr indent="0" marL="0">
              <a:lnSpc>
                <a:spcPct val="118000"/>
              </a:lnSpc>
              <a:buNone/>
            </a:pPr>
            <a:r>
              <a:rPr lang="en-US" sz="1800" dirty="0">
                <a:solidFill>
                  <a:srgbClr val="1E2B2A"/>
                </a:solidFill>
              </a:rPr>
              <a:t>Economist Thorstein Veblen argues that </a:t>
            </a:r>
            <a:pPr indent="0" marL="0">
              <a:lnSpc>
                <a:spcPct val="118000"/>
              </a:lnSpc>
              <a:buNone/>
            </a:pPr>
            <a:r>
              <a:rPr lang="en-US" sz="1800" b="1" dirty="0">
                <a:solidFill>
                  <a:srgbClr val="14453D"/>
                </a:solidFill>
                <a:highlight>
                  <a:srgbClr val="A9DDF3"/>
                </a:highlight>
              </a:rPr>
              <a:t>as variety in work decreases</a:t>
            </a:r>
            <a:pPr indent="0" marL="0">
              <a:lnSpc>
                <a:spcPct val="118000"/>
              </a:lnSpc>
              <a:buNone/>
            </a:pPr>
            <a:r>
              <a:rPr lang="en-US" sz="1800" dirty="0">
                <a:solidFill>
                  <a:srgbClr val="1E2B2A"/>
                </a:solidFill>
              </a:rPr>
              <a:t>, the amount of thought and time needed to perform a job also decreases.</a:t>
            </a:r>
            <a:endParaRPr lang="en-US" sz="1400" dirty="0"/>
          </a:p>
        </p:txBody>
      </p:sp>
      <p:sp>
        <p:nvSpPr>
          <p:cNvPr id="21" name="Shape 19"/>
          <p:cNvSpPr/>
          <p:nvPr/>
        </p:nvSpPr>
        <p:spPr>
          <a:xfrm>
            <a:off x="548640" y="3716396"/>
            <a:ext cx="11109960" cy="848563"/>
          </a:xfrm>
          <a:prstGeom prst="roundRect">
            <a:avLst>
              <a:gd name="adj" fmla="val 8621"/>
            </a:avLst>
          </a:prstGeom>
          <a:solidFill>
            <a:srgbClr val="FFF8EC"/>
          </a:solidFill>
          <a:ln w="28575">
            <a:solidFill>
              <a:srgbClr val="EF5B3F"/>
            </a:solidFill>
            <a:prstDash val="solid"/>
          </a:ln>
        </p:spPr>
      </p:sp>
      <p:sp>
        <p:nvSpPr>
          <p:cNvPr id="22" name="Text 20"/>
          <p:cNvSpPr txBox="1"/>
          <p:nvPr/>
        </p:nvSpPr>
        <p:spPr>
          <a:xfrm>
            <a:off x="685800" y="3752972"/>
            <a:ext cx="10881360" cy="775411"/>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800" b="1" dirty="0">
                <a:solidFill>
                  <a:srgbClr val="14453D"/>
                </a:solidFill>
              </a:rPr>
              <a:t>When the workers of organizations are trained to do </a:t>
            </a:r>
            <a:pPr indent="0" marL="0">
              <a:lnSpc>
                <a:spcPct val="115000"/>
              </a:lnSpc>
              <a:buNone/>
            </a:pPr>
            <a:r>
              <a:rPr lang="en-US" sz="1800" b="1" dirty="0">
                <a:solidFill>
                  <a:srgbClr val="EF5B3F"/>
                </a:solidFill>
              </a:rPr>
              <a:t>(A)</a:t>
            </a:r>
            <a:pPr indent="0" marL="0">
              <a:lnSpc>
                <a:spcPct val="115000"/>
              </a:lnSpc>
              <a:buNone/>
            </a:pPr>
            <a:r>
              <a:rPr lang="en-US" sz="1800" b="1" dirty="0">
                <a:solidFill>
                  <a:srgbClr val="14453D"/>
                </a:solidFill>
              </a:rPr>
              <a:t> jobs, they possibly end up being </a:t>
            </a:r>
            <a:pPr indent="0" marL="0">
              <a:lnSpc>
                <a:spcPct val="115000"/>
              </a:lnSpc>
              <a:buNone/>
            </a:pPr>
            <a:r>
              <a:rPr lang="en-US" sz="1800" b="1" dirty="0">
                <a:solidFill>
                  <a:srgbClr val="EF5B3F"/>
                </a:solidFill>
              </a:rPr>
              <a:t>(B)</a:t>
            </a:r>
            <a:pPr indent="0" marL="0">
              <a:lnSpc>
                <a:spcPct val="115000"/>
              </a:lnSpc>
              <a:buNone/>
            </a:pPr>
            <a:r>
              <a:rPr lang="en-US" sz="1800" b="1" dirty="0">
                <a:solidFill>
                  <a:srgbClr val="14453D"/>
                </a:solidFill>
              </a:rPr>
              <a:t> to deal with new or changing situations.</a:t>
            </a:r>
            <a:endParaRPr lang="en-US" sz="1200" dirty="0"/>
          </a:p>
        </p:txBody>
      </p:sp>
      <p:sp>
        <p:nvSpPr>
          <p:cNvPr id="23" name="Text 21"/>
          <p:cNvSpPr txBox="1"/>
          <p:nvPr/>
        </p:nvSpPr>
        <p:spPr>
          <a:xfrm>
            <a:off x="594360" y="4638111"/>
            <a:ext cx="11018520" cy="647121"/>
          </a:xfrm>
          <a:prstGeom prst="rect">
            <a:avLst/>
          </a:prstGeom>
          <a:noFill/>
          <a:ln/>
        </p:spPr>
        <p:txBody>
          <a:bodyPr wrap="square" lIns="0" tIns="0" rIns="0" bIns="0" rtlCol="0" anchor="t">
            <a:normAutofit/>
          </a:bodyPr>
          <a:lstStyle/>
          <a:p>
            <a:pPr indent="0" marL="0">
              <a:buNone/>
            </a:pPr>
            <a:r>
              <a:rPr lang="en-US" sz="1500" dirty="0">
                <a:solidFill>
                  <a:srgbClr val="6E7F7C"/>
                </a:solidFill>
              </a:rPr>
              <a:t>① complex – afraid</a:t>
            </a:r>
            <a:pPr indent="0" marL="0">
              <a:buNone/>
            </a:pPr>
            <a:r>
              <a:rPr lang="en-US" sz="1500" dirty="0">
                <a:solidFill>
                  <a:srgbClr val="000000"/>
                </a:solidFill>
              </a:rPr>
              <a:t>     </a:t>
            </a:r>
            <a:pPr indent="0" marL="0">
              <a:buNone/>
            </a:pPr>
            <a:r>
              <a:rPr lang="en-US" sz="1500" dirty="0">
                <a:solidFill>
                  <a:srgbClr val="6E7F7C"/>
                </a:solidFill>
              </a:rPr>
              <a:t>② repetitive – eager</a:t>
            </a:r>
            <a:pPr indent="0" marL="0">
              <a:buNone/>
            </a:pPr>
            <a:r>
              <a:rPr lang="en-US" sz="1500" dirty="0">
                <a:solidFill>
                  <a:srgbClr val="000000"/>
                </a:solidFill>
              </a:rPr>
              <a:t>     </a:t>
            </a:r>
            <a:pPr indent="0" marL="0">
              <a:buNone/>
            </a:pPr>
            <a:r>
              <a:rPr lang="en-US" sz="1500" dirty="0">
                <a:solidFill>
                  <a:srgbClr val="6E7F7C"/>
                </a:solidFill>
              </a:rPr>
              <a:t>③ demanding – prompt</a:t>
            </a:r>
            <a:pPr indent="0" marL="0">
              <a:buNone/>
            </a:pPr>
            <a:r>
              <a:rPr lang="en-US" sz="1500" dirty="0">
                <a:solidFill>
                  <a:srgbClr val="000000"/>
                </a:solidFill>
              </a:rPr>
              <a:t>     </a:t>
            </a:r>
            <a:pPr indent="0" marL="0">
              <a:buNone/>
            </a:pPr>
            <a:r>
              <a:rPr lang="en-US" sz="1500" b="1" dirty="0">
                <a:solidFill>
                  <a:srgbClr val="EF5B3F"/>
                </a:solidFill>
              </a:rPr>
              <a:t>④ monotonous – unable</a:t>
            </a:r>
            <a:pPr indent="0" marL="0">
              <a:buNone/>
            </a:pPr>
            <a:r>
              <a:rPr lang="en-US" sz="1300" b="1" dirty="0">
                <a:solidFill>
                  <a:srgbClr val="EF5B3F"/>
                </a:solidFill>
              </a:rPr>
              <a:t> ✔</a:t>
            </a:r>
            <a:pPr indent="0" marL="0">
              <a:buNone/>
            </a:pPr>
            <a:r>
              <a:rPr lang="en-US" sz="1500" dirty="0">
                <a:solidFill>
                  <a:srgbClr val="000000"/>
                </a:solidFill>
              </a:rPr>
              <a:t>     </a:t>
            </a:r>
            <a:pPr indent="0" marL="0">
              <a:buNone/>
            </a:pPr>
            <a:r>
              <a:rPr lang="en-US" sz="1500" dirty="0">
                <a:solidFill>
                  <a:srgbClr val="6E7F7C"/>
                </a:solidFill>
              </a:rPr>
              <a:t>⑤ professional – willing</a:t>
            </a:r>
            <a:endParaRPr lang="en-US" sz="15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04 설명1 – 설명2 – 요약   ·   </a:t>
            </a:r>
            <a:pPr indent="0" marL="0">
              <a:buNone/>
            </a:pPr>
            <a:r>
              <a:rPr lang="en-US" sz="1300" b="1" dirty="0">
                <a:solidFill>
                  <a:srgbClr val="14453D"/>
                </a:solidFill>
              </a:rPr>
              <a:t>UNIT 05 현상 – 문제 제기 – 해결책   ·   </a:t>
            </a:r>
            <a:pPr indent="0" marL="0">
              <a:buNone/>
            </a:pPr>
            <a:r>
              <a:rPr lang="en-US" sz="1300" b="1" dirty="0">
                <a:solidFill>
                  <a:srgbClr val="14453D"/>
                </a:solidFill>
              </a:rPr>
              <a:t>UNIT 06 원인 – 결과</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직원을 일정한 방식으로 훈련하고 보상한다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반응하도록 훈련 → 훈련된 무능 (새 상황 대응 불가)</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재진술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In other words: 효율만 좇다 다른 중요한 문제를 무시</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 훈련된 무능의 근원</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대시(—) 뒤는 앞 단어의 설명 = 재진술 signal</a:t>
            </a:r>
            <a:endParaRPr lang="en-US" sz="1500" dirty="0"/>
          </a:p>
          <a:p>
            <a:pPr marL="342900" indent="-342900">
              <a:spcAft>
                <a:spcPts val="600"/>
              </a:spcAft>
              <a:buSzPct val="100000"/>
              <a:buChar char="✔"/>
            </a:pPr>
            <a:r>
              <a:rPr lang="en-US" sz="1500" dirty="0">
                <a:solidFill>
                  <a:srgbClr val="1E2B2A"/>
                </a:solidFill>
              </a:rPr>
              <a:t>little variety + repetitive = monotonous</a:t>
            </a:r>
            <a:endParaRPr lang="en-US" sz="1500" dirty="0"/>
          </a:p>
          <a:p>
            <a:pPr marL="342900" indent="-342900">
              <a:spcAft>
                <a:spcPts val="600"/>
              </a:spcAft>
              <a:buSzPct val="100000"/>
              <a:buChar char="✔"/>
            </a:pPr>
            <a:r>
              <a:rPr lang="en-US" sz="1500" dirty="0">
                <a:solidFill>
                  <a:srgbClr val="1E2B2A"/>
                </a:solidFill>
              </a:rPr>
              <a:t>부사구 도치: At the root of ~ is a job</a:t>
            </a:r>
            <a:endParaRPr lang="en-US" sz="1500" dirty="0"/>
          </a:p>
          <a:p>
            <a:pPr marL="342900" indent="-342900">
              <a:spcAft>
                <a:spcPts val="600"/>
              </a:spcAft>
              <a:buSzPct val="100000"/>
              <a:buChar char="✔"/>
            </a:pPr>
            <a:r>
              <a:rPr lang="en-US" sz="1500" dirty="0">
                <a:solidFill>
                  <a:srgbClr val="1E2B2A"/>
                </a:solidFill>
              </a:rPr>
              <a:t>risk + -ing</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 ability</a:t>
            </a:r>
            <a:endParaRPr lang="en-US" sz="1300" dirty="0"/>
          </a:p>
          <a:p>
            <a:pPr indent="0" marL="0">
              <a:spcAft>
                <a:spcPts val="500"/>
              </a:spcAft>
              <a:buNone/>
            </a:pPr>
            <a:r>
              <a:rPr lang="en-US" sz="1300" b="1" dirty="0">
                <a:solidFill>
                  <a:srgbClr val="1F7A64"/>
                </a:solidFill>
              </a:rPr>
              <a:t>mindlessly  </a:t>
            </a:r>
            <a:pPr indent="0" marL="0">
              <a:spcAft>
                <a:spcPts val="500"/>
              </a:spcAft>
              <a:buNone/>
            </a:pPr>
            <a:r>
              <a:rPr lang="en-US" sz="1300" dirty="0">
                <a:solidFill>
                  <a:srgbClr val="1E2B2A"/>
                </a:solidFill>
              </a:rPr>
              <a:t>≒ thoughtlessly ↔ mindfully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repetitive  </a:t>
            </a:r>
            <a:pPr indent="0" marL="0">
              <a:spcAft>
                <a:spcPts val="500"/>
              </a:spcAft>
              <a:buNone/>
            </a:pPr>
            <a:r>
              <a:rPr lang="en-US" sz="1300" dirty="0">
                <a:solidFill>
                  <a:srgbClr val="1E2B2A"/>
                </a:solidFill>
              </a:rPr>
              <a:t>≒ monotonous ⊕ repeat, repetition</a:t>
            </a:r>
            <a:endParaRPr lang="en-US" sz="1300" dirty="0"/>
          </a:p>
          <a:p>
            <a:pPr indent="0" marL="0">
              <a:spcAft>
                <a:spcPts val="500"/>
              </a:spcAft>
              <a:buNone/>
            </a:pPr>
            <a:r>
              <a:rPr lang="en-US" sz="1300" b="1" dirty="0">
                <a:solidFill>
                  <a:srgbClr val="1F7A64"/>
                </a:solidFill>
              </a:rPr>
              <a:t>dictate (n.)  </a:t>
            </a:r>
            <a:pPr indent="0" marL="0">
              <a:spcAft>
                <a:spcPts val="500"/>
              </a:spcAft>
              <a:buNone/>
            </a:pPr>
            <a:r>
              <a:rPr lang="en-US" sz="1300" dirty="0">
                <a:solidFill>
                  <a:srgbClr val="1E2B2A"/>
                </a:solidFill>
              </a:rPr>
              <a:t>≒ order, command</a:t>
            </a:r>
            <a:endParaRPr lang="en-US" sz="1300" dirty="0"/>
          </a:p>
          <a:p>
            <a:pPr indent="0" marL="0">
              <a:spcAft>
                <a:spcPts val="500"/>
              </a:spcAft>
              <a:buNone/>
            </a:pPr>
            <a:r>
              <a:rPr lang="en-US" sz="1300" b="1" dirty="0">
                <a:solidFill>
                  <a:srgbClr val="1F7A64"/>
                </a:solidFill>
              </a:rPr>
              <a:t>variety  </a:t>
            </a:r>
            <a:pPr indent="0" marL="0">
              <a:spcAft>
                <a:spcPts val="500"/>
              </a:spcAft>
              <a:buNone/>
            </a:pPr>
            <a:r>
              <a:rPr lang="en-US" sz="1300" dirty="0">
                <a:solidFill>
                  <a:srgbClr val="1E2B2A"/>
                </a:solidFill>
              </a:rPr>
              <a:t>≒ diversity ⊕ various, vary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were given $5 </a:t>
            </a:r>
            <a:pPr indent="0" marL="0">
              <a:buNone/>
            </a:pPr>
            <a:r>
              <a:rPr lang="en-US" sz="2000" b="1" dirty="0">
                <a:solidFill>
                  <a:srgbClr val="EF5B3F"/>
                </a:solidFill>
              </a:rPr>
              <a:t>[to donate / donating]</a:t>
            </a:r>
            <a:pPr indent="0" marL="0">
              <a:buNone/>
            </a:pPr>
            <a:r>
              <a:rPr lang="en-US" sz="2000" dirty="0">
                <a:solidFill>
                  <a:srgbClr val="1E2B2A"/>
                </a:solidFill>
              </a:rPr>
              <a:t> to lessen hunger overseas.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donate</a:t>
            </a:r>
            <a:endParaRPr lang="en-US" sz="1800" dirty="0"/>
          </a:p>
          <a:p>
            <a:pPr algn="ctr" indent="0" marL="0">
              <a:buNone/>
            </a:pPr>
            <a:r>
              <a:rPr lang="en-US" sz="1200" dirty="0">
                <a:solidFill>
                  <a:srgbClr val="1E2B2A"/>
                </a:solidFill>
              </a:rPr>
              <a:t>$5를 꾸미는 to부정사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 / much / even</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[What / That]</a:t>
            </a:r>
            <a:pPr indent="0" marL="0">
              <a:buNone/>
            </a:pPr>
            <a:r>
              <a:rPr lang="en-US" sz="2000" dirty="0">
                <a:solidFill>
                  <a:srgbClr val="1E2B2A"/>
                </a:solidFill>
              </a:rPr>
              <a:t> is surprising is that adding the statistics reduced the contributions.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What절 주어 (~한 것)</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[Adding / Added]</a:t>
            </a:r>
            <a:pPr indent="0" marL="0">
              <a:buNone/>
            </a:pPr>
            <a:r>
              <a:rPr lang="en-US" sz="2000" dirty="0">
                <a:solidFill>
                  <a:srgbClr val="1E2B2A"/>
                </a:solidFill>
              </a:rPr>
              <a:t> the statistical realities to Rokia’s story significantly reduced the contributions.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Adding</a:t>
            </a:r>
            <a:endParaRPr lang="en-US" sz="1800" dirty="0"/>
          </a:p>
          <a:p>
            <a:pPr algn="ctr" indent="0" marL="0">
              <a:buNone/>
            </a:pPr>
            <a:r>
              <a:rPr lang="en-US" sz="1200" dirty="0">
                <a:solidFill>
                  <a:srgbClr val="1E2B2A"/>
                </a:solidFill>
              </a:rPr>
              <a:t>동명사 주어 + add A to B</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101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otherwise</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다른 면에서는</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go out of their way</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일부러 애쓰다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indifferent</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무관심한</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the masses</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대중</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portrayal</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묘사</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discouraging</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낙담시키는</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contributions</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기부금</a:t>
            </a:r>
            <a:endParaRPr lang="en-US" sz="1400" dirty="0"/>
          </a:p>
        </p:txBody>
      </p:sp>
      <p:sp>
        <p:nvSpPr>
          <p:cNvPr id="20" name="Text 18"/>
          <p:cNvSpPr txBox="1"/>
          <p:nvPr/>
        </p:nvSpPr>
        <p:spPr>
          <a:xfrm>
            <a:off x="594360" y="694944"/>
            <a:ext cx="11018520" cy="3039600"/>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Research by Paul Slovic of Decision Research and the University of Oregon shows that </a:t>
            </a:r>
            <a:pPr indent="0" marL="0">
              <a:lnSpc>
                <a:spcPct val="118000"/>
              </a:lnSpc>
              <a:buNone/>
            </a:pPr>
            <a:r>
              <a:rPr lang="en-US" sz="1700" b="1" dirty="0">
                <a:solidFill>
                  <a:srgbClr val="14453D"/>
                </a:solidFill>
                <a:highlight>
                  <a:srgbClr val="A9DDF3"/>
                </a:highlight>
              </a:rPr>
              <a:t>people who are otherwise caring and would go out of their way to </a:t>
            </a:r>
            <a:pPr indent="0" marL="0">
              <a:lnSpc>
                <a:spcPct val="118000"/>
              </a:lnSpc>
              <a:buNone/>
            </a:pPr>
            <a:r>
              <a:rPr lang="en-US" sz="1700" b="1" u="sng" dirty="0">
                <a:solidFill>
                  <a:srgbClr val="1E2B2A"/>
                </a:solidFill>
                <a:highlight>
                  <a:srgbClr val="FFD45C"/>
                </a:highlight>
                <a:uFill>
                  <a:solidFill>
                    <a:srgbClr val="2C7DA0"/>
                  </a:solidFill>
                </a:uFill>
              </a:rPr>
              <a:t>help another individual</a:t>
            </a:r>
            <a:pPr indent="0" marL="0">
              <a:lnSpc>
                <a:spcPct val="118000"/>
              </a:lnSpc>
              <a:buNone/>
            </a:pPr>
            <a:r>
              <a:rPr lang="en-US" sz="1700" b="1" dirty="0">
                <a:solidFill>
                  <a:srgbClr val="14453D"/>
                </a:solidFill>
                <a:highlight>
                  <a:srgbClr val="A9DDF3"/>
                </a:highlight>
              </a:rPr>
              <a:t> become </a:t>
            </a:r>
            <a:pPr indent="0" marL="0">
              <a:lnSpc>
                <a:spcPct val="118000"/>
              </a:lnSpc>
              <a:buNone/>
            </a:pPr>
            <a:r>
              <a:rPr lang="en-US" sz="1700" b="1" u="sng" dirty="0">
                <a:solidFill>
                  <a:srgbClr val="1E2B2A"/>
                </a:solidFill>
                <a:highlight>
                  <a:srgbClr val="FFD45C"/>
                </a:highlight>
                <a:uFill>
                  <a:solidFill>
                    <a:srgbClr val="2C7DA0"/>
                  </a:solidFill>
                </a:uFill>
              </a:rPr>
              <a:t>indifferent</a:t>
            </a:r>
            <a:pPr indent="0" marL="0">
              <a:lnSpc>
                <a:spcPct val="118000"/>
              </a:lnSpc>
              <a:buNone/>
            </a:pPr>
            <a:r>
              <a:rPr lang="en-US" sz="1700" b="1" dirty="0">
                <a:solidFill>
                  <a:srgbClr val="1E2B2A"/>
                </a:solidFill>
                <a:highlight>
                  <a:srgbClr val="FFD45C"/>
                </a:highlight>
              </a:rPr>
              <a:t> to the suffering of the masses</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dirty="0">
                <a:solidFill>
                  <a:srgbClr val="1E2B2A"/>
                </a:solidFill>
              </a:rPr>
              <a:t>In one experiment, people </a:t>
            </a:r>
            <a:pPr indent="0" marL="0">
              <a:lnSpc>
                <a:spcPct val="118000"/>
              </a:lnSpc>
              <a:buNone/>
            </a:pPr>
            <a:r>
              <a:rPr lang="en-US" sz="1700" b="1" dirty="0">
                <a:solidFill>
                  <a:srgbClr val="14453D"/>
                </a:solidFill>
                <a:highlight>
                  <a:srgbClr val="A9DDF3"/>
                </a:highlight>
              </a:rPr>
              <a:t>were given $5 to donate to lessen hunger</a:t>
            </a:r>
            <a:pPr indent="0" marL="0">
              <a:lnSpc>
                <a:spcPct val="118000"/>
              </a:lnSpc>
              <a:buNone/>
            </a:pPr>
            <a:r>
              <a:rPr lang="en-US" sz="1700" dirty="0">
                <a:solidFill>
                  <a:srgbClr val="1E2B2A"/>
                </a:solidFill>
              </a:rPr>
              <a:t> overseas.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dirty="0">
                <a:solidFill>
                  <a:srgbClr val="1E2B2A"/>
                </a:solidFill>
              </a:rPr>
              <a:t>The first choice was to give the money to a particular child, Rokia, a seven-year-old in Mali.</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The second choice was to help twenty-one million hungry Africans.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The third choice was to help Rokia, but as just one of many victims of hunger.</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(6) </a:t>
            </a:r>
            <a:pPr indent="0" marL="0">
              <a:lnSpc>
                <a:spcPct val="118000"/>
              </a:lnSpc>
              <a:buNone/>
            </a:pPr>
            <a:r>
              <a:rPr lang="en-US" sz="1700" dirty="0">
                <a:solidFill>
                  <a:srgbClr val="1E2B2A"/>
                </a:solidFill>
              </a:rPr>
              <a:t>Can you guess which choice was most popular?</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(7) </a:t>
            </a:r>
            <a:pPr indent="0" marL="0">
              <a:lnSpc>
                <a:spcPct val="118000"/>
              </a:lnSpc>
              <a:buNone/>
            </a:pPr>
            <a:r>
              <a:rPr lang="en-US" sz="1700" dirty="0">
                <a:solidFill>
                  <a:srgbClr val="1E2B2A"/>
                </a:solidFill>
              </a:rPr>
              <a:t>Slovic reported that donations to the individual, Rokia, </a:t>
            </a:r>
            <a:pPr indent="0" marL="0">
              <a:lnSpc>
                <a:spcPct val="118000"/>
              </a:lnSpc>
              <a:buNone/>
            </a:pPr>
            <a:r>
              <a:rPr lang="en-US" sz="1700" b="1" dirty="0">
                <a:solidFill>
                  <a:srgbClr val="14453D"/>
                </a:solidFill>
                <a:highlight>
                  <a:srgbClr val="A9DDF3"/>
                </a:highlight>
              </a:rPr>
              <a:t>were </a:t>
            </a:r>
            <a:pPr indent="0" marL="0">
              <a:lnSpc>
                <a:spcPct val="118000"/>
              </a:lnSpc>
              <a:buNone/>
            </a:pPr>
            <a:r>
              <a:rPr lang="en-US" sz="1700" b="1" u="sng" dirty="0">
                <a:solidFill>
                  <a:srgbClr val="1E2B2A"/>
                </a:solidFill>
                <a:highlight>
                  <a:srgbClr val="FFD45C"/>
                </a:highlight>
                <a:uFill>
                  <a:solidFill>
                    <a:srgbClr val="2C7DA0"/>
                  </a:solidFill>
                </a:uFill>
              </a:rPr>
              <a:t>far greater</a:t>
            </a:r>
            <a:pPr indent="0" marL="0">
              <a:lnSpc>
                <a:spcPct val="118000"/>
              </a:lnSpc>
              <a:buNone/>
            </a:pPr>
            <a:r>
              <a:rPr lang="en-US" sz="1700" b="1" dirty="0">
                <a:solidFill>
                  <a:srgbClr val="14453D"/>
                </a:solidFill>
                <a:highlight>
                  <a:srgbClr val="A9DDF3"/>
                </a:highlight>
              </a:rPr>
              <a:t> than</a:t>
            </a:r>
            <a:pPr indent="0" marL="0">
              <a:lnSpc>
                <a:spcPct val="118000"/>
              </a:lnSpc>
              <a:buNone/>
            </a:pPr>
            <a:r>
              <a:rPr lang="en-US" sz="1700" dirty="0">
                <a:solidFill>
                  <a:srgbClr val="1E2B2A"/>
                </a:solidFill>
              </a:rPr>
              <a:t> donations to the second choice, the statistical portrayal of the hunger crisis.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(8) </a:t>
            </a:r>
            <a:pPr indent="0" marL="0">
              <a:lnSpc>
                <a:spcPct val="118000"/>
              </a:lnSpc>
              <a:buNone/>
            </a:pPr>
            <a:r>
              <a:rPr lang="en-US" sz="1700" dirty="0">
                <a:solidFill>
                  <a:srgbClr val="1E2B2A"/>
                </a:solidFill>
              </a:rPr>
              <a:t>That’s not particularly surprising.</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(9) </a:t>
            </a:r>
            <a:pPr indent="0" marL="0">
              <a:lnSpc>
                <a:spcPct val="118000"/>
              </a:lnSpc>
              <a:buNone/>
            </a:pPr>
            <a:r>
              <a:rPr lang="en-US" sz="1700" dirty="0">
                <a:solidFill>
                  <a:srgbClr val="1E2B2A"/>
                </a:solidFill>
              </a:rPr>
              <a:t>But </a:t>
            </a:r>
            <a:pPr indent="0" marL="0">
              <a:lnSpc>
                <a:spcPct val="118000"/>
              </a:lnSpc>
              <a:buNone/>
            </a:pPr>
            <a:r>
              <a:rPr lang="en-US" sz="1700" b="1" dirty="0">
                <a:solidFill>
                  <a:srgbClr val="14453D"/>
                </a:solidFill>
                <a:highlight>
                  <a:srgbClr val="A9DDF3"/>
                </a:highlight>
              </a:rPr>
              <a:t>what is surprising, and some would say discouraging, is that</a:t>
            </a:r>
            <a:pPr indent="0" marL="0">
              <a:lnSpc>
                <a:spcPct val="118000"/>
              </a:lnSpc>
              <a:buNone/>
            </a:pPr>
            <a:r>
              <a:rPr lang="en-US" sz="1700" dirty="0">
                <a:solidFill>
                  <a:srgbClr val="1E2B2A"/>
                </a:solidFill>
              </a:rPr>
              <a:t> </a:t>
            </a:r>
            <a:pPr indent="0" marL="0">
              <a:lnSpc>
                <a:spcPct val="118000"/>
              </a:lnSpc>
              <a:buNone/>
            </a:pPr>
            <a:r>
              <a:rPr lang="en-US" sz="1700" b="1" dirty="0">
                <a:solidFill>
                  <a:srgbClr val="14453D"/>
                </a:solidFill>
                <a:highlight>
                  <a:srgbClr val="A9DDF3"/>
                </a:highlight>
              </a:rPr>
              <a:t>adding the statistical realities of </a:t>
            </a:r>
            <a:pPr indent="0" marL="0">
              <a:lnSpc>
                <a:spcPct val="118000"/>
              </a:lnSpc>
              <a:buNone/>
            </a:pPr>
            <a:r>
              <a:rPr lang="en-US" sz="1700" b="1" u="sng" dirty="0">
                <a:solidFill>
                  <a:srgbClr val="1E2B2A"/>
                </a:solidFill>
                <a:highlight>
                  <a:srgbClr val="FFD45C"/>
                </a:highlight>
                <a:uFill>
                  <a:solidFill>
                    <a:srgbClr val="2C7DA0"/>
                  </a:solidFill>
                </a:uFill>
              </a:rPr>
              <a:t>the larger hunger problem</a:t>
            </a:r>
            <a:pPr indent="0" marL="0">
              <a:lnSpc>
                <a:spcPct val="118000"/>
              </a:lnSpc>
              <a:buNone/>
            </a:pPr>
            <a:r>
              <a:rPr lang="en-US" sz="1700" b="1" dirty="0">
                <a:solidFill>
                  <a:srgbClr val="14453D"/>
                </a:solidFill>
                <a:highlight>
                  <a:srgbClr val="A9DDF3"/>
                </a:highlight>
              </a:rPr>
              <a:t> to Rokia’s story </a:t>
            </a:r>
            <a:pPr indent="0" marL="0">
              <a:lnSpc>
                <a:spcPct val="118000"/>
              </a:lnSpc>
              <a:buNone/>
            </a:pPr>
            <a:r>
              <a:rPr lang="en-US" sz="1700" b="1" u="sng" dirty="0">
                <a:solidFill>
                  <a:srgbClr val="1E2B2A"/>
                </a:solidFill>
                <a:highlight>
                  <a:srgbClr val="FFD45C"/>
                </a:highlight>
                <a:uFill>
                  <a:solidFill>
                    <a:srgbClr val="2C7DA0"/>
                  </a:solidFill>
                </a:uFill>
              </a:rPr>
              <a:t>significantly reduced</a:t>
            </a:r>
            <a:pPr indent="0" marL="0">
              <a:lnSpc>
                <a:spcPct val="118000"/>
              </a:lnSpc>
              <a:buNone/>
            </a:pPr>
            <a:r>
              <a:rPr lang="en-US" sz="1700" dirty="0">
                <a:solidFill>
                  <a:srgbClr val="1E2B2A"/>
                </a:solidFill>
              </a:rPr>
              <a:t> the contributions to Rokia.</a:t>
            </a:r>
            <a:endParaRPr lang="en-US" sz="1300" dirty="0"/>
          </a:p>
        </p:txBody>
      </p:sp>
      <p:sp>
        <p:nvSpPr>
          <p:cNvPr id="21" name="Shape 19"/>
          <p:cNvSpPr/>
          <p:nvPr/>
        </p:nvSpPr>
        <p:spPr>
          <a:xfrm>
            <a:off x="548640" y="3789408"/>
            <a:ext cx="11109960" cy="812597"/>
          </a:xfrm>
          <a:prstGeom prst="roundRect">
            <a:avLst>
              <a:gd name="adj" fmla="val 9002"/>
            </a:avLst>
          </a:prstGeom>
          <a:solidFill>
            <a:srgbClr val="FFF8EC"/>
          </a:solidFill>
          <a:ln w="28575">
            <a:solidFill>
              <a:srgbClr val="EF5B3F"/>
            </a:solidFill>
            <a:prstDash val="solid"/>
          </a:ln>
        </p:spPr>
      </p:sp>
      <p:sp>
        <p:nvSpPr>
          <p:cNvPr id="22" name="Text 20"/>
          <p:cNvSpPr txBox="1"/>
          <p:nvPr/>
        </p:nvSpPr>
        <p:spPr>
          <a:xfrm>
            <a:off x="685800" y="3825984"/>
            <a:ext cx="10881360" cy="739445"/>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EF5B3F"/>
                </a:solidFill>
              </a:rPr>
              <a:t>요약문  </a:t>
            </a:r>
            <a:pPr indent="0" marL="0">
              <a:lnSpc>
                <a:spcPct val="115000"/>
              </a:lnSpc>
              <a:buNone/>
            </a:pPr>
            <a:r>
              <a:rPr lang="en-US" sz="1700" b="1" dirty="0">
                <a:solidFill>
                  <a:srgbClr val="14453D"/>
                </a:solidFill>
              </a:rPr>
              <a:t>An experiment shows that while people are more willing to help </a:t>
            </a:r>
            <a:pPr indent="0" marL="0">
              <a:lnSpc>
                <a:spcPct val="115000"/>
              </a:lnSpc>
              <a:buNone/>
            </a:pPr>
            <a:r>
              <a:rPr lang="en-US" sz="1700" b="1" dirty="0">
                <a:solidFill>
                  <a:srgbClr val="EF5B3F"/>
                </a:solidFill>
              </a:rPr>
              <a:t>(A)</a:t>
            </a:r>
            <a:pPr indent="0" marL="0">
              <a:lnSpc>
                <a:spcPct val="115000"/>
              </a:lnSpc>
              <a:buNone/>
            </a:pPr>
            <a:r>
              <a:rPr lang="en-US" sz="1700" b="1" dirty="0">
                <a:solidFill>
                  <a:srgbClr val="14453D"/>
                </a:solidFill>
              </a:rPr>
              <a:t> in need, they become indifferent when given the </a:t>
            </a:r>
            <a:pPr indent="0" marL="0">
              <a:lnSpc>
                <a:spcPct val="115000"/>
              </a:lnSpc>
              <a:buNone/>
            </a:pPr>
            <a:r>
              <a:rPr lang="en-US" sz="1700" b="1" dirty="0">
                <a:solidFill>
                  <a:srgbClr val="EF5B3F"/>
                </a:solidFill>
              </a:rPr>
              <a:t>(B)</a:t>
            </a:r>
            <a:pPr indent="0" marL="0">
              <a:lnSpc>
                <a:spcPct val="115000"/>
              </a:lnSpc>
              <a:buNone/>
            </a:pPr>
            <a:r>
              <a:rPr lang="en-US" sz="1700" b="1" dirty="0">
                <a:solidFill>
                  <a:srgbClr val="14453D"/>
                </a:solidFill>
              </a:rPr>
              <a:t> perspective of hunger.</a:t>
            </a:r>
            <a:endParaRPr lang="en-US" sz="1200" dirty="0"/>
          </a:p>
        </p:txBody>
      </p:sp>
      <p:sp>
        <p:nvSpPr>
          <p:cNvPr id="23" name="Text 21"/>
          <p:cNvSpPr txBox="1"/>
          <p:nvPr/>
        </p:nvSpPr>
        <p:spPr>
          <a:xfrm>
            <a:off x="594360" y="4675157"/>
            <a:ext cx="11018520" cy="610075"/>
          </a:xfrm>
          <a:prstGeom prst="rect">
            <a:avLst/>
          </a:prstGeom>
          <a:noFill/>
          <a:ln/>
        </p:spPr>
        <p:txBody>
          <a:bodyPr wrap="square" lIns="0" tIns="0" rIns="0" bIns="0" rtlCol="0" anchor="t">
            <a:normAutofit/>
          </a:bodyPr>
          <a:lstStyle/>
          <a:p>
            <a:pPr indent="0" marL="0">
              <a:buNone/>
            </a:pPr>
            <a:r>
              <a:rPr lang="en-US" sz="1400" b="1" dirty="0">
                <a:solidFill>
                  <a:srgbClr val="EF5B3F"/>
                </a:solidFill>
              </a:rPr>
              <a:t>① an individual – larger</a:t>
            </a:r>
            <a:pPr indent="0" marL="0">
              <a:buNone/>
            </a:pPr>
            <a:r>
              <a:rPr lang="en-US" sz="1200" b="1" dirty="0">
                <a:solidFill>
                  <a:srgbClr val="EF5B3F"/>
                </a:solidFill>
              </a:rPr>
              <a:t> ✔</a:t>
            </a:r>
            <a:pPr indent="0" marL="0">
              <a:buNone/>
            </a:pPr>
            <a:r>
              <a:rPr lang="en-US" sz="1400" dirty="0">
                <a:solidFill>
                  <a:srgbClr val="000000"/>
                </a:solidFill>
              </a:rPr>
              <a:t>     </a:t>
            </a:r>
            <a:pPr indent="0" marL="0">
              <a:buNone/>
            </a:pPr>
            <a:r>
              <a:rPr lang="en-US" sz="1400" dirty="0">
                <a:solidFill>
                  <a:srgbClr val="6E7F7C"/>
                </a:solidFill>
              </a:rPr>
              <a:t>② an individual – simpler</a:t>
            </a:r>
            <a:pPr indent="0" marL="0">
              <a:buNone/>
            </a:pPr>
            <a:r>
              <a:rPr lang="en-US" sz="1400" dirty="0">
                <a:solidFill>
                  <a:srgbClr val="000000"/>
                </a:solidFill>
              </a:rPr>
              <a:t>     </a:t>
            </a:r>
            <a:pPr indent="0" marL="0">
              <a:buNone/>
            </a:pPr>
            <a:r>
              <a:rPr lang="en-US" sz="1400" dirty="0">
                <a:solidFill>
                  <a:srgbClr val="6E7F7C"/>
                </a:solidFill>
              </a:rPr>
              <a:t>③ the masses – broader</a:t>
            </a:r>
            <a:pPr indent="0" marL="0">
              <a:buNone/>
            </a:pPr>
            <a:r>
              <a:rPr lang="en-US" sz="1400" dirty="0">
                <a:solidFill>
                  <a:srgbClr val="000000"/>
                </a:solidFill>
              </a:rPr>
              <a:t>     </a:t>
            </a:r>
            <a:pPr indent="0" marL="0">
              <a:buNone/>
            </a:pPr>
            <a:r>
              <a:rPr lang="en-US" sz="1400" dirty="0">
                <a:solidFill>
                  <a:srgbClr val="6E7F7C"/>
                </a:solidFill>
              </a:rPr>
              <a:t>④ the masses – fairer</a:t>
            </a:r>
            <a:pPr indent="0" marL="0">
              <a:buNone/>
            </a:pPr>
            <a:r>
              <a:rPr lang="en-US" sz="1400" dirty="0">
                <a:solidFill>
                  <a:srgbClr val="000000"/>
                </a:solidFill>
              </a:rPr>
              <a:t>     </a:t>
            </a:r>
            <a:pPr indent="0" marL="0">
              <a:buNone/>
            </a:pPr>
            <a:r>
              <a:rPr lang="en-US" sz="1400" dirty="0">
                <a:solidFill>
                  <a:srgbClr val="6E7F7C"/>
                </a:solidFill>
              </a:rPr>
              <a:t>⑤ a nation – clearer</a:t>
            </a:r>
            <a:endParaRPr lang="en-US" sz="14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   ·   </a:t>
            </a:r>
            <a:pPr indent="0" marL="0">
              <a:buNone/>
            </a:pPr>
            <a:r>
              <a:rPr lang="en-US" sz="1300" b="1" dirty="0">
                <a:solidFill>
                  <a:srgbClr val="14453D"/>
                </a:solidFill>
              </a:rPr>
              <a:t>UNIT 08 비교 / 대조   ·   </a:t>
            </a:r>
            <a:pPr indent="0" marL="0">
              <a:buNone/>
            </a:pPr>
            <a:r>
              <a:rPr lang="en-US" sz="1300" b="1" dirty="0">
                <a:solidFill>
                  <a:srgbClr val="14453D"/>
                </a:solidFill>
              </a:rPr>
              <a:t>UNIT 09 질문 – 답변</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주장</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개인은 열심히 돕는 사람들도 대중의 고통에는 무관심해진다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5달러 기부: ① Rokia 개인 ② 2,100만 아프리카인 ③ 희생자 중 하나인 Rokia</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Rokia에 대한 기부 &gt; 통계적 묘사(②)에 대한 기부</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②</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Rokia 이야기에 '더 큰 기아 문제' 통계를 더하자 기부 급감</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주제문(1번)이 곧 요약문</a:t>
            </a:r>
            <a:endParaRPr lang="en-US" sz="1500" dirty="0"/>
          </a:p>
          <a:p>
            <a:pPr marL="342900" indent="-342900">
              <a:spcAft>
                <a:spcPts val="600"/>
              </a:spcAft>
              <a:buSzPct val="100000"/>
              <a:buChar char="✔"/>
            </a:pPr>
            <a:r>
              <a:rPr lang="en-US" sz="1500" dirty="0">
                <a:solidFill>
                  <a:srgbClr val="1E2B2A"/>
                </a:solidFill>
              </a:rPr>
              <a:t>한 명의 이야기 &gt; 큰 숫자(통계)</a:t>
            </a:r>
            <a:endParaRPr lang="en-US" sz="1500" dirty="0"/>
          </a:p>
          <a:p>
            <a:pPr marL="342900" indent="-342900">
              <a:spcAft>
                <a:spcPts val="600"/>
              </a:spcAft>
              <a:buSzPct val="100000"/>
              <a:buChar char="✔"/>
            </a:pPr>
            <a:r>
              <a:rPr lang="en-US" sz="1500" dirty="0">
                <a:solidFill>
                  <a:srgbClr val="1E2B2A"/>
                </a:solidFill>
              </a:rPr>
              <a:t>비교급 강조 far / much / even</a:t>
            </a:r>
            <a:endParaRPr lang="en-US" sz="1500" dirty="0"/>
          </a:p>
          <a:p>
            <a:pPr marL="342900" indent="-342900">
              <a:spcAft>
                <a:spcPts val="600"/>
              </a:spcAft>
              <a:buSzPct val="100000"/>
              <a:buChar char="✔"/>
            </a:pPr>
            <a:r>
              <a:rPr lang="en-US" sz="1500" dirty="0">
                <a:solidFill>
                  <a:srgbClr val="1E2B2A"/>
                </a:solidFill>
              </a:rPr>
              <a:t>긴 주어 뒤 동사 찾기 (people … become)</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indifferent to  </a:t>
            </a:r>
            <a:pPr indent="0" marL="0">
              <a:spcAft>
                <a:spcPts val="500"/>
              </a:spcAft>
              <a:buNone/>
            </a:pPr>
            <a:r>
              <a:rPr lang="en-US" sz="1300" dirty="0">
                <a:solidFill>
                  <a:srgbClr val="1E2B2A"/>
                </a:solidFill>
              </a:rPr>
              <a:t>≒ unconcerned about ↔ concerned about ⊕ indifference</a:t>
            </a:r>
            <a:endParaRPr lang="en-US" sz="1300" dirty="0"/>
          </a:p>
          <a:p>
            <a:pPr indent="0" marL="0">
              <a:spcAft>
                <a:spcPts val="500"/>
              </a:spcAft>
              <a:buNone/>
            </a:pPr>
            <a:r>
              <a:rPr lang="en-US" sz="1300" b="1" dirty="0">
                <a:solidFill>
                  <a:srgbClr val="1F7A64"/>
                </a:solidFill>
              </a:rPr>
              <a:t>go out of one's way to V  </a:t>
            </a:r>
            <a:pPr indent="0" marL="0">
              <a:spcAft>
                <a:spcPts val="500"/>
              </a:spcAft>
              <a:buNone/>
            </a:pPr>
            <a:r>
              <a:rPr lang="en-US" sz="1300" dirty="0">
                <a:solidFill>
                  <a:srgbClr val="1E2B2A"/>
                </a:solidFill>
              </a:rPr>
              <a:t>≒ make a special effort to V</a:t>
            </a:r>
            <a:endParaRPr lang="en-US" sz="1300" dirty="0"/>
          </a:p>
          <a:p>
            <a:pPr indent="0" marL="0">
              <a:spcAft>
                <a:spcPts val="500"/>
              </a:spcAft>
              <a:buNone/>
            </a:pPr>
            <a:r>
              <a:rPr lang="en-US" sz="1300" b="1" dirty="0">
                <a:solidFill>
                  <a:srgbClr val="1F7A64"/>
                </a:solidFill>
              </a:rPr>
              <a:t>the masses  </a:t>
            </a:r>
            <a:pPr indent="0" marL="0">
              <a:spcAft>
                <a:spcPts val="500"/>
              </a:spcAft>
              <a:buNone/>
            </a:pPr>
            <a:r>
              <a:rPr lang="en-US" sz="1300" dirty="0">
                <a:solidFill>
                  <a:srgbClr val="1E2B2A"/>
                </a:solidFill>
              </a:rPr>
              <a:t>≒ the public ↔ an individual</a:t>
            </a:r>
            <a:endParaRPr lang="en-US" sz="1300" dirty="0"/>
          </a:p>
          <a:p>
            <a:pPr indent="0" marL="0">
              <a:spcAft>
                <a:spcPts val="500"/>
              </a:spcAft>
              <a:buNone/>
            </a:pPr>
            <a:r>
              <a:rPr lang="en-US" sz="1300" b="1" dirty="0">
                <a:solidFill>
                  <a:srgbClr val="1F7A64"/>
                </a:solidFill>
              </a:rPr>
              <a:t>contribution  </a:t>
            </a:r>
            <a:pPr indent="0" marL="0">
              <a:spcAft>
                <a:spcPts val="500"/>
              </a:spcAft>
              <a:buNone/>
            </a:pPr>
            <a:r>
              <a:rPr lang="en-US" sz="1300" dirty="0">
                <a:solidFill>
                  <a:srgbClr val="1E2B2A"/>
                </a:solidFill>
              </a:rPr>
              <a:t>≒ donation ⊕ contribute</a:t>
            </a:r>
            <a:endParaRPr lang="en-US" sz="1300" dirty="0"/>
          </a:p>
          <a:p>
            <a:pPr indent="0" marL="0">
              <a:spcAft>
                <a:spcPts val="500"/>
              </a:spcAft>
              <a:buNone/>
            </a:pPr>
            <a:r>
              <a:rPr lang="en-US" sz="1300" b="1" dirty="0">
                <a:solidFill>
                  <a:srgbClr val="1F7A64"/>
                </a:solidFill>
              </a:rPr>
              <a:t>discouraging  </a:t>
            </a:r>
            <a:pPr indent="0" marL="0">
              <a:spcAft>
                <a:spcPts val="500"/>
              </a:spcAft>
              <a:buNone/>
            </a:pPr>
            <a:r>
              <a:rPr lang="en-US" sz="1300" dirty="0">
                <a:solidFill>
                  <a:srgbClr val="1E2B2A"/>
                </a:solidFill>
              </a:rPr>
              <a:t>≒ disheartening ↔ encouraging</a:t>
            </a:r>
            <a:endParaRPr lang="en-US" sz="1300" dirty="0"/>
          </a:p>
          <a:p>
            <a:pPr indent="0" marL="0">
              <a:spcAft>
                <a:spcPts val="500"/>
              </a:spcAft>
              <a:buNone/>
            </a:pPr>
            <a:r>
              <a:rPr lang="en-US" sz="1300" b="1" dirty="0">
                <a:solidFill>
                  <a:srgbClr val="1F7A64"/>
                </a:solidFill>
              </a:rPr>
              <a:t>portrayal  </a:t>
            </a:r>
            <a:pPr indent="0" marL="0">
              <a:spcAft>
                <a:spcPts val="500"/>
              </a:spcAft>
              <a:buNone/>
            </a:pPr>
            <a:r>
              <a:rPr lang="en-US" sz="1300" dirty="0">
                <a:solidFill>
                  <a:srgbClr val="1E2B2A"/>
                </a:solidFill>
              </a:rPr>
              <a:t>≒ depiction ⊕ portray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수동태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완료 분사구문 (능동)</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표현'된' 것 → 수동태</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102  </a:t>
            </a:r>
            <a:pPr indent="0" marL="0">
              <a:buNone/>
            </a:pPr>
            <a:r>
              <a:rPr lang="en-US" sz="1800" b="1" dirty="0">
                <a:solidFill>
                  <a:srgbClr val="14453D"/>
                </a:solidFill>
              </a:rPr>
              <a:t>다음 빈칸에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빈칸 변형</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framed</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표현된</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18" name="Text 16"/>
          <p:cNvSpPr txBox="1"/>
          <p:nvPr/>
        </p:nvSpPr>
        <p:spPr>
          <a:xfrm>
            <a:off x="594360" y="694944"/>
            <a:ext cx="11018520" cy="3906356"/>
          </a:xfrm>
          <a:prstGeom prst="rect">
            <a:avLst/>
          </a:prstGeom>
          <a:noFill/>
          <a:ln/>
        </p:spPr>
        <p:txBody>
          <a:bodyPr wrap="square" lIns="0" tIns="0" rIns="0" bIns="0" rtlCol="0" anchor="t">
            <a:normAutofit/>
          </a:bodyPr>
          <a:lstStyle/>
          <a:p>
            <a:pPr indent="0" marL="0">
              <a:lnSpc>
                <a:spcPct val="118000"/>
              </a:lnSpc>
              <a:buNone/>
            </a:pPr>
            <a:r>
              <a:rPr lang="en-US" sz="1450" b="1" dirty="0">
                <a:solidFill>
                  <a:srgbClr val="1F7A64"/>
                </a:solidFill>
              </a:rPr>
              <a:t>(1) </a:t>
            </a:r>
            <a:pPr indent="0" marL="0">
              <a:lnSpc>
                <a:spcPct val="118000"/>
              </a:lnSpc>
              <a:buNone/>
            </a:pPr>
            <a:r>
              <a:rPr lang="en-US" sz="1850" dirty="0">
                <a:solidFill>
                  <a:srgbClr val="1E2B2A"/>
                </a:solidFill>
              </a:rPr>
              <a:t>In 2006, Benedetto De Martino conducted a famous psychology experiment.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(2) </a:t>
            </a:r>
            <a:pPr indent="0" marL="0">
              <a:lnSpc>
                <a:spcPct val="118000"/>
              </a:lnSpc>
              <a:buNone/>
            </a:pPr>
            <a:r>
              <a:rPr lang="en-US" sz="1850" dirty="0">
                <a:solidFill>
                  <a:srgbClr val="1E2B2A"/>
                </a:solidFill>
              </a:rPr>
              <a:t>The participants </a:t>
            </a:r>
            <a:pPr indent="0" marL="0">
              <a:lnSpc>
                <a:spcPct val="118000"/>
              </a:lnSpc>
              <a:buNone/>
            </a:pPr>
            <a:r>
              <a:rPr lang="en-US" sz="1850" b="1" dirty="0">
                <a:solidFill>
                  <a:srgbClr val="14453D"/>
                </a:solidFill>
                <a:highlight>
                  <a:srgbClr val="A9DDF3"/>
                </a:highlight>
              </a:rPr>
              <a:t>were each given $50 and separated into</a:t>
            </a:r>
            <a:pPr indent="0" marL="0">
              <a:lnSpc>
                <a:spcPct val="118000"/>
              </a:lnSpc>
              <a:buNone/>
            </a:pPr>
            <a:r>
              <a:rPr lang="en-US" sz="1850" dirty="0">
                <a:solidFill>
                  <a:srgbClr val="1E2B2A"/>
                </a:solidFill>
              </a:rPr>
              <a:t> two groups—group A and B.</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(3) </a:t>
            </a:r>
            <a:pPr indent="0" marL="0">
              <a:lnSpc>
                <a:spcPct val="118000"/>
              </a:lnSpc>
              <a:buNone/>
            </a:pPr>
            <a:r>
              <a:rPr lang="en-US" sz="1850" dirty="0">
                <a:solidFill>
                  <a:srgbClr val="1E2B2A"/>
                </a:solidFill>
              </a:rPr>
              <a:t>Group A was given two options, “You can either gamble with that money or </a:t>
            </a:r>
            <a:pPr indent="0" marL="0">
              <a:lnSpc>
                <a:spcPct val="118000"/>
              </a:lnSpc>
              <a:buNone/>
            </a:pPr>
            <a:r>
              <a:rPr lang="en-US" sz="1850" b="1" dirty="0">
                <a:solidFill>
                  <a:srgbClr val="1E2B2A"/>
                </a:solidFill>
                <a:highlight>
                  <a:srgbClr val="FFD45C"/>
                </a:highlight>
              </a:rPr>
              <a:t>lose $30</a:t>
            </a:r>
            <a:pPr indent="0" marL="0">
              <a:lnSpc>
                <a:spcPct val="118000"/>
              </a:lnSpc>
              <a:buNone/>
            </a:pPr>
            <a:r>
              <a:rPr lang="en-US" sz="1850" dirty="0">
                <a:solidFill>
                  <a:srgbClr val="1E2B2A"/>
                </a:solidFill>
              </a:rPr>
              <a:t> of it.”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(4) </a:t>
            </a:r>
            <a:pPr indent="0" marL="0">
              <a:lnSpc>
                <a:spcPct val="118000"/>
              </a:lnSpc>
              <a:buNone/>
            </a:pPr>
            <a:r>
              <a:rPr lang="en-US" sz="1850" dirty="0">
                <a:solidFill>
                  <a:srgbClr val="1E2B2A"/>
                </a:solidFill>
              </a:rPr>
              <a:t>Group B was also given two options: “You can either gamble with that money or </a:t>
            </a:r>
            <a:pPr indent="0" marL="0">
              <a:lnSpc>
                <a:spcPct val="118000"/>
              </a:lnSpc>
              <a:buNone/>
            </a:pPr>
            <a:r>
              <a:rPr lang="en-US" sz="1850" b="1" dirty="0">
                <a:solidFill>
                  <a:srgbClr val="1E2B2A"/>
                </a:solidFill>
                <a:highlight>
                  <a:srgbClr val="FFD45C"/>
                </a:highlight>
              </a:rPr>
              <a:t>keep $20</a:t>
            </a:r>
            <a:pPr indent="0" marL="0">
              <a:lnSpc>
                <a:spcPct val="118000"/>
              </a:lnSpc>
              <a:buNone/>
            </a:pPr>
            <a:r>
              <a:rPr lang="en-US" sz="1850" dirty="0">
                <a:solidFill>
                  <a:srgbClr val="1E2B2A"/>
                </a:solidFill>
              </a:rPr>
              <a:t> of it.”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(5) </a:t>
            </a:r>
            <a:pPr indent="0" marL="0">
              <a:lnSpc>
                <a:spcPct val="118000"/>
              </a:lnSpc>
              <a:buNone/>
            </a:pPr>
            <a:r>
              <a:rPr lang="en-US" sz="1850" b="1" dirty="0">
                <a:solidFill>
                  <a:srgbClr val="14453D"/>
                </a:solidFill>
                <a:highlight>
                  <a:srgbClr val="A9DDF3"/>
                </a:highlight>
              </a:rPr>
              <a:t>Having heard these options</a:t>
            </a:r>
            <a:pPr indent="0" marL="0">
              <a:lnSpc>
                <a:spcPct val="118000"/>
              </a:lnSpc>
              <a:buNone/>
            </a:pPr>
            <a:r>
              <a:rPr lang="en-US" sz="1850" dirty="0">
                <a:solidFill>
                  <a:srgbClr val="1E2B2A"/>
                </a:solidFill>
              </a:rPr>
              <a:t>, 61.9% of participants in group A chose to gamble, while only 42.9% of participants in group B chose to gamble.</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(6) </a:t>
            </a:r>
            <a:pPr indent="0" marL="0">
              <a:lnSpc>
                <a:spcPct val="118000"/>
              </a:lnSpc>
              <a:buNone/>
            </a:pPr>
            <a:r>
              <a:rPr lang="en-US" sz="1850" dirty="0">
                <a:solidFill>
                  <a:srgbClr val="1E2B2A"/>
                </a:solidFill>
              </a:rPr>
              <a:t>As you may have noticed, the two groups were given options that actually led to </a:t>
            </a:r>
            <a:pPr indent="0" marL="0">
              <a:lnSpc>
                <a:spcPct val="118000"/>
              </a:lnSpc>
              <a:buNone/>
            </a:pPr>
            <a:r>
              <a:rPr lang="en-US" sz="1850" b="1" dirty="0">
                <a:solidFill>
                  <a:srgbClr val="EF5B3F"/>
                </a:solidFill>
              </a:rPr>
              <a:t>____________</a:t>
            </a:r>
            <a:pPr indent="0" marL="0">
              <a:lnSpc>
                <a:spcPct val="118000"/>
              </a:lnSpc>
              <a:buNone/>
            </a:pPr>
            <a:r>
              <a:rPr lang="en-US" sz="1850" dirty="0">
                <a:solidFill>
                  <a:srgbClr val="1E2B2A"/>
                </a:solidFill>
              </a:rPr>
              <a: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(7) </a:t>
            </a:r>
            <a:pPr indent="0" marL="0">
              <a:lnSpc>
                <a:spcPct val="118000"/>
              </a:lnSpc>
              <a:buNone/>
            </a:pPr>
            <a:r>
              <a:rPr lang="en-US" sz="1850" b="1" dirty="0">
                <a:solidFill>
                  <a:srgbClr val="1E2B2A"/>
                </a:solidFill>
                <a:highlight>
                  <a:srgbClr val="FFD45C"/>
                </a:highlight>
              </a:rPr>
              <a:t>However</a:t>
            </a:r>
            <a:pPr indent="0" marL="0">
              <a:lnSpc>
                <a:spcPct val="118000"/>
              </a:lnSpc>
              <a:buNone/>
            </a:pPr>
            <a:r>
              <a:rPr lang="en-US" sz="1850" dirty="0">
                <a:solidFill>
                  <a:srgbClr val="1E2B2A"/>
                </a:solidFill>
              </a:rPr>
              <a:t>, </a:t>
            </a:r>
            <a:pPr indent="0" marL="0">
              <a:lnSpc>
                <a:spcPct val="118000"/>
              </a:lnSpc>
              <a:buNone/>
            </a:pPr>
            <a:r>
              <a:rPr lang="en-US" sz="1850" b="1" dirty="0">
                <a:solidFill>
                  <a:srgbClr val="14453D"/>
                </a:solidFill>
                <a:highlight>
                  <a:srgbClr val="A9DDF3"/>
                </a:highlight>
              </a:rPr>
              <a:t>because the choices were framed using two different terms</a:t>
            </a:r>
            <a:pPr indent="0" marL="0">
              <a:lnSpc>
                <a:spcPct val="118000"/>
              </a:lnSpc>
              <a:buNone/>
            </a:pPr>
            <a:r>
              <a:rPr lang="en-US" sz="1850" dirty="0">
                <a:solidFill>
                  <a:srgbClr val="1E2B2A"/>
                </a:solidFill>
              </a:rPr>
              <a:t>, </a:t>
            </a:r>
            <a:pPr indent="0" marL="0">
              <a:lnSpc>
                <a:spcPct val="118000"/>
              </a:lnSpc>
              <a:buNone/>
            </a:pPr>
            <a:r>
              <a:rPr lang="en-US" sz="1850" b="1" dirty="0">
                <a:solidFill>
                  <a:srgbClr val="1E2B2A"/>
                </a:solidFill>
                <a:highlight>
                  <a:srgbClr val="FFD45C"/>
                </a:highlight>
              </a:rPr>
              <a:t>‘lose’ versus ‘keep’</a:t>
            </a:r>
            <a:pPr indent="0" marL="0">
              <a:lnSpc>
                <a:spcPct val="118000"/>
              </a:lnSpc>
              <a:buNone/>
            </a:pPr>
            <a:r>
              <a:rPr lang="en-US" sz="1850" dirty="0">
                <a:solidFill>
                  <a:srgbClr val="1E2B2A"/>
                </a:solidFill>
              </a:rPr>
              <a:t>, the participants came to different decisions.</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(8) </a:t>
            </a:r>
            <a:pPr indent="0" marL="0">
              <a:lnSpc>
                <a:spcPct val="118000"/>
              </a:lnSpc>
              <a:buNone/>
            </a:pPr>
            <a:r>
              <a:rPr lang="en-US" sz="1850" b="1" dirty="0">
                <a:solidFill>
                  <a:srgbClr val="14453D"/>
                </a:solidFill>
                <a:highlight>
                  <a:srgbClr val="A9DDF3"/>
                </a:highlight>
              </a:rPr>
              <a:t>This is called the “framing effect”</a:t>
            </a:r>
            <a:pPr indent="0" marL="0">
              <a:lnSpc>
                <a:spcPct val="118000"/>
              </a:lnSpc>
              <a:buNone/>
            </a:pPr>
            <a:r>
              <a:rPr lang="en-US" sz="1850" dirty="0">
                <a:solidFill>
                  <a:srgbClr val="1E2B2A"/>
                </a:solidFill>
              </a:rPr>
              <a:t>.</a:t>
            </a:r>
            <a:pPr indent="0" marL="0">
              <a:lnSpc>
                <a:spcPct val="118000"/>
              </a:lnSpc>
              <a:buNone/>
            </a:pPr>
            <a:r>
              <a:rPr lang="en-US" sz="1850" dirty="0">
                <a:solidFill>
                  <a:srgbClr val="000000"/>
                </a:solidFill>
              </a:rPr>
              <a:t> </a:t>
            </a:r>
            <a:pPr indent="0" marL="0">
              <a:lnSpc>
                <a:spcPct val="118000"/>
              </a:lnSpc>
              <a:buNone/>
            </a:pPr>
            <a:r>
              <a:rPr lang="en-US" sz="1450" b="1" dirty="0">
                <a:solidFill>
                  <a:srgbClr val="1F7A64"/>
                </a:solidFill>
              </a:rPr>
              <a:t>(9) </a:t>
            </a:r>
            <a:pPr indent="0" marL="0">
              <a:lnSpc>
                <a:spcPct val="118000"/>
              </a:lnSpc>
              <a:buNone/>
            </a:pPr>
            <a:r>
              <a:rPr lang="en-US" sz="1850" dirty="0">
                <a:solidFill>
                  <a:srgbClr val="1E2B2A"/>
                </a:solidFill>
              </a:rPr>
              <a:t>Using words that make people think of a negative outcome will yield different behavioral results than using words that make them think of a positive outcome.</a:t>
            </a:r>
            <a:endParaRPr lang="en-US" sz="1450" dirty="0"/>
          </a:p>
        </p:txBody>
      </p:sp>
      <p:sp>
        <p:nvSpPr>
          <p:cNvPr id="19" name="Text 17"/>
          <p:cNvSpPr txBox="1"/>
          <p:nvPr/>
        </p:nvSpPr>
        <p:spPr>
          <a:xfrm>
            <a:off x="594360" y="4656164"/>
            <a:ext cx="11018520" cy="665644"/>
          </a:xfrm>
          <a:prstGeom prst="rect">
            <a:avLst/>
          </a:prstGeom>
          <a:noFill/>
          <a:ln/>
        </p:spPr>
        <p:txBody>
          <a:bodyPr wrap="square" lIns="0" tIns="0" rIns="0" bIns="0" rtlCol="0" anchor="t">
            <a:normAutofit/>
          </a:bodyPr>
          <a:lstStyle/>
          <a:p>
            <a:pPr indent="0" marL="0">
              <a:buNone/>
            </a:pPr>
            <a:r>
              <a:rPr lang="en-US" sz="1550" dirty="0">
                <a:solidFill>
                  <a:srgbClr val="6E7F7C"/>
                </a:solidFill>
              </a:rPr>
              <a:t>① serious financial loss</a:t>
            </a:r>
            <a:pPr indent="0" marL="0">
              <a:buNone/>
            </a:pPr>
            <a:r>
              <a:rPr lang="en-US" sz="1550" dirty="0">
                <a:solidFill>
                  <a:srgbClr val="000000"/>
                </a:solidFill>
              </a:rPr>
              <a:t>     </a:t>
            </a:r>
            <a:pPr indent="0" marL="0">
              <a:buNone/>
            </a:pPr>
            <a:r>
              <a:rPr lang="en-US" sz="1550" b="1" dirty="0">
                <a:solidFill>
                  <a:srgbClr val="EF5B3F"/>
                </a:solidFill>
              </a:rPr>
              <a:t>② an identical outcome</a:t>
            </a:r>
            <a:pPr indent="0" marL="0">
              <a:buNone/>
            </a:pPr>
            <a:r>
              <a:rPr lang="en-US" sz="1350" b="1" dirty="0">
                <a:solidFill>
                  <a:srgbClr val="EF5B3F"/>
                </a:solidFill>
              </a:rPr>
              <a:t> ✔</a:t>
            </a:r>
            <a:pPr indent="0" marL="0">
              <a:buNone/>
            </a:pPr>
            <a:r>
              <a:rPr lang="en-US" sz="1550" dirty="0">
                <a:solidFill>
                  <a:srgbClr val="000000"/>
                </a:solidFill>
              </a:rPr>
              <a:t>     </a:t>
            </a:r>
            <a:pPr indent="0" marL="0">
              <a:buNone/>
            </a:pPr>
            <a:r>
              <a:rPr lang="en-US" sz="1550" dirty="0">
                <a:solidFill>
                  <a:srgbClr val="6E7F7C"/>
                </a:solidFill>
              </a:rPr>
              <a:t>③ avoiding gambling in any form</a:t>
            </a:r>
            <a:pPr indent="0" marL="0">
              <a:buNone/>
            </a:pPr>
            <a:r>
              <a:rPr lang="en-US" sz="1550" dirty="0">
                <a:solidFill>
                  <a:srgbClr val="000000"/>
                </a:solidFill>
              </a:rPr>
              <a:t>     </a:t>
            </a:r>
            <a:pPr indent="0" marL="0">
              <a:buNone/>
            </a:pPr>
            <a:r>
              <a:rPr lang="en-US" sz="1550" dirty="0">
                <a:solidFill>
                  <a:srgbClr val="6E7F7C"/>
                </a:solidFill>
              </a:rPr>
              <a:t>④ a huge burden of decision making</a:t>
            </a:r>
            <a:pPr indent="0" marL="0">
              <a:buNone/>
            </a:pPr>
            <a:r>
              <a:rPr lang="en-US" sz="1550" dirty="0">
                <a:solidFill>
                  <a:srgbClr val="000000"/>
                </a:solidFill>
              </a:rPr>
              <a:t>     </a:t>
            </a:r>
            <a:pPr indent="0" marL="0">
              <a:buNone/>
            </a:pPr>
            <a:r>
              <a:rPr lang="en-US" sz="1550" dirty="0">
                <a:solidFill>
                  <a:srgbClr val="6E7F7C"/>
                </a:solidFill>
              </a:rPr>
              <a:t>⑤ misunderstanding economic values</a:t>
            </a:r>
            <a:endParaRPr lang="en-US" sz="1550" dirty="0"/>
          </a:p>
        </p:txBody>
      </p:sp>
      <p:sp>
        <p:nvSpPr>
          <p:cNvPr id="2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두 그룹 모두 50달러를 받음</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계산</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50 − 30 = 20 → 둘 다 '20달러가 남는' 같은 결과</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However: 표현만 달라서 다른 결정 → 틀 효과</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빈칸 뒤 However → 빈칸은 뒤 내용과 반대 방향</a:t>
            </a:r>
            <a:endParaRPr lang="en-US" sz="1500" dirty="0"/>
          </a:p>
          <a:p>
            <a:pPr marL="342900" indent="-342900">
              <a:spcAft>
                <a:spcPts val="600"/>
              </a:spcAft>
              <a:buSzPct val="100000"/>
              <a:buChar char="✔"/>
            </a:pPr>
            <a:r>
              <a:rPr lang="en-US" sz="1500" dirty="0">
                <a:solidFill>
                  <a:srgbClr val="1E2B2A"/>
                </a:solidFill>
              </a:rPr>
              <a:t>Ex 93과 같은 지문: 요약문 → 빈칸으로 변형</a:t>
            </a:r>
            <a:endParaRPr lang="en-US" sz="1500" dirty="0"/>
          </a:p>
          <a:p>
            <a:pPr marL="342900" indent="-342900">
              <a:spcAft>
                <a:spcPts val="600"/>
              </a:spcAft>
              <a:buSzPct val="100000"/>
              <a:buChar char="✔"/>
            </a:pPr>
            <a:r>
              <a:rPr lang="en-US" sz="1500" dirty="0">
                <a:solidFill>
                  <a:srgbClr val="1E2B2A"/>
                </a:solidFill>
              </a:rPr>
              <a:t>be called + 명사 (call O C 수동태)</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 different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phrase, express</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result in</a:t>
            </a:r>
            <a:endParaRPr lang="en-US" sz="1300" dirty="0"/>
          </a:p>
          <a:p>
            <a:pPr indent="0" marL="0">
              <a:spcAft>
                <a:spcPts val="500"/>
              </a:spcAft>
              <a:buNone/>
            </a:pPr>
            <a:r>
              <a:rPr lang="en-US" sz="1300" b="1" dirty="0">
                <a:solidFill>
                  <a:srgbClr val="1F7A64"/>
                </a:solidFill>
              </a:rPr>
              <a:t>behavioral  </a:t>
            </a:r>
            <a:pPr indent="0" marL="0">
              <a:spcAft>
                <a:spcPts val="500"/>
              </a:spcAft>
              <a:buNone/>
            </a:pPr>
            <a:r>
              <a:rPr lang="en-US" sz="1300" dirty="0">
                <a:solidFill>
                  <a:srgbClr val="1E2B2A"/>
                </a:solidFill>
              </a:rPr>
              <a:t>⊕ behave, behavior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Have you ever thought about </a:t>
            </a:r>
            <a:pPr indent="0" marL="0">
              <a:buNone/>
            </a:pPr>
            <a:r>
              <a:rPr lang="en-US" sz="2000" b="1" dirty="0">
                <a:solidFill>
                  <a:srgbClr val="EF5B3F"/>
                </a:solidFill>
              </a:rPr>
              <a:t>[what / that]</a:t>
            </a:r>
            <a:pPr indent="0" marL="0">
              <a:buNone/>
            </a:pPr>
            <a:r>
              <a:rPr lang="en-US" sz="2000" dirty="0">
                <a:solidFill>
                  <a:srgbClr val="1E2B2A"/>
                </a:solidFill>
              </a:rPr>
              <a:t> you are good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간접의문문 (전치사 about의 목적어)</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got]</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which]</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103  </a:t>
            </a:r>
            <a:pPr indent="0" marL="0">
              <a:buNone/>
            </a:pPr>
            <a:r>
              <a:rPr lang="en-US" sz="1800" b="1" dirty="0">
                <a:solidFill>
                  <a:srgbClr val="14453D"/>
                </a:solidFill>
              </a:rPr>
              <a:t>주어진 문장이 들어가기에 가장 적절한 곳은?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삽입 변형</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694944"/>
            <a:ext cx="11018520" cy="4572000"/>
          </a:xfrm>
          <a:prstGeom prst="rect">
            <a:avLst/>
          </a:prstGeom>
          <a:noFill/>
          <a:ln/>
        </p:spPr>
        <p:txBody>
          <a:bodyPr wrap="square" lIns="0" tIns="0" rIns="0" bIns="0" rtlCol="0" anchor="t">
            <a:normAutofit/>
          </a:bodyPr>
          <a:lstStyle/>
          <a:p>
            <a:pPr indent="0" marL="0">
              <a:lnSpc>
                <a:spcPct val="118000"/>
              </a:lnSpc>
              <a:buNone/>
            </a:pPr>
            <a:r>
              <a:rPr lang="en-US" sz="1900" b="1" dirty="0">
                <a:solidFill>
                  <a:srgbClr val="EF5B3F"/>
                </a:solidFill>
              </a:rPr>
              <a:t>[주어진 문장]  </a:t>
            </a:r>
            <a:pPr indent="0" marL="0">
              <a:lnSpc>
                <a:spcPct val="118000"/>
              </a:lnSpc>
              <a:buNone/>
            </a:pPr>
            <a:r>
              <a:rPr lang="en-US" sz="1900" b="1" dirty="0">
                <a:solidFill>
                  <a:srgbClr val="14453D"/>
                </a:solidFill>
              </a:rPr>
              <a:t>This reflection process enables you to clearly see potential problems and ways to fix them.</a:t>
            </a:r>
            <a:endParaRPr lang="en-US" sz="1900" dirty="0"/>
          </a:p>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Have you ever thought about </a:t>
            </a:r>
            <a:pPr indent="0" marL="0">
              <a:lnSpc>
                <a:spcPct val="118000"/>
              </a:lnSpc>
              <a:buNone/>
            </a:pPr>
            <a:r>
              <a:rPr lang="en-US" sz="1900" b="1" dirty="0">
                <a:solidFill>
                  <a:srgbClr val="14453D"/>
                </a:solidFill>
                <a:highlight>
                  <a:srgbClr val="A9DDF3"/>
                </a:highlight>
              </a:rPr>
              <a:t>what you are good at and not so good at</a:t>
            </a:r>
            <a:pPr indent="0" marL="0">
              <a:lnSpc>
                <a:spcPct val="118000"/>
              </a:lnSpc>
              <a:buNone/>
            </a:pPr>
            <a:r>
              <a:rPr lang="en-US" sz="1900" dirty="0">
                <a:solidFill>
                  <a:srgbClr val="1E2B2A"/>
                </a:solidFill>
              </a:rPr>
              <a:t> during internal conversations with yourself?</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dirty="0">
                <a:solidFill>
                  <a:srgbClr val="1E2B2A"/>
                </a:solidFill>
              </a:rPr>
              <a:t>Inner thought processes like this </a:t>
            </a:r>
            <a:pPr indent="0" marL="0">
              <a:lnSpc>
                <a:spcPct val="118000"/>
              </a:lnSpc>
              <a:buNone/>
            </a:pPr>
            <a:r>
              <a:rPr lang="en-US" sz="1900" b="1" dirty="0">
                <a:solidFill>
                  <a:srgbClr val="14453D"/>
                </a:solidFill>
                <a:highlight>
                  <a:srgbClr val="A9DDF3"/>
                </a:highlight>
              </a:rPr>
              <a:t>help you get a clearer picture</a:t>
            </a:r>
            <a:pPr indent="0" marL="0">
              <a:lnSpc>
                <a:spcPct val="118000"/>
              </a:lnSpc>
              <a:buNone/>
            </a:pPr>
            <a:r>
              <a:rPr lang="en-US" sz="1900" dirty="0">
                <a:solidFill>
                  <a:srgbClr val="1E2B2A"/>
                </a:solidFill>
              </a:rPr>
              <a:t> of your strengths and weaknesses.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dirty="0">
                <a:solidFill>
                  <a:srgbClr val="1E2B2A"/>
                </a:solidFill>
              </a:rPr>
              <a:t>( ① ) During the process, you may </a:t>
            </a:r>
            <a:pPr indent="0" marL="0">
              <a:lnSpc>
                <a:spcPct val="118000"/>
              </a:lnSpc>
              <a:buNone/>
            </a:pPr>
            <a:r>
              <a:rPr lang="en-US" sz="1900" b="1" dirty="0">
                <a:solidFill>
                  <a:srgbClr val="1E2B2A"/>
                </a:solidFill>
                <a:highlight>
                  <a:srgbClr val="FFD45C"/>
                </a:highlight>
              </a:rPr>
              <a:t>ask yourself a series of questions to identify </a:t>
            </a:r>
            <a:pPr indent="0" marL="0">
              <a:lnSpc>
                <a:spcPct val="118000"/>
              </a:lnSpc>
              <a:buNone/>
            </a:pPr>
            <a:r>
              <a:rPr lang="en-US" sz="1900" b="1" u="sng" dirty="0">
                <a:solidFill>
                  <a:srgbClr val="1E2B2A"/>
                </a:solidFill>
                <a:highlight>
                  <a:srgbClr val="FFD45C"/>
                </a:highlight>
                <a:uFill>
                  <a:solidFill>
                    <a:srgbClr val="2C7DA0"/>
                  </a:solidFill>
                </a:uFill>
              </a:rPr>
              <a:t>blind spots</a:t>
            </a:r>
            <a:pPr indent="0" marL="0">
              <a:lnSpc>
                <a:spcPct val="118000"/>
              </a:lnSpc>
              <a:buNone/>
            </a:pPr>
            <a:r>
              <a:rPr lang="en-US" sz="1900" b="1" dirty="0">
                <a:solidFill>
                  <a:srgbClr val="14453D"/>
                </a:solidFill>
                <a:highlight>
                  <a:srgbClr val="A9DDF3"/>
                </a:highlight>
              </a:rPr>
              <a:t> that may be blocking you from reaching</a:t>
            </a:r>
            <a:pPr indent="0" marL="0">
              <a:lnSpc>
                <a:spcPct val="118000"/>
              </a:lnSpc>
              <a:buNone/>
            </a:pPr>
            <a:r>
              <a:rPr lang="en-US" sz="1900" dirty="0">
                <a:solidFill>
                  <a:srgbClr val="1E2B2A"/>
                </a:solidFill>
              </a:rPr>
              <a:t> your goals.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dirty="0">
                <a:solidFill>
                  <a:srgbClr val="1E2B2A"/>
                </a:solidFill>
              </a:rPr>
              <a:t>( ② ) </a:t>
            </a:r>
            <a:pPr indent="0" marL="0">
              <a:lnSpc>
                <a:spcPct val="118000"/>
              </a:lnSpc>
              <a:buNone/>
            </a:pPr>
            <a:r>
              <a:rPr lang="en-US" sz="1900" b="1" u="sng" dirty="0">
                <a:solidFill>
                  <a:srgbClr val="1E2B2A"/>
                </a:solidFill>
                <a:highlight>
                  <a:srgbClr val="FFD45C"/>
                </a:highlight>
                <a:uFill>
                  <a:solidFill>
                    <a:srgbClr val="2C7DA0"/>
                  </a:solidFill>
                </a:uFill>
              </a:rPr>
              <a:t>It is not only essential</a:t>
            </a:r>
            <a:pPr indent="0" marL="0">
              <a:lnSpc>
                <a:spcPct val="118000"/>
              </a:lnSpc>
              <a:buNone/>
            </a:pPr>
            <a:r>
              <a:rPr lang="en-US" sz="1900" b="1" dirty="0">
                <a:solidFill>
                  <a:srgbClr val="14453D"/>
                </a:solidFill>
                <a:highlight>
                  <a:srgbClr val="A9DDF3"/>
                </a:highlight>
              </a:rPr>
              <a:t> in personal development but also critical</a:t>
            </a:r>
            <a:pPr indent="0" marL="0">
              <a:lnSpc>
                <a:spcPct val="118000"/>
              </a:lnSpc>
              <a:buNone/>
            </a:pPr>
            <a:r>
              <a:rPr lang="en-US" sz="1900" dirty="0">
                <a:solidFill>
                  <a:srgbClr val="1E2B2A"/>
                </a:solidFill>
              </a:rPr>
              <a:t> to corporate success.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 ③ ) The most consistently innovative companies in the world promote a culture which includes this self-inquiry.</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(6) </a:t>
            </a:r>
            <a:pPr indent="0" marL="0">
              <a:lnSpc>
                <a:spcPct val="118000"/>
              </a:lnSpc>
              <a:buNone/>
            </a:pPr>
            <a:r>
              <a:rPr lang="en-US" sz="19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(7) </a:t>
            </a:r>
            <a:pPr indent="0" marL="0">
              <a:lnSpc>
                <a:spcPct val="118000"/>
              </a:lnSpc>
              <a:buNone/>
            </a:pPr>
            <a:r>
              <a:rPr lang="en-US" sz="1900" dirty="0">
                <a:solidFill>
                  <a:srgbClr val="1E2B2A"/>
                </a:solidFill>
              </a:rPr>
              <a:t>( ⑤ ) </a:t>
            </a:r>
            <a:pPr indent="0" marL="0">
              <a:lnSpc>
                <a:spcPct val="118000"/>
              </a:lnSpc>
              <a:buNone/>
            </a:pPr>
            <a:r>
              <a:rPr lang="en-US" sz="1900" b="1" dirty="0">
                <a:solidFill>
                  <a:srgbClr val="14453D"/>
                </a:solidFill>
                <a:highlight>
                  <a:srgbClr val="A9DDF3"/>
                </a:highlight>
              </a:rPr>
              <a:t>It is this self-awareness that allows</a:t>
            </a:r>
            <a:pPr indent="0" marL="0">
              <a:lnSpc>
                <a:spcPct val="118000"/>
              </a:lnSpc>
              <a:buNone/>
            </a:pPr>
            <a:r>
              <a:rPr lang="en-US" sz="1900" dirty="0">
                <a:solidFill>
                  <a:srgbClr val="1E2B2A"/>
                </a:solidFill>
              </a:rPr>
              <a:t> the company to excel at developing innovative and outstanding products.</a:t>
            </a:r>
            <a:endParaRPr lang="en-US" sz="1900" dirty="0"/>
          </a:p>
        </p:txBody>
      </p:sp>
      <p:sp>
        <p:nvSpPr>
          <p:cNvPr id="21" name="Text 19"/>
          <p:cNvSpPr txBox="1"/>
          <p:nvPr/>
        </p:nvSpPr>
        <p:spPr>
          <a:xfrm>
            <a:off x="10332720" y="4946904"/>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②</a:t>
            </a:r>
            <a:endParaRPr lang="en-US" sz="1300" dirty="0"/>
          </a:p>
        </p:txBody>
      </p:sp>
      <p:sp>
        <p:nvSpPr>
          <p:cNvPr id="23"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주어진 문장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This reflection process → 앞에 '성찰 과정'의 구체적 설명이 와야 함</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①자리 뒤</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맹점을 찾기 위해 스스로 질문 = 성찰 과정의 내용</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②자리 뒤</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It is not only … but also … → It이 가리킬 단수 명사 필요</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질문으로 맹점 찾기 → [이 성찰 과정이 문제를 보게 함] → It(그것)은 개인·기업에 중요</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문장 삽입은 지시어(this, it)와 연결어를 따라간다</a:t>
            </a:r>
            <a:endParaRPr lang="en-US" sz="1500" dirty="0"/>
          </a:p>
          <a:p>
            <a:pPr marL="342900" indent="-342900">
              <a:spcAft>
                <a:spcPts val="600"/>
              </a:spcAft>
              <a:buSzPct val="100000"/>
              <a:buChar char="✔"/>
            </a:pPr>
            <a:r>
              <a:rPr lang="en-US" sz="1500" dirty="0">
                <a:solidFill>
                  <a:srgbClr val="1E2B2A"/>
                </a:solidFill>
              </a:rPr>
              <a:t>Ex 95와 같은 지문: 요약문 → 삽입으로 변형</a:t>
            </a:r>
            <a:endParaRPr lang="en-US" sz="1500" dirty="0"/>
          </a:p>
          <a:p>
            <a:pPr marL="342900" indent="-342900">
              <a:spcAft>
                <a:spcPts val="600"/>
              </a:spcAft>
              <a:buSzPct val="100000"/>
              <a:buChar char="✔"/>
            </a:pPr>
            <a:r>
              <a:rPr lang="en-US" sz="1500" dirty="0">
                <a:solidFill>
                  <a:srgbClr val="1E2B2A"/>
                </a:solidFill>
              </a:rPr>
              <a:t>block O from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a:t>
            </a:r>
            <a:endParaRPr lang="en-US" sz="1300" dirty="0"/>
          </a:p>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blind spot  </a:t>
            </a:r>
            <a:pPr indent="0" marL="0">
              <a:spcAft>
                <a:spcPts val="500"/>
              </a:spcAft>
              <a:buNone/>
            </a:pPr>
            <a:r>
              <a:rPr lang="en-US" sz="1300" dirty="0">
                <a:solidFill>
                  <a:srgbClr val="1E2B2A"/>
                </a:solidFill>
              </a:rPr>
              <a:t>≒ weakness, weak point</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performing]</a:t>
            </a:r>
            <a:pPr indent="0" marL="0">
              <a:buNone/>
            </a:pPr>
            <a:r>
              <a:rPr lang="en-US" sz="2000" dirty="0">
                <a:solidFill>
                  <a:srgbClr val="1E2B2A"/>
                </a:solidFill>
              </a:rPr>
              <a:t> their jobs.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a:t>
            </a:r>
            <a:pPr indent="0" marL="0">
              <a:buNone/>
            </a:pPr>
            <a:r>
              <a:rPr lang="en-US" sz="2000" b="1" dirty="0">
                <a:solidFill>
                  <a:srgbClr val="EF5B3F"/>
                </a:solidFill>
              </a:rPr>
              <a:t>[needed / needing]</a:t>
            </a:r>
            <a:pPr indent="0" marL="0">
              <a:buNone/>
            </a:pPr>
            <a:r>
              <a:rPr lang="en-US" sz="2000" dirty="0">
                <a:solidFill>
                  <a:srgbClr val="1E2B2A"/>
                </a:solidFill>
              </a:rPr>
              <a:t>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needed / decreases</a:t>
            </a:r>
            <a:endParaRPr lang="en-US" sz="1800" dirty="0"/>
          </a:p>
          <a:p>
            <a:pPr algn="ctr" indent="0" marL="0">
              <a:buNone/>
            </a:pPr>
            <a:r>
              <a:rPr lang="en-US" sz="1200" dirty="0">
                <a:solidFill>
                  <a:srgbClr val="1E2B2A"/>
                </a:solidFill>
              </a:rPr>
              <a:t>과거분사 후치 / 주어 the amount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104  </a:t>
            </a:r>
            <a:pPr indent="0" marL="0">
              <a:buNone/>
            </a:pPr>
            <a:r>
              <a:rPr lang="en-US" sz="1800" b="1" dirty="0">
                <a:solidFill>
                  <a:srgbClr val="14453D"/>
                </a:solidFill>
              </a:rPr>
              <a:t>문맥상 낱말의 쓰임이 적절하지 않은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어휘 변형</a:t>
            </a:r>
            <a:endParaRPr lang="en-US" sz="1100" dirty="0"/>
          </a:p>
        </p:txBody>
      </p:sp>
      <p:sp>
        <p:nvSpPr>
          <p:cNvPr id="4" name="Shape 2"/>
          <p:cNvSpPr/>
          <p:nvPr/>
        </p:nvSpPr>
        <p:spPr>
          <a:xfrm>
            <a:off x="411480" y="621792"/>
            <a:ext cx="11384280" cy="4709160"/>
          </a:xfrm>
          <a:prstGeom prst="roundRect">
            <a:avLst>
              <a:gd name="adj" fmla="val 1942"/>
            </a:avLst>
          </a:prstGeom>
          <a:solidFill>
            <a:srgbClr val="FFFFFF"/>
          </a:solidFill>
          <a:ln w="19050">
            <a:solidFill>
              <a:srgbClr val="E6F2ED"/>
            </a:solidFill>
            <a:prstDash val="solid"/>
          </a:ln>
        </p:spPr>
      </p:sp>
      <p:sp>
        <p:nvSpPr>
          <p:cNvPr id="5" name="Shape 3"/>
          <p:cNvSpPr/>
          <p:nvPr/>
        </p:nvSpPr>
        <p:spPr>
          <a:xfrm>
            <a:off x="411480" y="5422392"/>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9" name="ANIM_v1"/>
          <p:cNvSpPr txBox="1"/>
          <p:nvPr/>
        </p:nvSpPr>
        <p:spPr>
          <a:xfrm>
            <a:off x="477202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0" name="Text 8"/>
          <p:cNvSpPr txBox="1"/>
          <p:nvPr/>
        </p:nvSpPr>
        <p:spPr>
          <a:xfrm>
            <a:off x="624078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1" name="ANIM_v2"/>
          <p:cNvSpPr txBox="1"/>
          <p:nvPr/>
        </p:nvSpPr>
        <p:spPr>
          <a:xfrm>
            <a:off x="761809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2" name="Text 10"/>
          <p:cNvSpPr txBox="1"/>
          <p:nvPr/>
        </p:nvSpPr>
        <p:spPr>
          <a:xfrm>
            <a:off x="9086850" y="5477256"/>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3" name="ANIM_v3"/>
          <p:cNvSpPr txBox="1"/>
          <p:nvPr/>
        </p:nvSpPr>
        <p:spPr>
          <a:xfrm>
            <a:off x="10464165" y="5522976"/>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4" name="Text 12"/>
          <p:cNvSpPr txBox="1"/>
          <p:nvPr/>
        </p:nvSpPr>
        <p:spPr>
          <a:xfrm>
            <a:off x="548640" y="5897880"/>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5" name="ANIM_v4"/>
          <p:cNvSpPr txBox="1"/>
          <p:nvPr/>
        </p:nvSpPr>
        <p:spPr>
          <a:xfrm>
            <a:off x="1925955" y="5943600"/>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6" name="Text 14"/>
          <p:cNvSpPr txBox="1"/>
          <p:nvPr/>
        </p:nvSpPr>
        <p:spPr>
          <a:xfrm>
            <a:off x="594360" y="694944"/>
            <a:ext cx="11018520" cy="4572000"/>
          </a:xfrm>
          <a:prstGeom prst="rect">
            <a:avLst/>
          </a:prstGeom>
          <a:noFill/>
          <a:ln/>
        </p:spPr>
        <p:txBody>
          <a:bodyPr wrap="square" lIns="0" tIns="0" rIns="0" bIns="0" rtlCol="0" anchor="t">
            <a:normAutofit/>
          </a:bodyPr>
          <a:lstStyle/>
          <a:p>
            <a:pPr indent="0" marL="0">
              <a:lnSpc>
                <a:spcPct val="118000"/>
              </a:lnSpc>
              <a:buNone/>
            </a:pPr>
            <a:r>
              <a:rPr lang="en-US" sz="1800" b="1" dirty="0">
                <a:solidFill>
                  <a:srgbClr val="1F7A64"/>
                </a:solidFill>
              </a:rPr>
              <a:t>(1) </a:t>
            </a:r>
            <a:pPr indent="0" marL="0">
              <a:lnSpc>
                <a:spcPct val="118000"/>
              </a:lnSpc>
              <a:buNone/>
            </a:pPr>
            <a:r>
              <a:rPr lang="en-US" sz="2200" dirty="0">
                <a:solidFill>
                  <a:srgbClr val="1E2B2A"/>
                </a:solidFill>
              </a:rPr>
              <a:t>Formal organizations such as multinational corporations </a:t>
            </a:r>
            <a:pPr indent="0" marL="0">
              <a:lnSpc>
                <a:spcPct val="118000"/>
              </a:lnSpc>
              <a:buNone/>
            </a:pPr>
            <a:r>
              <a:rPr lang="en-US" sz="2200" b="1" dirty="0">
                <a:solidFill>
                  <a:srgbClr val="14453D"/>
                </a:solidFill>
                <a:highlight>
                  <a:srgbClr val="A9DDF3"/>
                </a:highlight>
              </a:rPr>
              <a:t>train workers to perform their jobs</a:t>
            </a:r>
            <a:pPr indent="0" marL="0">
              <a:lnSpc>
                <a:spcPct val="118000"/>
              </a:lnSpc>
              <a:buNone/>
            </a:pPr>
            <a:r>
              <a:rPr lang="en-US" sz="2200" dirty="0">
                <a:solidFill>
                  <a:srgbClr val="1E2B2A"/>
                </a:solidFill>
              </a:rPr>
              <a:t> in a certain way and reward them for good </a:t>
            </a:r>
            <a:pPr indent="0" marL="0">
              <a:lnSpc>
                <a:spcPct val="118000"/>
              </a:lnSpc>
              <a:buNone/>
            </a:pPr>
            <a:r>
              <a:rPr lang="en-US" sz="2200" b="1" u="sng" dirty="0">
                <a:solidFill>
                  <a:srgbClr val="1E2B2A"/>
                </a:solidFill>
              </a:rPr>
              <a:t>①performance</a:t>
            </a:r>
            <a:pPr indent="0" marL="0">
              <a:lnSpc>
                <a:spcPct val="118000"/>
              </a:lnSpc>
              <a:buNone/>
            </a:pPr>
            <a:r>
              <a:rPr lang="en-US" sz="2200" dirty="0">
                <a:solidFill>
                  <a:srgbClr val="1E2B2A"/>
                </a:solidFill>
              </a:rPr>
              <a:t>.</a:t>
            </a:r>
            <a:pPr indent="0" marL="0">
              <a:lnSpc>
                <a:spcPct val="118000"/>
              </a:lnSpc>
              <a:buNone/>
            </a:pPr>
            <a:r>
              <a:rPr lang="en-US" sz="2200" dirty="0">
                <a:solidFill>
                  <a:srgbClr val="000000"/>
                </a:solidFill>
              </a:rPr>
              <a:t> </a:t>
            </a:r>
            <a:pPr indent="0" marL="0">
              <a:lnSpc>
                <a:spcPct val="118000"/>
              </a:lnSpc>
              <a:buNone/>
            </a:pPr>
            <a:r>
              <a:rPr lang="en-US" sz="1800" b="1" dirty="0">
                <a:solidFill>
                  <a:srgbClr val="1F7A64"/>
                </a:solidFill>
              </a:rPr>
              <a:t>(2) </a:t>
            </a:r>
            <a:pPr indent="0" marL="0">
              <a:lnSpc>
                <a:spcPct val="118000"/>
              </a:lnSpc>
              <a:buNone/>
            </a:pPr>
            <a:r>
              <a:rPr lang="en-US" sz="2200" dirty="0">
                <a:solidFill>
                  <a:srgbClr val="1E2B2A"/>
                </a:solidFill>
              </a:rPr>
              <a:t>When workers are trained to respond </a:t>
            </a:r>
            <a:pPr indent="0" marL="0">
              <a:lnSpc>
                <a:spcPct val="118000"/>
              </a:lnSpc>
              <a:buNone/>
            </a:pPr>
            <a:r>
              <a:rPr lang="en-US" sz="2200" b="1" u="sng" dirty="0">
                <a:solidFill>
                  <a:srgbClr val="1E2B2A"/>
                </a:solidFill>
              </a:rPr>
              <a:t>②mindlessly</a:t>
            </a:r>
            <a:pPr indent="0" marL="0">
              <a:lnSpc>
                <a:spcPct val="118000"/>
              </a:lnSpc>
              <a:buNone/>
            </a:pPr>
            <a:r>
              <a:rPr lang="en-US" sz="2200" dirty="0">
                <a:solidFill>
                  <a:srgbClr val="1E2B2A"/>
                </a:solidFill>
              </a:rPr>
              <a:t> to the dictates of the job, however, </a:t>
            </a:r>
            <a:pPr indent="0" marL="0">
              <a:lnSpc>
                <a:spcPct val="118000"/>
              </a:lnSpc>
              <a:buNone/>
            </a:pPr>
            <a:r>
              <a:rPr lang="en-US" sz="2200" b="1" dirty="0">
                <a:solidFill>
                  <a:srgbClr val="14453D"/>
                </a:solidFill>
                <a:highlight>
                  <a:srgbClr val="A9DDF3"/>
                </a:highlight>
              </a:rPr>
              <a:t>they risk developing trained incapacity</a:t>
            </a:r>
            <a:pPr indent="0" marL="0">
              <a:lnSpc>
                <a:spcPct val="118000"/>
              </a:lnSpc>
              <a:buNone/>
            </a:pPr>
            <a:r>
              <a:rPr lang="en-US" sz="2200" dirty="0">
                <a:solidFill>
                  <a:srgbClr val="1E2B2A"/>
                </a:solidFill>
              </a:rPr>
              <a:t>—the inability to respond to new or unusual circumstances or to recognize when official rules or procedures do not apply or may be doing harm.</a:t>
            </a:r>
            <a:pPr indent="0" marL="0">
              <a:lnSpc>
                <a:spcPct val="118000"/>
              </a:lnSpc>
              <a:buNone/>
            </a:pPr>
            <a:r>
              <a:rPr lang="en-US" sz="2200" dirty="0">
                <a:solidFill>
                  <a:srgbClr val="000000"/>
                </a:solidFill>
              </a:rPr>
              <a:t> </a:t>
            </a:r>
            <a:pPr indent="0" marL="0">
              <a:lnSpc>
                <a:spcPct val="118000"/>
              </a:lnSpc>
              <a:buNone/>
            </a:pPr>
            <a:r>
              <a:rPr lang="en-US" sz="1800" b="1" dirty="0">
                <a:solidFill>
                  <a:srgbClr val="1F7A64"/>
                </a:solidFill>
              </a:rPr>
              <a:t>(3) </a:t>
            </a:r>
            <a:pPr indent="0" marL="0">
              <a:lnSpc>
                <a:spcPct val="118000"/>
              </a:lnSpc>
              <a:buNone/>
            </a:pPr>
            <a:r>
              <a:rPr lang="en-US" sz="2200" dirty="0">
                <a:solidFill>
                  <a:srgbClr val="1E2B2A"/>
                </a:solidFill>
              </a:rPr>
              <a:t>In other words, workers are trained to do their jobs in an efficient way to meet organizational goals while </a:t>
            </a:r>
            <a:pPr indent="0" marL="0">
              <a:lnSpc>
                <a:spcPct val="118000"/>
              </a:lnSpc>
              <a:buNone/>
            </a:pPr>
            <a:r>
              <a:rPr lang="en-US" sz="2200" b="1" u="sng" dirty="0">
                <a:solidFill>
                  <a:srgbClr val="1E2B2A"/>
                </a:solidFill>
              </a:rPr>
              <a:t>③ignoring</a:t>
            </a:r>
            <a:pPr indent="0" marL="0">
              <a:lnSpc>
                <a:spcPct val="118000"/>
              </a:lnSpc>
              <a:buNone/>
            </a:pPr>
            <a:r>
              <a:rPr lang="en-US" sz="2200" dirty="0">
                <a:solidFill>
                  <a:srgbClr val="1E2B2A"/>
                </a:solidFill>
              </a:rPr>
              <a:t> other important matters related to their health, the community, and the environment.</a:t>
            </a:r>
            <a:pPr indent="0" marL="0">
              <a:lnSpc>
                <a:spcPct val="118000"/>
              </a:lnSpc>
              <a:buNone/>
            </a:pPr>
            <a:r>
              <a:rPr lang="en-US" sz="2200" dirty="0">
                <a:solidFill>
                  <a:srgbClr val="000000"/>
                </a:solidFill>
              </a:rPr>
              <a:t> </a:t>
            </a:r>
            <a:pPr indent="0" marL="0">
              <a:lnSpc>
                <a:spcPct val="118000"/>
              </a:lnSpc>
              <a:buNone/>
            </a:pPr>
            <a:r>
              <a:rPr lang="en-US" sz="1800" b="1" dirty="0">
                <a:solidFill>
                  <a:srgbClr val="1F7A64"/>
                </a:solidFill>
              </a:rPr>
              <a:t>(4) </a:t>
            </a:r>
            <a:pPr indent="0" marL="0">
              <a:lnSpc>
                <a:spcPct val="118000"/>
              </a:lnSpc>
              <a:buNone/>
            </a:pPr>
            <a:r>
              <a:rPr lang="en-US" sz="2200" b="1" dirty="0">
                <a:solidFill>
                  <a:srgbClr val="14453D"/>
                </a:solidFill>
                <a:highlight>
                  <a:srgbClr val="A9DDF3"/>
                </a:highlight>
              </a:rPr>
              <a:t>At the root of trained incapacity is a job</a:t>
            </a:r>
            <a:pPr indent="0" marL="0">
              <a:lnSpc>
                <a:spcPct val="118000"/>
              </a:lnSpc>
              <a:buNone/>
            </a:pPr>
            <a:r>
              <a:rPr lang="en-US" sz="2200" dirty="0">
                <a:solidFill>
                  <a:srgbClr val="1E2B2A"/>
                </a:solidFill>
              </a:rPr>
              <a:t> with </a:t>
            </a:r>
            <a:pPr indent="0" marL="0">
              <a:lnSpc>
                <a:spcPct val="118000"/>
              </a:lnSpc>
              <a:buNone/>
            </a:pPr>
            <a:r>
              <a:rPr lang="en-US" sz="2200" b="1" dirty="0">
                <a:solidFill>
                  <a:srgbClr val="1E2B2A"/>
                </a:solidFill>
                <a:highlight>
                  <a:srgbClr val="FFD45C"/>
                </a:highlight>
              </a:rPr>
              <a:t>little variety</a:t>
            </a:r>
            <a:pPr indent="0" marL="0">
              <a:lnSpc>
                <a:spcPct val="118000"/>
              </a:lnSpc>
              <a:buNone/>
            </a:pPr>
            <a:r>
              <a:rPr lang="en-US" sz="2200" dirty="0">
                <a:solidFill>
                  <a:srgbClr val="1E2B2A"/>
                </a:solidFill>
              </a:rPr>
              <a:t> and </a:t>
            </a:r>
            <a:pPr indent="0" marL="0">
              <a:lnSpc>
                <a:spcPct val="118000"/>
              </a:lnSpc>
              <a:buNone/>
            </a:pPr>
            <a:r>
              <a:rPr lang="en-US" sz="2200" b="1" u="sng" dirty="0">
                <a:solidFill>
                  <a:srgbClr val="1E2B2A"/>
                </a:solidFill>
              </a:rPr>
              <a:t>④repetitive</a:t>
            </a:r>
            <a:pPr indent="0" marL="0">
              <a:lnSpc>
                <a:spcPct val="118000"/>
              </a:lnSpc>
              <a:buNone/>
            </a:pPr>
            <a:r>
              <a:rPr lang="en-US" sz="2200" dirty="0">
                <a:solidFill>
                  <a:srgbClr val="1E2B2A"/>
                </a:solidFill>
              </a:rPr>
              <a:t> tasks.</a:t>
            </a:r>
            <a:pPr indent="0" marL="0">
              <a:lnSpc>
                <a:spcPct val="118000"/>
              </a:lnSpc>
              <a:buNone/>
            </a:pPr>
            <a:r>
              <a:rPr lang="en-US" sz="2200" dirty="0">
                <a:solidFill>
                  <a:srgbClr val="000000"/>
                </a:solidFill>
              </a:rPr>
              <a:t> </a:t>
            </a:r>
            <a:pPr indent="0" marL="0">
              <a:lnSpc>
                <a:spcPct val="118000"/>
              </a:lnSpc>
              <a:buNone/>
            </a:pPr>
            <a:r>
              <a:rPr lang="en-US" sz="1800" b="1" dirty="0">
                <a:solidFill>
                  <a:srgbClr val="1F7A64"/>
                </a:solidFill>
              </a:rPr>
              <a:t>(5) </a:t>
            </a:r>
            <a:pPr indent="0" marL="0">
              <a:lnSpc>
                <a:spcPct val="118000"/>
              </a:lnSpc>
              <a:buNone/>
            </a:pPr>
            <a:r>
              <a:rPr lang="en-US" sz="2200" dirty="0">
                <a:solidFill>
                  <a:srgbClr val="1E2B2A"/>
                </a:solidFill>
              </a:rPr>
              <a:t>Economist Thorstein Veblen argues that as variety in work </a:t>
            </a:r>
            <a:pPr indent="0" marL="0">
              <a:lnSpc>
                <a:spcPct val="118000"/>
              </a:lnSpc>
              <a:buNone/>
            </a:pPr>
            <a:r>
              <a:rPr lang="en-US" sz="2200" b="1" u="sng" dirty="0">
                <a:solidFill>
                  <a:srgbClr val="1E2B2A"/>
                </a:solidFill>
                <a:highlight>
                  <a:srgbClr val="FFD45C"/>
                </a:highlight>
              </a:rPr>
              <a:t>⑤increases</a:t>
            </a:r>
            <a:pPr indent="0" marL="0">
              <a:lnSpc>
                <a:spcPct val="118000"/>
              </a:lnSpc>
              <a:buNone/>
            </a:pPr>
            <a:r>
              <a:rPr lang="en-US" sz="2200" dirty="0">
                <a:solidFill>
                  <a:srgbClr val="1E2B2A"/>
                </a:solidFill>
              </a:rPr>
              <a:t>, </a:t>
            </a:r>
            <a:pPr indent="0" marL="0">
              <a:lnSpc>
                <a:spcPct val="118000"/>
              </a:lnSpc>
              <a:buNone/>
            </a:pPr>
            <a:r>
              <a:rPr lang="en-US" sz="2200" b="1" dirty="0">
                <a:solidFill>
                  <a:srgbClr val="14453D"/>
                </a:solidFill>
                <a:highlight>
                  <a:srgbClr val="A9DDF3"/>
                </a:highlight>
              </a:rPr>
              <a:t>the amount of thought and time needed to perform a job </a:t>
            </a:r>
            <a:pPr indent="0" marL="0">
              <a:lnSpc>
                <a:spcPct val="118000"/>
              </a:lnSpc>
              <a:buNone/>
            </a:pPr>
            <a:r>
              <a:rPr lang="en-US" sz="2200" b="1" u="sng" dirty="0">
                <a:solidFill>
                  <a:srgbClr val="1E2B2A"/>
                </a:solidFill>
                <a:highlight>
                  <a:srgbClr val="FFD45C"/>
                </a:highlight>
                <a:uFill>
                  <a:solidFill>
                    <a:srgbClr val="2C7DA0"/>
                  </a:solidFill>
                </a:uFill>
              </a:rPr>
              <a:t>also decreases</a:t>
            </a:r>
            <a:pPr indent="0" marL="0">
              <a:lnSpc>
                <a:spcPct val="118000"/>
              </a:lnSpc>
              <a:buNone/>
            </a:pPr>
            <a:r>
              <a:rPr lang="en-US" sz="2200" dirty="0">
                <a:solidFill>
                  <a:srgbClr val="1E2B2A"/>
                </a:solidFill>
              </a:rPr>
              <a:t>.</a:t>
            </a:r>
            <a:endParaRPr lang="en-US" sz="1800" dirty="0"/>
          </a:p>
        </p:txBody>
      </p:sp>
      <p:sp>
        <p:nvSpPr>
          <p:cNvPr id="17" name="Text 15"/>
          <p:cNvSpPr txBox="1"/>
          <p:nvPr/>
        </p:nvSpPr>
        <p:spPr>
          <a:xfrm>
            <a:off x="10332720" y="4946904"/>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⑤</a:t>
            </a:r>
            <a:endParaRPr lang="en-US" sz="1300" dirty="0"/>
          </a:p>
        </p:txBody>
      </p:sp>
      <p:sp>
        <p:nvSpPr>
          <p:cNvPr id="19"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정해진 방식으로 훈련하고 좋은 성과에 보상</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 → 훈련된 무능, 다른 문제 무시</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(little variety)</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다양성이 '감소'할수록 생각·시간도 감소 → ⑤ increases ✘</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어휘 문제: 반의어로 바꿔 넣어 보기</a:t>
            </a:r>
            <a:endParaRPr lang="en-US" sz="1500" dirty="0"/>
          </a:p>
          <a:p>
            <a:pPr marL="342900" indent="-342900">
              <a:spcAft>
                <a:spcPts val="600"/>
              </a:spcAft>
              <a:buSzPct val="100000"/>
              <a:buChar char="✔"/>
            </a:pPr>
            <a:r>
              <a:rPr lang="en-US" sz="1500" dirty="0">
                <a:solidFill>
                  <a:srgbClr val="1E2B2A"/>
                </a:solidFill>
              </a:rPr>
              <a:t>as A ~, B ~: ~할수록 (비례)</a:t>
            </a:r>
            <a:endParaRPr lang="en-US" sz="1500" dirty="0"/>
          </a:p>
          <a:p>
            <a:pPr marL="342900" indent="-342900">
              <a:spcAft>
                <a:spcPts val="600"/>
              </a:spcAft>
              <a:buSzPct val="100000"/>
              <a:buChar char="✔"/>
            </a:pPr>
            <a:r>
              <a:rPr lang="en-US" sz="1500" dirty="0">
                <a:solidFill>
                  <a:srgbClr val="1E2B2A"/>
                </a:solidFill>
              </a:rPr>
              <a:t>Ex 100과 같은 지문: 요약문 → 어휘로 변형</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decrease  </a:t>
            </a:r>
            <a:pPr indent="0" marL="0">
              <a:spcAft>
                <a:spcPts val="500"/>
              </a:spcAft>
              <a:buNone/>
            </a:pPr>
            <a:r>
              <a:rPr lang="en-US" sz="1300" dirty="0">
                <a:solidFill>
                  <a:srgbClr val="1E2B2A"/>
                </a:solidFill>
              </a:rPr>
              <a:t>≒ decline, drop ↔ increase</a:t>
            </a:r>
            <a:endParaRPr lang="en-US" sz="1300" dirty="0"/>
          </a:p>
          <a:p>
            <a:pPr indent="0" marL="0">
              <a:spcAft>
                <a:spcPts val="500"/>
              </a:spcAft>
              <a:buNone/>
            </a:pPr>
            <a:r>
              <a:rPr lang="en-US" sz="1300" b="1" dirty="0">
                <a:solidFill>
                  <a:srgbClr val="1F7A64"/>
                </a:solidFill>
              </a:rPr>
              <a:t>procedure  </a:t>
            </a:r>
            <a:pPr indent="0" marL="0">
              <a:spcAft>
                <a:spcPts val="500"/>
              </a:spcAft>
              <a:buNone/>
            </a:pPr>
            <a:r>
              <a:rPr lang="en-US" sz="1300" dirty="0">
                <a:solidFill>
                  <a:srgbClr val="1E2B2A"/>
                </a:solidFill>
              </a:rPr>
              <a:t>≒ process, method ⊕ proceed</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A. Vocabulary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A. Vocabulary Check  </a:t>
            </a:r>
            <a:pPr indent="0" marL="0">
              <a:buNone/>
            </a:pP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Instead, the child acquires the </a:t>
            </a:r>
            <a:pPr indent="0" marL="0">
              <a:buNone/>
            </a:pPr>
            <a:r>
              <a:rPr lang="en-US" sz="1700" b="1" dirty="0">
                <a:solidFill>
                  <a:srgbClr val="EF5B3F"/>
                </a:solidFill>
              </a:rPr>
              <a:t>[advantage / heritage]</a:t>
            </a:r>
            <a:pPr indent="0" marL="0">
              <a:buNone/>
            </a:pPr>
            <a:r>
              <a:rPr lang="en-US" sz="1700" dirty="0">
                <a:solidFill>
                  <a:srgbClr val="1E2B2A"/>
                </a:solidFill>
              </a:rPr>
              <a:t> of his culture by observing and imitating adults in such activities as rituals, hunts, festivals, cultivation, and harvesting.  (대수능)</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heritage</a:t>
            </a:r>
            <a:endParaRPr lang="en-US" sz="1700" dirty="0"/>
          </a:p>
        </p:txBody>
      </p:sp>
      <p:sp>
        <p:nvSpPr>
          <p:cNvPr id="9" name="Shape 7"/>
          <p:cNvSpPr/>
          <p:nvPr/>
        </p:nvSpPr>
        <p:spPr>
          <a:xfrm>
            <a:off x="548640" y="2624328"/>
            <a:ext cx="11064240" cy="932688"/>
          </a:xfrm>
          <a:prstGeom prst="roundRect">
            <a:avLst>
              <a:gd name="adj" fmla="val 7843"/>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A more efficient alternative is to target the hubs of the network, namely, those people at the </a:t>
            </a:r>
            <a:pPr indent="0" marL="0">
              <a:buNone/>
            </a:pPr>
            <a:r>
              <a:rPr lang="en-US" sz="1700" b="1" dirty="0">
                <a:solidFill>
                  <a:srgbClr val="EF5B3F"/>
                </a:solidFill>
              </a:rPr>
              <a:t>[center / border]</a:t>
            </a:r>
            <a:pPr indent="0" marL="0">
              <a:buNone/>
            </a:pPr>
            <a:r>
              <a:rPr lang="en-US" sz="1700" dirty="0">
                <a:solidFill>
                  <a:srgbClr val="1E2B2A"/>
                </a:solidFill>
              </a:rPr>
              <a:t> of the network or those with the most contacts.  (학평)</a:t>
            </a:r>
            <a:endParaRPr lang="en-US" sz="1700" dirty="0"/>
          </a:p>
        </p:txBody>
      </p:sp>
      <p:sp>
        <p:nvSpPr>
          <p:cNvPr id="12" name="ANIM_x1"/>
          <p:cNvSpPr txBox="1"/>
          <p:nvPr/>
        </p:nvSpPr>
        <p:spPr>
          <a:xfrm>
            <a:off x="9052560" y="2697480"/>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center</a:t>
            </a:r>
            <a:endParaRPr lang="en-US" sz="1700" dirty="0"/>
          </a:p>
        </p:txBody>
      </p:sp>
      <p:sp>
        <p:nvSpPr>
          <p:cNvPr id="13" name="Shape 11"/>
          <p:cNvSpPr/>
          <p:nvPr/>
        </p:nvSpPr>
        <p:spPr>
          <a:xfrm>
            <a:off x="548640" y="3648456"/>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73989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685032"/>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Journeys are the midwives of thought. Few places are better for </a:t>
            </a:r>
            <a:pPr indent="0" marL="0">
              <a:buNone/>
            </a:pPr>
            <a:r>
              <a:rPr lang="en-US" sz="1700" b="1" dirty="0">
                <a:solidFill>
                  <a:srgbClr val="EF5B3F"/>
                </a:solidFill>
              </a:rPr>
              <a:t>[internal / external]</a:t>
            </a:r>
            <a:pPr indent="0" marL="0">
              <a:buNone/>
            </a:pPr>
            <a:r>
              <a:rPr lang="en-US" sz="1700" dirty="0">
                <a:solidFill>
                  <a:srgbClr val="1E2B2A"/>
                </a:solidFill>
              </a:rPr>
              <a:t> conversations than a moving plane, ship, or train.  (대수능)</a:t>
            </a:r>
            <a:endParaRPr lang="en-US" sz="1700" dirty="0"/>
          </a:p>
        </p:txBody>
      </p:sp>
      <p:sp>
        <p:nvSpPr>
          <p:cNvPr id="16" name="ANIM_x2"/>
          <p:cNvSpPr txBox="1"/>
          <p:nvPr/>
        </p:nvSpPr>
        <p:spPr>
          <a:xfrm>
            <a:off x="9052560" y="3721608"/>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internal</a:t>
            </a:r>
            <a:endParaRPr lang="en-US" sz="1700" dirty="0"/>
          </a:p>
        </p:txBody>
      </p:sp>
      <p:sp>
        <p:nvSpPr>
          <p:cNvPr id="17" name="Shape 15"/>
          <p:cNvSpPr/>
          <p:nvPr/>
        </p:nvSpPr>
        <p:spPr>
          <a:xfrm>
            <a:off x="548640" y="4471416"/>
            <a:ext cx="11064240" cy="932688"/>
          </a:xfrm>
          <a:prstGeom prst="roundRect">
            <a:avLst>
              <a:gd name="adj" fmla="val 7843"/>
            </a:avLst>
          </a:prstGeom>
          <a:solidFill>
            <a:srgbClr val="FFFFFF"/>
          </a:solidFill>
          <a:ln w="12700">
            <a:solidFill>
              <a:srgbClr val="E6F2ED"/>
            </a:solidFill>
            <a:prstDash val="solid"/>
          </a:ln>
        </p:spPr>
      </p:sp>
      <p:sp>
        <p:nvSpPr>
          <p:cNvPr id="18" name="Text 16"/>
          <p:cNvSpPr/>
          <p:nvPr/>
        </p:nvSpPr>
        <p:spPr>
          <a:xfrm>
            <a:off x="658368" y="456285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507992"/>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 every history on the subject, the evidence suggests that early human populations preferred the fat and </a:t>
            </a:r>
            <a:pPr indent="0" marL="0">
              <a:buNone/>
            </a:pPr>
            <a:r>
              <a:rPr lang="en-US" sz="1700" b="1" dirty="0">
                <a:solidFill>
                  <a:srgbClr val="EF5B3F"/>
                </a:solidFill>
              </a:rPr>
              <a:t>[organ / organism]</a:t>
            </a:r>
            <a:pPr indent="0" marL="0">
              <a:buNone/>
            </a:pPr>
            <a:r>
              <a:rPr lang="en-US" sz="1700" dirty="0">
                <a:solidFill>
                  <a:srgbClr val="1E2B2A"/>
                </a:solidFill>
              </a:rPr>
              <a:t> meat of the animal over its muscle meat.  (학평)</a:t>
            </a:r>
            <a:endParaRPr lang="en-US" sz="1700" dirty="0"/>
          </a:p>
        </p:txBody>
      </p:sp>
      <p:sp>
        <p:nvSpPr>
          <p:cNvPr id="20" name="ANIM_x3"/>
          <p:cNvSpPr txBox="1"/>
          <p:nvPr/>
        </p:nvSpPr>
        <p:spPr>
          <a:xfrm>
            <a:off x="9052560" y="4544568"/>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organ</a:t>
            </a:r>
            <a:endParaRPr lang="en-US" sz="1700" dirty="0"/>
          </a:p>
        </p:txBody>
      </p:sp>
      <p:sp>
        <p:nvSpPr>
          <p:cNvPr id="21" name="Shape 19"/>
          <p:cNvSpPr/>
          <p:nvPr/>
        </p:nvSpPr>
        <p:spPr>
          <a:xfrm>
            <a:off x="548640" y="5495544"/>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5586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5532120"/>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efficiency is a great virtue, it is not the only economic goal of interest to the society. Economic fairness is also </a:t>
            </a:r>
            <a:pPr indent="0" marL="0">
              <a:buNone/>
            </a:pPr>
            <a:r>
              <a:rPr lang="en-US" sz="1700" b="1" dirty="0">
                <a:solidFill>
                  <a:srgbClr val="EF5B3F"/>
                </a:solidFill>
              </a:rPr>
              <a:t>[trivial / crucial]</a:t>
            </a:r>
            <a:pPr indent="0" marL="0">
              <a:buNone/>
            </a:pPr>
            <a:r>
              <a:rPr lang="en-US" sz="1700" dirty="0">
                <a:solidFill>
                  <a:srgbClr val="1E2B2A"/>
                </a:solidFill>
              </a:rPr>
              <a:t>.  (학평)</a:t>
            </a:r>
            <a:endParaRPr lang="en-US" sz="1700" dirty="0"/>
          </a:p>
        </p:txBody>
      </p:sp>
      <p:sp>
        <p:nvSpPr>
          <p:cNvPr id="24" name="ANIM_x4"/>
          <p:cNvSpPr txBox="1"/>
          <p:nvPr/>
        </p:nvSpPr>
        <p:spPr>
          <a:xfrm>
            <a:off x="9052560" y="5568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crucial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B. Grammar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B. Grammar Check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Saffron is also found on the foreheads of Indian women </a:t>
            </a:r>
            <a:pPr indent="0" marL="0">
              <a:buNone/>
            </a:pPr>
            <a:r>
              <a:rPr lang="en-US" sz="1700" b="1" dirty="0">
                <a:solidFill>
                  <a:srgbClr val="EF5B3F"/>
                </a:solidFill>
              </a:rPr>
              <a:t>[symbolized / symbolizing]</a:t>
            </a:r>
            <a:pPr indent="0" marL="0">
              <a:buNone/>
            </a:pPr>
            <a:r>
              <a:rPr lang="en-US" sz="1700" dirty="0">
                <a:solidFill>
                  <a:srgbClr val="1E2B2A"/>
                </a:solidFill>
              </a:rPr>
              <a:t> their social class.  (학평)</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symbolizing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Despite all your efforts to mask emotions, they will come out in some form and people have an innate ability to </a:t>
            </a:r>
            <a:pPr indent="0" marL="0">
              <a:buNone/>
            </a:pPr>
            <a:r>
              <a:rPr lang="en-US" sz="1700" b="1" dirty="0">
                <a:solidFill>
                  <a:srgbClr val="EF5B3F"/>
                </a:solidFill>
              </a:rPr>
              <a:t>[pick / picking]</a:t>
            </a:r>
            <a:pPr indent="0" marL="0">
              <a:buNone/>
            </a:pPr>
            <a:r>
              <a:rPr lang="en-US" sz="1700" dirty="0">
                <a:solidFill>
                  <a:srgbClr val="1E2B2A"/>
                </a:solidFill>
              </a:rPr>
              <a:t> up on this.  (학평)</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pick</a:t>
            </a:r>
            <a:endParaRPr lang="en-US" sz="1700" dirty="0"/>
          </a:p>
        </p:txBody>
      </p:sp>
      <p:sp>
        <p:nvSpPr>
          <p:cNvPr id="13" name="Shape 11"/>
          <p:cNvSpPr/>
          <p:nvPr/>
        </p:nvSpPr>
        <p:spPr>
          <a:xfrm>
            <a:off x="548640" y="3246120"/>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37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282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When people try to control situations that are essentially uncontrollable, they are inclined to </a:t>
            </a:r>
            <a:pPr indent="0" marL="0">
              <a:buNone/>
            </a:pPr>
            <a:r>
              <a:rPr lang="en-US" sz="1700" b="1" dirty="0">
                <a:solidFill>
                  <a:srgbClr val="EF5B3F"/>
                </a:solidFill>
              </a:rPr>
              <a:t>[experience / experiencing]</a:t>
            </a:r>
            <a:pPr indent="0" marL="0">
              <a:buNone/>
            </a:pPr>
            <a:r>
              <a:rPr lang="en-US" sz="1700" dirty="0">
                <a:solidFill>
                  <a:srgbClr val="1E2B2A"/>
                </a:solidFill>
              </a:rPr>
              <a:t> high levels of stress.  (모평)</a:t>
            </a:r>
            <a:endParaRPr lang="en-US" sz="1700" dirty="0"/>
          </a:p>
        </p:txBody>
      </p:sp>
      <p:sp>
        <p:nvSpPr>
          <p:cNvPr id="16" name="ANIM_x2"/>
          <p:cNvSpPr txBox="1"/>
          <p:nvPr/>
        </p:nvSpPr>
        <p:spPr>
          <a:xfrm>
            <a:off x="9052560" y="3319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experience</a:t>
            </a:r>
            <a:endParaRPr lang="en-US" sz="1700" dirty="0"/>
          </a:p>
        </p:txBody>
      </p:sp>
      <p:sp>
        <p:nvSpPr>
          <p:cNvPr id="17" name="Shape 15"/>
          <p:cNvSpPr/>
          <p:nvPr/>
        </p:nvSpPr>
        <p:spPr>
          <a:xfrm>
            <a:off x="548640" y="4069080"/>
            <a:ext cx="11064240" cy="731520"/>
          </a:xfrm>
          <a:prstGeom prst="roundRect">
            <a:avLst>
              <a:gd name="adj" fmla="val 10000"/>
            </a:avLst>
          </a:prstGeom>
          <a:solidFill>
            <a:srgbClr val="FFFFFF"/>
          </a:solidFill>
          <a:ln w="12700">
            <a:solidFill>
              <a:srgbClr val="E6F2ED"/>
            </a:solidFill>
            <a:prstDash val="solid"/>
          </a:ln>
        </p:spPr>
      </p:sp>
      <p:sp>
        <p:nvSpPr>
          <p:cNvPr id="18" name="Text 16"/>
          <p:cNvSpPr/>
          <p:nvPr/>
        </p:nvSpPr>
        <p:spPr>
          <a:xfrm>
            <a:off x="658368" y="4160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10565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Webster’s New World Dictionary, for example, </a:t>
            </a:r>
            <a:pPr indent="0" marL="0">
              <a:buNone/>
            </a:pPr>
            <a:r>
              <a:rPr lang="en-US" sz="1700" b="1" dirty="0">
                <a:solidFill>
                  <a:srgbClr val="EF5B3F"/>
                </a:solidFill>
              </a:rPr>
              <a:t>[including / includes]</a:t>
            </a:r>
            <a:pPr indent="0" marL="0">
              <a:buNone/>
            </a:pPr>
            <a:r>
              <a:rPr lang="en-US" sz="1700" dirty="0">
                <a:solidFill>
                  <a:srgbClr val="1E2B2A"/>
                </a:solidFill>
              </a:rPr>
              <a:t> Audrey Hepburn but leaves out Spencer Tracy.  (학평)</a:t>
            </a:r>
            <a:endParaRPr lang="en-US" sz="1700" dirty="0"/>
          </a:p>
        </p:txBody>
      </p:sp>
      <p:sp>
        <p:nvSpPr>
          <p:cNvPr id="20" name="ANIM_x3"/>
          <p:cNvSpPr txBox="1"/>
          <p:nvPr/>
        </p:nvSpPr>
        <p:spPr>
          <a:xfrm>
            <a:off x="9052560" y="414223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includes</a:t>
            </a:r>
            <a:endParaRPr lang="en-US" sz="1700" dirty="0"/>
          </a:p>
        </p:txBody>
      </p:sp>
      <p:sp>
        <p:nvSpPr>
          <p:cNvPr id="21" name="Shape 19"/>
          <p:cNvSpPr/>
          <p:nvPr/>
        </p:nvSpPr>
        <p:spPr>
          <a:xfrm>
            <a:off x="548640" y="4892040"/>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498348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492861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In the end, the busy typist could well produce ten times as </a:t>
            </a:r>
            <a:pPr indent="0" marL="0">
              <a:buNone/>
            </a:pPr>
            <a:r>
              <a:rPr lang="en-US" sz="1700" b="1" dirty="0">
                <a:solidFill>
                  <a:srgbClr val="EF5B3F"/>
                </a:solidFill>
              </a:rPr>
              <a:t>[many / more]</a:t>
            </a:r>
            <a:pPr indent="0" marL="0">
              <a:buNone/>
            </a:pPr>
            <a:r>
              <a:rPr lang="en-US" sz="1700" dirty="0">
                <a:solidFill>
                  <a:srgbClr val="1E2B2A"/>
                </a:solidFill>
              </a:rPr>
              <a:t> lines of code as the thinker.  (학평)</a:t>
            </a:r>
            <a:endParaRPr lang="en-US" sz="1700" dirty="0"/>
          </a:p>
        </p:txBody>
      </p:sp>
      <p:sp>
        <p:nvSpPr>
          <p:cNvPr id="24" name="ANIM_x4"/>
          <p:cNvSpPr txBox="1"/>
          <p:nvPr/>
        </p:nvSpPr>
        <p:spPr>
          <a:xfrm>
            <a:off x="9052560" y="496519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many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2026-10-13T20:26:56Z</dcterms:created>
  <dcterms:modified xsi:type="dcterms:W3CDTF">2026-10-13T20:26:56Z</dcterms:modified>
</cp:coreProperties>
</file>