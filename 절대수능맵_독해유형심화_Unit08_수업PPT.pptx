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fa4f0a8-7f11-69b3-9deb-bc0af9d6b426}">
          <p14:sldIdLst>
            <p14:sldId id="256"/>
            <p14:sldId id="257"/>
            <p14:sldId id="258"/>
          </p14:sldIdLst>
        </p14:section>
        <p14:section name="풀이 공식" id="{95f0cef1-4efb-abb5-739c-6875ee400217}">
          <p14:sldIdLst>
            <p14:sldId id="259"/>
            <p14:sldId id="260"/>
            <p14:sldId id="261"/>
          </p14:sldIdLst>
        </p14:section>
        <p14:section name="Part 1 · Ex 92–98" id="{e017b931-d4ff-abe5-c7e6-4486ff66956e}">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Part 2 · Ex 99–104" id="{d5060d96-736c-b018-9751-bad11f0d4e2c}">
          <p14:sldIdLst>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Lst>
        </p14:section>
        <p14:section name="정리" id="{56b9dfac-490d-f719-6719-757ccae099d0}">
          <p14:sldIdLst>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&amp; 문법 포인트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짝으로 확인해요. 한 칸만 맞는 반쪽 정답이 꼭 두세 개 있어요."
【강조】 오늘 문제 대부분에서 '반쪽 정답'이 함정이라고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생활 방식을 어떻게? / (B) 전통은 무엇에 필수적?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4, 5번)에서 멈춰 "여기가 정답 근거!"라고 강조하세요. 파란 굵은 글씨는 문법·내신 포인트로, 다음 슬라이드에서 정리합니다.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 선생님 참고용 (★ = 정답 근거)】
(1) ★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 몽골인들은 또한 승마를 숙달하는 법을 배우는 전통을 이어 가는데, 승마는 가축 떼를 지키고 관리하는 데 필수적인 기술이다.
(5) ★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주격 관계대명사 수일치: 선행사 a way of life(단수) → goes
• just as + 대동사: ~했던 것처럼: did = obtained their staple foods
• 계속적 which · to부정사: which = horse riding / to guard and manage: skill을 꾸미는 형용사적 용법
• regard A as B: A를 B로 여기다 — 삽입구 along with ~ 건너뛰기
• make O C (명사절): 목적격 보어 자리에 명사절 who they are: 그들을 그들답게 만들다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버리다 ✘ / 다양성 ✘ → 글은 '보존한다'
② 반쪽 정답: 유지하다 ✔ / 다양성 ✘ → 다양성 이야기 없음
③ 정답: 유지하다 = preserve·continue / 정체성 = who they are
④ 반쪽 정답: 개혁하다 ✘ / 정체성 ✔ → 전통을 바꾸지 않음
⑤ 반대: 개혁하다 ✘ / 복잡성 ✘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상황? / (B) 무엇을 예상하게 하는 선택지를 피하나?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 9번)에서 멈춰 "여기가 정답 근거!"라고 강조하세요. 파란 굵은 글씨는 문법·내신 포인트로, 다음 슬라이드에서 정리합니다.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 선생님 참고용 (★ = 정답 근거)】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 이 선택지를 들은 후, A 그룹 참가자의 61.9%가 도박을 택한 반면, B 그룹은 42.9%만이 도박을 택했다.
(6) 눈치챘겠지만, 두 그룹은 사실 동일한 결과로 이어지는 선택지를 받았다.
(7) ★ 그러나 선택지가 '잃다'와 '간직하다'라는 두 가지 다른 말로 표현되었기 때문에 참가자들은 다른 결정을 내렸다.
(8) (b) 이것을 '틀 효과'라고 부른다.
(9) ★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4형식 수동태 · 병렬: give O1 O2의 수동 were given $50 / were (given and) separated 병렬
• 완료 분사구문: After they had heard ~: 주절보다 먼저 일어난 일
• 주격 관계대명사: 선행사 options(복수) → led to (lead to: ~로 이어지다)
• 동명사 주어 · make O 원형: 동명사 주어(단수) + will yield / make people think: 사역동사 + 동사원형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이익 공유 ✘ / 거래 ✘ → 글에 없음
② 반대: 생명 위협 ✘ / 이익 ✘ → 이익이 아니라 손실을 피함
③ 반쪽 정답: 생명 위협 ✘ / 손실 ✔
④ 반쪽 정답: 의사 결정 ✔ / 이익 ✘ → 이익은 오히려 선호
⑤ 정답: 의사 결정 상황 / 손실(lose)을 예상 → 피함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행동이 욕구를 어떻게 하나? / (B) 무엇을 통해?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6, 7번)에서 멈춰 "여기가 정답 근거!"라고 강조하세요. 파란 굵은 글씨는 문법·내신 포인트로, 다음 슬라이드에서 정리합니다.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 선생님 참고용 (★ = 정답 근거)】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 Nicholas는 이러한 행동의 전이를 '사회적 전염'이라고 부른다.
(7) ★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접속사 + 분사구문: While (they were) studying ~
• 동격의 that: chance = that절 (~할 가능성) / yourself 강조 용법
• be(become) inclined to V: ~하고 싶어지다 (to부정사)
• 주어-동사 수일치: 주어 Many cases(복수) → happen (of ~ 수식어 건너뛰기)
• 준부정어 barely: 거의 ~않다 (not과 함께 쓰지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유발하다 = 따라 하게 만들다 / 접촉 = friends·networks
② 반쪽 정답: 반영하다 ✘ / 접촉 ✔
③ 반쪽 정답: 유발하다 ✔ / 구조 ✘ → 사회 구조 이야기 아님
④ 언급 없음: 승인하다 ✘ / 구조 ✘
⑤ 소재 함정: 승인하다 ✘ / 압력 ✘ → '사회적 압력' 연상 함정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노력? / (B) 개인 발전 말고 또 어떤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 5, 6번)에서 멈춰 "여기가 정답 근거!"라고 강조하세요. 파란 굵은 글씨는 문법·내신 포인트로, 다음 슬라이드에서 정리합니다.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 선생님 참고용 (★ = 정답 근거)】
(1) 자신과의 내적 대화 중에 자신이 무엇을 잘하고 무엇을 잘 못하는지 생각해 본 적이 있는가?
(2) ★ 이와 같은 내적 사고 과정은 자신의 강점과 약점에 대해 더 분명한 그림을 얻도록 돕는다.
(3) 그 과정에서, 당신은 목표 달성을 막고 있을지 모르는 맹점을 찾기 위해 스스로에게 일련의 질문을 던질 수 있다.
(4) ★ 이러한 성찰 과정은 잠재적인 문제들과 그것을 고칠 방법을 분명하게 보게 해 준다.
(5) ★ 그것은 개인의 발전에 필수적일 뿐만 아니라 기업의 성공에도 매우 중요하다.
(6) ★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 전치사 during: about의 목적어로 간접의문문 / 뒤에 명사구 → 전치사 during
• help O 원형: help + 목적어 + (to) 동사원형
• enable O to V · 부사: 동사 see를 꾸미므로 부사 clearly
• not only A but also B: 형용사 essential / critical 병렬
• It is ~ that 강조구문: this self-awareness를 강조. that 뒤 동사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창의적인 ✘ / 직업적인 ✘
② 언급 없음: 창의적인 ✘ / 예상치 못한 ✘
③ 언급 없음: 독립적인 ✘ / 즉각적인 ✘
④ 정답: 의식적인 = 스스로 묻는 성찰 / 집단적인 = corporate success
⑤ 반쪽 정답: 의식적인 ✔ / 적당한 ✘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냄새를 어떻게? / (B) 위험을 어떻게 하려고 방출?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5, 7번)에서 멈춰 "여기가 정답 근거!"라고 강조하세요. 파란 굵은 글씨는 문법·내신 포인트로, 다음 슬라이드에서 정리합니다.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 선생님 참고용 (★ = 정답 근거)】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 후자의 체계는 다양한 냄새에 담긴 숨은 메시지를 해석하는 데 중대한 역할을 한다.
(5) ★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계속적 which · consist of: which = a sophisticated sense of smell(단수) → consists (수동태 불가)
• 결과의 분사구문 · cause O to V: and it causes them to respond ~
• 전치사 including: ~을 포함하여 (주어 many marine animals ↔ 동사 release)
• 무생물 주어 · make O C: 실패가 ~을 먹이로 만들다 → ~하지 못하면 먹이가 된다
• whether 명사절 · 과거분사 후치: recognize의 목적어 / the odor (which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제거하다 ✘ / 물리치다 ✘
② 정답: 해석하다 = interpreting·decode / 신호를 보내다 = warn
③ 반쪽 정답: 해석하다 ✔ / 물리치다 ✘ → 위험을 '알리는' 것
④ 반쪽 정답: 분배하다 ✘ / 신호를 보내다 ✔
⑤ 소재 함정: 분배하다 ✘ / 도망치다 ✘ → '위험 = 도망' 연상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사고방식? / (B) 다양성이 팀워크를 어떻게?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6, 7, 8번)에서 멈춰 "여기가 정답 근거!"라고 강조하세요. 파란 굵은 글씨는 문법·내신 포인트로, 다음 슬라이드에서 정리합니다.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 선생님 참고용 (★ = 정답 근거)】
(1) 아시아인과 서양인에게 같은 것을 보여 주면, 그들은 아마 그것의 서로 다른 부분을 볼 것이다.
(2) ★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 이 결과는 아시아인들이 서양인들보다 정보를 인식할 때 전체 맥락을 고려할 가능성이 더 높다는 증거를 보여 준다.
(7) ★ 반면에, 서양인들은 정보 처리에서 더 독립적이고 분석적이어서, 종종 세부 사항을 알아차린다.
(8) ★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대명사 it: it = the same thing(단수) — 어법 출제
• attribute A to B: A를 B의 탓(결과)으로 보다
• 접속사 + 분사구문 · 간접의문: When (they were) asked / what they had observed (과거완료)
• be likely to V 비교: be more likely (than ~) to V: ~보다 …할 가능성이 더 높다
• 분사구문: and they often notice specifics → noticing (주어 Westerners)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피상적인 ✘ / 할당하다 ✘
② 반쪽 정답: 실용적인 ✘ / 향상시키다 ✔
③ 반쪽 정답: 뚜렷한 △ / 할당하다 ✘ → B칸이 틀림
④ 정답: 선호하는 = 문화에 따라 더 쓰는 방식 / 향상시키다 = invaluable source
⑤ 반대: 확장된 ✘ / 약화시키다 ✘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어느 위치? / (B) 어떤 평가?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4, 6번)에서 멈춰 "여기가 정답 근거!"라고 강조하세요. 파란 굵은 글씨는 문법·내신 포인트로, 다음 슬라이드에서 정리합니다.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 선생님 참고용 (★ = 정답 근거)】
(1) ★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목적격 관계대명사: have an impact on ~: impact가 has의 목적어로 앞으로 나감
• whether 명사절 주어: 명사절 주어는 단수 → affects
• 사역동사 have O 원형: 응답자들에게 평가하게 했다
• 대명사 one · 과거분사 후치: one = occupation / (which was) presented first
• 과거분사 후치 · 수동태: beverage (which was) tasted / was 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처음의 = presented first / 극단적인 = maximum or minimum
② 반대: 고정된 ✘ / 중간 정도의 ✘ → 극단과 반대
③ 소재 함정: 마지막 ✘ / 분명한 ✘ → last는 본문 단어일 뿐
④ 언급 없음: 무작위 ✘ / 불확실한 ✘
⑤ 반대: 가변적인 ✘ / 평균적인 ✘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과정의 무엇? / (B) 무엇보다 더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 5번)에서 멈춰 "여기가 정답 근거!"라고 강조하세요. 파란 굵은 글씨는 문법·내신 포인트로, 다음 슬라이드에서 정리합니다.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 선생님 참고용 (★ = 정답 근거)】
(1) 많은 사람들은 다이어트의 성공이 주로 결단력, 끈기, 자기 절제에 달려 있다고 생각한다.
(2) ★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 그들은 사람들이 자신의 다이어트 계획을 더 복잡하다고 생각할수록 그것을 더 빨리 그만두는 경향이 있다는 것을 발견했다.
(5) ★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depend on · 병렬: 명사 세 개 병렬 (A, B and C)
• the 비교급, the 비교급: ~할수록 더 …하다 (complicated는 was의 보어)
• 주격 관계대명사 · involve -ing: involve는 동명사를 목적어로
• lead O to V: 목적격 보어 to부정사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반쪽 정답: 단순성 ✔ / 필요성 ✘
② 정답: 단순성 = 복잡함의 반대 / 의지력 = determination·persistence
③ 언급 없음: 인기 ✘ / 필요성 ✘
④ 반쪽 정답: 일관성 ✘ / 의지력 ✔ → persistence(끈기)와 혼동
⑤ 언급 없음: 일관성 ✘ / 비용 ✘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어떤 일? / (B) 새 상황에 대처할 수 있나?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4번)에서 멈춰 "여기가 정답 근거!"라고 강조하세요. 파란 굵은 글씨는 문법·내신 포인트로, 다음 슬라이드에서 정리합니다.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 선생님 참고용 (★ = 정답 근거)】
(1) 다국적 기업 같은 공식 조직은 직원들이 일정한 방식으로 업무를 수행하도록 훈련하고 좋은 성과에 보상한다.
(2) ★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train O to V: 목적격 보어 to부정사
• risk -ing: risk는 동명사를 목적어로 (~할 위험이 있다)
• 접속사 + 분사구문: while (they are) ignoring ~
• 부사구 도치: 부사구 + 동사 is + 주어 a job (단수)
• 비례의 as: ~할수록 (as A decreases, B also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복잡한 ✘ / 두려워하는 ✘ → 단순 반복 업무가 원인
② 반쪽 정답: 반복적인 ✔ / 열망하는 ✘
③ 반대: 힘든 ✘ / 신속한 ✘ → 대처를 '못 함'
④ 정답: 단조로운 = little variety, repetitive / 할 수 없는 = incapacity
⑤ 반대: 전문적인 ✘ / 기꺼이 하는 ✘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(A) 누구를 더 돕나? / (B) 어떤 관점이 주어지면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7, 9번)에서 멈춰 "여기가 정답 근거!"라고 강조하세요. 파란 굵은 글씨는 문법·내신 포인트로, 다음 슬라이드에서 정리합니다.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 선생님 참고용 (★ = 정답 근거)】
(1) ★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 Slovic은 개인 Rokia에 대한 기부가 기아 위기를 통계적으로 묘사한 두 번째 선택에 대한 기부보다 훨씬 많았다고 보고했다.
(8) 그것은 특별히 놀랍지 않다.
(9) ★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긴 주어 · 수일치: 주어 people + who절(길다) → 본동사 become (복수)
• to부정사 형용사적 · 부사적: $5 to donate (기부할 5달러) / to lessen (줄이기 위해)
• 비교급 강조 far: far/much/even/still + 비교급 (very 불가)
• what 주어절 · 삽입: What절 주어 → is / 삽입절 some would say 건너뛰기
• 동명사 주어 · add A to B: 동명사 주어 adding ~ → 동사 reduced / A를 B에 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한 개인 = Rokia / 더 큰 = the larger hunger problem
② 반쪽 정답: 한 개인 ✔ / 더 단순한 ✘
③ 반쪽 정답: 대중 ✘ / 더 넓은 △ → 대중에겐 무관심
④ 반대: 대중 ✘ / 더 공정한 ✘
⑤ 언급 없음: 한 국가 ✘ / 더 분명한 ✘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50 − 30 = 20 → 두 선택지의 결과는?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 7번)에서 멈춰 "여기가 정답 근거!"라고 강조하세요. 파란 굵은 글씨는 문법·내신 포인트로, 다음 슬라이드에서 정리합니다.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 선생님 참고용 (★ = 정답 근거)】
(1) 2006년, Benedetto De Martino는 유명한 심리학 실험을 실시했다.
(2) 참가자들은 각각 50달러를 받고 A와 B 두 그룹으로 나뉘었다.
(3) ★ A 그룹은 두 가지 선택지를 받았다: "그 돈으로 도박을 하거나, 그중 30달러를 잃을 수 있다."
(4) ★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4형식 수동태 · 병렬: were given $50 / (were) separated 병렬
• 완료 분사구문: After they had heard ~
• 수동태 · 분사구문: were framed (표현되었다) + using ~ (~을 사용해서)
• call O C의 수동태: We call this the framing effect → This is called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소재 함정: 심각한 금전적 손실 → lose 연상 함정
② 정답: 동일한 결과 = 50−30 = 20, However로 '표현만 다름' 강조
③ 반대: 모든 도박 회피 → 실제로 도박을 많이 선택
④ 언급 없음: 의사 결정의 큰 부담 → 글에 없음
⑤ 언급 없음: 경제적 가치의 오해 → 글에 없음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This reflection process가 가리킬 '성찰 과정'은 어디서 처음 나오나?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파란 굵은 글씨는 문법·내신 포인트로, 다음 슬라이드에서 정리합니다.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 선생님 참고용 (★ = 정답 근거)】
(1) 자신과의 내적 대화 중에 자신이 무엇을 잘하고 무엇을 잘 못하는지 생각해 본 적이 있는가?
(2) 이와 같은 내적 사고 과정은 자신의 강점과 약점에 대해 더 분명한 그림을 얻도록 돕는다.
(3) ★ ( ① ) 그 과정에서, 당신은 목표 달성을 막고 있을지 모르는 맹점을 찾기 위해 스스로에게 일련의 질문을 던질 수 있다.
(4) ★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간접의문문: 의문사 what + 주어 + 동사 (전치사 about의 목적어)
• help O 원형: help + 목적어 + (to) 동사원형
• block O from -ing: ~가 …하는 것을 막다 / 주격 관계대명사 that
• not only A but also B: It = this reflection process (주어진 문장)
• It is ~ that 강조구문: this self-awareness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흐름 단절: 맹점 찾기 질문보다 '문제를 분명히 본다'는 결과가 먼저 나오게 됨
② 정답: 질문으로 맹점 찾기 → 이 성찰 과정이 문제를 보게 함 → It(성찰 과정)은 중요
③ 흐름 단절: It(개인·기업에 중요)이 가리킬 대상이 앞 문장과 끊김
④ 흐름 단절: 회사 문화 → 구글 예시는 이미 자연스럽게 연결됨
⑤ 흐름 단절: 구글 예시 → this self-awareness로 이미 연결됨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업무 다양성과 '생각·시간'은 같이 늘까, 같이 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5번)에서 멈춰 "여기가 정답 근거!"라고 강조하세요. 파란 굵은 글씨는 문법·내신 포인트로, 다음 슬라이드에서 정리합니다.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 선생님 참고용 (★ = 정답 근거)】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 훈련된 무능의 근원에는 다양성이 거의 없고 ④반복적인 업무가 있다.
(5) ★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앞 슬라이드의 파란 굵은 글씨를 위에서부터 하나씩 짚으며 설명하세요. 내신 어법 문제는 주로 '수일치 · 병렬 · 관계사 · 분사 · 도치'에서 나옵니다. "이 자리에 다른 형태가 오면 왜 틀릴까?"를 물어보면 좋아요.
• train O to V: 목적격 보어 to부정사
• risk -ing: ~할 위험이 있다
• 부사구 도치: 주어 a job (단수) → is
• 과거분사 후치 · 수일치: time (which is) needed / 주어 the amount →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적절: 좋은 성과에 보상 — 적절
② 적절: 생각 없이 반응 → 훈련된 무능 — 적절
③ 적절: 효율만 좇다 다른 문제를 무시 — 적절
④ 적절: little variety와 짝 — 적절
⑤ 정답: increases → decreases로 고쳐야 함: 다양성 감소 ↔ 생각·시간 감소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3.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채점하기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정답 한눈에 보기로 채점 → 틀린 문제 표시</a:t>
            </a:r>
            <a:endParaRPr lang="en-US" sz="1500" dirty="0"/>
          </a:p>
        </p:txBody>
      </p:sp>
      <p:sp>
        <p:nvSpPr>
          <p:cNvPr id="7" name="Text 5"/>
          <p:cNvSpPr/>
          <p:nvPr/>
        </p:nvSpPr>
        <p:spPr>
          <a:xfrm>
            <a:off x="82296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5분</a:t>
            </a:r>
            <a:endParaRPr lang="en-US" sz="1300" dirty="0"/>
          </a:p>
        </p:txBody>
      </p:sp>
      <p:sp>
        <p:nvSpPr>
          <p:cNvPr id="8" name="Shape 6"/>
          <p:cNvSpPr/>
          <p:nvPr/>
        </p:nvSpPr>
        <p:spPr>
          <a:xfrm>
            <a:off x="338328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풀이 공식 익히기</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요약문 3단계 · 신호어 · 오답 함정</a:t>
            </a:r>
            <a:endParaRPr lang="en-US" sz="1500" dirty="0"/>
          </a:p>
        </p:txBody>
      </p:sp>
      <p:sp>
        <p:nvSpPr>
          <p:cNvPr id="12" name="Text 10"/>
          <p:cNvSpPr/>
          <p:nvPr/>
        </p:nvSpPr>
        <p:spPr>
          <a:xfrm>
            <a:off x="365760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약 10분</a:t>
            </a:r>
            <a:endParaRPr lang="en-US" sz="1300" dirty="0"/>
          </a:p>
        </p:txBody>
      </p:sp>
      <p:sp>
        <p:nvSpPr>
          <p:cNvPr id="13" name="Shape 11"/>
          <p:cNvSpPr/>
          <p:nvPr/>
        </p:nvSpPr>
        <p:spPr>
          <a:xfrm>
            <a:off x="6217920" y="1554480"/>
            <a:ext cx="2606040" cy="4206240"/>
          </a:xfrm>
          <a:prstGeom prst="roundRect">
            <a:avLst>
              <a:gd name="adj" fmla="val 5263"/>
            </a:avLst>
          </a:prstGeom>
          <a:solidFill>
            <a:srgbClr val="E6F2ED"/>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92–98</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지문+보기 → 근거·문법 → 흐름 → 정답·오답</a:t>
            </a:r>
            <a:endParaRPr lang="en-US" sz="1500" dirty="0"/>
          </a:p>
        </p:txBody>
      </p:sp>
      <p:sp>
        <p:nvSpPr>
          <p:cNvPr id="17" name="Text 15"/>
          <p:cNvSpPr/>
          <p:nvPr/>
        </p:nvSpPr>
        <p:spPr>
          <a:xfrm>
            <a:off x="649224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1차시</a:t>
            </a:r>
            <a:endParaRPr lang="en-US" sz="1300" dirty="0"/>
          </a:p>
        </p:txBody>
      </p:sp>
      <p:sp>
        <p:nvSpPr>
          <p:cNvPr id="18" name="Shape 16"/>
          <p:cNvSpPr/>
          <p:nvPr/>
        </p:nvSpPr>
        <p:spPr>
          <a:xfrm>
            <a:off x="9052560" y="1554480"/>
            <a:ext cx="2606040" cy="4206240"/>
          </a:xfrm>
          <a:prstGeom prst="roundRect">
            <a:avLst>
              <a:gd name="adj" fmla="val 5263"/>
            </a:avLst>
          </a:prstGeom>
          <a:solidFill>
            <a:srgbClr val="FFFFFF"/>
          </a:solidFill>
          <a:ln w="12700">
            <a:solidFill>
              <a:srgbClr val="E6F2ED"/>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rgbClr val="1F7A64"/>
          </a:solidFill>
          <a:ln/>
        </p:spPr>
        <p:txBody>
          <a:bodyPr wrap="square" lIns="0" tIns="0" rIns="0" bIns="0" rtlCol="0" anchor="ctr"/>
          <a:lstStyle/>
          <a:p>
            <a:pPr algn="ctr" indent="0" marL="0">
              <a:buNone/>
            </a:pPr>
            <a:r>
              <a:rPr lang="en-US" sz="3200" b="1" dirty="0">
                <a:solidFill>
                  <a:srgbClr val="FFFFFF"/>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rgbClr val="14453D"/>
                </a:solidFill>
              </a:rPr>
              <a:t>Exercise 99–104</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rgbClr val="1E2B2A"/>
                </a:solidFill>
              </a:rPr>
              <a:t>같은 순서로 해설 → 학생이 단서 먼저 말하기</a:t>
            </a:r>
            <a:endParaRPr lang="en-US" sz="1500" dirty="0"/>
          </a:p>
        </p:txBody>
      </p:sp>
      <p:sp>
        <p:nvSpPr>
          <p:cNvPr id="22" name="Text 20"/>
          <p:cNvSpPr/>
          <p:nvPr/>
        </p:nvSpPr>
        <p:spPr>
          <a:xfrm>
            <a:off x="9326880" y="5120640"/>
            <a:ext cx="128016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300" b="1" dirty="0">
                <a:solidFill>
                  <a:srgbClr val="FFFFFF"/>
                </a:solidFill>
              </a:rPr>
              <a:t>2차시</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(A)만 맞고 (B)는 틀린 '반쪽 정답' 지우기</a:t>
            </a:r>
            <a:endParaRPr lang="en-US" sz="1700" dirty="0"/>
          </a:p>
          <a:p>
            <a:pPr indent="0" marL="0">
              <a:spcAft>
                <a:spcPts val="600"/>
              </a:spcAft>
              <a:buNone/>
            </a:pPr>
            <a:r>
              <a:rPr lang="en-US" sz="1700" dirty="0">
                <a:solidFill>
                  <a:srgbClr val="1E2B2A"/>
                </a:solidFill>
              </a:rPr>
              <a:t>→ 두 칸 모두 근거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93, 99</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However · While(~이지만) · But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rgbClr val="1E2B2A"/>
                </a:solidFill>
              </a:rPr>
              <a:t>앞 내용과 반대가 나온다</a:t>
            </a:r>
            <a:endParaRPr lang="en-US" sz="1500" dirty="0"/>
          </a:p>
          <a:p>
            <a:pPr indent="0" marL="0">
              <a:buNone/>
            </a:pPr>
            <a:r>
              <a:rPr lang="en-US" sz="1500" dirty="0">
                <a:solidFill>
                  <a:srgbClr val="1E2B2A"/>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rgbClr val="1F7A64"/>
          </a:solidFill>
          <a:ln w="12700">
            <a:solidFill>
              <a:srgbClr val="1F7A64"/>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96, 97</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Consequently · This result shows · Therefore</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rgbClr val="1E2B2A"/>
                </a:solidFill>
              </a:rPr>
              <a:t>지금까지 내용을 정리한다</a:t>
            </a:r>
            <a:endParaRPr lang="en-US" sz="1500" dirty="0"/>
          </a:p>
          <a:p>
            <a:pPr indent="0" marL="0">
              <a:buNone/>
            </a:pPr>
            <a:r>
              <a:rPr lang="en-US" sz="1500" dirty="0">
                <a:solidFill>
                  <a:srgbClr val="1E2B2A"/>
                </a:solidFill>
              </a:rPr>
              <a:t>→ 요약문의 원본</a:t>
            </a:r>
            <a:endParaRPr lang="en-US" sz="1500" dirty="0"/>
          </a:p>
        </p:txBody>
      </p:sp>
      <p:sp>
        <p:nvSpPr>
          <p:cNvPr id="17" name="Shape 13"/>
          <p:cNvSpPr/>
          <p:nvPr/>
        </p:nvSpPr>
        <p:spPr>
          <a:xfrm>
            <a:off x="548640" y="388620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rgbClr val="1F7A64"/>
          </a:solidFill>
          <a:ln w="12700">
            <a:solidFill>
              <a:srgbClr val="1F7A64"/>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94, 101</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For example · In one experiment · For instance</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rgbClr val="1E2B2A"/>
                </a:solidFill>
              </a:rPr>
              <a:t>실험·예시의 공통점 = 요약문</a:t>
            </a:r>
            <a:endParaRPr lang="en-US" sz="1500" dirty="0"/>
          </a:p>
        </p:txBody>
      </p:sp>
      <p:sp>
        <p:nvSpPr>
          <p:cNvPr id="24" name="Shape 19"/>
          <p:cNvSpPr/>
          <p:nvPr/>
        </p:nvSpPr>
        <p:spPr>
          <a:xfrm>
            <a:off x="6172200" y="3886200"/>
            <a:ext cx="5440680" cy="2240280"/>
          </a:xfrm>
          <a:prstGeom prst="roundRect">
            <a:avLst>
              <a:gd name="adj" fmla="val 4898"/>
            </a:avLst>
          </a:prstGeom>
          <a:solidFill>
            <a:srgbClr val="FFFFFF"/>
          </a:solidFill>
          <a:ln w="19050">
            <a:solidFill>
              <a:srgbClr val="E6F2ED"/>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rgbClr val="1F7A64"/>
          </a:solidFill>
          <a:ln w="12700">
            <a:solidFill>
              <a:srgbClr val="1F7A64"/>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rgbClr val="14453D"/>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Ex 99, 100</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rgbClr val="1F7A64"/>
                </a:solidFill>
              </a:rPr>
              <a:t>In other words · That is · —(대시)</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rgbClr val="1E2B2A"/>
                </a:solidFill>
              </a:rPr>
              <a:t>같은 말을 다르게 한 번 더</a:t>
            </a:r>
            <a:endParaRPr lang="en-US" sz="1500" dirty="0"/>
          </a:p>
          <a:p>
            <a:pPr indent="0" marL="0">
              <a:buNone/>
            </a:pPr>
            <a:r>
              <a:rPr lang="en-US" sz="1500" dirty="0">
                <a:solidFill>
                  <a:srgbClr val="1E2B2A"/>
                </a:solidFill>
              </a:rPr>
              <a:t>→ 정답 단어의 힌트</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rgbClr val="E6F2ED"/>
          </a:solidFill>
          <a:ln w="12700">
            <a:solidFill>
              <a:srgbClr val="E6F2ED"/>
            </a:solidFill>
            <a:prstDash val="solid"/>
          </a:ln>
        </p:spPr>
      </p:sp>
      <p:sp>
        <p:nvSpPr>
          <p:cNvPr id="4" name="Text 2"/>
          <p:cNvSpPr/>
          <p:nvPr/>
        </p:nvSpPr>
        <p:spPr>
          <a:xfrm>
            <a:off x="822960" y="1691640"/>
            <a:ext cx="1737360" cy="502920"/>
          </a:xfrm>
          <a:prstGeom prst="roundRect">
            <a:avLst>
              <a:gd name="adj" fmla="val 27273"/>
            </a:avLst>
          </a:prstGeom>
          <a:solidFill>
            <a:srgbClr val="F4C7BC"/>
          </a:solidFill>
          <a:ln/>
        </p:spPr>
        <p:txBody>
          <a:bodyPr wrap="square" lIns="0" tIns="0" rIns="0" bIns="0" rtlCol="0" anchor="ctr"/>
          <a:lstStyle/>
          <a:p>
            <a:pPr algn="ctr" indent="0" marL="0">
              <a:buNone/>
            </a:pPr>
            <a:r>
              <a:rPr lang="en-US" sz="1800" b="1" dirty="0">
                <a:solidFill>
                  <a:srgbClr val="1E2B2A"/>
                </a:solidFill>
              </a:rPr>
              <a:t>반쪽 정답</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(A)와 (B) 중 한 칸만 맞는 선택지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93 ④ decision-making ✔ / profit ✘</a:t>
            </a:r>
            <a:endParaRPr lang="en-US" sz="1500" dirty="0"/>
          </a:p>
        </p:txBody>
      </p:sp>
      <p:sp>
        <p:nvSpPr>
          <p:cNvPr id="7" name="Shape 5"/>
          <p:cNvSpPr/>
          <p:nvPr/>
        </p:nvSpPr>
        <p:spPr>
          <a:xfrm>
            <a:off x="548640" y="2633472"/>
            <a:ext cx="11064240" cy="1051560"/>
          </a:xfrm>
          <a:prstGeom prst="roundRect">
            <a:avLst>
              <a:gd name="adj" fmla="val 10435"/>
            </a:avLst>
          </a:prstGeom>
          <a:solidFill>
            <a:srgbClr val="FFFFFF"/>
          </a:solidFill>
          <a:ln w="12700">
            <a:solidFill>
              <a:srgbClr val="E6F2ED"/>
            </a:solidFill>
            <a:prstDash val="solid"/>
          </a:ln>
        </p:spPr>
      </p:sp>
      <p:sp>
        <p:nvSpPr>
          <p:cNvPr id="8" name="Text 6"/>
          <p:cNvSpPr/>
          <p:nvPr/>
        </p:nvSpPr>
        <p:spPr>
          <a:xfrm>
            <a:off x="822960" y="2907792"/>
            <a:ext cx="1737360" cy="502920"/>
          </a:xfrm>
          <a:prstGeom prst="roundRect">
            <a:avLst>
              <a:gd name="adj" fmla="val 27273"/>
            </a:avLst>
          </a:prstGeom>
          <a:solidFill>
            <a:srgbClr val="14453D"/>
          </a:solidFill>
          <a:ln/>
        </p:spPr>
        <p:txBody>
          <a:bodyPr wrap="square" lIns="0" tIns="0" rIns="0" bIns="0" rtlCol="0" anchor="ctr"/>
          <a:lstStyle/>
          <a:p>
            <a:pPr algn="ctr" indent="0" marL="0">
              <a:buNone/>
            </a:pPr>
            <a:r>
              <a:rPr lang="en-US" sz="1800" b="1" dirty="0">
                <a:solidFill>
                  <a:srgbClr val="FFFFFF"/>
                </a:solidFill>
              </a:rPr>
              <a:t>반대</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글의 내용과 정반대</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92 ① abandon(버리다) ↔ 보존</a:t>
            </a:r>
            <a:endParaRPr lang="en-US" sz="1500" dirty="0"/>
          </a:p>
        </p:txBody>
      </p:sp>
      <p:sp>
        <p:nvSpPr>
          <p:cNvPr id="11" name="Shape 9"/>
          <p:cNvSpPr/>
          <p:nvPr/>
        </p:nvSpPr>
        <p:spPr>
          <a:xfrm>
            <a:off x="548640" y="3849624"/>
            <a:ext cx="11064240" cy="1051560"/>
          </a:xfrm>
          <a:prstGeom prst="roundRect">
            <a:avLst>
              <a:gd name="adj" fmla="val 10435"/>
            </a:avLst>
          </a:prstGeom>
          <a:solidFill>
            <a:srgbClr val="E6F2ED"/>
          </a:solidFill>
          <a:ln w="12700">
            <a:solidFill>
              <a:srgbClr val="E6F2ED"/>
            </a:solidFill>
            <a:prstDash val="solid"/>
          </a:ln>
        </p:spPr>
      </p:sp>
      <p:sp>
        <p:nvSpPr>
          <p:cNvPr id="12" name="Text 10"/>
          <p:cNvSpPr/>
          <p:nvPr/>
        </p:nvSpPr>
        <p:spPr>
          <a:xfrm>
            <a:off x="822960" y="4123944"/>
            <a:ext cx="1737360" cy="502920"/>
          </a:xfrm>
          <a:prstGeom prst="roundRect">
            <a:avLst>
              <a:gd name="adj" fmla="val 27273"/>
            </a:avLst>
          </a:prstGeom>
          <a:solidFill>
            <a:srgbClr val="FFD45C"/>
          </a:solidFill>
          <a:ln/>
        </p:spPr>
        <p:txBody>
          <a:bodyPr wrap="square" lIns="0" tIns="0" rIns="0" bIns="0" rtlCol="0" anchor="ctr"/>
          <a:lstStyle/>
          <a:p>
            <a:pPr algn="ctr" indent="0" marL="0">
              <a:buNone/>
            </a:pPr>
            <a:r>
              <a:rPr lang="en-US" sz="1800" b="1" dirty="0">
                <a:solidFill>
                  <a:srgbClr val="1E2B2A"/>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본문 단어·상식만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98 ③ last (본문 단어지만 정답은 first)</a:t>
            </a:r>
            <a:endParaRPr lang="en-US" sz="1500" dirty="0"/>
          </a:p>
        </p:txBody>
      </p:sp>
      <p:sp>
        <p:nvSpPr>
          <p:cNvPr id="15" name="Shape 13"/>
          <p:cNvSpPr/>
          <p:nvPr/>
        </p:nvSpPr>
        <p:spPr>
          <a:xfrm>
            <a:off x="548640" y="5065776"/>
            <a:ext cx="11064240" cy="1051560"/>
          </a:xfrm>
          <a:prstGeom prst="roundRect">
            <a:avLst>
              <a:gd name="adj" fmla="val 10435"/>
            </a:avLst>
          </a:prstGeom>
          <a:solidFill>
            <a:srgbClr val="FFFFFF"/>
          </a:solidFill>
          <a:ln w="12700">
            <a:solidFill>
              <a:srgbClr val="E6F2ED"/>
            </a:solidFill>
            <a:prstDash val="solid"/>
          </a:ln>
        </p:spPr>
      </p:sp>
      <p:sp>
        <p:nvSpPr>
          <p:cNvPr id="16" name="Text 14"/>
          <p:cNvSpPr/>
          <p:nvPr/>
        </p:nvSpPr>
        <p:spPr>
          <a:xfrm>
            <a:off x="822960" y="5340096"/>
            <a:ext cx="1737360" cy="502920"/>
          </a:xfrm>
          <a:prstGeom prst="roundRect">
            <a:avLst>
              <a:gd name="adj" fmla="val 27273"/>
            </a:avLst>
          </a:prstGeom>
          <a:solidFill>
            <a:srgbClr val="E6F2ED"/>
          </a:solidFill>
          <a:ln/>
        </p:spPr>
        <p:txBody>
          <a:bodyPr wrap="square" lIns="0" tIns="0" rIns="0" bIns="0" rtlCol="0" anchor="ctr"/>
          <a:lstStyle/>
          <a:p>
            <a:pPr algn="ctr" indent="0" marL="0">
              <a:buNone/>
            </a:pPr>
            <a:r>
              <a:rPr lang="en-US" sz="1800" b="1" dirty="0">
                <a:solidFill>
                  <a:srgbClr val="14453D"/>
                </a:solidFill>
              </a:rPr>
              <a:t>언급 없음</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rgbClr val="14453D"/>
                </a:solidFill>
              </a:rPr>
              <a:t>그럴듯하지만 글에 없는 내용</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rgbClr val="1E2B2A"/>
                </a:solidFill>
              </a:rPr>
              <a:t>예) Ex 99 ⑤ expense (비용)</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While the majority of the world's population is now found in urban areas, hundreds of thousands of Mongolians continue to preserve (a) </a:t>
            </a:r>
            <a:pPr indent="0" marL="0">
              <a:lnSpc>
                <a:spcPct val="115000"/>
              </a:lnSpc>
              <a:buNone/>
            </a:pPr>
            <a:r>
              <a:rPr lang="en-US" sz="1600" b="1" u="sng" dirty="0">
                <a:solidFill>
                  <a:srgbClr val="1E2B2A"/>
                </a:solidFill>
              </a:rPr>
              <a:t>a way of life</a:t>
            </a:r>
            <a:pPr indent="0" marL="0">
              <a:lnSpc>
                <a:spcPct val="115000"/>
              </a:lnSpc>
              <a:buNone/>
            </a:pPr>
            <a:r>
              <a:rPr lang="en-US" sz="1600" dirty="0">
                <a:solidFill>
                  <a:srgbClr val="1E2B2A"/>
                </a:solidFill>
              </a:rPr>
              <a:t> that goes back at least a thousand years.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Mongolians have led a nomadic life across the vast plains that share borders with China and Russia.</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Just as their ancestors did, they obtain their staple foods, dairy products and meat, from the animals they raise on the plains.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Mongolians also continue the tradition of learning to master horse riding, which is an essential skill to guard and manage their herds.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Although nowadays some choose to use a (b) </a:t>
            </a:r>
            <a:pPr indent="0" marL="0">
              <a:lnSpc>
                <a:spcPct val="115000"/>
              </a:lnSpc>
              <a:buNone/>
            </a:pPr>
            <a:r>
              <a:rPr lang="en-US" sz="1600" b="1" u="sng" dirty="0">
                <a:solidFill>
                  <a:srgbClr val="1E2B2A"/>
                </a:solidFill>
              </a:rPr>
              <a:t>motorbike</a:t>
            </a:r>
            <a:pPr indent="0" marL="0">
              <a:lnSpc>
                <a:spcPct val="115000"/>
              </a:lnSpc>
              <a:buNone/>
            </a:pPr>
            <a:r>
              <a:rPr lang="en-US" sz="1600" dirty="0">
                <a:solidFill>
                  <a:srgbClr val="1E2B2A"/>
                </a:solidFill>
              </a:rPr>
              <a:t> instead, most Mongolians still regard horse riding, along with the life on the plains, as irreplaceable heritage that makes them who they are.</a:t>
            </a:r>
            <a:endParaRPr lang="en-US" sz="1600" dirty="0"/>
          </a:p>
          <a:p>
            <a:pPr algn="r" indent="0" marL="0">
              <a:lnSpc>
                <a:spcPct val="115000"/>
              </a:lnSpc>
              <a:spcBef>
                <a:spcPts val="200"/>
              </a:spcBef>
              <a:buNone/>
            </a:pPr>
            <a:r>
              <a:rPr lang="en-US" sz="1100" i="1" dirty="0">
                <a:solidFill>
                  <a:srgbClr val="6E7F7C"/>
                </a:solidFill>
              </a:rPr>
              <a:t>*nomadic 유목의  **herd 가축의 떼  ***irreplaceable 대체할 수 없는</a:t>
            </a:r>
            <a:endParaRPr lang="en-US" sz="1600" dirty="0"/>
          </a:p>
          <a:p>
            <a:pPr indent="0" marL="0">
              <a:lnSpc>
                <a:spcPct val="115000"/>
              </a:lnSpc>
              <a:spcBef>
                <a:spcPts val="800"/>
              </a:spcBef>
              <a:buNone/>
            </a:pPr>
            <a:r>
              <a:rPr lang="en-US" sz="1600" b="1" dirty="0">
                <a:solidFill>
                  <a:srgbClr val="1F7A64"/>
                </a:solidFill>
              </a:rPr>
              <a:t>↓  </a:t>
            </a:r>
            <a:pPr indent="0" marL="0">
              <a:lnSpc>
                <a:spcPct val="115000"/>
              </a:lnSpc>
              <a:buNone/>
            </a:pPr>
            <a:r>
              <a:rPr lang="en-US" sz="1600" dirty="0">
                <a:solidFill>
                  <a:srgbClr val="14453D"/>
                </a:solidFill>
              </a:rPr>
              <a:t>Many Mongolians </a:t>
            </a:r>
            <a:pPr indent="0" marL="0">
              <a:lnSpc>
                <a:spcPct val="115000"/>
              </a:lnSpc>
              <a:buNone/>
            </a:pPr>
            <a:r>
              <a:rPr lang="en-US" sz="1600" b="1" dirty="0">
                <a:solidFill>
                  <a:srgbClr val="EF5B3F"/>
                </a:solidFill>
              </a:rPr>
              <a:t>(A)</a:t>
            </a:r>
            <a:pPr indent="0" marL="0">
              <a:lnSpc>
                <a:spcPct val="115000"/>
              </a:lnSpc>
              <a:buNone/>
            </a:pPr>
            <a:r>
              <a:rPr lang="en-US" sz="1600" dirty="0">
                <a:solidFill>
                  <a:srgbClr val="14453D"/>
                </a:solidFill>
              </a:rPr>
              <a:t> their nomadic lifestyle because they believe their old traditions are essential to their cultural </a:t>
            </a:r>
            <a:pPr indent="0" marL="0">
              <a:lnSpc>
                <a:spcPct val="115000"/>
              </a:lnSpc>
              <a:buNone/>
            </a:pPr>
            <a:r>
              <a:rPr lang="en-US" sz="1600" b="1" dirty="0">
                <a:solidFill>
                  <a:srgbClr val="EF5B3F"/>
                </a:solidFill>
              </a:rPr>
              <a:t>(B)</a:t>
            </a:r>
            <a:pPr indent="0" marL="0">
              <a:lnSpc>
                <a:spcPct val="115000"/>
              </a:lnSpc>
              <a:buNone/>
            </a:pPr>
            <a:r>
              <a:rPr lang="en-US" sz="1600" dirty="0">
                <a:solidFill>
                  <a:srgbClr val="14453D"/>
                </a:solidFill>
              </a:rPr>
              <a:t>.</a:t>
            </a:r>
            <a:endParaRPr lang="en-US" sz="1600" dirty="0"/>
          </a:p>
          <a:p>
            <a:pPr indent="0" marL="0">
              <a:lnSpc>
                <a:spcPct val="115000"/>
              </a:lnSpc>
              <a:spcBef>
                <a:spcPts val="1000"/>
              </a:spcBef>
              <a:buNone/>
            </a:pPr>
            <a:r>
              <a:rPr lang="en-US" sz="1600" dirty="0">
                <a:solidFill>
                  <a:srgbClr val="14453D"/>
                </a:solidFill>
              </a:rPr>
              <a:t>①  abandon ----- diversity</a:t>
            </a:r>
            <a:endParaRPr lang="en-US" sz="1600" dirty="0"/>
          </a:p>
          <a:p>
            <a:pPr indent="0" marL="0">
              <a:lnSpc>
                <a:spcPct val="115000"/>
              </a:lnSpc>
              <a:spcBef>
                <a:spcPts val="200"/>
              </a:spcBef>
              <a:buNone/>
            </a:pPr>
            <a:r>
              <a:rPr lang="en-US" sz="1600" dirty="0">
                <a:solidFill>
                  <a:srgbClr val="14453D"/>
                </a:solidFill>
              </a:rPr>
              <a:t>②  maintain ----- diversity</a:t>
            </a:r>
            <a:endParaRPr lang="en-US" sz="1600" dirty="0"/>
          </a:p>
          <a:p>
            <a:pPr indent="0" marL="0">
              <a:lnSpc>
                <a:spcPct val="115000"/>
              </a:lnSpc>
              <a:spcBef>
                <a:spcPts val="200"/>
              </a:spcBef>
              <a:buNone/>
            </a:pPr>
            <a:r>
              <a:rPr lang="en-US" sz="1600" dirty="0">
                <a:solidFill>
                  <a:srgbClr val="14453D"/>
                </a:solidFill>
              </a:rPr>
              <a:t>③  maintain ----- identity</a:t>
            </a:r>
            <a:endParaRPr lang="en-US" sz="1600" dirty="0"/>
          </a:p>
          <a:p>
            <a:pPr indent="0" marL="0">
              <a:lnSpc>
                <a:spcPct val="115000"/>
              </a:lnSpc>
              <a:spcBef>
                <a:spcPts val="200"/>
              </a:spcBef>
              <a:buNone/>
            </a:pPr>
            <a:r>
              <a:rPr lang="en-US" sz="1600" dirty="0">
                <a:solidFill>
                  <a:srgbClr val="14453D"/>
                </a:solidFill>
              </a:rPr>
              <a:t>④  reform ----- identity</a:t>
            </a:r>
            <a:endParaRPr lang="en-US" sz="1600" dirty="0"/>
          </a:p>
          <a:p>
            <a:pPr indent="0" marL="0">
              <a:lnSpc>
                <a:spcPct val="115000"/>
              </a:lnSpc>
              <a:spcBef>
                <a:spcPts val="200"/>
              </a:spcBef>
              <a:buNone/>
            </a:pPr>
            <a:r>
              <a:rPr lang="en-US" sz="1600" dirty="0">
                <a:solidFill>
                  <a:srgbClr val="14453D"/>
                </a:solidFill>
              </a:rPr>
              <a:t>⑤  reform ----- complexity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highlight>
                  <a:srgbClr val="FFD45C"/>
                </a:highlight>
              </a:rPr>
              <a:t>While the majority of the world's population is now found in </a:t>
            </a:r>
            <a:pPr indent="0" marL="0">
              <a:lnSpc>
                <a:spcPct val="120000"/>
              </a:lnSpc>
              <a:buNone/>
            </a:pPr>
            <a:r>
              <a:rPr lang="en-US" sz="1900" u="dotted" dirty="0">
                <a:solidFill>
                  <a:srgbClr val="1F7A64"/>
                </a:solidFill>
                <a:highlight>
                  <a:srgbClr val="FFD45C"/>
                </a:highlight>
                <a:uFill>
                  <a:solidFill>
                    <a:srgbClr val="1F7A64"/>
                  </a:solidFill>
                </a:uFill>
              </a:rPr>
              <a:t>urban</a:t>
            </a:r>
            <a:pPr indent="0" marL="0">
              <a:lnSpc>
                <a:spcPct val="120000"/>
              </a:lnSpc>
              <a:buNone/>
            </a:pPr>
            <a:r>
              <a:rPr lang="en-US" sz="1900" dirty="0">
                <a:solidFill>
                  <a:srgbClr val="1E2B2A"/>
                </a:solidFill>
                <a:highlight>
                  <a:srgbClr val="FFD45C"/>
                </a:highlight>
              </a:rPr>
              <a:t> areas, hundreds of thousands of Mongolians continue to </a:t>
            </a:r>
            <a:pPr indent="0" marL="0">
              <a:lnSpc>
                <a:spcPct val="120000"/>
              </a:lnSpc>
              <a:buNone/>
            </a:pPr>
            <a:r>
              <a:rPr lang="en-US" sz="1900" u="dotted" dirty="0">
                <a:solidFill>
                  <a:srgbClr val="1F7A64"/>
                </a:solidFill>
                <a:highlight>
                  <a:srgbClr val="FFD45C"/>
                </a:highlight>
                <a:uFill>
                  <a:solidFill>
                    <a:srgbClr val="1F7A64"/>
                  </a:solidFill>
                </a:uFill>
              </a:rPr>
              <a:t>preserve</a:t>
            </a:r>
            <a:pPr indent="0" marL="0">
              <a:lnSpc>
                <a:spcPct val="120000"/>
              </a:lnSpc>
              <a:buNone/>
            </a:pPr>
            <a:r>
              <a:rPr lang="en-US" sz="1900" dirty="0">
                <a:solidFill>
                  <a:srgbClr val="1E2B2A"/>
                </a:solidFill>
                <a:highlight>
                  <a:srgbClr val="FFD45C"/>
                </a:highlight>
              </a:rPr>
              <a:t> (a) </a:t>
            </a:r>
            <a:pPr indent="0" marL="0">
              <a:lnSpc>
                <a:spcPct val="120000"/>
              </a:lnSpc>
              <a:buNone/>
            </a:pPr>
            <a:r>
              <a:rPr lang="en-US" sz="1900" b="1" u="sng" dirty="0">
                <a:solidFill>
                  <a:srgbClr val="1E2B2A"/>
                </a:solidFill>
                <a:highlight>
                  <a:srgbClr val="FFD45C"/>
                </a:highlight>
              </a:rPr>
              <a:t>a way of life</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b="1" dirty="0">
                <a:solidFill>
                  <a:srgbClr val="2C7DA0"/>
                </a:solidFill>
                <a:highlight>
                  <a:srgbClr val="FFD45C"/>
                </a:highlight>
              </a:rPr>
              <a:t>that goes back at least a thousand years</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Mongolians have led a nomadic life across the </a:t>
            </a:r>
            <a:pPr indent="0" marL="0">
              <a:lnSpc>
                <a:spcPct val="120000"/>
              </a:lnSpc>
              <a:buNone/>
            </a:pPr>
            <a:r>
              <a:rPr lang="en-US" sz="1900" u="dotted" dirty="0">
                <a:solidFill>
                  <a:srgbClr val="1F7A64"/>
                </a:solidFill>
                <a:uFill>
                  <a:solidFill>
                    <a:srgbClr val="1F7A64"/>
                  </a:solidFill>
                </a:uFill>
              </a:rPr>
              <a:t>vast</a:t>
            </a:r>
            <a:pPr indent="0" marL="0">
              <a:lnSpc>
                <a:spcPct val="120000"/>
              </a:lnSpc>
              <a:buNone/>
            </a:pPr>
            <a:r>
              <a:rPr lang="en-US" sz="1900" dirty="0">
                <a:solidFill>
                  <a:srgbClr val="1E2B2A"/>
                </a:solidFill>
              </a:rPr>
              <a:t> plains that share borders with China and Russia.</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b="1" dirty="0">
                <a:solidFill>
                  <a:srgbClr val="2C7DA0"/>
                </a:solidFill>
              </a:rPr>
              <a:t>Just as their </a:t>
            </a:r>
            <a:pPr indent="0" marL="0">
              <a:lnSpc>
                <a:spcPct val="120000"/>
              </a:lnSpc>
              <a:buNone/>
            </a:pPr>
            <a:r>
              <a:rPr lang="en-US" sz="1900" b="1" u="dotted" dirty="0">
                <a:solidFill>
                  <a:srgbClr val="2C7DA0"/>
                </a:solidFill>
                <a:uFill>
                  <a:solidFill>
                    <a:srgbClr val="1F7A64"/>
                  </a:solidFill>
                </a:uFill>
              </a:rPr>
              <a:t>ancestors</a:t>
            </a:r>
            <a:pPr indent="0" marL="0">
              <a:lnSpc>
                <a:spcPct val="120000"/>
              </a:lnSpc>
              <a:buNone/>
            </a:pPr>
            <a:r>
              <a:rPr lang="en-US" sz="1900" b="1" dirty="0">
                <a:solidFill>
                  <a:srgbClr val="2C7DA0"/>
                </a:solidFill>
              </a:rPr>
              <a:t> did</a:t>
            </a:r>
            <a:pPr indent="0" marL="0">
              <a:lnSpc>
                <a:spcPct val="120000"/>
              </a:lnSpc>
              <a:buNone/>
            </a:pPr>
            <a:r>
              <a:rPr lang="en-US" sz="1900" dirty="0">
                <a:solidFill>
                  <a:srgbClr val="1E2B2A"/>
                </a:solidFill>
              </a:rPr>
              <a:t>, they obtain their </a:t>
            </a:r>
            <a:pPr indent="0" marL="0">
              <a:lnSpc>
                <a:spcPct val="120000"/>
              </a:lnSpc>
              <a:buNone/>
            </a:pPr>
            <a:r>
              <a:rPr lang="en-US" sz="1900" u="dotted" dirty="0">
                <a:solidFill>
                  <a:srgbClr val="1F7A64"/>
                </a:solidFill>
                <a:uFill>
                  <a:solidFill>
                    <a:srgbClr val="1F7A64"/>
                  </a:solidFill>
                </a:uFill>
              </a:rPr>
              <a:t>staple</a:t>
            </a:r>
            <a:pPr indent="0" marL="0">
              <a:lnSpc>
                <a:spcPct val="120000"/>
              </a:lnSpc>
              <a:buNone/>
            </a:pPr>
            <a:r>
              <a:rPr lang="en-US" sz="1900" dirty="0">
                <a:solidFill>
                  <a:srgbClr val="1E2B2A"/>
                </a:solidFill>
              </a:rPr>
              <a:t> foods, </a:t>
            </a:r>
            <a:pPr indent="0" marL="0">
              <a:lnSpc>
                <a:spcPct val="120000"/>
              </a:lnSpc>
              <a:buNone/>
            </a:pPr>
            <a:r>
              <a:rPr lang="en-US" sz="1900" u="dotted" dirty="0">
                <a:solidFill>
                  <a:srgbClr val="1F7A64"/>
                </a:solidFill>
                <a:uFill>
                  <a:solidFill>
                    <a:srgbClr val="1F7A64"/>
                  </a:solidFill>
                </a:uFill>
              </a:rPr>
              <a:t>dairy</a:t>
            </a:r>
            <a:pPr indent="0" marL="0">
              <a:lnSpc>
                <a:spcPct val="120000"/>
              </a:lnSpc>
              <a:buNone/>
            </a:pPr>
            <a:r>
              <a:rPr lang="en-US" sz="1900" dirty="0">
                <a:solidFill>
                  <a:srgbClr val="1E2B2A"/>
                </a:solidFill>
              </a:rPr>
              <a:t> products and meat, from the animals they raise on the plains.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highlight>
                  <a:srgbClr val="FFD45C"/>
                </a:highlight>
              </a:rPr>
              <a:t>Mongolians also continue the tradition of learning to master horse riding</a:t>
            </a:r>
            <a:pPr indent="0" marL="0">
              <a:lnSpc>
                <a:spcPct val="120000"/>
              </a:lnSpc>
              <a:buNone/>
            </a:pPr>
            <a:r>
              <a:rPr lang="en-US" sz="1900" b="1" dirty="0">
                <a:solidFill>
                  <a:srgbClr val="2C7DA0"/>
                </a:solidFill>
                <a:highlight>
                  <a:srgbClr val="FFD45C"/>
                </a:highlight>
              </a:rPr>
              <a:t>, which is an essential skill to guard and manage</a:t>
            </a:r>
            <a:pPr indent="0" marL="0">
              <a:lnSpc>
                <a:spcPct val="120000"/>
              </a:lnSpc>
              <a:buNone/>
            </a:pPr>
            <a:r>
              <a:rPr lang="en-US" sz="1900" dirty="0">
                <a:solidFill>
                  <a:srgbClr val="1E2B2A"/>
                </a:solidFill>
                <a:highlight>
                  <a:srgbClr val="FFD45C"/>
                </a:highlight>
              </a:rPr>
              <a:t> their herds.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Although nowadays some choose to use a (b) </a:t>
            </a:r>
            <a:pPr indent="0" marL="0">
              <a:lnSpc>
                <a:spcPct val="120000"/>
              </a:lnSpc>
              <a:buNone/>
            </a:pPr>
            <a:r>
              <a:rPr lang="en-US" sz="1900" b="1" u="sng" dirty="0">
                <a:solidFill>
                  <a:srgbClr val="1E2B2A"/>
                </a:solidFill>
                <a:highlight>
                  <a:srgbClr val="FFD45C"/>
                </a:highlight>
              </a:rPr>
              <a:t>motorbike</a:t>
            </a:r>
            <a:pPr indent="0" marL="0">
              <a:lnSpc>
                <a:spcPct val="120000"/>
              </a:lnSpc>
              <a:buNone/>
            </a:pPr>
            <a:r>
              <a:rPr lang="en-US" sz="1900" dirty="0">
                <a:solidFill>
                  <a:srgbClr val="1E2B2A"/>
                </a:solidFill>
                <a:highlight>
                  <a:srgbClr val="FFD45C"/>
                </a:highlight>
              </a:rPr>
              <a:t> instead, most Mongolians still </a:t>
            </a:r>
            <a:pPr indent="0" marL="0">
              <a:lnSpc>
                <a:spcPct val="120000"/>
              </a:lnSpc>
              <a:buNone/>
            </a:pPr>
            <a:r>
              <a:rPr lang="en-US" sz="1900" b="1" dirty="0">
                <a:solidFill>
                  <a:srgbClr val="2C7DA0"/>
                </a:solidFill>
                <a:highlight>
                  <a:srgbClr val="FFD45C"/>
                </a:highlight>
              </a:rPr>
              <a:t>regard horse riding, along with the life on the plains, as</a:t>
            </a:r>
            <a:pPr indent="0" marL="0">
              <a:lnSpc>
                <a:spcPct val="120000"/>
              </a:lnSpc>
              <a:buNone/>
            </a:pPr>
            <a:r>
              <a:rPr lang="en-US" sz="1900" dirty="0">
                <a:solidFill>
                  <a:srgbClr val="1E2B2A"/>
                </a:solidFill>
                <a:highlight>
                  <a:srgbClr val="FFD45C"/>
                </a:highlight>
              </a:rPr>
              <a:t> irreplaceable </a:t>
            </a:r>
            <a:pPr indent="0" marL="0">
              <a:lnSpc>
                <a:spcPct val="120000"/>
              </a:lnSpc>
              <a:buNone/>
            </a:pPr>
            <a:r>
              <a:rPr lang="en-US" sz="1900" u="dotted" dirty="0">
                <a:solidFill>
                  <a:srgbClr val="1F7A64"/>
                </a:solidFill>
                <a:highlight>
                  <a:srgbClr val="FFD45C"/>
                </a:highlight>
                <a:uFill>
                  <a:solidFill>
                    <a:srgbClr val="1F7A64"/>
                  </a:solidFill>
                </a:uFill>
              </a:rPr>
              <a:t>heritage</a:t>
            </a:r>
            <a:pPr indent="0" marL="0">
              <a:lnSpc>
                <a:spcPct val="120000"/>
              </a:lnSpc>
              <a:buNone/>
            </a:pPr>
            <a:r>
              <a:rPr lang="en-US" sz="1900" dirty="0">
                <a:solidFill>
                  <a:srgbClr val="1E2B2A"/>
                </a:solidFill>
                <a:highlight>
                  <a:srgbClr val="FFD45C"/>
                </a:highlight>
              </a:rPr>
              <a:t> that </a:t>
            </a:r>
            <a:pPr indent="0" marL="0">
              <a:lnSpc>
                <a:spcPct val="120000"/>
              </a:lnSpc>
              <a:buNone/>
            </a:pPr>
            <a:r>
              <a:rPr lang="en-US" sz="1900" b="1" dirty="0">
                <a:solidFill>
                  <a:srgbClr val="2C7DA0"/>
                </a:solidFill>
                <a:highlight>
                  <a:srgbClr val="FFD45C"/>
                </a:highlight>
              </a:rPr>
              <a:t>makes them who they are</a:t>
            </a:r>
            <a:pPr indent="0" marL="0">
              <a:lnSpc>
                <a:spcPct val="120000"/>
              </a:lnSpc>
              <a:buNone/>
            </a:pPr>
            <a:r>
              <a:rPr lang="en-US" sz="1900" dirty="0">
                <a:solidFill>
                  <a:srgbClr val="1E2B2A"/>
                </a:solidFill>
                <a:highlight>
                  <a:srgbClr val="FFD45C"/>
                </a:highlight>
              </a:rPr>
              <a:t>.</a:t>
            </a:r>
            <a:endParaRPr lang="en-US" sz="16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urban </a:t>
            </a:r>
            <a:pPr indent="0" marL="0">
              <a:lnSpc>
                <a:spcPct val="110000"/>
              </a:lnSpc>
              <a:buNone/>
            </a:pPr>
            <a:r>
              <a:rPr lang="en-US" sz="1400" dirty="0">
                <a:solidFill>
                  <a:srgbClr val="1E2B2A"/>
                </a:solidFill>
              </a:rPr>
              <a:t>도시의   ·   </a:t>
            </a:r>
            <a:pPr indent="0" marL="0">
              <a:lnSpc>
                <a:spcPct val="110000"/>
              </a:lnSpc>
              <a:buNone/>
            </a:pPr>
            <a:r>
              <a:rPr lang="en-US" sz="1400" b="1" dirty="0">
                <a:solidFill>
                  <a:srgbClr val="1F7A64"/>
                </a:solidFill>
              </a:rPr>
              <a:t>preserve </a:t>
            </a:r>
            <a:pPr indent="0" marL="0">
              <a:lnSpc>
                <a:spcPct val="110000"/>
              </a:lnSpc>
              <a:buNone/>
            </a:pPr>
            <a:r>
              <a:rPr lang="en-US" sz="1400" dirty="0">
                <a:solidFill>
                  <a:srgbClr val="1E2B2A"/>
                </a:solidFill>
              </a:rPr>
              <a:t>보존하다   ·   </a:t>
            </a:r>
            <a:pPr indent="0" marL="0">
              <a:lnSpc>
                <a:spcPct val="110000"/>
              </a:lnSpc>
              <a:buNone/>
            </a:pPr>
            <a:r>
              <a:rPr lang="en-US" sz="1400" b="1" dirty="0">
                <a:solidFill>
                  <a:srgbClr val="1F7A64"/>
                </a:solidFill>
              </a:rPr>
              <a:t>vast </a:t>
            </a:r>
            <a:pPr indent="0" marL="0">
              <a:lnSpc>
                <a:spcPct val="110000"/>
              </a:lnSpc>
              <a:buNone/>
            </a:pPr>
            <a:r>
              <a:rPr lang="en-US" sz="1400" dirty="0">
                <a:solidFill>
                  <a:srgbClr val="1E2B2A"/>
                </a:solidFill>
              </a:rPr>
              <a:t>광활한   ·   </a:t>
            </a:r>
            <a:pPr indent="0" marL="0">
              <a:lnSpc>
                <a:spcPct val="110000"/>
              </a:lnSpc>
              <a:buNone/>
            </a:pPr>
            <a:r>
              <a:rPr lang="en-US" sz="1400" b="1" dirty="0">
                <a:solidFill>
                  <a:srgbClr val="1F7A64"/>
                </a:solidFill>
              </a:rPr>
              <a:t>ancestors </a:t>
            </a:r>
            <a:pPr indent="0" marL="0">
              <a:lnSpc>
                <a:spcPct val="110000"/>
              </a:lnSpc>
              <a:buNone/>
            </a:pPr>
            <a:r>
              <a:rPr lang="en-US" sz="1400" dirty="0">
                <a:solidFill>
                  <a:srgbClr val="1E2B2A"/>
                </a:solidFill>
              </a:rPr>
              <a:t>조상   ·   </a:t>
            </a:r>
            <a:pPr indent="0" marL="0">
              <a:lnSpc>
                <a:spcPct val="110000"/>
              </a:lnSpc>
              <a:buNone/>
            </a:pPr>
            <a:r>
              <a:rPr lang="en-US" sz="1400" b="1" dirty="0">
                <a:solidFill>
                  <a:srgbClr val="1F7A64"/>
                </a:solidFill>
              </a:rPr>
              <a:t>staple </a:t>
            </a:r>
            <a:pPr indent="0" marL="0">
              <a:lnSpc>
                <a:spcPct val="110000"/>
              </a:lnSpc>
              <a:buNone/>
            </a:pPr>
            <a:r>
              <a:rPr lang="en-US" sz="1400" dirty="0">
                <a:solidFill>
                  <a:srgbClr val="1E2B2A"/>
                </a:solidFill>
              </a:rPr>
              <a:t>주된   ·   </a:t>
            </a:r>
            <a:pPr indent="0" marL="0">
              <a:lnSpc>
                <a:spcPct val="110000"/>
              </a:lnSpc>
              <a:buNone/>
            </a:pPr>
            <a:r>
              <a:rPr lang="en-US" sz="1400" b="1" dirty="0">
                <a:solidFill>
                  <a:srgbClr val="1F7A64"/>
                </a:solidFill>
              </a:rPr>
              <a:t>dairy </a:t>
            </a:r>
            <a:pPr indent="0" marL="0">
              <a:lnSpc>
                <a:spcPct val="110000"/>
              </a:lnSpc>
              <a:buNone/>
            </a:pPr>
            <a:r>
              <a:rPr lang="en-US" sz="1400" dirty="0">
                <a:solidFill>
                  <a:srgbClr val="1E2B2A"/>
                </a:solidFill>
              </a:rPr>
              <a:t>유제품의   ·   </a:t>
            </a:r>
            <a:pPr indent="0" marL="0">
              <a:lnSpc>
                <a:spcPct val="110000"/>
              </a:lnSpc>
              <a:buNone/>
            </a:pPr>
            <a:r>
              <a:rPr lang="en-US" sz="1400" b="1" dirty="0">
                <a:solidFill>
                  <a:srgbClr val="1F7A64"/>
                </a:solidFill>
              </a:rPr>
              <a:t>heritage </a:t>
            </a:r>
            <a:pPr indent="0" marL="0">
              <a:lnSpc>
                <a:spcPct val="110000"/>
              </a:lnSpc>
              <a:buNone/>
            </a:pPr>
            <a:r>
              <a:rPr lang="en-US" sz="1400" dirty="0">
                <a:solidFill>
                  <a:srgbClr val="1E2B2A"/>
                </a:solidFill>
              </a:rPr>
              <a:t>유산</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that goes back at least a thousand years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수일치</a:t>
            </a:r>
            <a:endParaRPr lang="en-US" sz="1700" dirty="0"/>
          </a:p>
          <a:p>
            <a:pPr indent="0" marL="0">
              <a:spcAft>
                <a:spcPts val="200"/>
              </a:spcAft>
              <a:buNone/>
            </a:pPr>
            <a:r>
              <a:rPr lang="en-US" sz="1400" dirty="0">
                <a:solidFill>
                  <a:srgbClr val="1E2B2A"/>
                </a:solidFill>
              </a:rPr>
              <a:t>선행사 a way of life(단수) → goes</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Just as their ancestors did</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just as + 대동사</a:t>
            </a:r>
            <a:endParaRPr lang="en-US" sz="1700" dirty="0"/>
          </a:p>
          <a:p>
            <a:pPr indent="0" marL="0">
              <a:spcAft>
                <a:spcPts val="200"/>
              </a:spcAft>
              <a:buNone/>
            </a:pPr>
            <a:r>
              <a:rPr lang="en-US" sz="1400" dirty="0">
                <a:solidFill>
                  <a:srgbClr val="1E2B2A"/>
                </a:solidFill>
              </a:rPr>
              <a:t>~했던 것처럼: did = obtained their staple foods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 which is an essential skill to guard and manage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which · to부정사</a:t>
            </a:r>
            <a:endParaRPr lang="en-US" sz="1700" dirty="0"/>
          </a:p>
          <a:p>
            <a:pPr indent="0" marL="0">
              <a:spcAft>
                <a:spcPts val="200"/>
              </a:spcAft>
              <a:buNone/>
            </a:pPr>
            <a:r>
              <a:rPr lang="en-US" sz="1400" dirty="0">
                <a:solidFill>
                  <a:srgbClr val="1E2B2A"/>
                </a:solidFill>
              </a:rPr>
              <a:t>which = horse riding / to guard and manage: skill을 꾸미는 형용사적 용법</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regard horse riding, along with the life on the plains, as</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regard A as B</a:t>
            </a:r>
            <a:endParaRPr lang="en-US" sz="1700" dirty="0"/>
          </a:p>
          <a:p>
            <a:pPr indent="0" marL="0">
              <a:spcAft>
                <a:spcPts val="200"/>
              </a:spcAft>
              <a:buNone/>
            </a:pPr>
            <a:r>
              <a:rPr lang="en-US" sz="1400" dirty="0">
                <a:solidFill>
                  <a:srgbClr val="1E2B2A"/>
                </a:solidFill>
              </a:rPr>
              <a:t>A를 B로 여기다 — 삽입구 along with ~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makes them who they are</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make O C (명사절)</a:t>
            </a:r>
            <a:endParaRPr lang="en-US" sz="1700" dirty="0"/>
          </a:p>
          <a:p>
            <a:pPr indent="0" marL="0">
              <a:spcAft>
                <a:spcPts val="200"/>
              </a:spcAft>
              <a:buNone/>
            </a:pPr>
            <a:r>
              <a:rPr lang="en-US" sz="1400" dirty="0">
                <a:solidFill>
                  <a:srgbClr val="1E2B2A"/>
                </a:solidFill>
              </a:rPr>
              <a:t>목적격 보어 자리에 명사절 who they are: 그들을 그들답게 만들다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Many Mongolians (A) their nomadic lifestyle because they believe their old traditions are essential to their cultural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많은 몽골인들은 자신들의 오랜 전통이 문화적 (B)에 필수적이라고 믿기 때문에 유목 생활 방식을 (A)한다.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생활 방식을 어떻게? / (B) 전통은 무엇에 필수적?</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…regard horse riding … as irreplaceable heritage that makes them who they are.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승마를 자신들을 자신들답게 만드는 대체할 수 없는 유산으로 여긴다 → (B) identity</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도시화된 세상에서도 몽골인들은 천 년 된 생활 방식을 '보존'한다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근거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평야에서 유목 생활 · 기르는 동물에서 유제품·고기를 얻음</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근거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가축 관리에 필수인 승마 전통을 '계속' 이어 감</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승마 + 평야의 삶 = '자신들을 자신들답게 만드는' 유산 → 정체성</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maintain ----- identity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유지하다 = preserve·continue / 정체성 = who they are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abandon ----- diversity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버리다 ✘ / 다양성 ✘ → 글은 '보존한다'</a:t>
            </a:r>
            <a:endParaRPr lang="en-US" sz="1200" dirty="0"/>
          </a:p>
        </p:txBody>
      </p:sp>
      <p:sp>
        <p:nvSpPr>
          <p:cNvPr id="13" name="Text 11"/>
          <p:cNvSpPr/>
          <p:nvPr/>
        </p:nvSpPr>
        <p:spPr>
          <a:xfrm>
            <a:off x="10332720" y="1600200"/>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maintain ----- diversity</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유지하다 ✔ / 다양성 ✘ → 다양성 이야기 없음</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7E9E4"/>
          </a:solidFill>
          <a:ln w="25400">
            <a:solidFill>
              <a:srgbClr val="EF5B3F"/>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maintain ----- identity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유지하다 = preserve·continue / 정체성 = who they are</a:t>
            </a:r>
            <a:endParaRPr lang="en-US" sz="1200" dirty="0"/>
          </a:p>
        </p:txBody>
      </p:sp>
      <p:sp>
        <p:nvSpPr>
          <p:cNvPr id="23" name="Text 21"/>
          <p:cNvSpPr/>
          <p:nvPr/>
        </p:nvSpPr>
        <p:spPr>
          <a:xfrm>
            <a:off x="10332720" y="3630168"/>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reform ----- identity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개혁하다 ✘ / 정체성 ✔ → 전통을 바꾸지 않음</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reform ----- complexity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개혁하다 ✘ / 복잡성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In 2006, Benedetto De Martino conducted a famous psychology experiment.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participants were each given $50 and separated into two groups—group A and B.</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Group A was given two (a) </a:t>
            </a:r>
            <a:pPr indent="0" marL="0">
              <a:lnSpc>
                <a:spcPct val="115000"/>
              </a:lnSpc>
              <a:buNone/>
            </a:pPr>
            <a:r>
              <a:rPr lang="en-US" sz="1500" b="1" u="sng" dirty="0">
                <a:solidFill>
                  <a:srgbClr val="1E2B2A"/>
                </a:solidFill>
              </a:rPr>
              <a:t>options</a:t>
            </a:r>
            <a:pPr indent="0" marL="0">
              <a:lnSpc>
                <a:spcPct val="115000"/>
              </a:lnSpc>
              <a:buNone/>
            </a:pPr>
            <a:r>
              <a:rPr lang="en-US" sz="1500" dirty="0">
                <a:solidFill>
                  <a:srgbClr val="1E2B2A"/>
                </a:solidFill>
              </a:rPr>
              <a:t>, “You can either gamble with that money or lose $30 of it.”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Group B was also given two options: “You can either gamble with that money or keep $20 of it.”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Having heard these options, 61.9% of participants in group A chose to gamble, while only 42.9% of participants in group B chose to gamble.</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you may have noticed, the two groups were given options that actually led to an identical outcome.</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However, because the choices were framed using two different terms, ‘lose’ versus ‘keep’, the participants came to different decisions.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(b) </a:t>
            </a:r>
            <a:pPr indent="0" marL="0">
              <a:lnSpc>
                <a:spcPct val="115000"/>
              </a:lnSpc>
              <a:buNone/>
            </a:pPr>
            <a:r>
              <a:rPr lang="en-US" sz="1500" b="1" u="sng" dirty="0">
                <a:solidFill>
                  <a:srgbClr val="1E2B2A"/>
                </a:solidFill>
              </a:rPr>
              <a:t>This</a:t>
            </a:r>
            <a:pPr indent="0" marL="0">
              <a:lnSpc>
                <a:spcPct val="115000"/>
              </a:lnSpc>
              <a:buNone/>
            </a:pPr>
            <a:r>
              <a:rPr lang="en-US" sz="1500" dirty="0">
                <a:solidFill>
                  <a:srgbClr val="1E2B2A"/>
                </a:solidFill>
              </a:rPr>
              <a:t> is called the “framing effect”.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Using words that make people think of a negative outcome will yield different behavioral results than using words that make them think of a positive outcome.</a:t>
            </a:r>
            <a:endParaRPr lang="en-US" sz="1500" dirty="0"/>
          </a:p>
          <a:p>
            <a:pPr algn="r" indent="0" marL="0">
              <a:lnSpc>
                <a:spcPct val="115000"/>
              </a:lnSpc>
              <a:spcBef>
                <a:spcPts val="200"/>
              </a:spcBef>
              <a:buNone/>
            </a:pPr>
            <a:r>
              <a:rPr lang="en-US" sz="1100" i="1" dirty="0">
                <a:solidFill>
                  <a:srgbClr val="6E7F7C"/>
                </a:solidFill>
              </a:rPr>
              <a:t>*frame (특정한 방식으로) 표현하다</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When people face a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situation, they are not likely to choose an option that makes them expect a possible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a:t>
            </a:r>
            <a:endParaRPr lang="en-US" sz="1500" dirty="0"/>
          </a:p>
          <a:p>
            <a:pPr indent="0" marL="0">
              <a:lnSpc>
                <a:spcPct val="115000"/>
              </a:lnSpc>
              <a:spcBef>
                <a:spcPts val="1000"/>
              </a:spcBef>
              <a:buNone/>
            </a:pPr>
            <a:r>
              <a:rPr lang="en-US" sz="1500" dirty="0">
                <a:solidFill>
                  <a:srgbClr val="14453D"/>
                </a:solidFill>
              </a:rPr>
              <a:t>①  profit-sharing ----- trade</a:t>
            </a:r>
            <a:endParaRPr lang="en-US" sz="1500" dirty="0"/>
          </a:p>
          <a:p>
            <a:pPr indent="0" marL="0">
              <a:lnSpc>
                <a:spcPct val="115000"/>
              </a:lnSpc>
              <a:spcBef>
                <a:spcPts val="200"/>
              </a:spcBef>
              <a:buNone/>
            </a:pPr>
            <a:r>
              <a:rPr lang="en-US" sz="1500" dirty="0">
                <a:solidFill>
                  <a:srgbClr val="14453D"/>
                </a:solidFill>
              </a:rPr>
              <a:t>②  life-threatening ----- profit</a:t>
            </a:r>
            <a:endParaRPr lang="en-US" sz="1500" dirty="0"/>
          </a:p>
          <a:p>
            <a:pPr indent="0" marL="0">
              <a:lnSpc>
                <a:spcPct val="115000"/>
              </a:lnSpc>
              <a:spcBef>
                <a:spcPts val="200"/>
              </a:spcBef>
              <a:buNone/>
            </a:pPr>
            <a:r>
              <a:rPr lang="en-US" sz="1500" dirty="0">
                <a:solidFill>
                  <a:srgbClr val="14453D"/>
                </a:solidFill>
              </a:rPr>
              <a:t>③  life-threatening ----- loss</a:t>
            </a:r>
            <a:endParaRPr lang="en-US" sz="1500" dirty="0"/>
          </a:p>
          <a:p>
            <a:pPr indent="0" marL="0">
              <a:lnSpc>
                <a:spcPct val="115000"/>
              </a:lnSpc>
              <a:spcBef>
                <a:spcPts val="200"/>
              </a:spcBef>
              <a:buNone/>
            </a:pPr>
            <a:r>
              <a:rPr lang="en-US" sz="1500" dirty="0">
                <a:solidFill>
                  <a:srgbClr val="14453D"/>
                </a:solidFill>
              </a:rPr>
              <a:t>④  decision-making ----- profit</a:t>
            </a:r>
            <a:endParaRPr lang="en-US" sz="1500" dirty="0"/>
          </a:p>
          <a:p>
            <a:pPr indent="0" marL="0">
              <a:lnSpc>
                <a:spcPct val="115000"/>
              </a:lnSpc>
              <a:spcBef>
                <a:spcPts val="200"/>
              </a:spcBef>
              <a:buNone/>
            </a:pPr>
            <a:r>
              <a:rPr lang="en-US" sz="1500" dirty="0">
                <a:solidFill>
                  <a:srgbClr val="14453D"/>
                </a:solidFill>
              </a:rPr>
              <a:t>⑤  decision-making ----- loss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In 2006, Benedetto De Martino </a:t>
            </a:r>
            <a:pPr indent="0" marL="0">
              <a:lnSpc>
                <a:spcPct val="120000"/>
              </a:lnSpc>
              <a:buNone/>
            </a:pPr>
            <a:r>
              <a:rPr lang="en-US" sz="1800" u="dotted" dirty="0">
                <a:solidFill>
                  <a:srgbClr val="1F7A64"/>
                </a:solidFill>
                <a:uFill>
                  <a:solidFill>
                    <a:srgbClr val="1F7A64"/>
                  </a:solidFill>
                </a:uFill>
              </a:rPr>
              <a:t>conducted</a:t>
            </a:r>
            <a:pPr indent="0" marL="0">
              <a:lnSpc>
                <a:spcPct val="120000"/>
              </a:lnSpc>
              <a:buNone/>
            </a:pPr>
            <a:r>
              <a:rPr lang="en-US" sz="1800" dirty="0">
                <a:solidFill>
                  <a:srgbClr val="1E2B2A"/>
                </a:solidFill>
              </a:rPr>
              <a:t> a famous psychology experiment.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a:t>
            </a:r>
            <a:pPr indent="0" marL="0">
              <a:lnSpc>
                <a:spcPct val="120000"/>
              </a:lnSpc>
              <a:buNone/>
            </a:pPr>
            <a:r>
              <a:rPr lang="en-US" sz="1800" u="dotted" dirty="0">
                <a:solidFill>
                  <a:srgbClr val="1F7A64"/>
                </a:solidFill>
                <a:uFill>
                  <a:solidFill>
                    <a:srgbClr val="1F7A64"/>
                  </a:solidFill>
                </a:uFill>
              </a:rPr>
              <a:t>participants</a:t>
            </a:r>
            <a:pPr indent="0" marL="0">
              <a:lnSpc>
                <a:spcPct val="120000"/>
              </a:lnSpc>
              <a:buNone/>
            </a:pPr>
            <a:r>
              <a:rPr lang="en-US" sz="1800" dirty="0">
                <a:solidFill>
                  <a:srgbClr val="1E2B2A"/>
                </a:solidFill>
              </a:rPr>
              <a:t> </a:t>
            </a:r>
            <a:pPr indent="0" marL="0">
              <a:lnSpc>
                <a:spcPct val="120000"/>
              </a:lnSpc>
              <a:buNone/>
            </a:pPr>
            <a:r>
              <a:rPr lang="en-US" sz="1800" b="1" dirty="0">
                <a:solidFill>
                  <a:srgbClr val="2C7DA0"/>
                </a:solidFill>
              </a:rPr>
              <a:t>were each given $50 and separated into</a:t>
            </a:r>
            <a:pPr indent="0" marL="0">
              <a:lnSpc>
                <a:spcPct val="120000"/>
              </a:lnSpc>
              <a:buNone/>
            </a:pPr>
            <a:r>
              <a:rPr lang="en-US" sz="1800" dirty="0">
                <a:solidFill>
                  <a:srgbClr val="1E2B2A"/>
                </a:solidFill>
              </a:rPr>
              <a:t> two groups—group A and B.</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Group A was given two (a) </a:t>
            </a:r>
            <a:pPr indent="0" marL="0">
              <a:lnSpc>
                <a:spcPct val="120000"/>
              </a:lnSpc>
              <a:buNone/>
            </a:pPr>
            <a:r>
              <a:rPr lang="en-US" sz="1800" b="1" u="sng" dirty="0">
                <a:solidFill>
                  <a:srgbClr val="1E2B2A"/>
                </a:solidFill>
              </a:rPr>
              <a:t>options</a:t>
            </a:r>
            <a:pPr indent="0" marL="0">
              <a:lnSpc>
                <a:spcPct val="120000"/>
              </a:lnSpc>
              <a:buNone/>
            </a:pPr>
            <a:r>
              <a:rPr lang="en-US" sz="1800" dirty="0">
                <a:solidFill>
                  <a:srgbClr val="1E2B2A"/>
                </a:solidFill>
              </a:rPr>
              <a:t>, “You can either </a:t>
            </a:r>
            <a:pPr indent="0" marL="0">
              <a:lnSpc>
                <a:spcPct val="120000"/>
              </a:lnSpc>
              <a:buNone/>
            </a:pPr>
            <a:r>
              <a:rPr lang="en-US" sz="1800" u="dotted" dirty="0">
                <a:solidFill>
                  <a:srgbClr val="1F7A64"/>
                </a:solidFill>
                <a:uFill>
                  <a:solidFill>
                    <a:srgbClr val="1F7A64"/>
                  </a:solidFill>
                </a:uFill>
              </a:rPr>
              <a:t>gamble</a:t>
            </a:r>
            <a:pPr indent="0" marL="0">
              <a:lnSpc>
                <a:spcPct val="120000"/>
              </a:lnSpc>
              <a:buNone/>
            </a:pPr>
            <a:r>
              <a:rPr lang="en-US" sz="1800" dirty="0">
                <a:solidFill>
                  <a:srgbClr val="1E2B2A"/>
                </a:solidFill>
              </a:rPr>
              <a:t> with that money or lose $30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Group B was also given two options: “You can either gamble with that money or keep $20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highlight>
                  <a:srgbClr val="FFD45C"/>
                </a:highlight>
              </a:rPr>
              <a:t>Having heard these options</a:t>
            </a:r>
            <a:pPr indent="0" marL="0">
              <a:lnSpc>
                <a:spcPct val="120000"/>
              </a:lnSpc>
              <a:buNone/>
            </a:pPr>
            <a:r>
              <a:rPr lang="en-US" sz="1800" dirty="0">
                <a:solidFill>
                  <a:srgbClr val="1E2B2A"/>
                </a:solidFill>
                <a:highlight>
                  <a:srgbClr val="FFD45C"/>
                </a:highlight>
              </a:rPr>
              <a:t>, 61.9% of participants in group A chose to gamble, while only 42.9% of participants in group B chose to gamble.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As you may have noticed, the two groups were given </a:t>
            </a:r>
            <a:pPr indent="0" marL="0">
              <a:lnSpc>
                <a:spcPct val="120000"/>
              </a:lnSpc>
              <a:buNone/>
            </a:pPr>
            <a:r>
              <a:rPr lang="en-US" sz="1800" b="1" dirty="0">
                <a:solidFill>
                  <a:srgbClr val="2C7DA0"/>
                </a:solidFill>
              </a:rPr>
              <a:t>options that actually led to an </a:t>
            </a:r>
            <a:pPr indent="0" marL="0">
              <a:lnSpc>
                <a:spcPct val="120000"/>
              </a:lnSpc>
              <a:buNone/>
            </a:pPr>
            <a:r>
              <a:rPr lang="en-US" sz="1800" b="1" u="dotted" dirty="0">
                <a:solidFill>
                  <a:srgbClr val="2C7DA0"/>
                </a:solidFill>
                <a:uFill>
                  <a:solidFill>
                    <a:srgbClr val="1F7A64"/>
                  </a:solidFill>
                </a:uFill>
              </a:rPr>
              <a:t>identical</a:t>
            </a:r>
            <a:pPr indent="0" marL="0">
              <a:lnSpc>
                <a:spcPct val="120000"/>
              </a:lnSpc>
              <a:buNone/>
            </a:pPr>
            <a:r>
              <a:rPr lang="en-US" sz="1800" b="1" dirty="0">
                <a:solidFill>
                  <a:srgbClr val="2C7DA0"/>
                </a:solidFill>
              </a:rPr>
              <a:t> </a:t>
            </a:r>
            <a:pPr indent="0" marL="0">
              <a:lnSpc>
                <a:spcPct val="120000"/>
              </a:lnSpc>
              <a:buNone/>
            </a:pPr>
            <a:r>
              <a:rPr lang="en-US" sz="1800" b="1" u="dotted" dirty="0">
                <a:solidFill>
                  <a:srgbClr val="2C7DA0"/>
                </a:solidFill>
                <a:uFill>
                  <a:solidFill>
                    <a:srgbClr val="1F7A64"/>
                  </a:solidFill>
                </a:uFill>
              </a:rPr>
              <a:t>outcome</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However, because the choices were framed using two different terms, ‘lose’ versus ‘keep’, the participants came to different decisions.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(b) </a:t>
            </a:r>
            <a:pPr indent="0" marL="0">
              <a:lnSpc>
                <a:spcPct val="120000"/>
              </a:lnSpc>
              <a:buNone/>
            </a:pPr>
            <a:r>
              <a:rPr lang="en-US" sz="1800" b="1" u="sng" dirty="0">
                <a:solidFill>
                  <a:srgbClr val="1E2B2A"/>
                </a:solidFill>
              </a:rPr>
              <a:t>This</a:t>
            </a:r>
            <a:pPr indent="0" marL="0">
              <a:lnSpc>
                <a:spcPct val="120000"/>
              </a:lnSpc>
              <a:buNone/>
            </a:pPr>
            <a:r>
              <a:rPr lang="en-US" sz="1800" dirty="0">
                <a:solidFill>
                  <a:srgbClr val="1E2B2A"/>
                </a:solidFill>
              </a:rPr>
              <a:t> is called the “framing effect”.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b="1" dirty="0">
                <a:solidFill>
                  <a:srgbClr val="2C7DA0"/>
                </a:solidFill>
                <a:highlight>
                  <a:srgbClr val="FFD45C"/>
                </a:highlight>
              </a:rPr>
              <a:t>Using words that make people think of a negative outcome will </a:t>
            </a:r>
            <a:pPr indent="0" marL="0">
              <a:lnSpc>
                <a:spcPct val="120000"/>
              </a:lnSpc>
              <a:buNone/>
            </a:pPr>
            <a:r>
              <a:rPr lang="en-US" sz="1800" b="1" u="dotted" dirty="0">
                <a:solidFill>
                  <a:srgbClr val="2C7DA0"/>
                </a:solidFill>
                <a:highlight>
                  <a:srgbClr val="FFD45C"/>
                </a:highlight>
                <a:uFill>
                  <a:solidFill>
                    <a:srgbClr val="1F7A64"/>
                  </a:solidFill>
                </a:uFill>
              </a:rPr>
              <a:t>yield</a:t>
            </a:r>
            <a:pPr indent="0" marL="0">
              <a:lnSpc>
                <a:spcPct val="120000"/>
              </a:lnSpc>
              <a:buNone/>
            </a:pPr>
            <a:r>
              <a:rPr lang="en-US" sz="1800" dirty="0">
                <a:solidFill>
                  <a:srgbClr val="1E2B2A"/>
                </a:solidFill>
                <a:highlight>
                  <a:srgbClr val="FFD45C"/>
                </a:highlight>
              </a:rPr>
              <a:t> different </a:t>
            </a:r>
            <a:pPr indent="0" marL="0">
              <a:lnSpc>
                <a:spcPct val="120000"/>
              </a:lnSpc>
              <a:buNone/>
            </a:pPr>
            <a:r>
              <a:rPr lang="en-US" sz="1800" u="dotted" dirty="0">
                <a:solidFill>
                  <a:srgbClr val="1F7A64"/>
                </a:solidFill>
                <a:highlight>
                  <a:srgbClr val="FFD45C"/>
                </a:highlight>
                <a:uFill>
                  <a:solidFill>
                    <a:srgbClr val="1F7A64"/>
                  </a:solidFill>
                </a:uFill>
              </a:rPr>
              <a:t>behavioral</a:t>
            </a:r>
            <a:pPr indent="0" marL="0">
              <a:lnSpc>
                <a:spcPct val="120000"/>
              </a:lnSpc>
              <a:buNone/>
            </a:pPr>
            <a:r>
              <a:rPr lang="en-US" sz="1800" dirty="0">
                <a:solidFill>
                  <a:srgbClr val="1E2B2A"/>
                </a:solidFill>
                <a:highlight>
                  <a:srgbClr val="FFD45C"/>
                </a:highlight>
              </a:rPr>
              <a:t> results than using words that make them think of a positive outcome.</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conducted </a:t>
            </a:r>
            <a:pPr indent="0" marL="0">
              <a:lnSpc>
                <a:spcPct val="110000"/>
              </a:lnSpc>
              <a:buNone/>
            </a:pPr>
            <a:r>
              <a:rPr lang="en-US" sz="1400" dirty="0">
                <a:solidFill>
                  <a:srgbClr val="1E2B2A"/>
                </a:solidFill>
              </a:rPr>
              <a:t>실시했다   ·   </a:t>
            </a:r>
            <a:pPr indent="0" marL="0">
              <a:lnSpc>
                <a:spcPct val="110000"/>
              </a:lnSpc>
              <a:buNone/>
            </a:pPr>
            <a:r>
              <a:rPr lang="en-US" sz="1400" b="1" dirty="0">
                <a:solidFill>
                  <a:srgbClr val="1F7A64"/>
                </a:solidFill>
              </a:rPr>
              <a:t>participants </a:t>
            </a:r>
            <a:pPr indent="0" marL="0">
              <a:lnSpc>
                <a:spcPct val="110000"/>
              </a:lnSpc>
              <a:buNone/>
            </a:pPr>
            <a:r>
              <a:rPr lang="en-US" sz="1400" dirty="0">
                <a:solidFill>
                  <a:srgbClr val="1E2B2A"/>
                </a:solidFill>
              </a:rPr>
              <a:t>참가자들   ·   </a:t>
            </a:r>
            <a:pPr indent="0" marL="0">
              <a:lnSpc>
                <a:spcPct val="110000"/>
              </a:lnSpc>
              <a:buNone/>
            </a:pPr>
            <a:r>
              <a:rPr lang="en-US" sz="1400" b="1" dirty="0">
                <a:solidFill>
                  <a:srgbClr val="1F7A64"/>
                </a:solidFill>
              </a:rPr>
              <a:t>gamble </a:t>
            </a:r>
            <a:pPr indent="0" marL="0">
              <a:lnSpc>
                <a:spcPct val="110000"/>
              </a:lnSpc>
              <a:buNone/>
            </a:pPr>
            <a:r>
              <a:rPr lang="en-US" sz="1400" dirty="0">
                <a:solidFill>
                  <a:srgbClr val="1E2B2A"/>
                </a:solidFill>
              </a:rPr>
              <a:t>도박하다   ·   </a:t>
            </a:r>
            <a:pPr indent="0" marL="0">
              <a:lnSpc>
                <a:spcPct val="110000"/>
              </a:lnSpc>
              <a:buNone/>
            </a:pPr>
            <a:r>
              <a:rPr lang="en-US" sz="1400" b="1" dirty="0">
                <a:solidFill>
                  <a:srgbClr val="1F7A64"/>
                </a:solidFill>
              </a:rPr>
              <a:t>identical </a:t>
            </a:r>
            <a:pPr indent="0" marL="0">
              <a:lnSpc>
                <a:spcPct val="110000"/>
              </a:lnSpc>
              <a:buNone/>
            </a:pPr>
            <a:r>
              <a:rPr lang="en-US" sz="1400" dirty="0">
                <a:solidFill>
                  <a:srgbClr val="1E2B2A"/>
                </a:solidFill>
              </a:rPr>
              <a:t>동일한   ·   </a:t>
            </a:r>
            <a:pPr indent="0" marL="0">
              <a:lnSpc>
                <a:spcPct val="110000"/>
              </a:lnSpc>
              <a:buNone/>
            </a:pPr>
            <a:r>
              <a:rPr lang="en-US" sz="1400" b="1" dirty="0">
                <a:solidFill>
                  <a:srgbClr val="1F7A64"/>
                </a:solidFill>
              </a:rPr>
              <a:t>outcome </a:t>
            </a:r>
            <a:pPr indent="0" marL="0">
              <a:lnSpc>
                <a:spcPct val="110000"/>
              </a:lnSpc>
              <a:buNone/>
            </a:pPr>
            <a:r>
              <a:rPr lang="en-US" sz="1400" dirty="0">
                <a:solidFill>
                  <a:srgbClr val="1E2B2A"/>
                </a:solidFill>
              </a:rPr>
              <a:t>결과   ·   </a:t>
            </a:r>
            <a:pPr indent="0" marL="0">
              <a:lnSpc>
                <a:spcPct val="110000"/>
              </a:lnSpc>
              <a:buNone/>
            </a:pPr>
            <a:r>
              <a:rPr lang="en-US" sz="1400" b="1" dirty="0">
                <a:solidFill>
                  <a:srgbClr val="1F7A64"/>
                </a:solidFill>
              </a:rPr>
              <a:t>yield </a:t>
            </a:r>
            <a:pPr indent="0" marL="0">
              <a:lnSpc>
                <a:spcPct val="110000"/>
              </a:lnSpc>
              <a:buNone/>
            </a:pPr>
            <a:r>
              <a:rPr lang="en-US" sz="1400" dirty="0">
                <a:solidFill>
                  <a:srgbClr val="1E2B2A"/>
                </a:solidFill>
              </a:rPr>
              <a:t>낳다   ·   </a:t>
            </a:r>
            <a:pPr indent="0" marL="0">
              <a:lnSpc>
                <a:spcPct val="110000"/>
              </a:lnSpc>
              <a:buNone/>
            </a:pPr>
            <a:r>
              <a:rPr lang="en-US" sz="1400" b="1" dirty="0">
                <a:solidFill>
                  <a:srgbClr val="1F7A64"/>
                </a:solidFill>
              </a:rPr>
              <a:t>behavioral </a:t>
            </a:r>
            <a:pPr indent="0" marL="0">
              <a:lnSpc>
                <a:spcPct val="110000"/>
              </a:lnSpc>
              <a:buNone/>
            </a:pPr>
            <a:r>
              <a:rPr lang="en-US" sz="1400" dirty="0">
                <a:solidFill>
                  <a:srgbClr val="1E2B2A"/>
                </a:solidFill>
              </a:rPr>
              <a:t>행동의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were each given $50 and separated into</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수동태 · 병렬</a:t>
            </a:r>
            <a:endParaRPr lang="en-US" sz="1700" dirty="0"/>
          </a:p>
          <a:p>
            <a:pPr indent="0" marL="0">
              <a:spcAft>
                <a:spcPts val="200"/>
              </a:spcAft>
              <a:buNone/>
            </a:pPr>
            <a:r>
              <a:rPr lang="en-US" sz="1400" dirty="0">
                <a:solidFill>
                  <a:srgbClr val="1E2B2A"/>
                </a:solidFill>
              </a:rPr>
              <a:t>give O1 O2의 수동 were given $50 / were (given and) separated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Having heard these options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완료 분사구문</a:t>
            </a:r>
            <a:endParaRPr lang="en-US" sz="1700" dirty="0"/>
          </a:p>
          <a:p>
            <a:pPr indent="0" marL="0">
              <a:spcAft>
                <a:spcPts val="200"/>
              </a:spcAft>
              <a:buNone/>
            </a:pPr>
            <a:r>
              <a:rPr lang="en-US" sz="1400" dirty="0">
                <a:solidFill>
                  <a:srgbClr val="1E2B2A"/>
                </a:solidFill>
              </a:rPr>
              <a:t>After they had heard ~: 주절보다 먼저 일어난 일</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options that actually led to an identical outcome</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a:t>
            </a:r>
            <a:endParaRPr lang="en-US" sz="1700" dirty="0"/>
          </a:p>
          <a:p>
            <a:pPr indent="0" marL="0">
              <a:spcAft>
                <a:spcPts val="200"/>
              </a:spcAft>
              <a:buNone/>
            </a:pPr>
            <a:r>
              <a:rPr lang="en-US" sz="1400" dirty="0">
                <a:solidFill>
                  <a:srgbClr val="1E2B2A"/>
                </a:solidFill>
              </a:rPr>
              <a:t>선행사 options(복수) → led to (lead to: ~로 이어지다)</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Using words that make people think of a negative outcome will yield</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make O 원형</a:t>
            </a:r>
            <a:endParaRPr lang="en-US" sz="1700" dirty="0"/>
          </a:p>
          <a:p>
            <a:pPr indent="0" marL="0">
              <a:spcAft>
                <a:spcPts val="200"/>
              </a:spcAft>
              <a:buNone/>
            </a:pPr>
            <a:r>
              <a:rPr lang="en-US" sz="1400" dirty="0">
                <a:solidFill>
                  <a:srgbClr val="1E2B2A"/>
                </a:solidFill>
              </a:rPr>
              <a:t>동명사 주어(단수) + will yield / make people think: 사역동사 + 동사원형</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When people face a (A) situation, they are not likely to choose an option that makes them expect a possible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사람들은 (A) 상황에 직면하면, 가능한 (B)를 예상하게 만드는 선택지를 고르지 않을 가능성이 크다.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상황? / (B) 무엇을 예상하게 하는 선택지를 피하나?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…because the choices were framed using two different terms, ‘lose’ versus ‘keep’, the participants came to different decisions.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선택지가 '잃다'와 '간직하다'로 다르게 표현되어 다른 결정을 내렸다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50달러를 받은 두 그룹에게 '도박 vs 확정' 선택지 제시</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조건</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A: '30달러를 잃는다' / B: '20달러를 간직한다' — 실제 결과는 같음</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'잃는다'를 들은 A 그룹이 도박을 훨씬 많이 선택 (61.9% vs 42.9%)</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틀 효과: 손실(loss)을 떠올리게 하는 선택지는 피한다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decision-making ----- loss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의사 결정 상황 / 손실(lose)을 예상 → 피함</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profit-sharing ----- trade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이익 공유 ✘ / 거래 ✘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life-threatening ----- profit</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생명 위협 ✘ / 이익 ✘ → 이익이 아니라 손실을 피함</a:t>
            </a:r>
            <a:endParaRPr lang="en-US" sz="1200" dirty="0"/>
          </a:p>
        </p:txBody>
      </p:sp>
      <p:sp>
        <p:nvSpPr>
          <p:cNvPr id="18" name="Text 16"/>
          <p:cNvSpPr/>
          <p:nvPr/>
        </p:nvSpPr>
        <p:spPr>
          <a:xfrm>
            <a:off x="10332720" y="2615184"/>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life-threatening ----- loss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생명 위협 ✘ / 손실 ✔</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decision-making ----- profit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의사 결정 ✔ / 이익 ✘ → 이익은 오히려 선호</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7E9E4"/>
          </a:solidFill>
          <a:ln w="25400">
            <a:solidFill>
              <a:srgbClr val="EF5B3F"/>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decision-making ----- loss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의사 결정 상황 / 손실(lose)을 예상 → 피함</a:t>
            </a:r>
            <a:endParaRPr lang="en-US" sz="1200" dirty="0"/>
          </a:p>
        </p:txBody>
      </p:sp>
      <p:sp>
        <p:nvSpPr>
          <p:cNvPr id="33" name="Text 31"/>
          <p:cNvSpPr/>
          <p:nvPr/>
        </p:nvSpPr>
        <p:spPr>
          <a:xfrm>
            <a:off x="10332720" y="5660136"/>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While studying obesity in human networks, Nicholas Christakis and his colleagues at Harvard University made an important discovery: if you have obese friends, there is a greater chance that you will become obese yourself.</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Similarly, if you have fit and healthy friends, you are more likely to be fit and healthy.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happens because we tend to copy the behavior of those around us.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if your friends invite you to restaurants that serve fatty foods, you will become more inclined to eat fatty food.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On the other hand, you may start jogging on your own after you have run beside your friend a few times.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Nicholas calls this transfer of behavior “social contagion."</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Many cases of such social contagion happen in subtle ways in our daily lives through social networks: the spread of smoking, the spread of diet, even the spread of happiness.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We barely notice this interesting hidden principle, but it can actually determine many of our life choices.</a:t>
            </a:r>
            <a:endParaRPr lang="en-US" sz="1500" dirty="0"/>
          </a:p>
          <a:p>
            <a:pPr algn="r" indent="0" marL="0">
              <a:lnSpc>
                <a:spcPct val="115000"/>
              </a:lnSpc>
              <a:spcBef>
                <a:spcPts val="200"/>
              </a:spcBef>
              <a:buNone/>
            </a:pPr>
            <a:r>
              <a:rPr lang="en-US" sz="1100" i="1" dirty="0">
                <a:solidFill>
                  <a:srgbClr val="6E7F7C"/>
                </a:solidFill>
              </a:rPr>
              <a:t>*contagion 전염, 확산</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The social contagion theory illustrates how one person’s action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another’s desire to perform the same action through social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a:t>
            </a:r>
            <a:endParaRPr lang="en-US" sz="1500" dirty="0"/>
          </a:p>
          <a:p>
            <a:pPr indent="0" marL="0">
              <a:lnSpc>
                <a:spcPct val="115000"/>
              </a:lnSpc>
              <a:spcBef>
                <a:spcPts val="1000"/>
              </a:spcBef>
              <a:buNone/>
            </a:pPr>
            <a:r>
              <a:rPr lang="en-US" sz="1500" dirty="0">
                <a:solidFill>
                  <a:srgbClr val="14453D"/>
                </a:solidFill>
              </a:rPr>
              <a:t>①  triggers ----- contacts</a:t>
            </a:r>
            <a:endParaRPr lang="en-US" sz="1500" dirty="0"/>
          </a:p>
          <a:p>
            <a:pPr indent="0" marL="0">
              <a:lnSpc>
                <a:spcPct val="115000"/>
              </a:lnSpc>
              <a:spcBef>
                <a:spcPts val="200"/>
              </a:spcBef>
              <a:buNone/>
            </a:pPr>
            <a:r>
              <a:rPr lang="en-US" sz="1500" dirty="0">
                <a:solidFill>
                  <a:srgbClr val="14453D"/>
                </a:solidFill>
              </a:rPr>
              <a:t>②  reflects ----- contacts</a:t>
            </a:r>
            <a:endParaRPr lang="en-US" sz="1500" dirty="0"/>
          </a:p>
          <a:p>
            <a:pPr indent="0" marL="0">
              <a:lnSpc>
                <a:spcPct val="115000"/>
              </a:lnSpc>
              <a:spcBef>
                <a:spcPts val="200"/>
              </a:spcBef>
              <a:buNone/>
            </a:pPr>
            <a:r>
              <a:rPr lang="en-US" sz="1500" dirty="0">
                <a:solidFill>
                  <a:srgbClr val="14453D"/>
                </a:solidFill>
              </a:rPr>
              <a:t>③  triggers ----- structures</a:t>
            </a:r>
            <a:endParaRPr lang="en-US" sz="1500" dirty="0"/>
          </a:p>
          <a:p>
            <a:pPr indent="0" marL="0">
              <a:lnSpc>
                <a:spcPct val="115000"/>
              </a:lnSpc>
              <a:spcBef>
                <a:spcPts val="200"/>
              </a:spcBef>
              <a:buNone/>
            </a:pPr>
            <a:r>
              <a:rPr lang="en-US" sz="1500" dirty="0">
                <a:solidFill>
                  <a:srgbClr val="14453D"/>
                </a:solidFill>
              </a:rPr>
              <a:t>④  approves ----- structures</a:t>
            </a:r>
            <a:endParaRPr lang="en-US" sz="1500" dirty="0"/>
          </a:p>
          <a:p>
            <a:pPr indent="0" marL="0">
              <a:lnSpc>
                <a:spcPct val="115000"/>
              </a:lnSpc>
              <a:spcBef>
                <a:spcPts val="200"/>
              </a:spcBef>
              <a:buNone/>
            </a:pPr>
            <a:r>
              <a:rPr lang="en-US" sz="1500" dirty="0">
                <a:solidFill>
                  <a:srgbClr val="14453D"/>
                </a:solidFill>
              </a:rPr>
              <a:t>⑤  approves ----- pressure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b="1" dirty="0">
                <a:solidFill>
                  <a:srgbClr val="2C7DA0"/>
                </a:solidFill>
              </a:rPr>
              <a:t>While studying </a:t>
            </a:r>
            <a:pPr indent="0" marL="0">
              <a:lnSpc>
                <a:spcPct val="120000"/>
              </a:lnSpc>
              <a:buNone/>
            </a:pPr>
            <a:r>
              <a:rPr lang="en-US" sz="1700" b="1" u="dotted" dirty="0">
                <a:solidFill>
                  <a:srgbClr val="2C7DA0"/>
                </a:solidFill>
                <a:uFill>
                  <a:solidFill>
                    <a:srgbClr val="1F7A64"/>
                  </a:solidFill>
                </a:uFill>
              </a:rPr>
              <a:t>obesity</a:t>
            </a:r>
            <a:pPr indent="0" marL="0">
              <a:lnSpc>
                <a:spcPct val="120000"/>
              </a:lnSpc>
              <a:buNone/>
            </a:pPr>
            <a:r>
              <a:rPr lang="en-US" sz="1700" dirty="0">
                <a:solidFill>
                  <a:srgbClr val="1E2B2A"/>
                </a:solidFill>
              </a:rPr>
              <a:t> in human networks, Nicholas Christakis and his </a:t>
            </a:r>
            <a:pPr indent="0" marL="0">
              <a:lnSpc>
                <a:spcPct val="120000"/>
              </a:lnSpc>
              <a:buNone/>
            </a:pPr>
            <a:r>
              <a:rPr lang="en-US" sz="1700" u="dotted" dirty="0">
                <a:solidFill>
                  <a:srgbClr val="1F7A64"/>
                </a:solidFill>
                <a:uFill>
                  <a:solidFill>
                    <a:srgbClr val="1F7A64"/>
                  </a:solidFill>
                </a:uFill>
              </a:rPr>
              <a:t>colleagues</a:t>
            </a:r>
            <a:pPr indent="0" marL="0">
              <a:lnSpc>
                <a:spcPct val="120000"/>
              </a:lnSpc>
              <a:buNone/>
            </a:pPr>
            <a:r>
              <a:rPr lang="en-US" sz="1700" dirty="0">
                <a:solidFill>
                  <a:srgbClr val="1E2B2A"/>
                </a:solidFill>
              </a:rPr>
              <a:t> at Harvard University made an important discovery: if you have obese friends, there is </a:t>
            </a:r>
            <a:pPr indent="0" marL="0">
              <a:lnSpc>
                <a:spcPct val="120000"/>
              </a:lnSpc>
              <a:buNone/>
            </a:pPr>
            <a:r>
              <a:rPr lang="en-US" sz="1700" b="1" dirty="0">
                <a:solidFill>
                  <a:srgbClr val="2C7DA0"/>
                </a:solidFill>
              </a:rPr>
              <a:t>a greater chance that you will become obese yourself</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Similarly, if you have fit and healthy friends, you are more likely to be fit and healthy.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This happens because we tend to copy the behavior of those around us.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if your friends invite you to restaurants that serve fatty foods, you will </a:t>
            </a:r>
            <a:pPr indent="0" marL="0">
              <a:lnSpc>
                <a:spcPct val="120000"/>
              </a:lnSpc>
              <a:buNone/>
            </a:pPr>
            <a:r>
              <a:rPr lang="en-US" sz="1700" b="1" dirty="0">
                <a:solidFill>
                  <a:srgbClr val="2C7DA0"/>
                </a:solidFill>
              </a:rPr>
              <a:t>become more </a:t>
            </a:r>
            <a:pPr indent="0" marL="0">
              <a:lnSpc>
                <a:spcPct val="120000"/>
              </a:lnSpc>
              <a:buNone/>
            </a:pPr>
            <a:r>
              <a:rPr lang="en-US" sz="1700" b="1" u="dotted" dirty="0">
                <a:solidFill>
                  <a:srgbClr val="2C7DA0"/>
                </a:solidFill>
                <a:uFill>
                  <a:solidFill>
                    <a:srgbClr val="1F7A64"/>
                  </a:solidFill>
                </a:uFill>
              </a:rPr>
              <a:t>inclined</a:t>
            </a:r>
            <a:pPr indent="0" marL="0">
              <a:lnSpc>
                <a:spcPct val="120000"/>
              </a:lnSpc>
              <a:buNone/>
            </a:pPr>
            <a:r>
              <a:rPr lang="en-US" sz="1700" b="1" dirty="0">
                <a:solidFill>
                  <a:srgbClr val="2C7DA0"/>
                </a:solidFill>
              </a:rPr>
              <a:t> to eat</a:t>
            </a:r>
            <a:pPr indent="0" marL="0">
              <a:lnSpc>
                <a:spcPct val="120000"/>
              </a:lnSpc>
              <a:buNone/>
            </a:pPr>
            <a:r>
              <a:rPr lang="en-US" sz="1700" dirty="0">
                <a:solidFill>
                  <a:srgbClr val="1E2B2A"/>
                </a:solidFill>
              </a:rPr>
              <a:t> fatty food.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On the other hand, you may start jogging on your own after you have run beside your friend a few times.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Nicholas calls this </a:t>
            </a:r>
            <a:pPr indent="0" marL="0">
              <a:lnSpc>
                <a:spcPct val="120000"/>
              </a:lnSpc>
              <a:buNone/>
            </a:pPr>
            <a:r>
              <a:rPr lang="en-US" sz="1700" u="dotted" dirty="0">
                <a:solidFill>
                  <a:srgbClr val="1F7A64"/>
                </a:solidFill>
                <a:highlight>
                  <a:srgbClr val="FFD45C"/>
                </a:highlight>
                <a:uFill>
                  <a:solidFill>
                    <a:srgbClr val="1F7A64"/>
                  </a:solidFill>
                </a:uFill>
              </a:rPr>
              <a:t>transfer</a:t>
            </a:r>
            <a:pPr indent="0" marL="0">
              <a:lnSpc>
                <a:spcPct val="120000"/>
              </a:lnSpc>
              <a:buNone/>
            </a:pPr>
            <a:r>
              <a:rPr lang="en-US" sz="1700" dirty="0">
                <a:solidFill>
                  <a:srgbClr val="1E2B2A"/>
                </a:solidFill>
                <a:highlight>
                  <a:srgbClr val="FFD45C"/>
                </a:highlight>
              </a:rPr>
              <a:t> of behavior “social contagion."</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b="1" dirty="0">
                <a:solidFill>
                  <a:srgbClr val="2C7DA0"/>
                </a:solidFill>
                <a:highlight>
                  <a:srgbClr val="FFD45C"/>
                </a:highlight>
              </a:rPr>
              <a:t>Many cases of such social contagion happen</a:t>
            </a:r>
            <a:pPr indent="0" marL="0">
              <a:lnSpc>
                <a:spcPct val="120000"/>
              </a:lnSpc>
              <a:buNone/>
            </a:pPr>
            <a:r>
              <a:rPr lang="en-US" sz="1700" dirty="0">
                <a:solidFill>
                  <a:srgbClr val="1E2B2A"/>
                </a:solidFill>
                <a:highlight>
                  <a:srgbClr val="FFD45C"/>
                </a:highlight>
              </a:rPr>
              <a:t> in </a:t>
            </a:r>
            <a:pPr indent="0" marL="0">
              <a:lnSpc>
                <a:spcPct val="120000"/>
              </a:lnSpc>
              <a:buNone/>
            </a:pPr>
            <a:r>
              <a:rPr lang="en-US" sz="1700" u="dotted" dirty="0">
                <a:solidFill>
                  <a:srgbClr val="1F7A64"/>
                </a:solidFill>
                <a:highlight>
                  <a:srgbClr val="FFD45C"/>
                </a:highlight>
                <a:uFill>
                  <a:solidFill>
                    <a:srgbClr val="1F7A64"/>
                  </a:solidFill>
                </a:uFill>
              </a:rPr>
              <a:t>subtle</a:t>
            </a:r>
            <a:pPr indent="0" marL="0">
              <a:lnSpc>
                <a:spcPct val="120000"/>
              </a:lnSpc>
              <a:buNone/>
            </a:pPr>
            <a:r>
              <a:rPr lang="en-US" sz="1700" dirty="0">
                <a:solidFill>
                  <a:srgbClr val="1E2B2A"/>
                </a:solidFill>
                <a:highlight>
                  <a:srgbClr val="FFD45C"/>
                </a:highlight>
              </a:rPr>
              <a:t> ways in our daily lives through social networks: the spread of smoking, the spread of diet, even the spread of happiness.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b="1" dirty="0">
                <a:solidFill>
                  <a:srgbClr val="2C7DA0"/>
                </a:solidFill>
              </a:rPr>
              <a:t>We </a:t>
            </a:r>
            <a:pPr indent="0" marL="0">
              <a:lnSpc>
                <a:spcPct val="120000"/>
              </a:lnSpc>
              <a:buNone/>
            </a:pPr>
            <a:r>
              <a:rPr lang="en-US" sz="1700" b="1" u="dotted" dirty="0">
                <a:solidFill>
                  <a:srgbClr val="2C7DA0"/>
                </a:solidFill>
                <a:uFill>
                  <a:solidFill>
                    <a:srgbClr val="1F7A64"/>
                  </a:solidFill>
                </a:uFill>
              </a:rPr>
              <a:t>barely</a:t>
            </a:r>
            <a:pPr indent="0" marL="0">
              <a:lnSpc>
                <a:spcPct val="120000"/>
              </a:lnSpc>
              <a:buNone/>
            </a:pPr>
            <a:r>
              <a:rPr lang="en-US" sz="1700" b="1" dirty="0">
                <a:solidFill>
                  <a:srgbClr val="2C7DA0"/>
                </a:solidFill>
              </a:rPr>
              <a:t> notice</a:t>
            </a:r>
            <a:pPr indent="0" marL="0">
              <a:lnSpc>
                <a:spcPct val="120000"/>
              </a:lnSpc>
              <a:buNone/>
            </a:pPr>
            <a:r>
              <a:rPr lang="en-US" sz="1700" dirty="0">
                <a:solidFill>
                  <a:srgbClr val="1E2B2A"/>
                </a:solidFill>
              </a:rPr>
              <a:t> this interesting hidden principle, but it can actually </a:t>
            </a:r>
            <a:pPr indent="0" marL="0">
              <a:lnSpc>
                <a:spcPct val="120000"/>
              </a:lnSpc>
              <a:buNone/>
            </a:pPr>
            <a:r>
              <a:rPr lang="en-US" sz="1700" u="dotted" dirty="0">
                <a:solidFill>
                  <a:srgbClr val="1F7A64"/>
                </a:solidFill>
                <a:uFill>
                  <a:solidFill>
                    <a:srgbClr val="1F7A64"/>
                  </a:solidFill>
                </a:uFill>
              </a:rPr>
              <a:t>determine</a:t>
            </a:r>
            <a:pPr indent="0" marL="0">
              <a:lnSpc>
                <a:spcPct val="120000"/>
              </a:lnSpc>
              <a:buNone/>
            </a:pPr>
            <a:r>
              <a:rPr lang="en-US" sz="1700" dirty="0">
                <a:solidFill>
                  <a:srgbClr val="1E2B2A"/>
                </a:solidFill>
              </a:rPr>
              <a:t> many of our life choices.</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obesity </a:t>
            </a:r>
            <a:pPr indent="0" marL="0">
              <a:lnSpc>
                <a:spcPct val="110000"/>
              </a:lnSpc>
              <a:buNone/>
            </a:pPr>
            <a:r>
              <a:rPr lang="en-US" sz="1400" dirty="0">
                <a:solidFill>
                  <a:srgbClr val="1E2B2A"/>
                </a:solidFill>
              </a:rPr>
              <a:t>비만   ·   </a:t>
            </a:r>
            <a:pPr indent="0" marL="0">
              <a:lnSpc>
                <a:spcPct val="110000"/>
              </a:lnSpc>
              <a:buNone/>
            </a:pPr>
            <a:r>
              <a:rPr lang="en-US" sz="1400" b="1" dirty="0">
                <a:solidFill>
                  <a:srgbClr val="1F7A64"/>
                </a:solidFill>
              </a:rPr>
              <a:t>colleagues </a:t>
            </a:r>
            <a:pPr indent="0" marL="0">
              <a:lnSpc>
                <a:spcPct val="110000"/>
              </a:lnSpc>
              <a:buNone/>
            </a:pPr>
            <a:r>
              <a:rPr lang="en-US" sz="1400" dirty="0">
                <a:solidFill>
                  <a:srgbClr val="1E2B2A"/>
                </a:solidFill>
              </a:rPr>
              <a:t>동료들   ·   </a:t>
            </a:r>
            <a:pPr indent="0" marL="0">
              <a:lnSpc>
                <a:spcPct val="110000"/>
              </a:lnSpc>
              <a:buNone/>
            </a:pPr>
            <a:r>
              <a:rPr lang="en-US" sz="1400" b="1" dirty="0">
                <a:solidFill>
                  <a:srgbClr val="1F7A64"/>
                </a:solidFill>
              </a:rPr>
              <a:t>inclined </a:t>
            </a:r>
            <a:pPr indent="0" marL="0">
              <a:lnSpc>
                <a:spcPct val="110000"/>
              </a:lnSpc>
              <a:buNone/>
            </a:pPr>
            <a:r>
              <a:rPr lang="en-US" sz="1400" dirty="0">
                <a:solidFill>
                  <a:srgbClr val="1E2B2A"/>
                </a:solidFill>
              </a:rPr>
              <a:t>~하고 싶은   ·   </a:t>
            </a:r>
            <a:pPr indent="0" marL="0">
              <a:lnSpc>
                <a:spcPct val="110000"/>
              </a:lnSpc>
              <a:buNone/>
            </a:pPr>
            <a:r>
              <a:rPr lang="en-US" sz="1400" b="1" dirty="0">
                <a:solidFill>
                  <a:srgbClr val="1F7A64"/>
                </a:solidFill>
              </a:rPr>
              <a:t>transfer </a:t>
            </a:r>
            <a:pPr indent="0" marL="0">
              <a:lnSpc>
                <a:spcPct val="110000"/>
              </a:lnSpc>
              <a:buNone/>
            </a:pPr>
            <a:r>
              <a:rPr lang="en-US" sz="1400" dirty="0">
                <a:solidFill>
                  <a:srgbClr val="1E2B2A"/>
                </a:solidFill>
              </a:rPr>
              <a:t>전이   ·   </a:t>
            </a:r>
            <a:pPr indent="0" marL="0">
              <a:lnSpc>
                <a:spcPct val="110000"/>
              </a:lnSpc>
              <a:buNone/>
            </a:pPr>
            <a:r>
              <a:rPr lang="en-US" sz="1400" b="1" dirty="0">
                <a:solidFill>
                  <a:srgbClr val="1F7A64"/>
                </a:solidFill>
              </a:rPr>
              <a:t>subtle </a:t>
            </a:r>
            <a:pPr indent="0" marL="0">
              <a:lnSpc>
                <a:spcPct val="110000"/>
              </a:lnSpc>
              <a:buNone/>
            </a:pPr>
            <a:r>
              <a:rPr lang="en-US" sz="1400" dirty="0">
                <a:solidFill>
                  <a:srgbClr val="1E2B2A"/>
                </a:solidFill>
              </a:rPr>
              <a:t>미묘한   ·   </a:t>
            </a:r>
            <a:pPr indent="0" marL="0">
              <a:lnSpc>
                <a:spcPct val="110000"/>
              </a:lnSpc>
              <a:buNone/>
            </a:pPr>
            <a:r>
              <a:rPr lang="en-US" sz="1400" b="1" dirty="0">
                <a:solidFill>
                  <a:srgbClr val="1F7A64"/>
                </a:solidFill>
              </a:rPr>
              <a:t>barely </a:t>
            </a:r>
            <a:pPr indent="0" marL="0">
              <a:lnSpc>
                <a:spcPct val="110000"/>
              </a:lnSpc>
              <a:buNone/>
            </a:pPr>
            <a:r>
              <a:rPr lang="en-US" sz="1400" dirty="0">
                <a:solidFill>
                  <a:srgbClr val="1E2B2A"/>
                </a:solidFill>
              </a:rPr>
              <a:t>거의 ~않다   ·   </a:t>
            </a:r>
            <a:pPr indent="0" marL="0">
              <a:lnSpc>
                <a:spcPct val="110000"/>
              </a:lnSpc>
              <a:buNone/>
            </a:pPr>
            <a:r>
              <a:rPr lang="en-US" sz="1400" b="1" dirty="0">
                <a:solidFill>
                  <a:srgbClr val="1F7A64"/>
                </a:solidFill>
              </a:rPr>
              <a:t>determine </a:t>
            </a:r>
            <a:pPr indent="0" marL="0">
              <a:lnSpc>
                <a:spcPct val="110000"/>
              </a:lnSpc>
              <a:buNone/>
            </a:pPr>
            <a:r>
              <a:rPr lang="en-US" sz="1400" dirty="0">
                <a:solidFill>
                  <a:srgbClr val="1E2B2A"/>
                </a:solidFill>
              </a:rPr>
              <a:t>결정하다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While studying obesity</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While (they were) studying ~</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a greater chance that you will become obese yourself</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동격의 that</a:t>
            </a:r>
            <a:endParaRPr lang="en-US" sz="1700" dirty="0"/>
          </a:p>
          <a:p>
            <a:pPr indent="0" marL="0">
              <a:spcAft>
                <a:spcPts val="200"/>
              </a:spcAft>
              <a:buNone/>
            </a:pPr>
            <a:r>
              <a:rPr lang="en-US" sz="1400" dirty="0">
                <a:solidFill>
                  <a:srgbClr val="1E2B2A"/>
                </a:solidFill>
              </a:rPr>
              <a:t>chance = that절 (~할 가능성) / yourself 강조 용법</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become more inclined to eat</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be(become) inclined to V</a:t>
            </a:r>
            <a:endParaRPr lang="en-US" sz="1700" dirty="0"/>
          </a:p>
          <a:p>
            <a:pPr indent="0" marL="0">
              <a:spcAft>
                <a:spcPts val="200"/>
              </a:spcAft>
              <a:buNone/>
            </a:pPr>
            <a:r>
              <a:rPr lang="en-US" sz="1400" dirty="0">
                <a:solidFill>
                  <a:srgbClr val="1E2B2A"/>
                </a:solidFill>
              </a:rPr>
              <a:t>~하고 싶어지다 (to부정사)</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Many cases of such social contagion happen</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주어-동사 수일치</a:t>
            </a:r>
            <a:endParaRPr lang="en-US" sz="1700" dirty="0"/>
          </a:p>
          <a:p>
            <a:pPr indent="0" marL="0">
              <a:spcAft>
                <a:spcPts val="200"/>
              </a:spcAft>
              <a:buNone/>
            </a:pPr>
            <a:r>
              <a:rPr lang="en-US" sz="1400" dirty="0">
                <a:solidFill>
                  <a:srgbClr val="1E2B2A"/>
                </a:solidFill>
              </a:rPr>
              <a:t>주어 Many cases(복수) → happen (of ~ 수식어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We barely notice</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준부정어 barely</a:t>
            </a:r>
            <a:endParaRPr lang="en-US" sz="1700" dirty="0"/>
          </a:p>
          <a:p>
            <a:pPr indent="0" marL="0">
              <a:spcAft>
                <a:spcPts val="200"/>
              </a:spcAft>
              <a:buNone/>
            </a:pPr>
            <a:r>
              <a:rPr lang="en-US" sz="1400" dirty="0">
                <a:solidFill>
                  <a:srgbClr val="1E2B2A"/>
                </a:solidFill>
              </a:rPr>
              <a:t>거의 ~않다 (not과 함께 쓰지 않음)</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The social contagion theory illustrates how one person’s action (A) another’s desire to perform the same action through social (B).</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사회적 전염 이론은 한 사람의 행동이 사회적 (B)을 통해 다른 사람의 같은 행동을 하려는 욕구를 어떻게 (A)하는지 보여 준다.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행동이 욕구를 어떻게 하나? / (B) 무엇을 통해?</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This happens because we tend to copy the behavior of those around us.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이것은 우리가 주변 사람들의 행동을 따라 하는 경향이 있기 때문이다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발견</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비만인 친구가 있으면 나도 비만, 건강한 친구가 있으면 나도 건강</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이유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우리는 주변 사람들의 행동을 따라 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친구 따라 기름진 음식 / 친구 따라 조깅 시작</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사회적 전염: 행동이 사회적 관계망(contacts)을 통해 퍼진다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triggers ----- contacts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유발하다 = 따라 하게 만들다 / 접촉 = friends·networks</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triggers ----- contacts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유발하다 = 따라 하게 만들다 / 접촉 = friends·networks</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reflects ----- contacts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반영하다 ✘ / 접촉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triggers ----- structures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유발하다 ✔ / 구조 ✘ → 사회 구조 이야기 아님</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approves ----- structures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승인하다 ✘ / 구조 ✘</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approves ----- pressure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승인하다 ✘ / 압력 ✘ → '사회적 압력' 연상 함정</a:t>
            </a:r>
            <a:endParaRPr lang="en-US" sz="1200" dirty="0"/>
          </a:p>
        </p:txBody>
      </p:sp>
      <p:sp>
        <p:nvSpPr>
          <p:cNvPr id="33" name="Text 31"/>
          <p:cNvSpPr/>
          <p:nvPr/>
        </p:nvSpPr>
        <p:spPr>
          <a:xfrm>
            <a:off x="10332720" y="5660136"/>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Have you ever thought about what you are good at and not so good at during internal conversations with yourself?</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Inner thought processes like this help you get a clearer picture of your strengths and weaknesses.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During the process, you may ask yourself a series of questions to identify blind spots that may be blocking you from reaching your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reflection process enables you to clearly see potential problems and ways to fix them.</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It is not only essential in personal development but also critical to corporate success.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most consistently innovative companies in the world promote a culture which includes this self-inquiry.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It is this self-awareness that allows the company to excel at developing innovative and outstanding products.</a:t>
            </a:r>
            <a:endParaRPr lang="en-US" sz="1500" dirty="0"/>
          </a:p>
          <a:p>
            <a:pPr algn="r" indent="0" marL="0">
              <a:lnSpc>
                <a:spcPct val="115000"/>
              </a:lnSpc>
              <a:spcBef>
                <a:spcPts val="200"/>
              </a:spcBef>
              <a:buNone/>
            </a:pPr>
            <a:r>
              <a:rPr lang="en-US" sz="1100" i="1" dirty="0">
                <a:solidFill>
                  <a:srgbClr val="6E7F7C"/>
                </a:solidFill>
              </a:rPr>
              <a:t>*blind spot 맹점, 약점</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Our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efforts to understand the strong points and weak points of a subject through the process of self-reflection can lead to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 achievement as well as individual progress.</a:t>
            </a:r>
            <a:endParaRPr lang="en-US" sz="1500" dirty="0"/>
          </a:p>
          <a:p>
            <a:pPr indent="0" marL="0">
              <a:lnSpc>
                <a:spcPct val="115000"/>
              </a:lnSpc>
              <a:spcBef>
                <a:spcPts val="1000"/>
              </a:spcBef>
              <a:buNone/>
            </a:pPr>
            <a:r>
              <a:rPr lang="en-US" sz="1500" dirty="0">
                <a:solidFill>
                  <a:srgbClr val="14453D"/>
                </a:solidFill>
              </a:rPr>
              <a:t>①  inventive ----- professional</a:t>
            </a:r>
            <a:endParaRPr lang="en-US" sz="1500" dirty="0"/>
          </a:p>
          <a:p>
            <a:pPr indent="0" marL="0">
              <a:lnSpc>
                <a:spcPct val="115000"/>
              </a:lnSpc>
              <a:spcBef>
                <a:spcPts val="200"/>
              </a:spcBef>
              <a:buNone/>
            </a:pPr>
            <a:r>
              <a:rPr lang="en-US" sz="1500" dirty="0">
                <a:solidFill>
                  <a:srgbClr val="14453D"/>
                </a:solidFill>
              </a:rPr>
              <a:t>②  inventive ----- unexpected</a:t>
            </a:r>
            <a:endParaRPr lang="en-US" sz="1500" dirty="0"/>
          </a:p>
          <a:p>
            <a:pPr indent="0" marL="0">
              <a:lnSpc>
                <a:spcPct val="115000"/>
              </a:lnSpc>
              <a:spcBef>
                <a:spcPts val="200"/>
              </a:spcBef>
              <a:buNone/>
            </a:pPr>
            <a:r>
              <a:rPr lang="en-US" sz="1500" dirty="0">
                <a:solidFill>
                  <a:srgbClr val="14453D"/>
                </a:solidFill>
              </a:rPr>
              <a:t>③  independent ----- immediate</a:t>
            </a:r>
            <a:endParaRPr lang="en-US" sz="1500" dirty="0"/>
          </a:p>
          <a:p>
            <a:pPr indent="0" marL="0">
              <a:lnSpc>
                <a:spcPct val="115000"/>
              </a:lnSpc>
              <a:spcBef>
                <a:spcPts val="200"/>
              </a:spcBef>
              <a:buNone/>
            </a:pPr>
            <a:r>
              <a:rPr lang="en-US" sz="1500" dirty="0">
                <a:solidFill>
                  <a:srgbClr val="14453D"/>
                </a:solidFill>
              </a:rPr>
              <a:t>④  conscious ----- collective</a:t>
            </a:r>
            <a:endParaRPr lang="en-US" sz="1500" dirty="0"/>
          </a:p>
          <a:p>
            <a:pPr indent="0" marL="0">
              <a:lnSpc>
                <a:spcPct val="115000"/>
              </a:lnSpc>
              <a:spcBef>
                <a:spcPts val="200"/>
              </a:spcBef>
              <a:buNone/>
            </a:pPr>
            <a:r>
              <a:rPr lang="en-US" sz="1500" dirty="0">
                <a:solidFill>
                  <a:srgbClr val="14453D"/>
                </a:solidFill>
              </a:rPr>
              <a:t>⑤  conscious ----- modest</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Have you ever thought about </a:t>
            </a:r>
            <a:pPr indent="0" marL="0">
              <a:lnSpc>
                <a:spcPct val="120000"/>
              </a:lnSpc>
              <a:buNone/>
            </a:pPr>
            <a:r>
              <a:rPr lang="en-US" sz="1700" b="1" dirty="0">
                <a:solidFill>
                  <a:srgbClr val="2C7DA0"/>
                </a:solidFill>
              </a:rPr>
              <a:t>what you are good at and not so good at</a:t>
            </a:r>
            <a:pPr indent="0" marL="0">
              <a:lnSpc>
                <a:spcPct val="120000"/>
              </a:lnSpc>
              <a:buNone/>
            </a:pPr>
            <a:r>
              <a:rPr lang="en-US" sz="1700" dirty="0">
                <a:solidFill>
                  <a:srgbClr val="1E2B2A"/>
                </a:solidFill>
              </a:rPr>
              <a:t> during </a:t>
            </a:r>
            <a:pPr indent="0" marL="0">
              <a:lnSpc>
                <a:spcPct val="120000"/>
              </a:lnSpc>
              <a:buNone/>
            </a:pPr>
            <a:r>
              <a:rPr lang="en-US" sz="1700" u="dotted" dirty="0">
                <a:solidFill>
                  <a:srgbClr val="1F7A64"/>
                </a:solidFill>
                <a:uFill>
                  <a:solidFill>
                    <a:srgbClr val="1F7A64"/>
                  </a:solidFill>
                </a:uFill>
              </a:rPr>
              <a:t>internal</a:t>
            </a:r>
            <a:pPr indent="0" marL="0">
              <a:lnSpc>
                <a:spcPct val="120000"/>
              </a:lnSpc>
              <a:buNone/>
            </a:pPr>
            <a:r>
              <a:rPr lang="en-US" sz="1700" dirty="0">
                <a:solidFill>
                  <a:srgbClr val="1E2B2A"/>
                </a:solidFill>
              </a:rPr>
              <a:t> conversations with yourself?</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Inner thought processes like this </a:t>
            </a:r>
            <a:pPr indent="0" marL="0">
              <a:lnSpc>
                <a:spcPct val="120000"/>
              </a:lnSpc>
              <a:buNone/>
            </a:pPr>
            <a:r>
              <a:rPr lang="en-US" sz="1700" b="1" dirty="0">
                <a:solidFill>
                  <a:srgbClr val="2C7DA0"/>
                </a:solidFill>
                <a:highlight>
                  <a:srgbClr val="FFD45C"/>
                </a:highlight>
              </a:rPr>
              <a:t>help you get a clearer picture</a:t>
            </a:r>
            <a:pPr indent="0" marL="0">
              <a:lnSpc>
                <a:spcPct val="120000"/>
              </a:lnSpc>
              <a:buNone/>
            </a:pPr>
            <a:r>
              <a:rPr lang="en-US" sz="1700" dirty="0">
                <a:solidFill>
                  <a:srgbClr val="1E2B2A"/>
                </a:solidFill>
                <a:highlight>
                  <a:srgbClr val="FFD45C"/>
                </a:highlight>
              </a:rPr>
              <a:t> of your strengths and weaknesses.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During the process, you may ask yourself a series of questions to </a:t>
            </a:r>
            <a:pPr indent="0" marL="0">
              <a:lnSpc>
                <a:spcPct val="120000"/>
              </a:lnSpc>
              <a:buNone/>
            </a:pPr>
            <a:r>
              <a:rPr lang="en-US" sz="1700" u="dotted" dirty="0">
                <a:solidFill>
                  <a:srgbClr val="1F7A64"/>
                </a:solidFill>
                <a:uFill>
                  <a:solidFill>
                    <a:srgbClr val="1F7A64"/>
                  </a:solidFill>
                </a:uFill>
              </a:rPr>
              <a:t>identify</a:t>
            </a:r>
            <a:pPr indent="0" marL="0">
              <a:lnSpc>
                <a:spcPct val="120000"/>
              </a:lnSpc>
              <a:buNone/>
            </a:pPr>
            <a:r>
              <a:rPr lang="en-US" sz="1700" dirty="0">
                <a:solidFill>
                  <a:srgbClr val="1E2B2A"/>
                </a:solidFill>
              </a:rPr>
              <a:t> blind spots that may be blocking you from reaching your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highlight>
                  <a:srgbClr val="FFD45C"/>
                </a:highlight>
              </a:rPr>
              <a:t>This reflection process </a:t>
            </a:r>
            <a:pPr indent="0" marL="0">
              <a:lnSpc>
                <a:spcPct val="120000"/>
              </a:lnSpc>
              <a:buNone/>
            </a:pPr>
            <a:r>
              <a:rPr lang="en-US" sz="1700" b="1" dirty="0">
                <a:solidFill>
                  <a:srgbClr val="2C7DA0"/>
                </a:solidFill>
                <a:highlight>
                  <a:srgbClr val="FFD45C"/>
                </a:highlight>
              </a:rPr>
              <a:t>enables you to clearly see</a:t>
            </a:r>
            <a:pPr indent="0" marL="0">
              <a:lnSpc>
                <a:spcPct val="120000"/>
              </a:lnSpc>
              <a:buNone/>
            </a:pPr>
            <a:r>
              <a:rPr lang="en-US" sz="1700" dirty="0">
                <a:solidFill>
                  <a:srgbClr val="1E2B2A"/>
                </a:solidFill>
                <a:highlight>
                  <a:srgbClr val="FFD45C"/>
                </a:highlight>
              </a:rPr>
              <a:t> potential problems and ways to fix them.</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b="1" dirty="0">
                <a:solidFill>
                  <a:srgbClr val="2C7DA0"/>
                </a:solidFill>
                <a:highlight>
                  <a:srgbClr val="FFD45C"/>
                </a:highlight>
              </a:rPr>
              <a:t>It is not only essential in personal development but also critical</a:t>
            </a:r>
            <a:pPr indent="0" marL="0">
              <a:lnSpc>
                <a:spcPct val="120000"/>
              </a:lnSpc>
              <a:buNone/>
            </a:pPr>
            <a:r>
              <a:rPr lang="en-US" sz="1700" dirty="0">
                <a:solidFill>
                  <a:srgbClr val="1E2B2A"/>
                </a:solidFill>
                <a:highlight>
                  <a:srgbClr val="FFD45C"/>
                </a:highlight>
              </a:rPr>
              <a:t> to </a:t>
            </a:r>
            <a:pPr indent="0" marL="0">
              <a:lnSpc>
                <a:spcPct val="120000"/>
              </a:lnSpc>
              <a:buNone/>
            </a:pPr>
            <a:r>
              <a:rPr lang="en-US" sz="1700" u="dotted" dirty="0">
                <a:solidFill>
                  <a:srgbClr val="1F7A64"/>
                </a:solidFill>
                <a:highlight>
                  <a:srgbClr val="FFD45C"/>
                </a:highlight>
                <a:uFill>
                  <a:solidFill>
                    <a:srgbClr val="1F7A64"/>
                  </a:solidFill>
                </a:uFill>
              </a:rPr>
              <a:t>corporate</a:t>
            </a:r>
            <a:pPr indent="0" marL="0">
              <a:lnSpc>
                <a:spcPct val="120000"/>
              </a:lnSpc>
              <a:buNone/>
            </a:pPr>
            <a:r>
              <a:rPr lang="en-US" sz="1700" dirty="0">
                <a:solidFill>
                  <a:srgbClr val="1E2B2A"/>
                </a:solidFill>
                <a:highlight>
                  <a:srgbClr val="FFD45C"/>
                </a:highlight>
              </a:rPr>
              <a:t> success.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The most </a:t>
            </a:r>
            <a:pPr indent="0" marL="0">
              <a:lnSpc>
                <a:spcPct val="120000"/>
              </a:lnSpc>
              <a:buNone/>
            </a:pPr>
            <a:r>
              <a:rPr lang="en-US" sz="1700" u="dotted" dirty="0">
                <a:solidFill>
                  <a:srgbClr val="1F7A64"/>
                </a:solidFill>
                <a:highlight>
                  <a:srgbClr val="FFD45C"/>
                </a:highlight>
                <a:uFill>
                  <a:solidFill>
                    <a:srgbClr val="1F7A64"/>
                  </a:solidFill>
                </a:uFill>
              </a:rPr>
              <a:t>consistently</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u="dotted" dirty="0">
                <a:solidFill>
                  <a:srgbClr val="1F7A64"/>
                </a:solidFill>
                <a:highlight>
                  <a:srgbClr val="FFD45C"/>
                </a:highlight>
                <a:uFill>
                  <a:solidFill>
                    <a:srgbClr val="1F7A64"/>
                  </a:solidFill>
                </a:uFill>
              </a:rPr>
              <a:t>innovative</a:t>
            </a:r>
            <a:pPr indent="0" marL="0">
              <a:lnSpc>
                <a:spcPct val="120000"/>
              </a:lnSpc>
              <a:buNone/>
            </a:pPr>
            <a:r>
              <a:rPr lang="en-US" sz="1700" dirty="0">
                <a:solidFill>
                  <a:srgbClr val="1E2B2A"/>
                </a:solidFill>
                <a:highlight>
                  <a:srgbClr val="FFD45C"/>
                </a:highlight>
              </a:rPr>
              <a:t> companies in the world promote a culture which includes this </a:t>
            </a:r>
            <a:pPr indent="0" marL="0">
              <a:lnSpc>
                <a:spcPct val="120000"/>
              </a:lnSpc>
              <a:buNone/>
            </a:pPr>
            <a:r>
              <a:rPr lang="en-US" sz="1700" u="dotted" dirty="0">
                <a:solidFill>
                  <a:srgbClr val="1F7A64"/>
                </a:solidFill>
                <a:highlight>
                  <a:srgbClr val="FFD45C"/>
                </a:highlight>
                <a:uFill>
                  <a:solidFill>
                    <a:srgbClr val="1F7A64"/>
                  </a:solidFill>
                </a:uFill>
              </a:rPr>
              <a:t>self-inquiry</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b="1" dirty="0">
                <a:solidFill>
                  <a:srgbClr val="2C7DA0"/>
                </a:solidFill>
              </a:rPr>
              <a:t>It is this self-awareness that allows</a:t>
            </a:r>
            <a:pPr indent="0" marL="0">
              <a:lnSpc>
                <a:spcPct val="120000"/>
              </a:lnSpc>
              <a:buNone/>
            </a:pPr>
            <a:r>
              <a:rPr lang="en-US" sz="1700" dirty="0">
                <a:solidFill>
                  <a:srgbClr val="1E2B2A"/>
                </a:solidFill>
              </a:rPr>
              <a:t> the company to </a:t>
            </a:r>
            <a:pPr indent="0" marL="0">
              <a:lnSpc>
                <a:spcPct val="120000"/>
              </a:lnSpc>
              <a:buNone/>
            </a:pPr>
            <a:r>
              <a:rPr lang="en-US" sz="1700" u="dotted" dirty="0">
                <a:solidFill>
                  <a:srgbClr val="1F7A64"/>
                </a:solidFill>
                <a:uFill>
                  <a:solidFill>
                    <a:srgbClr val="1F7A64"/>
                  </a:solidFill>
                </a:uFill>
              </a:rPr>
              <a:t>excel</a:t>
            </a:r>
            <a:pPr indent="0" marL="0">
              <a:lnSpc>
                <a:spcPct val="120000"/>
              </a:lnSpc>
              <a:buNone/>
            </a:pPr>
            <a:r>
              <a:rPr lang="en-US" sz="1700" dirty="0">
                <a:solidFill>
                  <a:srgbClr val="1E2B2A"/>
                </a:solidFill>
              </a:rPr>
              <a:t> at developing innovative and outstanding products.</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internal </a:t>
            </a:r>
            <a:pPr indent="0" marL="0">
              <a:lnSpc>
                <a:spcPct val="110000"/>
              </a:lnSpc>
              <a:buNone/>
            </a:pPr>
            <a:r>
              <a:rPr lang="en-US" sz="1400" dirty="0">
                <a:solidFill>
                  <a:srgbClr val="1E2B2A"/>
                </a:solidFill>
              </a:rPr>
              <a:t>내적인   ·   </a:t>
            </a:r>
            <a:pPr indent="0" marL="0">
              <a:lnSpc>
                <a:spcPct val="110000"/>
              </a:lnSpc>
              <a:buNone/>
            </a:pPr>
            <a:r>
              <a:rPr lang="en-US" sz="1400" b="1" dirty="0">
                <a:solidFill>
                  <a:srgbClr val="1F7A64"/>
                </a:solidFill>
              </a:rPr>
              <a:t>identify </a:t>
            </a:r>
            <a:pPr indent="0" marL="0">
              <a:lnSpc>
                <a:spcPct val="110000"/>
              </a:lnSpc>
              <a:buNone/>
            </a:pPr>
            <a:r>
              <a:rPr lang="en-US" sz="1400" dirty="0">
                <a:solidFill>
                  <a:srgbClr val="1E2B2A"/>
                </a:solidFill>
              </a:rPr>
              <a:t>찾아내다   ·   </a:t>
            </a:r>
            <a:pPr indent="0" marL="0">
              <a:lnSpc>
                <a:spcPct val="110000"/>
              </a:lnSpc>
              <a:buNone/>
            </a:pPr>
            <a:r>
              <a:rPr lang="en-US" sz="1400" b="1" dirty="0">
                <a:solidFill>
                  <a:srgbClr val="1F7A64"/>
                </a:solidFill>
              </a:rPr>
              <a:t>corporate </a:t>
            </a:r>
            <a:pPr indent="0" marL="0">
              <a:lnSpc>
                <a:spcPct val="110000"/>
              </a:lnSpc>
              <a:buNone/>
            </a:pPr>
            <a:r>
              <a:rPr lang="en-US" sz="1400" dirty="0">
                <a:solidFill>
                  <a:srgbClr val="1E2B2A"/>
                </a:solidFill>
              </a:rPr>
              <a:t>기업의   ·   </a:t>
            </a:r>
            <a:pPr indent="0" marL="0">
              <a:lnSpc>
                <a:spcPct val="110000"/>
              </a:lnSpc>
              <a:buNone/>
            </a:pPr>
            <a:r>
              <a:rPr lang="en-US" sz="1400" b="1" dirty="0">
                <a:solidFill>
                  <a:srgbClr val="1F7A64"/>
                </a:solidFill>
              </a:rPr>
              <a:t>consistently </a:t>
            </a:r>
            <a:pPr indent="0" marL="0">
              <a:lnSpc>
                <a:spcPct val="110000"/>
              </a:lnSpc>
              <a:buNone/>
            </a:pPr>
            <a:r>
              <a:rPr lang="en-US" sz="1400" dirty="0">
                <a:solidFill>
                  <a:srgbClr val="1E2B2A"/>
                </a:solidFill>
              </a:rPr>
              <a:t>꾸준히   ·   </a:t>
            </a:r>
            <a:pPr indent="0" marL="0">
              <a:lnSpc>
                <a:spcPct val="110000"/>
              </a:lnSpc>
              <a:buNone/>
            </a:pPr>
            <a:r>
              <a:rPr lang="en-US" sz="1400" b="1" dirty="0">
                <a:solidFill>
                  <a:srgbClr val="1F7A64"/>
                </a:solidFill>
              </a:rPr>
              <a:t>innovative </a:t>
            </a:r>
            <a:pPr indent="0" marL="0">
              <a:lnSpc>
                <a:spcPct val="110000"/>
              </a:lnSpc>
              <a:buNone/>
            </a:pPr>
            <a:r>
              <a:rPr lang="en-US" sz="1400" dirty="0">
                <a:solidFill>
                  <a:srgbClr val="1E2B2A"/>
                </a:solidFill>
              </a:rPr>
              <a:t>혁신적인   ·   </a:t>
            </a:r>
            <a:pPr indent="0" marL="0">
              <a:lnSpc>
                <a:spcPct val="110000"/>
              </a:lnSpc>
              <a:buNone/>
            </a:pPr>
            <a:r>
              <a:rPr lang="en-US" sz="1400" b="1" dirty="0">
                <a:solidFill>
                  <a:srgbClr val="1F7A64"/>
                </a:solidFill>
              </a:rPr>
              <a:t>self-inquiry </a:t>
            </a:r>
            <a:pPr indent="0" marL="0">
              <a:lnSpc>
                <a:spcPct val="110000"/>
              </a:lnSpc>
              <a:buNone/>
            </a:pPr>
            <a:r>
              <a:rPr lang="en-US" sz="1400" dirty="0">
                <a:solidFill>
                  <a:srgbClr val="1E2B2A"/>
                </a:solidFill>
              </a:rPr>
              <a:t>자기 탐구   ·   </a:t>
            </a:r>
            <a:pPr indent="0" marL="0">
              <a:lnSpc>
                <a:spcPct val="110000"/>
              </a:lnSpc>
              <a:buNone/>
            </a:pPr>
            <a:r>
              <a:rPr lang="en-US" sz="1400" b="1" dirty="0">
                <a:solidFill>
                  <a:srgbClr val="1F7A64"/>
                </a:solidFill>
              </a:rPr>
              <a:t>excel </a:t>
            </a:r>
            <a:pPr indent="0" marL="0">
              <a:lnSpc>
                <a:spcPct val="110000"/>
              </a:lnSpc>
              <a:buNone/>
            </a:pPr>
            <a:r>
              <a:rPr lang="en-US" sz="1400" dirty="0">
                <a:solidFill>
                  <a:srgbClr val="1E2B2A"/>
                </a:solidFill>
              </a:rPr>
              <a:t>뛰어나다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what you are good at and not so good at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 · 전치사 during</a:t>
            </a:r>
            <a:endParaRPr lang="en-US" sz="1700" dirty="0"/>
          </a:p>
          <a:p>
            <a:pPr indent="0" marL="0">
              <a:spcAft>
                <a:spcPts val="200"/>
              </a:spcAft>
              <a:buNone/>
            </a:pPr>
            <a:r>
              <a:rPr lang="en-US" sz="1400" dirty="0">
                <a:solidFill>
                  <a:srgbClr val="1E2B2A"/>
                </a:solidFill>
              </a:rPr>
              <a:t>about의 목적어로 간접의문문 / 뒤에 명사구 → 전치사 during</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help you get a clearer picture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help O 원형</a:t>
            </a:r>
            <a:endParaRPr lang="en-US" sz="1700" dirty="0"/>
          </a:p>
          <a:p>
            <a:pPr indent="0" marL="0">
              <a:spcAft>
                <a:spcPts val="200"/>
              </a:spcAft>
              <a:buNone/>
            </a:pPr>
            <a:r>
              <a:rPr lang="en-US" sz="1400" dirty="0">
                <a:solidFill>
                  <a:srgbClr val="1E2B2A"/>
                </a:solidFill>
              </a:rPr>
              <a:t>help + 목적어 + (to) 동사원형</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enables you to clearly see</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enable O to V · 부사</a:t>
            </a:r>
            <a:endParaRPr lang="en-US" sz="1700" dirty="0"/>
          </a:p>
          <a:p>
            <a:pPr indent="0" marL="0">
              <a:spcAft>
                <a:spcPts val="200"/>
              </a:spcAft>
              <a:buNone/>
            </a:pPr>
            <a:r>
              <a:rPr lang="en-US" sz="1400" dirty="0">
                <a:solidFill>
                  <a:srgbClr val="1E2B2A"/>
                </a:solidFill>
              </a:rPr>
              <a:t>동사 see를 꾸미므로 부사 clearly</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It is not only essential in personal development but also critical</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형용사 essential / critical 병렬</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It is this self-awareness that allows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this self-awareness를 강조. that 뒤 동사 allows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Our (A) efforts to understand the strong points and weak points of a subject through the process of self-reflection can lead to (B) achievement as well as individual progress.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자기 성찰 과정을 통해 대상의 강점과 약점을 이해하려는 우리의 (A) 노력은 개인의 발전뿐 아니라 (B) 성취로 이어질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노력? / (B) 개인 발전 말고 또 어떤 성취?</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It is not only essential in personal development but also critical to corporate success.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그것은 개인 발전에 필수적일 뿐 아니라 기업의 성공에도 매우 중요하다 → (B) collective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질문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나는 무엇을 잘하고 못할까? — 내적 대화</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효과</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강점·약점을 분명히 보고, 맹점을 찾아 고칠 방법을 봄</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확장</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 발전 + 기업의 성공에도 중요 (not only A but also B)</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구글: 금요일 자유 시간에 프로젝트 성찰 → 혁신 제품</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conscious ----- collective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의식적인 = 스스로 묻는 성찰 / 집단적인 = corporate success</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inventive ----- professional</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창의적인 ✘ / 직업적인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inventive ----- unexpected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창의적인 ✘ / 예상치 못한 ✘</a:t>
            </a:r>
            <a:endParaRPr lang="en-US" sz="1200" dirty="0"/>
          </a:p>
        </p:txBody>
      </p:sp>
      <p:sp>
        <p:nvSpPr>
          <p:cNvPr id="18" name="Text 16"/>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independent ----- immediate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독립적인 ✘ / 즉각적인 ✘</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conscious ----- collective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의식적인 = 스스로 묻는 성찰 / 집단적인 = corporate success</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conscious ----- modest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의식적인 ✔ / 적당한 ✘</a:t>
            </a:r>
            <a:endParaRPr lang="en-US" sz="1200" dirty="0"/>
          </a:p>
        </p:txBody>
      </p:sp>
      <p:sp>
        <p:nvSpPr>
          <p:cNvPr id="33" name="Text 31"/>
          <p:cNvSpPr/>
          <p:nvPr/>
        </p:nvSpPr>
        <p:spPr>
          <a:xfrm>
            <a:off x="10332720" y="5660136"/>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To increase the probability of survival, many animals have evolved a sophisticated sense of smell, which consists of two distinct sensory systems.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first system is responsible for detecting an odor.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second system is responsible for understanding that odor and communicating it to the part of the brain responsible for sending the proper messages to your body’s organs, causing them to respond accordingly.</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 latter system plays a crucial role in interpreting the hidden messages contained in different odors.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many marine animals, including fish and lobsters, release a specific chemical odor to warn others of the presence of danger.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Failure to detect and decode this odor properly would make the subject easy prey for a predator.</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Consequently, the ability to recognize whether the odor released is one of fear, danger, or hunger is vital to an animal’s survival.</a:t>
            </a:r>
            <a:endParaRPr lang="en-US" sz="1500" dirty="0"/>
          </a:p>
          <a:p>
            <a:pPr algn="r" indent="0" marL="0">
              <a:lnSpc>
                <a:spcPct val="115000"/>
              </a:lnSpc>
              <a:spcBef>
                <a:spcPts val="200"/>
              </a:spcBef>
              <a:buNone/>
            </a:pPr>
            <a:r>
              <a:rPr lang="en-US" sz="1100" i="1" dirty="0">
                <a:solidFill>
                  <a:srgbClr val="6E7F7C"/>
                </a:solidFill>
              </a:rPr>
              <a:t>*decode 판독하다</a:t>
            </a:r>
            <a:endParaRPr lang="en-US" sz="1500" dirty="0"/>
          </a:p>
          <a:p>
            <a:pPr indent="0" marL="0">
              <a:lnSpc>
                <a:spcPct val="115000"/>
              </a:lnSpc>
              <a:spcBef>
                <a:spcPts val="800"/>
              </a:spcBef>
              <a:buNone/>
            </a:pPr>
            <a:r>
              <a:rPr lang="en-US" sz="1500" b="1" dirty="0">
                <a:solidFill>
                  <a:srgbClr val="1F7A64"/>
                </a:solidFill>
              </a:rPr>
              <a:t>↓  </a:t>
            </a:r>
            <a:pPr indent="0" marL="0">
              <a:lnSpc>
                <a:spcPct val="115000"/>
              </a:lnSpc>
              <a:buNone/>
            </a:pPr>
            <a:r>
              <a:rPr lang="en-US" sz="1500" dirty="0">
                <a:solidFill>
                  <a:srgbClr val="14453D"/>
                </a:solidFill>
              </a:rPr>
              <a:t>Survival of some animals can depend on two sensory systems, the functions of which involve </a:t>
            </a:r>
            <a:pPr indent="0" marL="0">
              <a:lnSpc>
                <a:spcPct val="115000"/>
              </a:lnSpc>
              <a:buNone/>
            </a:pPr>
            <a:r>
              <a:rPr lang="en-US" sz="1500" b="1" dirty="0">
                <a:solidFill>
                  <a:srgbClr val="EF5B3F"/>
                </a:solidFill>
              </a:rPr>
              <a:t>(A)</a:t>
            </a:r>
            <a:pPr indent="0" marL="0">
              <a:lnSpc>
                <a:spcPct val="115000"/>
              </a:lnSpc>
              <a:buNone/>
            </a:pPr>
            <a:r>
              <a:rPr lang="en-US" sz="1500" dirty="0">
                <a:solidFill>
                  <a:srgbClr val="14453D"/>
                </a:solidFill>
              </a:rPr>
              <a:t> odors that other subjects release to </a:t>
            </a:r>
            <a:pPr indent="0" marL="0">
              <a:lnSpc>
                <a:spcPct val="115000"/>
              </a:lnSpc>
              <a:buNone/>
            </a:pPr>
            <a:r>
              <a:rPr lang="en-US" sz="1500" b="1" dirty="0">
                <a:solidFill>
                  <a:srgbClr val="EF5B3F"/>
                </a:solidFill>
              </a:rPr>
              <a:t>(B)</a:t>
            </a:r>
            <a:pPr indent="0" marL="0">
              <a:lnSpc>
                <a:spcPct val="115000"/>
              </a:lnSpc>
              <a:buNone/>
            </a:pPr>
            <a:r>
              <a:rPr lang="en-US" sz="1500" dirty="0">
                <a:solidFill>
                  <a:srgbClr val="14453D"/>
                </a:solidFill>
              </a:rPr>
              <a:t> approaching danger to other members of the species.</a:t>
            </a:r>
            <a:endParaRPr lang="en-US" sz="1500" dirty="0"/>
          </a:p>
          <a:p>
            <a:pPr indent="0" marL="0">
              <a:lnSpc>
                <a:spcPct val="115000"/>
              </a:lnSpc>
              <a:spcBef>
                <a:spcPts val="1000"/>
              </a:spcBef>
              <a:buNone/>
            </a:pPr>
            <a:r>
              <a:rPr lang="en-US" sz="1500" dirty="0">
                <a:solidFill>
                  <a:srgbClr val="14453D"/>
                </a:solidFill>
              </a:rPr>
              <a:t>①  eliminating ----- defeat</a:t>
            </a:r>
            <a:endParaRPr lang="en-US" sz="1500" dirty="0"/>
          </a:p>
          <a:p>
            <a:pPr indent="0" marL="0">
              <a:lnSpc>
                <a:spcPct val="115000"/>
              </a:lnSpc>
              <a:spcBef>
                <a:spcPts val="200"/>
              </a:spcBef>
              <a:buNone/>
            </a:pPr>
            <a:r>
              <a:rPr lang="en-US" sz="1500" dirty="0">
                <a:solidFill>
                  <a:srgbClr val="14453D"/>
                </a:solidFill>
              </a:rPr>
              <a:t>②  interpreting ----- signal</a:t>
            </a:r>
            <a:endParaRPr lang="en-US" sz="1500" dirty="0"/>
          </a:p>
          <a:p>
            <a:pPr indent="0" marL="0">
              <a:lnSpc>
                <a:spcPct val="115000"/>
              </a:lnSpc>
              <a:spcBef>
                <a:spcPts val="200"/>
              </a:spcBef>
              <a:buNone/>
            </a:pPr>
            <a:r>
              <a:rPr lang="en-US" sz="1500" dirty="0">
                <a:solidFill>
                  <a:srgbClr val="14453D"/>
                </a:solidFill>
              </a:rPr>
              <a:t>③  interpreting ----- defeat</a:t>
            </a:r>
            <a:endParaRPr lang="en-US" sz="1500" dirty="0"/>
          </a:p>
          <a:p>
            <a:pPr indent="0" marL="0">
              <a:lnSpc>
                <a:spcPct val="115000"/>
              </a:lnSpc>
              <a:spcBef>
                <a:spcPts val="200"/>
              </a:spcBef>
              <a:buNone/>
            </a:pPr>
            <a:r>
              <a:rPr lang="en-US" sz="1500" dirty="0">
                <a:solidFill>
                  <a:srgbClr val="14453D"/>
                </a:solidFill>
              </a:rPr>
              <a:t>④  distributing ----- signal</a:t>
            </a:r>
            <a:endParaRPr lang="en-US" sz="1500" dirty="0"/>
          </a:p>
          <a:p>
            <a:pPr indent="0" marL="0">
              <a:lnSpc>
                <a:spcPct val="115000"/>
              </a:lnSpc>
              <a:spcBef>
                <a:spcPts val="200"/>
              </a:spcBef>
              <a:buNone/>
            </a:pPr>
            <a:r>
              <a:rPr lang="en-US" sz="1500" dirty="0">
                <a:solidFill>
                  <a:srgbClr val="14453D"/>
                </a:solidFill>
              </a:rPr>
              <a:t>⑤  distributing ----- escape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To increase the </a:t>
            </a:r>
            <a:pPr indent="0" marL="0">
              <a:lnSpc>
                <a:spcPct val="120000"/>
              </a:lnSpc>
              <a:buNone/>
            </a:pPr>
            <a:r>
              <a:rPr lang="en-US" sz="1800" u="dotted" dirty="0">
                <a:solidFill>
                  <a:srgbClr val="1F7A64"/>
                </a:solidFill>
                <a:uFill>
                  <a:solidFill>
                    <a:srgbClr val="1F7A64"/>
                  </a:solidFill>
                </a:uFill>
              </a:rPr>
              <a:t>probability</a:t>
            </a:r>
            <a:pPr indent="0" marL="0">
              <a:lnSpc>
                <a:spcPct val="120000"/>
              </a:lnSpc>
              <a:buNone/>
            </a:pPr>
            <a:r>
              <a:rPr lang="en-US" sz="1800" dirty="0">
                <a:solidFill>
                  <a:srgbClr val="1E2B2A"/>
                </a:solidFill>
              </a:rPr>
              <a:t> of survival, many animals have evolved a </a:t>
            </a:r>
            <a:pPr indent="0" marL="0">
              <a:lnSpc>
                <a:spcPct val="120000"/>
              </a:lnSpc>
              <a:buNone/>
            </a:pPr>
            <a:r>
              <a:rPr lang="en-US" sz="1800" u="dotted" dirty="0">
                <a:solidFill>
                  <a:srgbClr val="1F7A64"/>
                </a:solidFill>
                <a:uFill>
                  <a:solidFill>
                    <a:srgbClr val="1F7A64"/>
                  </a:solidFill>
                </a:uFill>
              </a:rPr>
              <a:t>sophisticated</a:t>
            </a:r>
            <a:pPr indent="0" marL="0">
              <a:lnSpc>
                <a:spcPct val="120000"/>
              </a:lnSpc>
              <a:buNone/>
            </a:pPr>
            <a:r>
              <a:rPr lang="en-US" sz="1800" dirty="0">
                <a:solidFill>
                  <a:srgbClr val="1E2B2A"/>
                </a:solidFill>
              </a:rPr>
              <a:t> sense of smell</a:t>
            </a:r>
            <a:pPr indent="0" marL="0">
              <a:lnSpc>
                <a:spcPct val="120000"/>
              </a:lnSpc>
              <a:buNone/>
            </a:pPr>
            <a:r>
              <a:rPr lang="en-US" sz="1800" b="1" dirty="0">
                <a:solidFill>
                  <a:srgbClr val="2C7DA0"/>
                </a:solidFill>
              </a:rPr>
              <a:t>, which consists of two </a:t>
            </a:r>
            <a:pPr indent="0" marL="0">
              <a:lnSpc>
                <a:spcPct val="120000"/>
              </a:lnSpc>
              <a:buNone/>
            </a:pPr>
            <a:r>
              <a:rPr lang="en-US" sz="1800" b="1" u="dotted" dirty="0">
                <a:solidFill>
                  <a:srgbClr val="2C7DA0"/>
                </a:solidFill>
                <a:uFill>
                  <a:solidFill>
                    <a:srgbClr val="1F7A64"/>
                  </a:solidFill>
                </a:uFill>
              </a:rPr>
              <a:t>distinct</a:t>
            </a:r>
            <a:pPr indent="0" marL="0">
              <a:lnSpc>
                <a:spcPct val="120000"/>
              </a:lnSpc>
              <a:buNone/>
            </a:pPr>
            <a:r>
              <a:rPr lang="en-US" sz="1800" b="1" dirty="0">
                <a:solidFill>
                  <a:srgbClr val="2C7DA0"/>
                </a:solidFill>
              </a:rPr>
              <a:t> sensory systems</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first system is responsible for detecting an </a:t>
            </a:r>
            <a:pPr indent="0" marL="0">
              <a:lnSpc>
                <a:spcPct val="120000"/>
              </a:lnSpc>
              <a:buNone/>
            </a:pPr>
            <a:r>
              <a:rPr lang="en-US" sz="1800" u="dotted" dirty="0">
                <a:solidFill>
                  <a:srgbClr val="1F7A64"/>
                </a:solidFill>
                <a:uFill>
                  <a:solidFill>
                    <a:srgbClr val="1F7A64"/>
                  </a:solidFill>
                </a:uFill>
              </a:rPr>
              <a:t>odor</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 second system is responsible for understanding that odor and communicating it to the part of the brain responsible for sending the proper messages to your body’s organs, </a:t>
            </a:r>
            <a:pPr indent="0" marL="0">
              <a:lnSpc>
                <a:spcPct val="120000"/>
              </a:lnSpc>
              <a:buNone/>
            </a:pPr>
            <a:r>
              <a:rPr lang="en-US" sz="1800" b="1" dirty="0">
                <a:solidFill>
                  <a:srgbClr val="2C7DA0"/>
                </a:solidFill>
              </a:rPr>
              <a:t>causing them to respond accordingly</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The latter system plays a </a:t>
            </a:r>
            <a:pPr indent="0" marL="0">
              <a:lnSpc>
                <a:spcPct val="120000"/>
              </a:lnSpc>
              <a:buNone/>
            </a:pPr>
            <a:r>
              <a:rPr lang="en-US" sz="1800" u="dotted" dirty="0">
                <a:solidFill>
                  <a:srgbClr val="1F7A64"/>
                </a:solidFill>
                <a:highlight>
                  <a:srgbClr val="FFD45C"/>
                </a:highlight>
                <a:uFill>
                  <a:solidFill>
                    <a:srgbClr val="1F7A64"/>
                  </a:solidFill>
                </a:uFill>
              </a:rPr>
              <a:t>crucial</a:t>
            </a:r>
            <a:pPr indent="0" marL="0">
              <a:lnSpc>
                <a:spcPct val="120000"/>
              </a:lnSpc>
              <a:buNone/>
            </a:pPr>
            <a:r>
              <a:rPr lang="en-US" sz="1800" dirty="0">
                <a:solidFill>
                  <a:srgbClr val="1E2B2A"/>
                </a:solidFill>
                <a:highlight>
                  <a:srgbClr val="FFD45C"/>
                </a:highlight>
              </a:rPr>
              <a:t> role in interpreting the hidden messages contained in different odors.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For example, many </a:t>
            </a:r>
            <a:pPr indent="0" marL="0">
              <a:lnSpc>
                <a:spcPct val="120000"/>
              </a:lnSpc>
              <a:buNone/>
            </a:pPr>
            <a:r>
              <a:rPr lang="en-US" sz="1800" u="dotted" dirty="0">
                <a:solidFill>
                  <a:srgbClr val="1F7A64"/>
                </a:solidFill>
                <a:highlight>
                  <a:srgbClr val="FFD45C"/>
                </a:highlight>
                <a:uFill>
                  <a:solidFill>
                    <a:srgbClr val="1F7A64"/>
                  </a:solidFill>
                </a:uFill>
              </a:rPr>
              <a:t>marine</a:t>
            </a:r>
            <a:pPr indent="0" marL="0">
              <a:lnSpc>
                <a:spcPct val="120000"/>
              </a:lnSpc>
              <a:buNone/>
            </a:pPr>
            <a:r>
              <a:rPr lang="en-US" sz="1800" dirty="0">
                <a:solidFill>
                  <a:srgbClr val="1E2B2A"/>
                </a:solidFill>
                <a:highlight>
                  <a:srgbClr val="FFD45C"/>
                </a:highlight>
              </a:rPr>
              <a:t> animals, </a:t>
            </a:r>
            <a:pPr indent="0" marL="0">
              <a:lnSpc>
                <a:spcPct val="120000"/>
              </a:lnSpc>
              <a:buNone/>
            </a:pPr>
            <a:r>
              <a:rPr lang="en-US" sz="1800" b="1" dirty="0">
                <a:solidFill>
                  <a:srgbClr val="2C7DA0"/>
                </a:solidFill>
                <a:highlight>
                  <a:srgbClr val="FFD45C"/>
                </a:highlight>
              </a:rPr>
              <a:t>including fish and lobsters</a:t>
            </a:r>
            <a:pPr indent="0" marL="0">
              <a:lnSpc>
                <a:spcPct val="120000"/>
              </a:lnSpc>
              <a:buNone/>
            </a:pPr>
            <a:r>
              <a:rPr lang="en-US" sz="1800" dirty="0">
                <a:solidFill>
                  <a:srgbClr val="1E2B2A"/>
                </a:solidFill>
                <a:highlight>
                  <a:srgbClr val="FFD45C"/>
                </a:highlight>
              </a:rPr>
              <a:t>, release a specific chemical odor to warn others of the presence of danger.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b="1" dirty="0">
                <a:solidFill>
                  <a:srgbClr val="2C7DA0"/>
                </a:solidFill>
              </a:rPr>
              <a:t>Failure to detect and decode this odor properly would make the subject easy </a:t>
            </a:r>
            <a:pPr indent="0" marL="0">
              <a:lnSpc>
                <a:spcPct val="120000"/>
              </a:lnSpc>
              <a:buNone/>
            </a:pPr>
            <a:r>
              <a:rPr lang="en-US" sz="1800" b="1" u="dotted" dirty="0">
                <a:solidFill>
                  <a:srgbClr val="2C7DA0"/>
                </a:solidFill>
                <a:uFill>
                  <a:solidFill>
                    <a:srgbClr val="1F7A64"/>
                  </a:solidFill>
                </a:uFill>
              </a:rPr>
              <a:t>prey</a:t>
            </a:r>
            <a:pPr indent="0" marL="0">
              <a:lnSpc>
                <a:spcPct val="120000"/>
              </a:lnSpc>
              <a:buNone/>
            </a:pPr>
            <a:r>
              <a:rPr lang="en-US" sz="1800" dirty="0">
                <a:solidFill>
                  <a:srgbClr val="1E2B2A"/>
                </a:solidFill>
              </a:rPr>
              <a:t> for a </a:t>
            </a:r>
            <a:pPr indent="0" marL="0">
              <a:lnSpc>
                <a:spcPct val="120000"/>
              </a:lnSpc>
              <a:buNone/>
            </a:pPr>
            <a:r>
              <a:rPr lang="en-US" sz="1800" u="dotted" dirty="0">
                <a:solidFill>
                  <a:srgbClr val="1F7A64"/>
                </a:solidFill>
                <a:uFill>
                  <a:solidFill>
                    <a:srgbClr val="1F7A64"/>
                  </a:solidFill>
                </a:uFill>
              </a:rPr>
              <a:t>predator</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Consequently, the ability to recognize </a:t>
            </a:r>
            <a:pPr indent="0" marL="0">
              <a:lnSpc>
                <a:spcPct val="120000"/>
              </a:lnSpc>
              <a:buNone/>
            </a:pPr>
            <a:r>
              <a:rPr lang="en-US" sz="1800" b="1" dirty="0">
                <a:solidFill>
                  <a:srgbClr val="2C7DA0"/>
                </a:solidFill>
                <a:highlight>
                  <a:srgbClr val="FFD45C"/>
                </a:highlight>
              </a:rPr>
              <a:t>whether the odor released is one of fear</a:t>
            </a:r>
            <a:pPr indent="0" marL="0">
              <a:lnSpc>
                <a:spcPct val="120000"/>
              </a:lnSpc>
              <a:buNone/>
            </a:pPr>
            <a:r>
              <a:rPr lang="en-US" sz="1800" dirty="0">
                <a:solidFill>
                  <a:srgbClr val="1E2B2A"/>
                </a:solidFill>
                <a:highlight>
                  <a:srgbClr val="FFD45C"/>
                </a:highlight>
              </a:rPr>
              <a:t>, danger, or hunger is vital to an animal’s survival.</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probability </a:t>
            </a:r>
            <a:pPr indent="0" marL="0">
              <a:lnSpc>
                <a:spcPct val="110000"/>
              </a:lnSpc>
              <a:buNone/>
            </a:pPr>
            <a:r>
              <a:rPr lang="en-US" sz="1400" dirty="0">
                <a:solidFill>
                  <a:srgbClr val="1E2B2A"/>
                </a:solidFill>
              </a:rPr>
              <a:t>확률   ·   </a:t>
            </a:r>
            <a:pPr indent="0" marL="0">
              <a:lnSpc>
                <a:spcPct val="110000"/>
              </a:lnSpc>
              <a:buNone/>
            </a:pPr>
            <a:r>
              <a:rPr lang="en-US" sz="1400" b="1" dirty="0">
                <a:solidFill>
                  <a:srgbClr val="1F7A64"/>
                </a:solidFill>
              </a:rPr>
              <a:t>sophisticated </a:t>
            </a:r>
            <a:pPr indent="0" marL="0">
              <a:lnSpc>
                <a:spcPct val="110000"/>
              </a:lnSpc>
              <a:buNone/>
            </a:pPr>
            <a:r>
              <a:rPr lang="en-US" sz="1400" dirty="0">
                <a:solidFill>
                  <a:srgbClr val="1E2B2A"/>
                </a:solidFill>
              </a:rPr>
              <a:t>정교한   ·   </a:t>
            </a:r>
            <a:pPr indent="0" marL="0">
              <a:lnSpc>
                <a:spcPct val="110000"/>
              </a:lnSpc>
              <a:buNone/>
            </a:pPr>
            <a:r>
              <a:rPr lang="en-US" sz="1400" b="1" dirty="0">
                <a:solidFill>
                  <a:srgbClr val="1F7A64"/>
                </a:solidFill>
              </a:rPr>
              <a:t>distinct </a:t>
            </a:r>
            <a:pPr indent="0" marL="0">
              <a:lnSpc>
                <a:spcPct val="110000"/>
              </a:lnSpc>
              <a:buNone/>
            </a:pPr>
            <a:r>
              <a:rPr lang="en-US" sz="1400" dirty="0">
                <a:solidFill>
                  <a:srgbClr val="1E2B2A"/>
                </a:solidFill>
              </a:rPr>
              <a:t>별개의   ·   </a:t>
            </a:r>
            <a:pPr indent="0" marL="0">
              <a:lnSpc>
                <a:spcPct val="110000"/>
              </a:lnSpc>
              <a:buNone/>
            </a:pPr>
            <a:r>
              <a:rPr lang="en-US" sz="1400" b="1" dirty="0">
                <a:solidFill>
                  <a:srgbClr val="1F7A64"/>
                </a:solidFill>
              </a:rPr>
              <a:t>odor </a:t>
            </a:r>
            <a:pPr indent="0" marL="0">
              <a:lnSpc>
                <a:spcPct val="110000"/>
              </a:lnSpc>
              <a:buNone/>
            </a:pPr>
            <a:r>
              <a:rPr lang="en-US" sz="1400" dirty="0">
                <a:solidFill>
                  <a:srgbClr val="1E2B2A"/>
                </a:solidFill>
              </a:rPr>
              <a:t>냄새   ·   </a:t>
            </a:r>
            <a:pPr indent="0" marL="0">
              <a:lnSpc>
                <a:spcPct val="110000"/>
              </a:lnSpc>
              <a:buNone/>
            </a:pPr>
            <a:r>
              <a:rPr lang="en-US" sz="1400" b="1" dirty="0">
                <a:solidFill>
                  <a:srgbClr val="1F7A64"/>
                </a:solidFill>
              </a:rPr>
              <a:t>crucial </a:t>
            </a:r>
            <a:pPr indent="0" marL="0">
              <a:lnSpc>
                <a:spcPct val="110000"/>
              </a:lnSpc>
              <a:buNone/>
            </a:pPr>
            <a:r>
              <a:rPr lang="en-US" sz="1400" dirty="0">
                <a:solidFill>
                  <a:srgbClr val="1E2B2A"/>
                </a:solidFill>
              </a:rPr>
              <a:t>중대한   ·   </a:t>
            </a:r>
            <a:pPr indent="0" marL="0">
              <a:lnSpc>
                <a:spcPct val="110000"/>
              </a:lnSpc>
              <a:buNone/>
            </a:pPr>
            <a:r>
              <a:rPr lang="en-US" sz="1400" b="1" dirty="0">
                <a:solidFill>
                  <a:srgbClr val="1F7A64"/>
                </a:solidFill>
              </a:rPr>
              <a:t>marine </a:t>
            </a:r>
            <a:pPr indent="0" marL="0">
              <a:lnSpc>
                <a:spcPct val="110000"/>
              </a:lnSpc>
              <a:buNone/>
            </a:pPr>
            <a:r>
              <a:rPr lang="en-US" sz="1400" dirty="0">
                <a:solidFill>
                  <a:srgbClr val="1E2B2A"/>
                </a:solidFill>
              </a:rPr>
              <a:t>해양의   ·   </a:t>
            </a:r>
            <a:pPr indent="0" marL="0">
              <a:lnSpc>
                <a:spcPct val="110000"/>
              </a:lnSpc>
              <a:buNone/>
            </a:pPr>
            <a:r>
              <a:rPr lang="en-US" sz="1400" b="1" dirty="0">
                <a:solidFill>
                  <a:srgbClr val="1F7A64"/>
                </a:solidFill>
              </a:rPr>
              <a:t>prey </a:t>
            </a:r>
            <a:pPr indent="0" marL="0">
              <a:lnSpc>
                <a:spcPct val="110000"/>
              </a:lnSpc>
              <a:buNone/>
            </a:pPr>
            <a:r>
              <a:rPr lang="en-US" sz="1400" dirty="0">
                <a:solidFill>
                  <a:srgbClr val="1E2B2A"/>
                </a:solidFill>
              </a:rPr>
              <a:t>먹이   ·   </a:t>
            </a:r>
            <a:pPr indent="0" marL="0">
              <a:lnSpc>
                <a:spcPct val="110000"/>
              </a:lnSpc>
              <a:buNone/>
            </a:pPr>
            <a:r>
              <a:rPr lang="en-US" sz="1400" b="1" dirty="0">
                <a:solidFill>
                  <a:srgbClr val="1F7A64"/>
                </a:solidFill>
              </a:rPr>
              <a:t>predator </a:t>
            </a:r>
            <a:pPr indent="0" marL="0">
              <a:lnSpc>
                <a:spcPct val="110000"/>
              </a:lnSpc>
              <a:buNone/>
            </a:pPr>
            <a:r>
              <a:rPr lang="en-US" sz="1400" dirty="0">
                <a:solidFill>
                  <a:srgbClr val="1E2B2A"/>
                </a:solidFill>
              </a:rPr>
              <a:t>포식자</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 which consists of two distinct sensory systems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계속적 which · consist of</a:t>
            </a:r>
            <a:endParaRPr lang="en-US" sz="1700" dirty="0"/>
          </a:p>
          <a:p>
            <a:pPr indent="0" marL="0">
              <a:spcAft>
                <a:spcPts val="200"/>
              </a:spcAft>
              <a:buNone/>
            </a:pPr>
            <a:r>
              <a:rPr lang="en-US" sz="1400" dirty="0">
                <a:solidFill>
                  <a:srgbClr val="1E2B2A"/>
                </a:solidFill>
              </a:rPr>
              <a:t>which = a sophisticated sense of smell(단수) → consists (수동태 불가)</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causing them to respond accordingly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결과의 분사구문 · cause O to V</a:t>
            </a:r>
            <a:endParaRPr lang="en-US" sz="1700" dirty="0"/>
          </a:p>
          <a:p>
            <a:pPr indent="0" marL="0">
              <a:spcAft>
                <a:spcPts val="200"/>
              </a:spcAft>
              <a:buNone/>
            </a:pPr>
            <a:r>
              <a:rPr lang="en-US" sz="1400" dirty="0">
                <a:solidFill>
                  <a:srgbClr val="1E2B2A"/>
                </a:solidFill>
              </a:rPr>
              <a:t>and it causes them to respond ~</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including fish and lobsters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전치사 including</a:t>
            </a:r>
            <a:endParaRPr lang="en-US" sz="1700" dirty="0"/>
          </a:p>
          <a:p>
            <a:pPr indent="0" marL="0">
              <a:spcAft>
                <a:spcPts val="200"/>
              </a:spcAft>
              <a:buNone/>
            </a:pPr>
            <a:r>
              <a:rPr lang="en-US" sz="1400" dirty="0">
                <a:solidFill>
                  <a:srgbClr val="1E2B2A"/>
                </a:solidFill>
              </a:rPr>
              <a:t>~을 포함하여 (주어 many marine animals ↔ 동사 release)</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Failure to detect and decode this odor properly would make the subject easy prey</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무생물 주어 · make O C</a:t>
            </a:r>
            <a:endParaRPr lang="en-US" sz="1700" dirty="0"/>
          </a:p>
          <a:p>
            <a:pPr indent="0" marL="0">
              <a:spcAft>
                <a:spcPts val="200"/>
              </a:spcAft>
              <a:buNone/>
            </a:pPr>
            <a:r>
              <a:rPr lang="en-US" sz="1400" dirty="0">
                <a:solidFill>
                  <a:srgbClr val="1E2B2A"/>
                </a:solidFill>
              </a:rPr>
              <a:t>실패가 ~을 먹이로 만들다 → ~하지 못하면 먹이가 된다</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whether the odor released is one of fear</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whether 명사절 · 과거분사 후치</a:t>
            </a:r>
            <a:endParaRPr lang="en-US" sz="1700" dirty="0"/>
          </a:p>
          <a:p>
            <a:pPr indent="0" marL="0">
              <a:spcAft>
                <a:spcPts val="200"/>
              </a:spcAft>
              <a:buNone/>
            </a:pPr>
            <a:r>
              <a:rPr lang="en-US" sz="1400" dirty="0">
                <a:solidFill>
                  <a:srgbClr val="1E2B2A"/>
                </a:solidFill>
              </a:rPr>
              <a:t>recognize의 목적어 / the odor (which is) released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Survival of some animals can depend on two sensory systems, the functions of which involve (A) odors that other subjects release to (B) approaching danger to other members of the species.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일부 동물의 생존은 두 감각 체계에 달려 있을 수 있는데, 그 기능은 다른 개체들이 종의 다른 구성원에게 다가오는 위험을 (B)하기 위해 방출하는 냄새를 (A)하는 것을 포함한다.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냄새를 어떻게? / (B) 위험을 어떻게 하려고 방출?</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latter system plays a crucial role in interpreting the hidden messages contained in different odors.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후자의 체계는 다양한 냄새 속 숨은 메시지를 해석하는 데 중대한 역할을 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생존을 위해 동물은 두 개의 감각 체계로 된 정교한 후각을 가짐</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체계 ①②</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① 냄새 감지 ② 냄새를 이해·해석해 뇌로 전달</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해양 동물은 위험을 '경고'하려고 화학적 냄새를 방출</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냄새의 의미를 알아보는(해석) 능력 = 생존에 필수</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interpreting ----- signal</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해석하다 = interpreting·decode / 신호를 보내다 = warn</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eliminating ----- defeat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제거하다 ✘ / 물리치다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interpreting ----- signal</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해석하다 = interpreting·decode / 신호를 보내다 = warn</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interpreting ----- defeat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해석하다 ✔ / 물리치다 ✘ → 위험을 '알리는' 것</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distributing ----- signal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분배하다 ✘ / 신호를 보내다 ✔</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distributing ----- escape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분배하다 ✘ / 도망치다 ✘ → '위험 = 도망' 연상</a:t>
            </a:r>
            <a:endParaRPr lang="en-US" sz="1200" dirty="0"/>
          </a:p>
        </p:txBody>
      </p:sp>
      <p:sp>
        <p:nvSpPr>
          <p:cNvPr id="33" name="Text 31"/>
          <p:cNvSpPr/>
          <p:nvPr/>
        </p:nvSpPr>
        <p:spPr>
          <a:xfrm>
            <a:off x="10332720" y="5660136"/>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If Asians and Westerners are shown the same thing, they will likely look at different parts of it.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One study attributed this phenomenon to cultural differences in their thinking styles.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As part of an experiment, American and Japanese participants were presented with a twenty-second animated video of underwater scenes.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When asked what they had observed afterwards, the Americans said they had focused on objects in the front of the scenery, such as tropical fish.</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Meanwhile, the Japanese had focused on the objects in the background, such as colorful corals.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This result shows evidence that Asians are more likely than Westerners to consider the entire context when perceiving information.</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On the other hand, Westerners are more independent and analytical in their information processing, often noticing specifics.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This diversity in thinking styles can be an invaluable source of team strength if the team includes some members who can focus on the minor details and others who can see the big picture.</a:t>
            </a:r>
            <a:endParaRPr lang="en-US" sz="1450" dirty="0"/>
          </a:p>
          <a:p>
            <a:pPr algn="r" indent="0" marL="0">
              <a:lnSpc>
                <a:spcPct val="115000"/>
              </a:lnSpc>
              <a:spcBef>
                <a:spcPts val="200"/>
              </a:spcBef>
              <a:buNone/>
            </a:pPr>
            <a:r>
              <a:rPr lang="en-US" sz="1100" i="1" dirty="0">
                <a:solidFill>
                  <a:srgbClr val="6E7F7C"/>
                </a:solidFill>
              </a:rPr>
              <a:t>*analytical (사고가) 분석적인</a:t>
            </a:r>
            <a:endParaRPr lang="en-US" sz="1450" dirty="0"/>
          </a:p>
          <a:p>
            <a:pPr indent="0" marL="0">
              <a:lnSpc>
                <a:spcPct val="115000"/>
              </a:lnSpc>
              <a:spcBef>
                <a:spcPts val="800"/>
              </a:spcBef>
              <a:buNone/>
            </a:pPr>
            <a:r>
              <a:rPr lang="en-US" sz="1450" b="1" dirty="0">
                <a:solidFill>
                  <a:srgbClr val="1F7A64"/>
                </a:solidFill>
              </a:rPr>
              <a:t>↓  </a:t>
            </a:r>
            <a:pPr indent="0" marL="0">
              <a:lnSpc>
                <a:spcPct val="115000"/>
              </a:lnSpc>
              <a:buNone/>
            </a:pPr>
            <a:r>
              <a:rPr lang="en-US" sz="1450" dirty="0">
                <a:solidFill>
                  <a:srgbClr val="14453D"/>
                </a:solidFill>
              </a:rPr>
              <a:t>People tend to have a </a:t>
            </a:r>
            <a:pPr indent="0" marL="0">
              <a:lnSpc>
                <a:spcPct val="115000"/>
              </a:lnSpc>
              <a:buNone/>
            </a:pPr>
            <a:r>
              <a:rPr lang="en-US" sz="1450" b="1" dirty="0">
                <a:solidFill>
                  <a:srgbClr val="EF5B3F"/>
                </a:solidFill>
              </a:rPr>
              <a:t>(A)</a:t>
            </a:r>
            <a:pPr indent="0" marL="0">
              <a:lnSpc>
                <a:spcPct val="115000"/>
              </a:lnSpc>
              <a:buNone/>
            </a:pPr>
            <a:r>
              <a:rPr lang="en-US" sz="1450" dirty="0">
                <a:solidFill>
                  <a:srgbClr val="14453D"/>
                </a:solidFill>
              </a:rPr>
              <a:t> way of thinking based on their cultural backgrounds, so having cultural diversity on a team can </a:t>
            </a:r>
            <a:pPr indent="0" marL="0">
              <a:lnSpc>
                <a:spcPct val="115000"/>
              </a:lnSpc>
              <a:buNone/>
            </a:pPr>
            <a:r>
              <a:rPr lang="en-US" sz="1450" b="1" dirty="0">
                <a:solidFill>
                  <a:srgbClr val="EF5B3F"/>
                </a:solidFill>
              </a:rPr>
              <a:t>(B)</a:t>
            </a:r>
            <a:pPr indent="0" marL="0">
              <a:lnSpc>
                <a:spcPct val="115000"/>
              </a:lnSpc>
              <a:buNone/>
            </a:pPr>
            <a:r>
              <a:rPr lang="en-US" sz="1450" dirty="0">
                <a:solidFill>
                  <a:srgbClr val="14453D"/>
                </a:solidFill>
              </a:rPr>
              <a:t> teamwork.</a:t>
            </a:r>
            <a:endParaRPr lang="en-US" sz="1450" dirty="0"/>
          </a:p>
          <a:p>
            <a:pPr indent="0" marL="0">
              <a:lnSpc>
                <a:spcPct val="115000"/>
              </a:lnSpc>
              <a:spcBef>
                <a:spcPts val="1000"/>
              </a:spcBef>
              <a:buNone/>
            </a:pPr>
            <a:r>
              <a:rPr lang="en-US" sz="1450" dirty="0">
                <a:solidFill>
                  <a:srgbClr val="14453D"/>
                </a:solidFill>
              </a:rPr>
              <a:t>①  superficial ----- allocate</a:t>
            </a:r>
            <a:endParaRPr lang="en-US" sz="1450" dirty="0"/>
          </a:p>
          <a:p>
            <a:pPr indent="0" marL="0">
              <a:lnSpc>
                <a:spcPct val="115000"/>
              </a:lnSpc>
              <a:spcBef>
                <a:spcPts val="200"/>
              </a:spcBef>
              <a:buNone/>
            </a:pPr>
            <a:r>
              <a:rPr lang="en-US" sz="1450" dirty="0">
                <a:solidFill>
                  <a:srgbClr val="14453D"/>
                </a:solidFill>
              </a:rPr>
              <a:t>②  practical ----- enhance</a:t>
            </a:r>
            <a:endParaRPr lang="en-US" sz="1450" dirty="0"/>
          </a:p>
          <a:p>
            <a:pPr indent="0" marL="0">
              <a:lnSpc>
                <a:spcPct val="115000"/>
              </a:lnSpc>
              <a:spcBef>
                <a:spcPts val="200"/>
              </a:spcBef>
              <a:buNone/>
            </a:pPr>
            <a:r>
              <a:rPr lang="en-US" sz="1450" dirty="0">
                <a:solidFill>
                  <a:srgbClr val="14453D"/>
                </a:solidFill>
              </a:rPr>
              <a:t>③  distinct ----- allocate</a:t>
            </a:r>
            <a:endParaRPr lang="en-US" sz="1450" dirty="0"/>
          </a:p>
          <a:p>
            <a:pPr indent="0" marL="0">
              <a:lnSpc>
                <a:spcPct val="115000"/>
              </a:lnSpc>
              <a:spcBef>
                <a:spcPts val="200"/>
              </a:spcBef>
              <a:buNone/>
            </a:pPr>
            <a:r>
              <a:rPr lang="en-US" sz="1450" dirty="0">
                <a:solidFill>
                  <a:srgbClr val="14453D"/>
                </a:solidFill>
              </a:rPr>
              <a:t>④  preferred ----- enhance</a:t>
            </a:r>
            <a:endParaRPr lang="en-US" sz="1450" dirty="0"/>
          </a:p>
          <a:p>
            <a:pPr indent="0" marL="0">
              <a:lnSpc>
                <a:spcPct val="115000"/>
              </a:lnSpc>
              <a:spcBef>
                <a:spcPts val="200"/>
              </a:spcBef>
              <a:buNone/>
            </a:pPr>
            <a:r>
              <a:rPr lang="en-US" sz="1450" dirty="0">
                <a:solidFill>
                  <a:srgbClr val="14453D"/>
                </a:solidFill>
              </a:rPr>
              <a:t>⑤  expanded ----- undermine</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If Asians and Westerners are shown the same thing, </a:t>
            </a:r>
            <a:pPr indent="0" marL="0">
              <a:lnSpc>
                <a:spcPct val="120000"/>
              </a:lnSpc>
              <a:buNone/>
            </a:pPr>
            <a:r>
              <a:rPr lang="en-US" sz="1700" b="1" dirty="0">
                <a:solidFill>
                  <a:srgbClr val="2C7DA0"/>
                </a:solidFill>
              </a:rPr>
              <a:t>they will likely look at different parts of it</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One study </a:t>
            </a:r>
            <a:pPr indent="0" marL="0">
              <a:lnSpc>
                <a:spcPct val="120000"/>
              </a:lnSpc>
              <a:buNone/>
            </a:pPr>
            <a:r>
              <a:rPr lang="en-US" sz="1700" b="1" u="dotted" dirty="0">
                <a:solidFill>
                  <a:srgbClr val="2C7DA0"/>
                </a:solidFill>
                <a:highlight>
                  <a:srgbClr val="FFD45C"/>
                </a:highlight>
                <a:uFill>
                  <a:solidFill>
                    <a:srgbClr val="1F7A64"/>
                  </a:solidFill>
                </a:uFill>
              </a:rPr>
              <a:t>attributed</a:t>
            </a:r>
            <a:pPr indent="0" marL="0">
              <a:lnSpc>
                <a:spcPct val="120000"/>
              </a:lnSpc>
              <a:buNone/>
            </a:pPr>
            <a:r>
              <a:rPr lang="en-US" sz="1700" b="1" dirty="0">
                <a:solidFill>
                  <a:srgbClr val="2C7DA0"/>
                </a:solidFill>
                <a:highlight>
                  <a:srgbClr val="FFD45C"/>
                </a:highlight>
              </a:rPr>
              <a:t> this </a:t>
            </a:r>
            <a:pPr indent="0" marL="0">
              <a:lnSpc>
                <a:spcPct val="120000"/>
              </a:lnSpc>
              <a:buNone/>
            </a:pPr>
            <a:r>
              <a:rPr lang="en-US" sz="1700" b="1" u="dotted" dirty="0">
                <a:solidFill>
                  <a:srgbClr val="2C7DA0"/>
                </a:solidFill>
                <a:highlight>
                  <a:srgbClr val="FFD45C"/>
                </a:highlight>
                <a:uFill>
                  <a:solidFill>
                    <a:srgbClr val="1F7A64"/>
                  </a:solidFill>
                </a:uFill>
              </a:rPr>
              <a:t>phenomenon</a:t>
            </a:r>
            <a:pPr indent="0" marL="0">
              <a:lnSpc>
                <a:spcPct val="120000"/>
              </a:lnSpc>
              <a:buNone/>
            </a:pPr>
            <a:r>
              <a:rPr lang="en-US" sz="1700" b="1" dirty="0">
                <a:solidFill>
                  <a:srgbClr val="2C7DA0"/>
                </a:solidFill>
                <a:highlight>
                  <a:srgbClr val="FFD45C"/>
                </a:highlight>
              </a:rPr>
              <a:t> to</a:t>
            </a:r>
            <a:pPr indent="0" marL="0">
              <a:lnSpc>
                <a:spcPct val="120000"/>
              </a:lnSpc>
              <a:buNone/>
            </a:pPr>
            <a:r>
              <a:rPr lang="en-US" sz="1700" dirty="0">
                <a:solidFill>
                  <a:srgbClr val="1E2B2A"/>
                </a:solidFill>
                <a:highlight>
                  <a:srgbClr val="FFD45C"/>
                </a:highlight>
              </a:rPr>
              <a:t> cultural differences in their thinking styles.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part of an experiment, American and Japanese participants were presented with a twenty-second animated video of underwater scenes.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b="1" dirty="0">
                <a:solidFill>
                  <a:srgbClr val="2C7DA0"/>
                </a:solidFill>
              </a:rPr>
              <a:t>When asked what they had observed afterwards</a:t>
            </a:r>
            <a:pPr indent="0" marL="0">
              <a:lnSpc>
                <a:spcPct val="120000"/>
              </a:lnSpc>
              <a:buNone/>
            </a:pPr>
            <a:r>
              <a:rPr lang="en-US" sz="1700" dirty="0">
                <a:solidFill>
                  <a:srgbClr val="1E2B2A"/>
                </a:solidFill>
              </a:rPr>
              <a:t>, the Americans said they had focused on objects in the front of the scenery, such as </a:t>
            </a:r>
            <a:pPr indent="0" marL="0">
              <a:lnSpc>
                <a:spcPct val="120000"/>
              </a:lnSpc>
              <a:buNone/>
            </a:pPr>
            <a:r>
              <a:rPr lang="en-US" sz="1700" u="dotted" dirty="0">
                <a:solidFill>
                  <a:srgbClr val="1F7A64"/>
                </a:solidFill>
                <a:uFill>
                  <a:solidFill>
                    <a:srgbClr val="1F7A64"/>
                  </a:solidFill>
                </a:uFill>
              </a:rPr>
              <a:t>tropical</a:t>
            </a:r>
            <a:pPr indent="0" marL="0">
              <a:lnSpc>
                <a:spcPct val="120000"/>
              </a:lnSpc>
              <a:buNone/>
            </a:pPr>
            <a:r>
              <a:rPr lang="en-US" sz="1700" dirty="0">
                <a:solidFill>
                  <a:srgbClr val="1E2B2A"/>
                </a:solidFill>
              </a:rPr>
              <a:t> fish.</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Meanwhile, the Japanese had focused on the objects in the background, such as colorful </a:t>
            </a:r>
            <a:pPr indent="0" marL="0">
              <a:lnSpc>
                <a:spcPct val="120000"/>
              </a:lnSpc>
              <a:buNone/>
            </a:pPr>
            <a:r>
              <a:rPr lang="en-US" sz="1700" u="dotted" dirty="0">
                <a:solidFill>
                  <a:srgbClr val="1F7A64"/>
                </a:solidFill>
                <a:uFill>
                  <a:solidFill>
                    <a:srgbClr val="1F7A64"/>
                  </a:solidFill>
                </a:uFill>
              </a:rPr>
              <a:t>corals</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highlight>
                  <a:srgbClr val="FFD45C"/>
                </a:highlight>
              </a:rPr>
              <a:t>This result shows evidence that Asians are </a:t>
            </a:r>
            <a:pPr indent="0" marL="0">
              <a:lnSpc>
                <a:spcPct val="120000"/>
              </a:lnSpc>
              <a:buNone/>
            </a:pPr>
            <a:r>
              <a:rPr lang="en-US" sz="1700" b="1" dirty="0">
                <a:solidFill>
                  <a:srgbClr val="2C7DA0"/>
                </a:solidFill>
                <a:highlight>
                  <a:srgbClr val="FFD45C"/>
                </a:highlight>
              </a:rPr>
              <a:t>more likely than Westerners to consider</a:t>
            </a:r>
            <a:pPr indent="0" marL="0">
              <a:lnSpc>
                <a:spcPct val="120000"/>
              </a:lnSpc>
              <a:buNone/>
            </a:pPr>
            <a:r>
              <a:rPr lang="en-US" sz="1700" dirty="0">
                <a:solidFill>
                  <a:srgbClr val="1E2B2A"/>
                </a:solidFill>
                <a:highlight>
                  <a:srgbClr val="FFD45C"/>
                </a:highlight>
              </a:rPr>
              <a:t> the entire context when </a:t>
            </a:r>
            <a:pPr indent="0" marL="0">
              <a:lnSpc>
                <a:spcPct val="120000"/>
              </a:lnSpc>
              <a:buNone/>
            </a:pPr>
            <a:r>
              <a:rPr lang="en-US" sz="1700" u="dotted" dirty="0">
                <a:solidFill>
                  <a:srgbClr val="1F7A64"/>
                </a:solidFill>
                <a:highlight>
                  <a:srgbClr val="FFD45C"/>
                </a:highlight>
                <a:uFill>
                  <a:solidFill>
                    <a:srgbClr val="1F7A64"/>
                  </a:solidFill>
                </a:uFill>
              </a:rPr>
              <a:t>perceiving</a:t>
            </a:r>
            <a:pPr indent="0" marL="0">
              <a:lnSpc>
                <a:spcPct val="120000"/>
              </a:lnSpc>
              <a:buNone/>
            </a:pPr>
            <a:r>
              <a:rPr lang="en-US" sz="1700" dirty="0">
                <a:solidFill>
                  <a:srgbClr val="1E2B2A"/>
                </a:solidFill>
                <a:highlight>
                  <a:srgbClr val="FFD45C"/>
                </a:highlight>
              </a:rPr>
              <a:t> information.</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On the other hand, Westerners are more independent and analytical in their information processing</a:t>
            </a:r>
            <a:pPr indent="0" marL="0">
              <a:lnSpc>
                <a:spcPct val="120000"/>
              </a:lnSpc>
              <a:buNone/>
            </a:pPr>
            <a:r>
              <a:rPr lang="en-US" sz="1700" b="1" dirty="0">
                <a:solidFill>
                  <a:srgbClr val="2C7DA0"/>
                </a:solidFill>
                <a:highlight>
                  <a:srgbClr val="FFD45C"/>
                </a:highlight>
              </a:rPr>
              <a:t>, often noticing </a:t>
            </a:r>
            <a:pPr indent="0" marL="0">
              <a:lnSpc>
                <a:spcPct val="120000"/>
              </a:lnSpc>
              <a:buNone/>
            </a:pPr>
            <a:r>
              <a:rPr lang="en-US" sz="1700" b="1" u="dotted" dirty="0">
                <a:solidFill>
                  <a:srgbClr val="2C7DA0"/>
                </a:solidFill>
                <a:highlight>
                  <a:srgbClr val="FFD45C"/>
                </a:highlight>
                <a:uFill>
                  <a:solidFill>
                    <a:srgbClr val="1F7A64"/>
                  </a:solidFill>
                </a:uFill>
              </a:rPr>
              <a:t>specifics</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This diversity in thinking styles can be an </a:t>
            </a:r>
            <a:pPr indent="0" marL="0">
              <a:lnSpc>
                <a:spcPct val="120000"/>
              </a:lnSpc>
              <a:buNone/>
            </a:pPr>
            <a:r>
              <a:rPr lang="en-US" sz="1700" u="dotted" dirty="0">
                <a:solidFill>
                  <a:srgbClr val="1F7A64"/>
                </a:solidFill>
                <a:highlight>
                  <a:srgbClr val="FFD45C"/>
                </a:highlight>
                <a:uFill>
                  <a:solidFill>
                    <a:srgbClr val="1F7A64"/>
                  </a:solidFill>
                </a:uFill>
              </a:rPr>
              <a:t>invaluable</a:t>
            </a:r>
            <a:pPr indent="0" marL="0">
              <a:lnSpc>
                <a:spcPct val="120000"/>
              </a:lnSpc>
              <a:buNone/>
            </a:pPr>
            <a:r>
              <a:rPr lang="en-US" sz="1700" dirty="0">
                <a:solidFill>
                  <a:srgbClr val="1E2B2A"/>
                </a:solidFill>
                <a:highlight>
                  <a:srgbClr val="FFD45C"/>
                </a:highlight>
              </a:rPr>
              <a:t> source of team strength if the team includes some members who can focus on the minor details and others who can see the big picture.</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phenomenon </a:t>
            </a:r>
            <a:pPr indent="0" marL="0">
              <a:lnSpc>
                <a:spcPct val="110000"/>
              </a:lnSpc>
              <a:buNone/>
            </a:pPr>
            <a:r>
              <a:rPr lang="en-US" sz="1400" dirty="0">
                <a:solidFill>
                  <a:srgbClr val="1E2B2A"/>
                </a:solidFill>
              </a:rPr>
              <a:t>현상   ·   </a:t>
            </a:r>
            <a:pPr indent="0" marL="0">
              <a:lnSpc>
                <a:spcPct val="110000"/>
              </a:lnSpc>
              <a:buNone/>
            </a:pPr>
            <a:r>
              <a:rPr lang="en-US" sz="1400" b="1" dirty="0">
                <a:solidFill>
                  <a:srgbClr val="1F7A64"/>
                </a:solidFill>
              </a:rPr>
              <a:t>attributed </a:t>
            </a:r>
            <a:pPr indent="0" marL="0">
              <a:lnSpc>
                <a:spcPct val="110000"/>
              </a:lnSpc>
              <a:buNone/>
            </a:pPr>
            <a:r>
              <a:rPr lang="en-US" sz="1400" dirty="0">
                <a:solidFill>
                  <a:srgbClr val="1E2B2A"/>
                </a:solidFill>
              </a:rPr>
              <a:t>~의 탓으로 돌렸다   ·   </a:t>
            </a:r>
            <a:pPr indent="0" marL="0">
              <a:lnSpc>
                <a:spcPct val="110000"/>
              </a:lnSpc>
              <a:buNone/>
            </a:pPr>
            <a:r>
              <a:rPr lang="en-US" sz="1400" b="1" dirty="0">
                <a:solidFill>
                  <a:srgbClr val="1F7A64"/>
                </a:solidFill>
              </a:rPr>
              <a:t>tropical </a:t>
            </a:r>
            <a:pPr indent="0" marL="0">
              <a:lnSpc>
                <a:spcPct val="110000"/>
              </a:lnSpc>
              <a:buNone/>
            </a:pPr>
            <a:r>
              <a:rPr lang="en-US" sz="1400" dirty="0">
                <a:solidFill>
                  <a:srgbClr val="1E2B2A"/>
                </a:solidFill>
              </a:rPr>
              <a:t>열대의   ·   </a:t>
            </a:r>
            <a:pPr indent="0" marL="0">
              <a:lnSpc>
                <a:spcPct val="110000"/>
              </a:lnSpc>
              <a:buNone/>
            </a:pPr>
            <a:r>
              <a:rPr lang="en-US" sz="1400" b="1" dirty="0">
                <a:solidFill>
                  <a:srgbClr val="1F7A64"/>
                </a:solidFill>
              </a:rPr>
              <a:t>corals </a:t>
            </a:r>
            <a:pPr indent="0" marL="0">
              <a:lnSpc>
                <a:spcPct val="110000"/>
              </a:lnSpc>
              <a:buNone/>
            </a:pPr>
            <a:r>
              <a:rPr lang="en-US" sz="1400" dirty="0">
                <a:solidFill>
                  <a:srgbClr val="1E2B2A"/>
                </a:solidFill>
              </a:rPr>
              <a:t>산호   ·   </a:t>
            </a:r>
            <a:pPr indent="0" marL="0">
              <a:lnSpc>
                <a:spcPct val="110000"/>
              </a:lnSpc>
              <a:buNone/>
            </a:pPr>
            <a:r>
              <a:rPr lang="en-US" sz="1400" b="1" dirty="0">
                <a:solidFill>
                  <a:srgbClr val="1F7A64"/>
                </a:solidFill>
              </a:rPr>
              <a:t>perceiving </a:t>
            </a:r>
            <a:pPr indent="0" marL="0">
              <a:lnSpc>
                <a:spcPct val="110000"/>
              </a:lnSpc>
              <a:buNone/>
            </a:pPr>
            <a:r>
              <a:rPr lang="en-US" sz="1400" dirty="0">
                <a:solidFill>
                  <a:srgbClr val="1E2B2A"/>
                </a:solidFill>
              </a:rPr>
              <a:t>인식하는   ·   </a:t>
            </a:r>
            <a:pPr indent="0" marL="0">
              <a:lnSpc>
                <a:spcPct val="110000"/>
              </a:lnSpc>
              <a:buNone/>
            </a:pPr>
            <a:r>
              <a:rPr lang="en-US" sz="1400" b="1" dirty="0">
                <a:solidFill>
                  <a:srgbClr val="1F7A64"/>
                </a:solidFill>
              </a:rPr>
              <a:t>specifics </a:t>
            </a:r>
            <a:pPr indent="0" marL="0">
              <a:lnSpc>
                <a:spcPct val="110000"/>
              </a:lnSpc>
              <a:buNone/>
            </a:pPr>
            <a:r>
              <a:rPr lang="en-US" sz="1400" dirty="0">
                <a:solidFill>
                  <a:srgbClr val="1E2B2A"/>
                </a:solidFill>
              </a:rPr>
              <a:t>세부 사항   ·   </a:t>
            </a:r>
            <a:pPr indent="0" marL="0">
              <a:lnSpc>
                <a:spcPct val="110000"/>
              </a:lnSpc>
              <a:buNone/>
            </a:pPr>
            <a:r>
              <a:rPr lang="en-US" sz="1400" b="1" dirty="0">
                <a:solidFill>
                  <a:srgbClr val="1F7A64"/>
                </a:solidFill>
              </a:rPr>
              <a:t>invaluable </a:t>
            </a:r>
            <a:pPr indent="0" marL="0">
              <a:lnSpc>
                <a:spcPct val="110000"/>
              </a:lnSpc>
              <a:buNone/>
            </a:pPr>
            <a:r>
              <a:rPr lang="en-US" sz="1400" dirty="0">
                <a:solidFill>
                  <a:srgbClr val="1E2B2A"/>
                </a:solidFill>
              </a:rPr>
              <a:t>매우 귀중한</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they will likely look at different parts of it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it</a:t>
            </a:r>
            <a:endParaRPr lang="en-US" sz="1700" dirty="0"/>
          </a:p>
          <a:p>
            <a:pPr indent="0" marL="0">
              <a:spcAft>
                <a:spcPts val="200"/>
              </a:spcAft>
              <a:buNone/>
            </a:pPr>
            <a:r>
              <a:rPr lang="en-US" sz="1400" dirty="0">
                <a:solidFill>
                  <a:srgbClr val="1E2B2A"/>
                </a:solidFill>
              </a:rPr>
              <a:t>it = the same thing(단수) — 어법 출제</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attributed this phenomenon to</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attribute A to B</a:t>
            </a:r>
            <a:endParaRPr lang="en-US" sz="1700" dirty="0"/>
          </a:p>
          <a:p>
            <a:pPr indent="0" marL="0">
              <a:spcAft>
                <a:spcPts val="200"/>
              </a:spcAft>
              <a:buNone/>
            </a:pPr>
            <a:r>
              <a:rPr lang="en-US" sz="1400" dirty="0">
                <a:solidFill>
                  <a:srgbClr val="1E2B2A"/>
                </a:solidFill>
              </a:rPr>
              <a:t>A를 B의 탓(결과)으로 보다</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When asked what they had observed afterwards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 · 간접의문</a:t>
            </a:r>
            <a:endParaRPr lang="en-US" sz="1700" dirty="0"/>
          </a:p>
          <a:p>
            <a:pPr indent="0" marL="0">
              <a:spcAft>
                <a:spcPts val="200"/>
              </a:spcAft>
              <a:buNone/>
            </a:pPr>
            <a:r>
              <a:rPr lang="en-US" sz="1400" dirty="0">
                <a:solidFill>
                  <a:srgbClr val="1E2B2A"/>
                </a:solidFill>
              </a:rPr>
              <a:t>When (they were) asked / what they had observed (과거완료)</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more likely than Westerners to consider</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be likely to V 비교</a:t>
            </a:r>
            <a:endParaRPr lang="en-US" sz="1700" dirty="0"/>
          </a:p>
          <a:p>
            <a:pPr indent="0" marL="0">
              <a:spcAft>
                <a:spcPts val="200"/>
              </a:spcAft>
              <a:buNone/>
            </a:pPr>
            <a:r>
              <a:rPr lang="en-US" sz="1400" dirty="0">
                <a:solidFill>
                  <a:srgbClr val="1E2B2A"/>
                </a:solidFill>
              </a:rPr>
              <a:t>be more likely (than ~) to V: ~보다 …할 가능성이 더 높다</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 often noticing specifics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분사구문</a:t>
            </a:r>
            <a:endParaRPr lang="en-US" sz="1700" dirty="0"/>
          </a:p>
          <a:p>
            <a:pPr indent="0" marL="0">
              <a:spcAft>
                <a:spcPts val="200"/>
              </a:spcAft>
              <a:buNone/>
            </a:pPr>
            <a:r>
              <a:rPr lang="en-US" sz="1400" dirty="0">
                <a:solidFill>
                  <a:srgbClr val="1E2B2A"/>
                </a:solidFill>
              </a:rPr>
              <a:t>and they often notice specifics → noticing (주어 Westerners)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People tend to have a (A) way of thinking based on their cultural backgrounds, so having cultural diversity on a team can (B) teamwork.</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사람들은 문화적 배경에 따라 (A) 사고방식을 갖는 경향이 있으므로, 팀 안의 문화적 다양성은 팀워크를 (B)할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사고방식? / (B) 다양성이 팀워크를 어떻게?</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This diversity in thinking styles can be an invaluable source of team strength…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사고방식의 이러한 다양성은 팀 역량의 매우 귀중한 원천이 될 수 있다 → (B) enhance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현상</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같은 것을 봐도 아시아인과 서양인은 다른 부분을 본다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수중 영상: 미국인 = 앞쪽 열대어 / 일본인 = 배경 산호</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해석</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아시아인 = 전체 맥락, 서양인 = 독립적·분석적 (각자 선호하는 방식)</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사고방식의 다양성 = 팀 역량의 귀중한 원천 (팀워크 향상)</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preferred ----- enhance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선호하는 = 문화에 따라 더 쓰는 방식 / 향상시키다 = invaluable source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superficial ----- allocate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피상적인 ✘ / 할당하다 ✘</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practical ----- enhance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실용적인 ✘ / 향상시키다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distinct ----- allocate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뚜렷한 △ / 할당하다 ✘ → B칸이 틀림</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preferred ----- enhance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선호하는 = 문화에 따라 더 쓰는 방식 / 향상시키다 = invaluable source</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expanded ----- undermine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확장된 ✘ / 약화시키다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Order effect is the prejudicial impact that the presentation order of a question, idea, answer, or product has on a respondent.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Whether the item is located in the first, last, or middle position sometimes affects the selection of or response to that item.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 have been several studies that have noticed an order effect when an early stimulus acts as a frame of reference for later stimuli.</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Robert Ferber from Illinois University had respondents rate a list of occupations and found that the maximum or minimum ratings occurred on the one presented first, regardless of the ordering of the occupations.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another study, the subjects were asked to rate a beverage on intention to buy on a scale ranging from “definitely would not buy” to “definitely would buy.”</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first beverage tasted was rated significantly higher.</a:t>
            </a:r>
            <a:endParaRPr lang="en-US" sz="1600" dirty="0"/>
          </a:p>
          <a:p>
            <a:pPr indent="0" marL="0">
              <a:lnSpc>
                <a:spcPct val="115000"/>
              </a:lnSpc>
              <a:spcBef>
                <a:spcPts val="800"/>
              </a:spcBef>
              <a:buNone/>
            </a:pPr>
            <a:r>
              <a:rPr lang="en-US" sz="1600" b="1" dirty="0">
                <a:solidFill>
                  <a:srgbClr val="1F7A64"/>
                </a:solidFill>
              </a:rPr>
              <a:t>↓  </a:t>
            </a:r>
            <a:pPr indent="0" marL="0">
              <a:lnSpc>
                <a:spcPct val="115000"/>
              </a:lnSpc>
              <a:buNone/>
            </a:pPr>
            <a:r>
              <a:rPr lang="en-US" sz="1600" dirty="0">
                <a:solidFill>
                  <a:srgbClr val="14453D"/>
                </a:solidFill>
              </a:rPr>
              <a:t>The items presented in the </a:t>
            </a:r>
            <a:pPr indent="0" marL="0">
              <a:lnSpc>
                <a:spcPct val="115000"/>
              </a:lnSpc>
              <a:buNone/>
            </a:pPr>
            <a:r>
              <a:rPr lang="en-US" sz="1600" b="1" dirty="0">
                <a:solidFill>
                  <a:srgbClr val="EF5B3F"/>
                </a:solidFill>
              </a:rPr>
              <a:t>(A)</a:t>
            </a:r>
            <a:pPr indent="0" marL="0">
              <a:lnSpc>
                <a:spcPct val="115000"/>
              </a:lnSpc>
              <a:buNone/>
            </a:pPr>
            <a:r>
              <a:rPr lang="en-US" sz="1600" dirty="0">
                <a:solidFill>
                  <a:srgbClr val="14453D"/>
                </a:solidFill>
              </a:rPr>
              <a:t> position tend to get </a:t>
            </a:r>
            <a:pPr indent="0" marL="0">
              <a:lnSpc>
                <a:spcPct val="115000"/>
              </a:lnSpc>
              <a:buNone/>
            </a:pPr>
            <a:r>
              <a:rPr lang="en-US" sz="1600" b="1" dirty="0">
                <a:solidFill>
                  <a:srgbClr val="EF5B3F"/>
                </a:solidFill>
              </a:rPr>
              <a:t>(B)</a:t>
            </a:r>
            <a:pPr indent="0" marL="0">
              <a:lnSpc>
                <a:spcPct val="115000"/>
              </a:lnSpc>
              <a:buNone/>
            </a:pPr>
            <a:r>
              <a:rPr lang="en-US" sz="1600" dirty="0">
                <a:solidFill>
                  <a:srgbClr val="14453D"/>
                </a:solidFill>
              </a:rPr>
              <a:t> ratings by people.</a:t>
            </a:r>
            <a:endParaRPr lang="en-US" sz="1600" dirty="0"/>
          </a:p>
          <a:p>
            <a:pPr indent="0" marL="0">
              <a:lnSpc>
                <a:spcPct val="115000"/>
              </a:lnSpc>
              <a:spcBef>
                <a:spcPts val="1000"/>
              </a:spcBef>
              <a:buNone/>
            </a:pPr>
            <a:r>
              <a:rPr lang="en-US" sz="1600" dirty="0">
                <a:solidFill>
                  <a:srgbClr val="14453D"/>
                </a:solidFill>
              </a:rPr>
              <a:t>①  initial ----- extreme</a:t>
            </a:r>
            <a:endParaRPr lang="en-US" sz="1600" dirty="0"/>
          </a:p>
          <a:p>
            <a:pPr indent="0" marL="0">
              <a:lnSpc>
                <a:spcPct val="115000"/>
              </a:lnSpc>
              <a:spcBef>
                <a:spcPts val="200"/>
              </a:spcBef>
              <a:buNone/>
            </a:pPr>
            <a:r>
              <a:rPr lang="en-US" sz="1600" dirty="0">
                <a:solidFill>
                  <a:srgbClr val="14453D"/>
                </a:solidFill>
              </a:rPr>
              <a:t>②  fixed ----- moderate</a:t>
            </a:r>
            <a:endParaRPr lang="en-US" sz="1600" dirty="0"/>
          </a:p>
          <a:p>
            <a:pPr indent="0" marL="0">
              <a:lnSpc>
                <a:spcPct val="115000"/>
              </a:lnSpc>
              <a:spcBef>
                <a:spcPts val="200"/>
              </a:spcBef>
              <a:buNone/>
            </a:pPr>
            <a:r>
              <a:rPr lang="en-US" sz="1600" dirty="0">
                <a:solidFill>
                  <a:srgbClr val="14453D"/>
                </a:solidFill>
              </a:rPr>
              <a:t>③  last ----- clear</a:t>
            </a:r>
            <a:endParaRPr lang="en-US" sz="1600" dirty="0"/>
          </a:p>
          <a:p>
            <a:pPr indent="0" marL="0">
              <a:lnSpc>
                <a:spcPct val="115000"/>
              </a:lnSpc>
              <a:spcBef>
                <a:spcPts val="200"/>
              </a:spcBef>
              <a:buNone/>
            </a:pPr>
            <a:r>
              <a:rPr lang="en-US" sz="1600" dirty="0">
                <a:solidFill>
                  <a:srgbClr val="14453D"/>
                </a:solidFill>
              </a:rPr>
              <a:t>④  random ----- uncertain</a:t>
            </a:r>
            <a:endParaRPr lang="en-US" sz="1600" dirty="0"/>
          </a:p>
          <a:p>
            <a:pPr indent="0" marL="0">
              <a:lnSpc>
                <a:spcPct val="115000"/>
              </a:lnSpc>
              <a:spcBef>
                <a:spcPts val="200"/>
              </a:spcBef>
              <a:buNone/>
            </a:pPr>
            <a:r>
              <a:rPr lang="en-US" sz="1600" dirty="0">
                <a:solidFill>
                  <a:srgbClr val="14453D"/>
                </a:solidFill>
              </a:rPr>
              <a:t>⑤  variable ----- average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highlight>
                  <a:srgbClr val="FFD45C"/>
                </a:highlight>
              </a:rPr>
              <a:t>Order effect is </a:t>
            </a:r>
            <a:pPr indent="0" marL="0">
              <a:lnSpc>
                <a:spcPct val="120000"/>
              </a:lnSpc>
              <a:buNone/>
            </a:pPr>
            <a:r>
              <a:rPr lang="en-US" sz="1900" b="1" dirty="0">
                <a:solidFill>
                  <a:srgbClr val="2C7DA0"/>
                </a:solidFill>
                <a:highlight>
                  <a:srgbClr val="FFD45C"/>
                </a:highlight>
              </a:rPr>
              <a:t>the </a:t>
            </a:r>
            <a:pPr indent="0" marL="0">
              <a:lnSpc>
                <a:spcPct val="120000"/>
              </a:lnSpc>
              <a:buNone/>
            </a:pPr>
            <a:r>
              <a:rPr lang="en-US" sz="1900" b="1" u="dotted" dirty="0">
                <a:solidFill>
                  <a:srgbClr val="2C7DA0"/>
                </a:solidFill>
                <a:highlight>
                  <a:srgbClr val="FFD45C"/>
                </a:highlight>
                <a:uFill>
                  <a:solidFill>
                    <a:srgbClr val="1F7A64"/>
                  </a:solidFill>
                </a:uFill>
              </a:rPr>
              <a:t>prejudicial</a:t>
            </a:r>
            <a:pPr indent="0" marL="0">
              <a:lnSpc>
                <a:spcPct val="120000"/>
              </a:lnSpc>
              <a:buNone/>
            </a:pPr>
            <a:r>
              <a:rPr lang="en-US" sz="1900" b="1" dirty="0">
                <a:solidFill>
                  <a:srgbClr val="2C7DA0"/>
                </a:solidFill>
                <a:highlight>
                  <a:srgbClr val="FFD45C"/>
                </a:highlight>
              </a:rPr>
              <a:t> impact that the presentation order of a question, idea, answer, or product has on a </a:t>
            </a:r>
            <a:pPr indent="0" marL="0">
              <a:lnSpc>
                <a:spcPct val="120000"/>
              </a:lnSpc>
              <a:buNone/>
            </a:pPr>
            <a:r>
              <a:rPr lang="en-US" sz="1900" b="1" u="dotted" dirty="0">
                <a:solidFill>
                  <a:srgbClr val="2C7DA0"/>
                </a:solidFill>
                <a:highlight>
                  <a:srgbClr val="FFD45C"/>
                </a:highlight>
                <a:uFill>
                  <a:solidFill>
                    <a:srgbClr val="1F7A64"/>
                  </a:solidFill>
                </a:uFill>
              </a:rPr>
              <a:t>respondent</a:t>
            </a:r>
            <a:pPr indent="0" marL="0">
              <a:lnSpc>
                <a:spcPct val="120000"/>
              </a:lnSpc>
              <a:buNone/>
            </a:pPr>
            <a:r>
              <a:rPr lang="en-US" sz="1900" dirty="0">
                <a:solidFill>
                  <a:srgbClr val="1E2B2A"/>
                </a:solidFill>
                <a:highlight>
                  <a:srgbClr val="FFD45C"/>
                </a:highlight>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b="1" dirty="0">
                <a:solidFill>
                  <a:srgbClr val="2C7DA0"/>
                </a:solidFill>
              </a:rPr>
              <a:t>Whether the item is located in the first, last, or middle position sometimes affects</a:t>
            </a:r>
            <a:pPr indent="0" marL="0">
              <a:lnSpc>
                <a:spcPct val="120000"/>
              </a:lnSpc>
              <a:buNone/>
            </a:pPr>
            <a:r>
              <a:rPr lang="en-US" sz="1900" dirty="0">
                <a:solidFill>
                  <a:srgbClr val="1E2B2A"/>
                </a:solidFill>
              </a:rPr>
              <a:t> the selection of or response to that item.</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There have been several studies that have noticed an order effect when an early </a:t>
            </a:r>
            <a:pPr indent="0" marL="0">
              <a:lnSpc>
                <a:spcPct val="120000"/>
              </a:lnSpc>
              <a:buNone/>
            </a:pPr>
            <a:r>
              <a:rPr lang="en-US" sz="1900" u="dotted" dirty="0">
                <a:solidFill>
                  <a:srgbClr val="1F7A64"/>
                </a:solidFill>
                <a:uFill>
                  <a:solidFill>
                    <a:srgbClr val="1F7A64"/>
                  </a:solidFill>
                </a:uFill>
              </a:rPr>
              <a:t>stimulus</a:t>
            </a:r>
            <a:pPr indent="0" marL="0">
              <a:lnSpc>
                <a:spcPct val="120000"/>
              </a:lnSpc>
              <a:buNone/>
            </a:pPr>
            <a:r>
              <a:rPr lang="en-US" sz="1900" dirty="0">
                <a:solidFill>
                  <a:srgbClr val="1E2B2A"/>
                </a:solidFill>
              </a:rPr>
              <a:t> acts as a frame of reference for later stimuli.</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highlight>
                  <a:srgbClr val="FFD45C"/>
                </a:highlight>
              </a:rPr>
              <a:t>Robert Ferber from Illinois University </a:t>
            </a:r>
            <a:pPr indent="0" marL="0">
              <a:lnSpc>
                <a:spcPct val="120000"/>
              </a:lnSpc>
              <a:buNone/>
            </a:pPr>
            <a:r>
              <a:rPr lang="en-US" sz="1900" b="1" dirty="0">
                <a:solidFill>
                  <a:srgbClr val="2C7DA0"/>
                </a:solidFill>
                <a:highlight>
                  <a:srgbClr val="FFD45C"/>
                </a:highlight>
              </a:rPr>
              <a:t>had respondents rate a list of </a:t>
            </a:r>
            <a:pPr indent="0" marL="0">
              <a:lnSpc>
                <a:spcPct val="120000"/>
              </a:lnSpc>
              <a:buNone/>
            </a:pPr>
            <a:r>
              <a:rPr lang="en-US" sz="1900" b="1" u="dotted" dirty="0">
                <a:solidFill>
                  <a:srgbClr val="2C7DA0"/>
                </a:solidFill>
                <a:highlight>
                  <a:srgbClr val="FFD45C"/>
                </a:highlight>
                <a:uFill>
                  <a:solidFill>
                    <a:srgbClr val="1F7A64"/>
                  </a:solidFill>
                </a:uFill>
              </a:rPr>
              <a:t>occupations</a:t>
            </a:r>
            <a:pPr indent="0" marL="0">
              <a:lnSpc>
                <a:spcPct val="120000"/>
              </a:lnSpc>
              <a:buNone/>
            </a:pPr>
            <a:r>
              <a:rPr lang="en-US" sz="1900" dirty="0">
                <a:solidFill>
                  <a:srgbClr val="1E2B2A"/>
                </a:solidFill>
                <a:highlight>
                  <a:srgbClr val="FFD45C"/>
                </a:highlight>
              </a:rPr>
              <a:t> and found that the maximum or minimum ratings occurred on </a:t>
            </a:r>
            <a:pPr indent="0" marL="0">
              <a:lnSpc>
                <a:spcPct val="120000"/>
              </a:lnSpc>
              <a:buNone/>
            </a:pPr>
            <a:r>
              <a:rPr lang="en-US" sz="1900" b="1" dirty="0">
                <a:solidFill>
                  <a:srgbClr val="2C7DA0"/>
                </a:solidFill>
                <a:highlight>
                  <a:srgbClr val="FFD45C"/>
                </a:highlight>
              </a:rPr>
              <a:t>the one presented first</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u="dotted" dirty="0">
                <a:solidFill>
                  <a:srgbClr val="1F7A64"/>
                </a:solidFill>
                <a:highlight>
                  <a:srgbClr val="FFD45C"/>
                </a:highlight>
                <a:uFill>
                  <a:solidFill>
                    <a:srgbClr val="1F7A64"/>
                  </a:solidFill>
                </a:uFill>
              </a:rPr>
              <a:t>regardless of</a:t>
            </a:r>
            <a:pPr indent="0" marL="0">
              <a:lnSpc>
                <a:spcPct val="120000"/>
              </a:lnSpc>
              <a:buNone/>
            </a:pPr>
            <a:r>
              <a:rPr lang="en-US" sz="1900" dirty="0">
                <a:solidFill>
                  <a:srgbClr val="1E2B2A"/>
                </a:solidFill>
                <a:highlight>
                  <a:srgbClr val="FFD45C"/>
                </a:highlight>
              </a:rPr>
              <a:t> the ordering of the occupations.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rPr>
              <a:t>In another study, the subjects were asked to rate a </a:t>
            </a:r>
            <a:pPr indent="0" marL="0">
              <a:lnSpc>
                <a:spcPct val="120000"/>
              </a:lnSpc>
              <a:buNone/>
            </a:pPr>
            <a:r>
              <a:rPr lang="en-US" sz="1900" u="dotted" dirty="0">
                <a:solidFill>
                  <a:srgbClr val="1F7A64"/>
                </a:solidFill>
                <a:uFill>
                  <a:solidFill>
                    <a:srgbClr val="1F7A64"/>
                  </a:solidFill>
                </a:uFill>
              </a:rPr>
              <a:t>beverage</a:t>
            </a:r>
            <a:pPr indent="0" marL="0">
              <a:lnSpc>
                <a:spcPct val="120000"/>
              </a:lnSpc>
              <a:buNone/>
            </a:pPr>
            <a:r>
              <a:rPr lang="en-US" sz="1900" dirty="0">
                <a:solidFill>
                  <a:srgbClr val="1E2B2A"/>
                </a:solidFill>
              </a:rPr>
              <a:t> on intention to buy on a scale ranging from “definitely would not buy” to “definitely would buy.”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b="1" dirty="0">
                <a:solidFill>
                  <a:srgbClr val="2C7DA0"/>
                </a:solidFill>
                <a:highlight>
                  <a:srgbClr val="FFD45C"/>
                </a:highlight>
              </a:rPr>
              <a:t>The first beverage tasted was rated</a:t>
            </a:r>
            <a:pPr indent="0" marL="0">
              <a:lnSpc>
                <a:spcPct val="120000"/>
              </a:lnSpc>
              <a:buNone/>
            </a:pPr>
            <a:r>
              <a:rPr lang="en-US" sz="1900" dirty="0">
                <a:solidFill>
                  <a:srgbClr val="1E2B2A"/>
                </a:solidFill>
                <a:highlight>
                  <a:srgbClr val="FFD45C"/>
                </a:highlight>
              </a:rPr>
              <a:t> </a:t>
            </a:r>
            <a:pPr indent="0" marL="0">
              <a:lnSpc>
                <a:spcPct val="120000"/>
              </a:lnSpc>
              <a:buNone/>
            </a:pPr>
            <a:r>
              <a:rPr lang="en-US" sz="1900" u="dotted" dirty="0">
                <a:solidFill>
                  <a:srgbClr val="1F7A64"/>
                </a:solidFill>
                <a:highlight>
                  <a:srgbClr val="FFD45C"/>
                </a:highlight>
                <a:uFill>
                  <a:solidFill>
                    <a:srgbClr val="1F7A64"/>
                  </a:solidFill>
                </a:uFill>
              </a:rPr>
              <a:t>significantly</a:t>
            </a:r>
            <a:pPr indent="0" marL="0">
              <a:lnSpc>
                <a:spcPct val="120000"/>
              </a:lnSpc>
              <a:buNone/>
            </a:pPr>
            <a:r>
              <a:rPr lang="en-US" sz="1900" dirty="0">
                <a:solidFill>
                  <a:srgbClr val="1E2B2A"/>
                </a:solidFill>
                <a:highlight>
                  <a:srgbClr val="FFD45C"/>
                </a:highlight>
              </a:rPr>
              <a:t> higher.</a:t>
            </a:r>
            <a:endParaRPr lang="en-US" sz="16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prejudicial </a:t>
            </a:r>
            <a:pPr indent="0" marL="0">
              <a:lnSpc>
                <a:spcPct val="110000"/>
              </a:lnSpc>
              <a:buNone/>
            </a:pPr>
            <a:r>
              <a:rPr lang="en-US" sz="1400" dirty="0">
                <a:solidFill>
                  <a:srgbClr val="1E2B2A"/>
                </a:solidFill>
              </a:rPr>
              <a:t>편향된   ·   </a:t>
            </a:r>
            <a:pPr indent="0" marL="0">
              <a:lnSpc>
                <a:spcPct val="110000"/>
              </a:lnSpc>
              <a:buNone/>
            </a:pPr>
            <a:r>
              <a:rPr lang="en-US" sz="1400" b="1" dirty="0">
                <a:solidFill>
                  <a:srgbClr val="1F7A64"/>
                </a:solidFill>
              </a:rPr>
              <a:t>respondent </a:t>
            </a:r>
            <a:pPr indent="0" marL="0">
              <a:lnSpc>
                <a:spcPct val="110000"/>
              </a:lnSpc>
              <a:buNone/>
            </a:pPr>
            <a:r>
              <a:rPr lang="en-US" sz="1400" dirty="0">
                <a:solidFill>
                  <a:srgbClr val="1E2B2A"/>
                </a:solidFill>
              </a:rPr>
              <a:t>응답자   ·   </a:t>
            </a:r>
            <a:pPr indent="0" marL="0">
              <a:lnSpc>
                <a:spcPct val="110000"/>
              </a:lnSpc>
              <a:buNone/>
            </a:pPr>
            <a:r>
              <a:rPr lang="en-US" sz="1400" b="1" dirty="0">
                <a:solidFill>
                  <a:srgbClr val="1F7A64"/>
                </a:solidFill>
              </a:rPr>
              <a:t>stimulus </a:t>
            </a:r>
            <a:pPr indent="0" marL="0">
              <a:lnSpc>
                <a:spcPct val="110000"/>
              </a:lnSpc>
              <a:buNone/>
            </a:pPr>
            <a:r>
              <a:rPr lang="en-US" sz="1400" dirty="0">
                <a:solidFill>
                  <a:srgbClr val="1E2B2A"/>
                </a:solidFill>
              </a:rPr>
              <a:t>자극   ·   </a:t>
            </a:r>
            <a:pPr indent="0" marL="0">
              <a:lnSpc>
                <a:spcPct val="110000"/>
              </a:lnSpc>
              <a:buNone/>
            </a:pPr>
            <a:r>
              <a:rPr lang="en-US" sz="1400" b="1" dirty="0">
                <a:solidFill>
                  <a:srgbClr val="1F7A64"/>
                </a:solidFill>
              </a:rPr>
              <a:t>occupations </a:t>
            </a:r>
            <a:pPr indent="0" marL="0">
              <a:lnSpc>
                <a:spcPct val="110000"/>
              </a:lnSpc>
              <a:buNone/>
            </a:pPr>
            <a:r>
              <a:rPr lang="en-US" sz="1400" dirty="0">
                <a:solidFill>
                  <a:srgbClr val="1E2B2A"/>
                </a:solidFill>
              </a:rPr>
              <a:t>직업   ·   </a:t>
            </a:r>
            <a:pPr indent="0" marL="0">
              <a:lnSpc>
                <a:spcPct val="110000"/>
              </a:lnSpc>
              <a:buNone/>
            </a:pPr>
            <a:r>
              <a:rPr lang="en-US" sz="1400" b="1" dirty="0">
                <a:solidFill>
                  <a:srgbClr val="1F7A64"/>
                </a:solidFill>
              </a:rPr>
              <a:t>regardless of </a:t>
            </a:r>
            <a:pPr indent="0" marL="0">
              <a:lnSpc>
                <a:spcPct val="110000"/>
              </a:lnSpc>
              <a:buNone/>
            </a:pPr>
            <a:r>
              <a:rPr lang="en-US" sz="1400" dirty="0">
                <a:solidFill>
                  <a:srgbClr val="1E2B2A"/>
                </a:solidFill>
              </a:rPr>
              <a:t>~와 상관없이   ·   </a:t>
            </a:r>
            <a:pPr indent="0" marL="0">
              <a:lnSpc>
                <a:spcPct val="110000"/>
              </a:lnSpc>
              <a:buNone/>
            </a:pPr>
            <a:r>
              <a:rPr lang="en-US" sz="1400" b="1" dirty="0">
                <a:solidFill>
                  <a:srgbClr val="1F7A64"/>
                </a:solidFill>
              </a:rPr>
              <a:t>beverage </a:t>
            </a:r>
            <a:pPr indent="0" marL="0">
              <a:lnSpc>
                <a:spcPct val="110000"/>
              </a:lnSpc>
              <a:buNone/>
            </a:pPr>
            <a:r>
              <a:rPr lang="en-US" sz="1400" dirty="0">
                <a:solidFill>
                  <a:srgbClr val="1E2B2A"/>
                </a:solidFill>
              </a:rPr>
              <a:t>음료   ·   </a:t>
            </a:r>
            <a:pPr indent="0" marL="0">
              <a:lnSpc>
                <a:spcPct val="110000"/>
              </a:lnSpc>
              <a:buNone/>
            </a:pPr>
            <a:r>
              <a:rPr lang="en-US" sz="1400" b="1" dirty="0">
                <a:solidFill>
                  <a:srgbClr val="1F7A64"/>
                </a:solidFill>
              </a:rPr>
              <a:t>significantly </a:t>
            </a:r>
            <a:pPr indent="0" marL="0">
              <a:lnSpc>
                <a:spcPct val="110000"/>
              </a:lnSpc>
              <a:buNone/>
            </a:pPr>
            <a:r>
              <a:rPr lang="en-US" sz="1400" dirty="0">
                <a:solidFill>
                  <a:srgbClr val="1E2B2A"/>
                </a:solidFill>
              </a:rPr>
              <a:t>상당히</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the prejudicial impact that the presentation order of a question, idea, answer, or product has on a respondent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목적격 관계대명사</a:t>
            </a:r>
            <a:endParaRPr lang="en-US" sz="1700" dirty="0"/>
          </a:p>
          <a:p>
            <a:pPr indent="0" marL="0">
              <a:spcAft>
                <a:spcPts val="200"/>
              </a:spcAft>
              <a:buNone/>
            </a:pPr>
            <a:r>
              <a:rPr lang="en-US" sz="1400" dirty="0">
                <a:solidFill>
                  <a:srgbClr val="1E2B2A"/>
                </a:solidFill>
              </a:rPr>
              <a:t>have an impact on ~: impact가 has의 목적어로 앞으로 나감</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Whether the item is located in the first, last, or middle position sometimes affects</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whether 명사절 주어</a:t>
            </a:r>
            <a:endParaRPr lang="en-US" sz="1700" dirty="0"/>
          </a:p>
          <a:p>
            <a:pPr indent="0" marL="0">
              <a:spcAft>
                <a:spcPts val="200"/>
              </a:spcAft>
              <a:buNone/>
            </a:pPr>
            <a:r>
              <a:rPr lang="en-US" sz="1400" dirty="0">
                <a:solidFill>
                  <a:srgbClr val="1E2B2A"/>
                </a:solidFill>
              </a:rPr>
              <a:t>명사절 주어는 단수 → affects</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had respondents rate a list of occupations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사역동사 have O 원형</a:t>
            </a:r>
            <a:endParaRPr lang="en-US" sz="1700" dirty="0"/>
          </a:p>
          <a:p>
            <a:pPr indent="0" marL="0">
              <a:spcAft>
                <a:spcPts val="200"/>
              </a:spcAft>
              <a:buNone/>
            </a:pPr>
            <a:r>
              <a:rPr lang="en-US" sz="1400" dirty="0">
                <a:solidFill>
                  <a:srgbClr val="1E2B2A"/>
                </a:solidFill>
              </a:rPr>
              <a:t>응답자들에게 평가하게 했다</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the one presented first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대명사 one · 과거분사 후치</a:t>
            </a:r>
            <a:endParaRPr lang="en-US" sz="1700" dirty="0"/>
          </a:p>
          <a:p>
            <a:pPr indent="0" marL="0">
              <a:spcAft>
                <a:spcPts val="200"/>
              </a:spcAft>
              <a:buNone/>
            </a:pPr>
            <a:r>
              <a:rPr lang="en-US" sz="1400" dirty="0">
                <a:solidFill>
                  <a:srgbClr val="1E2B2A"/>
                </a:solidFill>
              </a:rPr>
              <a:t>one = occupation / (which was) presented first</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The first beverage tasted was rated</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후치 · 수동태</a:t>
            </a:r>
            <a:endParaRPr lang="en-US" sz="1700" dirty="0"/>
          </a:p>
          <a:p>
            <a:pPr indent="0" marL="0">
              <a:spcAft>
                <a:spcPts val="200"/>
              </a:spcAft>
              <a:buNone/>
            </a:pPr>
            <a:r>
              <a:rPr lang="en-US" sz="1400" dirty="0">
                <a:solidFill>
                  <a:srgbClr val="1E2B2A"/>
                </a:solidFill>
              </a:rPr>
              <a:t>beverage (which was) tasted / was rated</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The items presented in the (A) position tend to get (B) ratings by people.</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(A) 위치에 제시된 항목은 사람들에게 (B) 평가를 받는 경향이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어느 위치? / (B) 어떤 평가?</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maximum or minimum ratings occurred on the one presented first, regardless of the ordering…</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순서와 상관없이 최고 또는 최저 평가가 처음 제시된 것에서 나왔다 → initial / extreme</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순서 효과 = 제시 순서가 응답자에게 주는 편향된 영향</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초기 자극이 이후 자극의 기준틀이 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 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직업 평가: 처음 것이 최고 또는 최저 (극단) 평가</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 ②</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음료 평가: 처음 맛본 음료가 훨씬 높은 평가</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initial ----- extreme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처음의 = presented first / 극단적인 = maximum or minimum</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initial ----- extreme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처음의 = presented first / 극단적인 = maximum or minimum</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fixed ----- moderate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고정된 ✘ / 중간 정도의 ✘ → 극단과 반대</a:t>
            </a:r>
            <a:endParaRPr lang="en-US" sz="1200" dirty="0"/>
          </a:p>
        </p:txBody>
      </p:sp>
      <p:sp>
        <p:nvSpPr>
          <p:cNvPr id="18" name="Text 16"/>
          <p:cNvSpPr/>
          <p:nvPr/>
        </p:nvSpPr>
        <p:spPr>
          <a:xfrm>
            <a:off x="10332720" y="2615184"/>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last ----- clear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마지막 ✘ / 분명한 ✘ → last는 본문 단어일 뿐</a:t>
            </a:r>
            <a:endParaRPr lang="en-US" sz="1200" dirty="0"/>
          </a:p>
        </p:txBody>
      </p:sp>
      <p:sp>
        <p:nvSpPr>
          <p:cNvPr id="23" name="Text 21"/>
          <p:cNvSpPr/>
          <p:nvPr/>
        </p:nvSpPr>
        <p:spPr>
          <a:xfrm>
            <a:off x="10332720" y="3630168"/>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random ----- uncertain</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무작위 ✘ / 불확실한 ✘</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variable ----- average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가변적인 ✘ / 평균적인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Many people think the success of dieting depends mostly on determination, persistence and self-discipline.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While this mental power matters, a new research has found that a much more subtle aspect of the diets themselves can also have a big influence on the pounds lost.</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Researchers compared the dieting behavior of women following two very different diet plans.</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They found that the more complicated people thought their diet plan was, the sooner they were likely to drop it.</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other words, for people who go on a more complex diet that involves keeping track of quantities and items eaten, their subjective impression of the difficulty of the diet can lead them to give up on it.</a:t>
            </a:r>
            <a:endParaRPr lang="en-US" sz="1700" dirty="0"/>
          </a:p>
          <a:p>
            <a:pPr indent="0" marL="0">
              <a:lnSpc>
                <a:spcPct val="115000"/>
              </a:lnSpc>
              <a:spcBef>
                <a:spcPts val="800"/>
              </a:spcBef>
              <a:buNone/>
            </a:pPr>
            <a:r>
              <a:rPr lang="en-US" sz="1700" b="1" dirty="0">
                <a:solidFill>
                  <a:srgbClr val="1F7A64"/>
                </a:solidFill>
              </a:rPr>
              <a:t>↓  </a:t>
            </a:r>
            <a:pPr indent="0" marL="0">
              <a:lnSpc>
                <a:spcPct val="115000"/>
              </a:lnSpc>
              <a:buNone/>
            </a:pPr>
            <a:r>
              <a:rPr lang="en-US" sz="1700" dirty="0">
                <a:solidFill>
                  <a:srgbClr val="14453D"/>
                </a:solidFill>
              </a:rPr>
              <a:t>To succeed in diet, </a:t>
            </a:r>
            <a:pPr indent="0" marL="0">
              <a:lnSpc>
                <a:spcPct val="115000"/>
              </a:lnSpc>
              <a:buNone/>
            </a:pPr>
            <a:r>
              <a:rPr lang="en-US" sz="1700" b="1" dirty="0">
                <a:solidFill>
                  <a:srgbClr val="EF5B3F"/>
                </a:solidFill>
              </a:rPr>
              <a:t>(A)</a:t>
            </a:r>
            <a:pPr indent="0" marL="0">
              <a:lnSpc>
                <a:spcPct val="115000"/>
              </a:lnSpc>
              <a:buNone/>
            </a:pPr>
            <a:r>
              <a:rPr lang="en-US" sz="1700" dirty="0">
                <a:solidFill>
                  <a:srgbClr val="14453D"/>
                </a:solidFill>
              </a:rPr>
              <a:t> of process for carrying it out is more important than </a:t>
            </a:r>
            <a:pPr indent="0" marL="0">
              <a:lnSpc>
                <a:spcPct val="115000"/>
              </a:lnSpc>
              <a:buNone/>
            </a:pPr>
            <a:r>
              <a:rPr lang="en-US" sz="1700" b="1" dirty="0">
                <a:solidFill>
                  <a:srgbClr val="EF5B3F"/>
                </a:solidFill>
              </a:rPr>
              <a:t>(B)</a:t>
            </a:r>
            <a:pPr indent="0" marL="0">
              <a:lnSpc>
                <a:spcPct val="115000"/>
              </a:lnSpc>
              <a:buNone/>
            </a:pPr>
            <a:r>
              <a:rPr lang="en-US" sz="1700" dirty="0">
                <a:solidFill>
                  <a:srgbClr val="14453D"/>
                </a:solidFill>
              </a:rPr>
              <a:t>.</a:t>
            </a:r>
            <a:endParaRPr lang="en-US" sz="1700" dirty="0"/>
          </a:p>
          <a:p>
            <a:pPr indent="0" marL="0">
              <a:lnSpc>
                <a:spcPct val="115000"/>
              </a:lnSpc>
              <a:spcBef>
                <a:spcPts val="1000"/>
              </a:spcBef>
              <a:buNone/>
            </a:pPr>
            <a:r>
              <a:rPr lang="en-US" sz="1700" dirty="0">
                <a:solidFill>
                  <a:srgbClr val="14453D"/>
                </a:solidFill>
              </a:rPr>
              <a:t>①  simplicity ----- necessity</a:t>
            </a:r>
            <a:endParaRPr lang="en-US" sz="1700" dirty="0"/>
          </a:p>
          <a:p>
            <a:pPr indent="0" marL="0">
              <a:lnSpc>
                <a:spcPct val="115000"/>
              </a:lnSpc>
              <a:spcBef>
                <a:spcPts val="200"/>
              </a:spcBef>
              <a:buNone/>
            </a:pPr>
            <a:r>
              <a:rPr lang="en-US" sz="1700" dirty="0">
                <a:solidFill>
                  <a:srgbClr val="14453D"/>
                </a:solidFill>
              </a:rPr>
              <a:t>②  simplicity ----- willpower</a:t>
            </a:r>
            <a:endParaRPr lang="en-US" sz="1700" dirty="0"/>
          </a:p>
          <a:p>
            <a:pPr indent="0" marL="0">
              <a:lnSpc>
                <a:spcPct val="115000"/>
              </a:lnSpc>
              <a:spcBef>
                <a:spcPts val="200"/>
              </a:spcBef>
              <a:buNone/>
            </a:pPr>
            <a:r>
              <a:rPr lang="en-US" sz="1700" dirty="0">
                <a:solidFill>
                  <a:srgbClr val="14453D"/>
                </a:solidFill>
              </a:rPr>
              <a:t>③  popularity ----- necessity</a:t>
            </a:r>
            <a:endParaRPr lang="en-US" sz="1700" dirty="0"/>
          </a:p>
          <a:p>
            <a:pPr indent="0" marL="0">
              <a:lnSpc>
                <a:spcPct val="115000"/>
              </a:lnSpc>
              <a:spcBef>
                <a:spcPts val="200"/>
              </a:spcBef>
              <a:buNone/>
            </a:pPr>
            <a:r>
              <a:rPr lang="en-US" sz="1700" dirty="0">
                <a:solidFill>
                  <a:srgbClr val="14453D"/>
                </a:solidFill>
              </a:rPr>
              <a:t>④  consistency ----- willpower</a:t>
            </a:r>
            <a:endParaRPr lang="en-US" sz="1700" dirty="0"/>
          </a:p>
          <a:p>
            <a:pPr indent="0" marL="0">
              <a:lnSpc>
                <a:spcPct val="115000"/>
              </a:lnSpc>
              <a:spcBef>
                <a:spcPts val="200"/>
              </a:spcBef>
              <a:buNone/>
            </a:pPr>
            <a:r>
              <a:rPr lang="en-US" sz="1700" dirty="0">
                <a:solidFill>
                  <a:srgbClr val="14453D"/>
                </a:solidFill>
              </a:rPr>
              <a:t>⑤  consistency ----- expense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Many people think the success of dieting </a:t>
            </a:r>
            <a:pPr indent="0" marL="0">
              <a:lnSpc>
                <a:spcPct val="120000"/>
              </a:lnSpc>
              <a:buNone/>
            </a:pPr>
            <a:r>
              <a:rPr lang="en-US" sz="2000" b="1" dirty="0">
                <a:solidFill>
                  <a:srgbClr val="2C7DA0"/>
                </a:solidFill>
              </a:rPr>
              <a:t>depends mostly on </a:t>
            </a:r>
            <a:pPr indent="0" marL="0">
              <a:lnSpc>
                <a:spcPct val="120000"/>
              </a:lnSpc>
              <a:buNone/>
            </a:pPr>
            <a:r>
              <a:rPr lang="en-US" sz="2000" b="1" u="dotted" dirty="0">
                <a:solidFill>
                  <a:srgbClr val="2C7DA0"/>
                </a:solidFill>
                <a:uFill>
                  <a:solidFill>
                    <a:srgbClr val="1F7A64"/>
                  </a:solidFill>
                </a:uFill>
              </a:rPr>
              <a:t>determination</a:t>
            </a:r>
            <a:pPr indent="0" marL="0">
              <a:lnSpc>
                <a:spcPct val="120000"/>
              </a:lnSpc>
              <a:buNone/>
            </a:pPr>
            <a:r>
              <a:rPr lang="en-US" sz="2000" b="1" dirty="0">
                <a:solidFill>
                  <a:srgbClr val="2C7DA0"/>
                </a:solidFill>
              </a:rPr>
              <a:t>, </a:t>
            </a:r>
            <a:pPr indent="0" marL="0">
              <a:lnSpc>
                <a:spcPct val="120000"/>
              </a:lnSpc>
              <a:buNone/>
            </a:pPr>
            <a:r>
              <a:rPr lang="en-US" sz="2000" b="1" u="dotted" dirty="0">
                <a:solidFill>
                  <a:srgbClr val="2C7DA0"/>
                </a:solidFill>
                <a:uFill>
                  <a:solidFill>
                    <a:srgbClr val="1F7A64"/>
                  </a:solidFill>
                </a:uFill>
              </a:rPr>
              <a:t>persistence</a:t>
            </a:r>
            <a:pPr indent="0" marL="0">
              <a:lnSpc>
                <a:spcPct val="120000"/>
              </a:lnSpc>
              <a:buNone/>
            </a:pPr>
            <a:r>
              <a:rPr lang="en-US" sz="2000" b="1" dirty="0">
                <a:solidFill>
                  <a:srgbClr val="2C7DA0"/>
                </a:solidFill>
              </a:rPr>
              <a:t> and </a:t>
            </a:r>
            <a:pPr indent="0" marL="0">
              <a:lnSpc>
                <a:spcPct val="120000"/>
              </a:lnSpc>
              <a:buNone/>
            </a:pPr>
            <a:r>
              <a:rPr lang="en-US" sz="2000" b="1" u="dotted" dirty="0">
                <a:solidFill>
                  <a:srgbClr val="2C7DA0"/>
                </a:solidFill>
                <a:uFill>
                  <a:solidFill>
                    <a:srgbClr val="1F7A64"/>
                  </a:solidFill>
                </a:uFill>
              </a:rPr>
              <a:t>self-discipline</a:t>
            </a:r>
            <a:pPr indent="0" marL="0">
              <a:lnSpc>
                <a:spcPct val="120000"/>
              </a:lnSpc>
              <a:buNone/>
            </a:pPr>
            <a:r>
              <a:rPr lang="en-US" sz="2000" dirty="0">
                <a:solidFill>
                  <a:srgbClr val="1E2B2A"/>
                </a:solidFill>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highlight>
                  <a:srgbClr val="FFD45C"/>
                </a:highlight>
              </a:rPr>
              <a:t>While this mental power matters, a new research has found that a much more </a:t>
            </a:r>
            <a:pPr indent="0" marL="0">
              <a:lnSpc>
                <a:spcPct val="120000"/>
              </a:lnSpc>
              <a:buNone/>
            </a:pPr>
            <a:r>
              <a:rPr lang="en-US" sz="2000" u="dotted" dirty="0">
                <a:solidFill>
                  <a:srgbClr val="1F7A64"/>
                </a:solidFill>
                <a:highlight>
                  <a:srgbClr val="FFD45C"/>
                </a:highlight>
                <a:uFill>
                  <a:solidFill>
                    <a:srgbClr val="1F7A64"/>
                  </a:solidFill>
                </a:uFill>
              </a:rPr>
              <a:t>subtle</a:t>
            </a:r>
            <a:pPr indent="0" marL="0">
              <a:lnSpc>
                <a:spcPct val="120000"/>
              </a:lnSpc>
              <a:buNone/>
            </a:pPr>
            <a:r>
              <a:rPr lang="en-US" sz="2000" dirty="0">
                <a:solidFill>
                  <a:srgbClr val="1E2B2A"/>
                </a:solidFill>
                <a:highlight>
                  <a:srgbClr val="FFD45C"/>
                </a:highlight>
              </a:rPr>
              <a:t> aspect of the diets themselves can also have a big influence on the pounds lost.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rPr>
              <a:t>Researchers compared the dieting behavior of women following two very different diet plans.</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They found that </a:t>
            </a:r>
            <a:pPr indent="0" marL="0">
              <a:lnSpc>
                <a:spcPct val="120000"/>
              </a:lnSpc>
              <a:buNone/>
            </a:pPr>
            <a:r>
              <a:rPr lang="en-US" sz="2000" b="1" dirty="0">
                <a:solidFill>
                  <a:srgbClr val="2C7DA0"/>
                </a:solidFill>
                <a:highlight>
                  <a:srgbClr val="FFD45C"/>
                </a:highlight>
              </a:rPr>
              <a:t>the more </a:t>
            </a:r>
            <a:pPr indent="0" marL="0">
              <a:lnSpc>
                <a:spcPct val="120000"/>
              </a:lnSpc>
              <a:buNone/>
            </a:pPr>
            <a:r>
              <a:rPr lang="en-US" sz="2000" b="1" u="dotted" dirty="0">
                <a:solidFill>
                  <a:srgbClr val="2C7DA0"/>
                </a:solidFill>
                <a:highlight>
                  <a:srgbClr val="FFD45C"/>
                </a:highlight>
                <a:uFill>
                  <a:solidFill>
                    <a:srgbClr val="1F7A64"/>
                  </a:solidFill>
                </a:uFill>
              </a:rPr>
              <a:t>complicated</a:t>
            </a:r>
            <a:pPr indent="0" marL="0">
              <a:lnSpc>
                <a:spcPct val="120000"/>
              </a:lnSpc>
              <a:buNone/>
            </a:pPr>
            <a:r>
              <a:rPr lang="en-US" sz="2000" b="1" dirty="0">
                <a:solidFill>
                  <a:srgbClr val="2C7DA0"/>
                </a:solidFill>
                <a:highlight>
                  <a:srgbClr val="FFD45C"/>
                </a:highlight>
              </a:rPr>
              <a:t> people thought their diet plan was, the sooner they were likely to drop it</a:t>
            </a:r>
            <a:pPr indent="0" marL="0">
              <a:lnSpc>
                <a:spcPct val="120000"/>
              </a:lnSpc>
              <a:buNone/>
            </a:pPr>
            <a:r>
              <a:rPr lang="en-US" sz="2000" dirty="0">
                <a:solidFill>
                  <a:srgbClr val="1E2B2A"/>
                </a:solidFill>
                <a:highlight>
                  <a:srgbClr val="FFD45C"/>
                </a:highlight>
              </a:rPr>
              <a:t>.</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highlight>
                  <a:srgbClr val="FFD45C"/>
                </a:highlight>
              </a:rPr>
              <a:t>In other words, for people who go on </a:t>
            </a:r>
            <a:pPr indent="0" marL="0">
              <a:lnSpc>
                <a:spcPct val="120000"/>
              </a:lnSpc>
              <a:buNone/>
            </a:pPr>
            <a:r>
              <a:rPr lang="en-US" sz="2000" b="1" dirty="0">
                <a:solidFill>
                  <a:srgbClr val="2C7DA0"/>
                </a:solidFill>
                <a:highlight>
                  <a:srgbClr val="FFD45C"/>
                </a:highlight>
              </a:rPr>
              <a:t>a more complex diet that involves </a:t>
            </a:r>
            <a:pPr indent="0" marL="0">
              <a:lnSpc>
                <a:spcPct val="120000"/>
              </a:lnSpc>
              <a:buNone/>
            </a:pPr>
            <a:r>
              <a:rPr lang="en-US" sz="2000" b="1" u="dotted" dirty="0">
                <a:solidFill>
                  <a:srgbClr val="2C7DA0"/>
                </a:solidFill>
                <a:highlight>
                  <a:srgbClr val="FFD45C"/>
                </a:highlight>
                <a:uFill>
                  <a:solidFill>
                    <a:srgbClr val="1F7A64"/>
                  </a:solidFill>
                </a:uFill>
              </a:rPr>
              <a:t>keeping track of</a:t>
            </a:r>
            <a:pPr indent="0" marL="0">
              <a:lnSpc>
                <a:spcPct val="120000"/>
              </a:lnSpc>
              <a:buNone/>
            </a:pPr>
            <a:r>
              <a:rPr lang="en-US" sz="2000" dirty="0">
                <a:solidFill>
                  <a:srgbClr val="1E2B2A"/>
                </a:solidFill>
                <a:highlight>
                  <a:srgbClr val="FFD45C"/>
                </a:highlight>
              </a:rPr>
              <a:t> quantities and items eaten, their </a:t>
            </a:r>
            <a:pPr indent="0" marL="0">
              <a:lnSpc>
                <a:spcPct val="120000"/>
              </a:lnSpc>
              <a:buNone/>
            </a:pPr>
            <a:r>
              <a:rPr lang="en-US" sz="2000" u="dotted" dirty="0">
                <a:solidFill>
                  <a:srgbClr val="1F7A64"/>
                </a:solidFill>
                <a:highlight>
                  <a:srgbClr val="FFD45C"/>
                </a:highlight>
                <a:uFill>
                  <a:solidFill>
                    <a:srgbClr val="1F7A64"/>
                  </a:solidFill>
                </a:uFill>
              </a:rPr>
              <a:t>subjective</a:t>
            </a:r>
            <a:pPr indent="0" marL="0">
              <a:lnSpc>
                <a:spcPct val="120000"/>
              </a:lnSpc>
              <a:buNone/>
            </a:pPr>
            <a:r>
              <a:rPr lang="en-US" sz="2000" dirty="0">
                <a:solidFill>
                  <a:srgbClr val="1E2B2A"/>
                </a:solidFill>
                <a:highlight>
                  <a:srgbClr val="FFD45C"/>
                </a:highlight>
              </a:rPr>
              <a:t> impression of the difficulty of the diet </a:t>
            </a:r>
            <a:pPr indent="0" marL="0">
              <a:lnSpc>
                <a:spcPct val="120000"/>
              </a:lnSpc>
              <a:buNone/>
            </a:pPr>
            <a:r>
              <a:rPr lang="en-US" sz="2000" b="1" dirty="0">
                <a:solidFill>
                  <a:srgbClr val="2C7DA0"/>
                </a:solidFill>
                <a:highlight>
                  <a:srgbClr val="FFD45C"/>
                </a:highlight>
              </a:rPr>
              <a:t>can lead them to give up on it</a:t>
            </a:r>
            <a:pPr indent="0" marL="0">
              <a:lnSpc>
                <a:spcPct val="120000"/>
              </a:lnSpc>
              <a:buNone/>
            </a:pPr>
            <a:r>
              <a:rPr lang="en-US" sz="2000" dirty="0">
                <a:solidFill>
                  <a:srgbClr val="1E2B2A"/>
                </a:solidFill>
                <a:highlight>
                  <a:srgbClr val="FFD45C"/>
                </a:highlight>
              </a:rPr>
              <a:t>.</a:t>
            </a:r>
            <a:endParaRPr lang="en-US" sz="17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determination </a:t>
            </a:r>
            <a:pPr indent="0" marL="0">
              <a:lnSpc>
                <a:spcPct val="110000"/>
              </a:lnSpc>
              <a:buNone/>
            </a:pPr>
            <a:r>
              <a:rPr lang="en-US" sz="1400" dirty="0">
                <a:solidFill>
                  <a:srgbClr val="1E2B2A"/>
                </a:solidFill>
              </a:rPr>
              <a:t>결단력   ·   </a:t>
            </a:r>
            <a:pPr indent="0" marL="0">
              <a:lnSpc>
                <a:spcPct val="110000"/>
              </a:lnSpc>
              <a:buNone/>
            </a:pPr>
            <a:r>
              <a:rPr lang="en-US" sz="1400" b="1" dirty="0">
                <a:solidFill>
                  <a:srgbClr val="1F7A64"/>
                </a:solidFill>
              </a:rPr>
              <a:t>persistence </a:t>
            </a:r>
            <a:pPr indent="0" marL="0">
              <a:lnSpc>
                <a:spcPct val="110000"/>
              </a:lnSpc>
              <a:buNone/>
            </a:pPr>
            <a:r>
              <a:rPr lang="en-US" sz="1400" dirty="0">
                <a:solidFill>
                  <a:srgbClr val="1E2B2A"/>
                </a:solidFill>
              </a:rPr>
              <a:t>끈기   ·   </a:t>
            </a:r>
            <a:pPr indent="0" marL="0">
              <a:lnSpc>
                <a:spcPct val="110000"/>
              </a:lnSpc>
              <a:buNone/>
            </a:pPr>
            <a:r>
              <a:rPr lang="en-US" sz="1400" b="1" dirty="0">
                <a:solidFill>
                  <a:srgbClr val="1F7A64"/>
                </a:solidFill>
              </a:rPr>
              <a:t>self-discipline </a:t>
            </a:r>
            <a:pPr indent="0" marL="0">
              <a:lnSpc>
                <a:spcPct val="110000"/>
              </a:lnSpc>
              <a:buNone/>
            </a:pPr>
            <a:r>
              <a:rPr lang="en-US" sz="1400" dirty="0">
                <a:solidFill>
                  <a:srgbClr val="1E2B2A"/>
                </a:solidFill>
              </a:rPr>
              <a:t>자기 절제   ·   </a:t>
            </a:r>
            <a:pPr indent="0" marL="0">
              <a:lnSpc>
                <a:spcPct val="110000"/>
              </a:lnSpc>
              <a:buNone/>
            </a:pPr>
            <a:r>
              <a:rPr lang="en-US" sz="1400" b="1" dirty="0">
                <a:solidFill>
                  <a:srgbClr val="1F7A64"/>
                </a:solidFill>
              </a:rPr>
              <a:t>subtle </a:t>
            </a:r>
            <a:pPr indent="0" marL="0">
              <a:lnSpc>
                <a:spcPct val="110000"/>
              </a:lnSpc>
              <a:buNone/>
            </a:pPr>
            <a:r>
              <a:rPr lang="en-US" sz="1400" dirty="0">
                <a:solidFill>
                  <a:srgbClr val="1E2B2A"/>
                </a:solidFill>
              </a:rPr>
              <a:t>미묘한   ·   </a:t>
            </a:r>
            <a:pPr indent="0" marL="0">
              <a:lnSpc>
                <a:spcPct val="110000"/>
              </a:lnSpc>
              <a:buNone/>
            </a:pPr>
            <a:r>
              <a:rPr lang="en-US" sz="1400" b="1" dirty="0">
                <a:solidFill>
                  <a:srgbClr val="1F7A64"/>
                </a:solidFill>
              </a:rPr>
              <a:t>complicated </a:t>
            </a:r>
            <a:pPr indent="0" marL="0">
              <a:lnSpc>
                <a:spcPct val="110000"/>
              </a:lnSpc>
              <a:buNone/>
            </a:pPr>
            <a:r>
              <a:rPr lang="en-US" sz="1400" dirty="0">
                <a:solidFill>
                  <a:srgbClr val="1E2B2A"/>
                </a:solidFill>
              </a:rPr>
              <a:t>복잡한   ·   </a:t>
            </a:r>
            <a:pPr indent="0" marL="0">
              <a:lnSpc>
                <a:spcPct val="110000"/>
              </a:lnSpc>
              <a:buNone/>
            </a:pPr>
            <a:r>
              <a:rPr lang="en-US" sz="1400" b="1" dirty="0">
                <a:solidFill>
                  <a:srgbClr val="1F7A64"/>
                </a:solidFill>
              </a:rPr>
              <a:t>keeping track of </a:t>
            </a:r>
            <a:pPr indent="0" marL="0">
              <a:lnSpc>
                <a:spcPct val="110000"/>
              </a:lnSpc>
              <a:buNone/>
            </a:pPr>
            <a:r>
              <a:rPr lang="en-US" sz="1400" dirty="0">
                <a:solidFill>
                  <a:srgbClr val="1E2B2A"/>
                </a:solidFill>
              </a:rPr>
              <a:t>기록하기   ·   </a:t>
            </a:r>
            <a:pPr indent="0" marL="0">
              <a:lnSpc>
                <a:spcPct val="110000"/>
              </a:lnSpc>
              <a:buNone/>
            </a:pPr>
            <a:r>
              <a:rPr lang="en-US" sz="1400" b="1" dirty="0">
                <a:solidFill>
                  <a:srgbClr val="1F7A64"/>
                </a:solidFill>
              </a:rPr>
              <a:t>subjective </a:t>
            </a:r>
            <a:pPr indent="0" marL="0">
              <a:lnSpc>
                <a:spcPct val="110000"/>
              </a:lnSpc>
              <a:buNone/>
            </a:pPr>
            <a:r>
              <a:rPr lang="en-US" sz="1400" dirty="0">
                <a:solidFill>
                  <a:srgbClr val="1E2B2A"/>
                </a:solidFill>
              </a:rPr>
              <a:t>주관적인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depends mostly on determination, persistence and self-discipline</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depend on · 병렬</a:t>
            </a:r>
            <a:endParaRPr lang="en-US" sz="1700" dirty="0"/>
          </a:p>
          <a:p>
            <a:pPr indent="0" marL="0">
              <a:spcAft>
                <a:spcPts val="200"/>
              </a:spcAft>
              <a:buNone/>
            </a:pPr>
            <a:r>
              <a:rPr lang="en-US" sz="1400" dirty="0">
                <a:solidFill>
                  <a:srgbClr val="1E2B2A"/>
                </a:solidFill>
              </a:rPr>
              <a:t>명사 세 개 병렬 (A, B and C)</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the more complicated people thought their diet plan was, the sooner they were likely to drop it</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the 비교급, the 비교급</a:t>
            </a:r>
            <a:endParaRPr lang="en-US" sz="1700" dirty="0"/>
          </a:p>
          <a:p>
            <a:pPr indent="0" marL="0">
              <a:spcAft>
                <a:spcPts val="200"/>
              </a:spcAft>
              <a:buNone/>
            </a:pPr>
            <a:r>
              <a:rPr lang="en-US" sz="1400" dirty="0">
                <a:solidFill>
                  <a:srgbClr val="1E2B2A"/>
                </a:solidFill>
              </a:rPr>
              <a:t>~할수록 더 …하다 (complicated는 was의 보어)</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a more complex diet that involves keeping track of</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주격 관계대명사 · involve -ing</a:t>
            </a:r>
            <a:endParaRPr lang="en-US" sz="1700" dirty="0"/>
          </a:p>
          <a:p>
            <a:pPr indent="0" marL="0">
              <a:spcAft>
                <a:spcPts val="200"/>
              </a:spcAft>
              <a:buNone/>
            </a:pPr>
            <a:r>
              <a:rPr lang="en-US" sz="1400" dirty="0">
                <a:solidFill>
                  <a:srgbClr val="1E2B2A"/>
                </a:solidFill>
              </a:rPr>
              <a:t>involve는 동명사를 목적어로</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can lead them to give up on it</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lead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To succeed in diet, (A) of process for carrying it out is more important than (B).</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다이어트에 성공하려면, 그것을 실행하는 과정의 (A)이 (B)보다 더 중요하다.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과정의 무엇? / (B) 무엇보다 더 중요?</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…the more complicated people thought their diet plan was, the sooner they were likely to drop it.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다이어트 계획이 더 복잡하다고 생각할수록 더 빨리 포기했다 → (A) simplicity</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통념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다이어트 성공 = 결단력·끈기·자기 절제 (정신력)</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While 정신력도 중요하지만 → 다이어트 자체의 미묘한 측면도 중요</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연구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계획이 복잡하다고 느낄수록 더 빨리 포기</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복잡하다는 주관적 인상이 포기를 부른다 → 단순함이 핵심</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simplicity ----- willpower</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단순성 = 복잡함의 반대 / 의지력 = determination·persistence</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simplicity ----- necessity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단순성 ✔ / 필요성 ✘</a:t>
            </a:r>
            <a:endParaRPr lang="en-US" sz="1200" dirty="0"/>
          </a:p>
        </p:txBody>
      </p:sp>
      <p:sp>
        <p:nvSpPr>
          <p:cNvPr id="13" name="Text 11"/>
          <p:cNvSpPr/>
          <p:nvPr/>
        </p:nvSpPr>
        <p:spPr>
          <a:xfrm>
            <a:off x="10332720" y="1600200"/>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simplicity ----- willpower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단순성 = 복잡함의 반대 / 의지력 = determination·persistence</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popularity ----- necessity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인기 ✘ / 필요성 ✘</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consistency ----- willpower</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일관성 ✘ / 의지력 ✔ → persistence(끈기)와 혼동</a:t>
            </a:r>
            <a:endParaRPr lang="en-US" sz="1200" dirty="0"/>
          </a:p>
        </p:txBody>
      </p:sp>
      <p:sp>
        <p:nvSpPr>
          <p:cNvPr id="28" name="Text 26"/>
          <p:cNvSpPr/>
          <p:nvPr/>
        </p:nvSpPr>
        <p:spPr>
          <a:xfrm>
            <a:off x="10332720" y="4645152"/>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consistency ----- expense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일관성 ✘ / 비용 ✘</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Formal organizations such as multinational corporations train workers to perform their jobs in a certain way and reward them for good performance.</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When workers are trained to respond mindlessly to the dictates of the job, however, they risk developing trained incapacity—the inability to respond to new or unusual circumstances or to recognize when official rules or procedures do not apply or may be doing harm.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In other words, workers are trained to do their jobs in an efficient way to meet organizational goals while ignoring other important matters related to their health, the community, and the environment.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At the root of trained incapacity is a job with little variety and repetitive tasks.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Economist Thorstein Veblen argues that as variety in work decreases, the amount of thought and time needed to perform a job also decreases.</a:t>
            </a:r>
            <a:endParaRPr lang="en-US" sz="1550" dirty="0"/>
          </a:p>
          <a:p>
            <a:pPr indent="0" marL="0">
              <a:lnSpc>
                <a:spcPct val="115000"/>
              </a:lnSpc>
              <a:spcBef>
                <a:spcPts val="800"/>
              </a:spcBef>
              <a:buNone/>
            </a:pPr>
            <a:r>
              <a:rPr lang="en-US" sz="1550" b="1" dirty="0">
                <a:solidFill>
                  <a:srgbClr val="1F7A64"/>
                </a:solidFill>
              </a:rPr>
              <a:t>↓  </a:t>
            </a:r>
            <a:pPr indent="0" marL="0">
              <a:lnSpc>
                <a:spcPct val="115000"/>
              </a:lnSpc>
              <a:buNone/>
            </a:pPr>
            <a:r>
              <a:rPr lang="en-US" sz="1550" dirty="0">
                <a:solidFill>
                  <a:srgbClr val="14453D"/>
                </a:solidFill>
              </a:rPr>
              <a:t>When the workers of organizations are trained to do </a:t>
            </a:r>
            <a:pPr indent="0" marL="0">
              <a:lnSpc>
                <a:spcPct val="115000"/>
              </a:lnSpc>
              <a:buNone/>
            </a:pPr>
            <a:r>
              <a:rPr lang="en-US" sz="1550" b="1" dirty="0">
                <a:solidFill>
                  <a:srgbClr val="EF5B3F"/>
                </a:solidFill>
              </a:rPr>
              <a:t>(A)</a:t>
            </a:r>
            <a:pPr indent="0" marL="0">
              <a:lnSpc>
                <a:spcPct val="115000"/>
              </a:lnSpc>
              <a:buNone/>
            </a:pPr>
            <a:r>
              <a:rPr lang="en-US" sz="1550" dirty="0">
                <a:solidFill>
                  <a:srgbClr val="14453D"/>
                </a:solidFill>
              </a:rPr>
              <a:t> jobs, they possibly end up being </a:t>
            </a:r>
            <a:pPr indent="0" marL="0">
              <a:lnSpc>
                <a:spcPct val="115000"/>
              </a:lnSpc>
              <a:buNone/>
            </a:pPr>
            <a:r>
              <a:rPr lang="en-US" sz="1550" b="1" dirty="0">
                <a:solidFill>
                  <a:srgbClr val="EF5B3F"/>
                </a:solidFill>
              </a:rPr>
              <a:t>(B)</a:t>
            </a:r>
            <a:pPr indent="0" marL="0">
              <a:lnSpc>
                <a:spcPct val="115000"/>
              </a:lnSpc>
              <a:buNone/>
            </a:pPr>
            <a:r>
              <a:rPr lang="en-US" sz="1550" dirty="0">
                <a:solidFill>
                  <a:srgbClr val="14453D"/>
                </a:solidFill>
              </a:rPr>
              <a:t> to deal with new or changing situations.</a:t>
            </a:r>
            <a:endParaRPr lang="en-US" sz="1550" dirty="0"/>
          </a:p>
          <a:p>
            <a:pPr indent="0" marL="0">
              <a:lnSpc>
                <a:spcPct val="115000"/>
              </a:lnSpc>
              <a:spcBef>
                <a:spcPts val="1000"/>
              </a:spcBef>
              <a:buNone/>
            </a:pPr>
            <a:r>
              <a:rPr lang="en-US" sz="1550" dirty="0">
                <a:solidFill>
                  <a:srgbClr val="14453D"/>
                </a:solidFill>
              </a:rPr>
              <a:t>①  complex ----- afraid</a:t>
            </a:r>
            <a:endParaRPr lang="en-US" sz="1550" dirty="0"/>
          </a:p>
          <a:p>
            <a:pPr indent="0" marL="0">
              <a:lnSpc>
                <a:spcPct val="115000"/>
              </a:lnSpc>
              <a:spcBef>
                <a:spcPts val="200"/>
              </a:spcBef>
              <a:buNone/>
            </a:pPr>
            <a:r>
              <a:rPr lang="en-US" sz="1550" dirty="0">
                <a:solidFill>
                  <a:srgbClr val="14453D"/>
                </a:solidFill>
              </a:rPr>
              <a:t>②  repetitive ----- eager</a:t>
            </a:r>
            <a:endParaRPr lang="en-US" sz="1550" dirty="0"/>
          </a:p>
          <a:p>
            <a:pPr indent="0" marL="0">
              <a:lnSpc>
                <a:spcPct val="115000"/>
              </a:lnSpc>
              <a:spcBef>
                <a:spcPts val="200"/>
              </a:spcBef>
              <a:buNone/>
            </a:pPr>
            <a:r>
              <a:rPr lang="en-US" sz="1550" dirty="0">
                <a:solidFill>
                  <a:srgbClr val="14453D"/>
                </a:solidFill>
              </a:rPr>
              <a:t>③  demanding ----- prompt</a:t>
            </a:r>
            <a:endParaRPr lang="en-US" sz="1550" dirty="0"/>
          </a:p>
          <a:p>
            <a:pPr indent="0" marL="0">
              <a:lnSpc>
                <a:spcPct val="115000"/>
              </a:lnSpc>
              <a:spcBef>
                <a:spcPts val="200"/>
              </a:spcBef>
              <a:buNone/>
            </a:pPr>
            <a:r>
              <a:rPr lang="en-US" sz="1550" dirty="0">
                <a:solidFill>
                  <a:srgbClr val="14453D"/>
                </a:solidFill>
              </a:rPr>
              <a:t>④  monotonous ----- unable</a:t>
            </a:r>
            <a:endParaRPr lang="en-US" sz="1550" dirty="0"/>
          </a:p>
          <a:p>
            <a:pPr indent="0" marL="0">
              <a:lnSpc>
                <a:spcPct val="115000"/>
              </a:lnSpc>
              <a:spcBef>
                <a:spcPts val="200"/>
              </a:spcBef>
              <a:buNone/>
            </a:pPr>
            <a:r>
              <a:rPr lang="en-US" sz="1550" dirty="0">
                <a:solidFill>
                  <a:srgbClr val="14453D"/>
                </a:solidFill>
              </a:rPr>
              <a:t>⑤  professional ----- willing</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Formal organizations such as </a:t>
            </a:r>
            <a:pPr indent="0" marL="0">
              <a:lnSpc>
                <a:spcPct val="120000"/>
              </a:lnSpc>
              <a:buNone/>
            </a:pPr>
            <a:r>
              <a:rPr lang="en-US" sz="1800" u="dotted" dirty="0">
                <a:solidFill>
                  <a:srgbClr val="1F7A64"/>
                </a:solidFill>
                <a:uFill>
                  <a:solidFill>
                    <a:srgbClr val="1F7A64"/>
                  </a:solidFill>
                </a:uFill>
              </a:rPr>
              <a:t>multinational</a:t>
            </a:r>
            <a:pPr indent="0" marL="0">
              <a:lnSpc>
                <a:spcPct val="120000"/>
              </a:lnSpc>
              <a:buNone/>
            </a:pPr>
            <a:r>
              <a:rPr lang="en-US" sz="1800" dirty="0">
                <a:solidFill>
                  <a:srgbClr val="1E2B2A"/>
                </a:solidFill>
              </a:rPr>
              <a:t> corporations </a:t>
            </a:r>
            <a:pPr indent="0" marL="0">
              <a:lnSpc>
                <a:spcPct val="120000"/>
              </a:lnSpc>
              <a:buNone/>
            </a:pPr>
            <a:r>
              <a:rPr lang="en-US" sz="1800" b="1" dirty="0">
                <a:solidFill>
                  <a:srgbClr val="2C7DA0"/>
                </a:solidFill>
              </a:rPr>
              <a:t>train workers to perform their jobs</a:t>
            </a:r>
            <a:pPr indent="0" marL="0">
              <a:lnSpc>
                <a:spcPct val="120000"/>
              </a:lnSpc>
              <a:buNone/>
            </a:pPr>
            <a:r>
              <a:rPr lang="en-US" sz="1800" dirty="0">
                <a:solidFill>
                  <a:srgbClr val="1E2B2A"/>
                </a:solidFill>
              </a:rPr>
              <a:t> in a certain way and reward them for good performance.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When workers are trained to respond </a:t>
            </a:r>
            <a:pPr indent="0" marL="0">
              <a:lnSpc>
                <a:spcPct val="120000"/>
              </a:lnSpc>
              <a:buNone/>
            </a:pPr>
            <a:r>
              <a:rPr lang="en-US" sz="1800" u="dotted" dirty="0">
                <a:solidFill>
                  <a:srgbClr val="1F7A64"/>
                </a:solidFill>
                <a:highlight>
                  <a:srgbClr val="FFD45C"/>
                </a:highlight>
                <a:uFill>
                  <a:solidFill>
                    <a:srgbClr val="1F7A64"/>
                  </a:solidFill>
                </a:uFill>
              </a:rPr>
              <a:t>mindlessly</a:t>
            </a:r>
            <a:pPr indent="0" marL="0">
              <a:lnSpc>
                <a:spcPct val="120000"/>
              </a:lnSpc>
              <a:buNone/>
            </a:pPr>
            <a:r>
              <a:rPr lang="en-US" sz="1800" dirty="0">
                <a:solidFill>
                  <a:srgbClr val="1E2B2A"/>
                </a:solidFill>
                <a:highlight>
                  <a:srgbClr val="FFD45C"/>
                </a:highlight>
              </a:rPr>
              <a:t> to the </a:t>
            </a:r>
            <a:pPr indent="0" marL="0">
              <a:lnSpc>
                <a:spcPct val="120000"/>
              </a:lnSpc>
              <a:buNone/>
            </a:pPr>
            <a:r>
              <a:rPr lang="en-US" sz="1800" u="dotted" dirty="0">
                <a:solidFill>
                  <a:srgbClr val="1F7A64"/>
                </a:solidFill>
                <a:highlight>
                  <a:srgbClr val="FFD45C"/>
                </a:highlight>
                <a:uFill>
                  <a:solidFill>
                    <a:srgbClr val="1F7A64"/>
                  </a:solidFill>
                </a:uFill>
              </a:rPr>
              <a:t>dictates</a:t>
            </a:r>
            <a:pPr indent="0" marL="0">
              <a:lnSpc>
                <a:spcPct val="120000"/>
              </a:lnSpc>
              <a:buNone/>
            </a:pPr>
            <a:r>
              <a:rPr lang="en-US" sz="1800" dirty="0">
                <a:solidFill>
                  <a:srgbClr val="1E2B2A"/>
                </a:solidFill>
                <a:highlight>
                  <a:srgbClr val="FFD45C"/>
                </a:highlight>
              </a:rPr>
              <a:t> of the job, however, </a:t>
            </a:r>
            <a:pPr indent="0" marL="0">
              <a:lnSpc>
                <a:spcPct val="120000"/>
              </a:lnSpc>
              <a:buNone/>
            </a:pPr>
            <a:r>
              <a:rPr lang="en-US" sz="1800" b="1" dirty="0">
                <a:solidFill>
                  <a:srgbClr val="2C7DA0"/>
                </a:solidFill>
                <a:highlight>
                  <a:srgbClr val="FFD45C"/>
                </a:highlight>
              </a:rPr>
              <a:t>they risk developing trained </a:t>
            </a:r>
            <a:pPr indent="0" marL="0">
              <a:lnSpc>
                <a:spcPct val="120000"/>
              </a:lnSpc>
              <a:buNone/>
            </a:pPr>
            <a:r>
              <a:rPr lang="en-US" sz="1800" b="1" u="dotted" dirty="0">
                <a:solidFill>
                  <a:srgbClr val="2C7DA0"/>
                </a:solidFill>
                <a:highlight>
                  <a:srgbClr val="FFD45C"/>
                </a:highlight>
                <a:uFill>
                  <a:solidFill>
                    <a:srgbClr val="1F7A64"/>
                  </a:solidFill>
                </a:uFill>
              </a:rPr>
              <a:t>incapacity</a:t>
            </a:r>
            <a:pPr indent="0" marL="0">
              <a:lnSpc>
                <a:spcPct val="120000"/>
              </a:lnSpc>
              <a:buNone/>
            </a:pPr>
            <a:r>
              <a:rPr lang="en-US" sz="1800" dirty="0">
                <a:solidFill>
                  <a:srgbClr val="1E2B2A"/>
                </a:solidFill>
                <a:highlight>
                  <a:srgbClr val="FFD45C"/>
                </a:highlight>
              </a:rPr>
              <a:t>—the inability to respond to new or unusual circumstances or to recognize when official rules or </a:t>
            </a:r>
            <a:pPr indent="0" marL="0">
              <a:lnSpc>
                <a:spcPct val="120000"/>
              </a:lnSpc>
              <a:buNone/>
            </a:pPr>
            <a:r>
              <a:rPr lang="en-US" sz="1800" u="dotted" dirty="0">
                <a:solidFill>
                  <a:srgbClr val="1F7A64"/>
                </a:solidFill>
                <a:highlight>
                  <a:srgbClr val="FFD45C"/>
                </a:highlight>
                <a:uFill>
                  <a:solidFill>
                    <a:srgbClr val="1F7A64"/>
                  </a:solidFill>
                </a:uFill>
              </a:rPr>
              <a:t>procedures</a:t>
            </a:r>
            <a:pPr indent="0" marL="0">
              <a:lnSpc>
                <a:spcPct val="120000"/>
              </a:lnSpc>
              <a:buNone/>
            </a:pPr>
            <a:r>
              <a:rPr lang="en-US" sz="1800" dirty="0">
                <a:solidFill>
                  <a:srgbClr val="1E2B2A"/>
                </a:solidFill>
                <a:highlight>
                  <a:srgbClr val="FFD45C"/>
                </a:highlight>
              </a:rPr>
              <a:t> do not apply or may be doing harm.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In other words, workers are trained to do their jobs in an </a:t>
            </a:r>
            <a:pPr indent="0" marL="0">
              <a:lnSpc>
                <a:spcPct val="120000"/>
              </a:lnSpc>
              <a:buNone/>
            </a:pPr>
            <a:r>
              <a:rPr lang="en-US" sz="1800" u="dotted" dirty="0">
                <a:solidFill>
                  <a:srgbClr val="1F7A64"/>
                </a:solidFill>
                <a:uFill>
                  <a:solidFill>
                    <a:srgbClr val="1F7A64"/>
                  </a:solidFill>
                </a:uFill>
              </a:rPr>
              <a:t>efficient</a:t>
            </a:r>
            <a:pPr indent="0" marL="0">
              <a:lnSpc>
                <a:spcPct val="120000"/>
              </a:lnSpc>
              <a:buNone/>
            </a:pPr>
            <a:r>
              <a:rPr lang="en-US" sz="1800" dirty="0">
                <a:solidFill>
                  <a:srgbClr val="1E2B2A"/>
                </a:solidFill>
              </a:rPr>
              <a:t> way to meet organizational goals </a:t>
            </a:r>
            <a:pPr indent="0" marL="0">
              <a:lnSpc>
                <a:spcPct val="120000"/>
              </a:lnSpc>
              <a:buNone/>
            </a:pPr>
            <a:r>
              <a:rPr lang="en-US" sz="1800" b="1" dirty="0">
                <a:solidFill>
                  <a:srgbClr val="2C7DA0"/>
                </a:solidFill>
              </a:rPr>
              <a:t>while ignoring other important matters</a:t>
            </a:r>
            <a:pPr indent="0" marL="0">
              <a:lnSpc>
                <a:spcPct val="120000"/>
              </a:lnSpc>
              <a:buNone/>
            </a:pPr>
            <a:r>
              <a:rPr lang="en-US" sz="1800" dirty="0">
                <a:solidFill>
                  <a:srgbClr val="1E2B2A"/>
                </a:solidFill>
              </a:rPr>
              <a:t> related to their health, the community, and the environment.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b="1" dirty="0">
                <a:solidFill>
                  <a:srgbClr val="2C7DA0"/>
                </a:solidFill>
                <a:highlight>
                  <a:srgbClr val="FFD45C"/>
                </a:highlight>
              </a:rPr>
              <a:t>At the root of trained incapacity is a job</a:t>
            </a:r>
            <a:pPr indent="0" marL="0">
              <a:lnSpc>
                <a:spcPct val="120000"/>
              </a:lnSpc>
              <a:buNone/>
            </a:pPr>
            <a:r>
              <a:rPr lang="en-US" sz="1800" dirty="0">
                <a:solidFill>
                  <a:srgbClr val="1E2B2A"/>
                </a:solidFill>
                <a:highlight>
                  <a:srgbClr val="FFD45C"/>
                </a:highlight>
              </a:rPr>
              <a:t> with little variety and </a:t>
            </a:r>
            <a:pPr indent="0" marL="0">
              <a:lnSpc>
                <a:spcPct val="120000"/>
              </a:lnSpc>
              <a:buNone/>
            </a:pPr>
            <a:r>
              <a:rPr lang="en-US" sz="1800" u="dotted" dirty="0">
                <a:solidFill>
                  <a:srgbClr val="1F7A64"/>
                </a:solidFill>
                <a:highlight>
                  <a:srgbClr val="FFD45C"/>
                </a:highlight>
                <a:uFill>
                  <a:solidFill>
                    <a:srgbClr val="1F7A64"/>
                  </a:solidFill>
                </a:uFill>
              </a:rPr>
              <a:t>repetitive</a:t>
            </a:r>
            <a:pPr indent="0" marL="0">
              <a:lnSpc>
                <a:spcPct val="120000"/>
              </a:lnSpc>
              <a:buNone/>
            </a:pPr>
            <a:r>
              <a:rPr lang="en-US" sz="1800" dirty="0">
                <a:solidFill>
                  <a:srgbClr val="1E2B2A"/>
                </a:solidFill>
                <a:highlight>
                  <a:srgbClr val="FFD45C"/>
                </a:highlight>
              </a:rPr>
              <a:t> tasks.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Economist Thorstein Veblen argues that </a:t>
            </a:r>
            <a:pPr indent="0" marL="0">
              <a:lnSpc>
                <a:spcPct val="120000"/>
              </a:lnSpc>
              <a:buNone/>
            </a:pPr>
            <a:r>
              <a:rPr lang="en-US" sz="1800" b="1" dirty="0">
                <a:solidFill>
                  <a:srgbClr val="2C7DA0"/>
                </a:solidFill>
              </a:rPr>
              <a:t>as variety in work decreases</a:t>
            </a:r>
            <a:pPr indent="0" marL="0">
              <a:lnSpc>
                <a:spcPct val="120000"/>
              </a:lnSpc>
              <a:buNone/>
            </a:pPr>
            <a:r>
              <a:rPr lang="en-US" sz="1800" dirty="0">
                <a:solidFill>
                  <a:srgbClr val="1E2B2A"/>
                </a:solidFill>
              </a:rPr>
              <a:t>, the amount of thought and time needed to perform a job also decreases.</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multinational </a:t>
            </a:r>
            <a:pPr indent="0" marL="0">
              <a:lnSpc>
                <a:spcPct val="110000"/>
              </a:lnSpc>
              <a:buNone/>
            </a:pPr>
            <a:r>
              <a:rPr lang="en-US" sz="1400" dirty="0">
                <a:solidFill>
                  <a:srgbClr val="1E2B2A"/>
                </a:solidFill>
              </a:rPr>
              <a:t>다국적의   ·   </a:t>
            </a:r>
            <a:pPr indent="0" marL="0">
              <a:lnSpc>
                <a:spcPct val="110000"/>
              </a:lnSpc>
              <a:buNone/>
            </a:pPr>
            <a:r>
              <a:rPr lang="en-US" sz="1400" b="1" dirty="0">
                <a:solidFill>
                  <a:srgbClr val="1F7A64"/>
                </a:solidFill>
              </a:rPr>
              <a:t>mindlessly </a:t>
            </a:r>
            <a:pPr indent="0" marL="0">
              <a:lnSpc>
                <a:spcPct val="110000"/>
              </a:lnSpc>
              <a:buNone/>
            </a:pPr>
            <a:r>
              <a:rPr lang="en-US" sz="1400" dirty="0">
                <a:solidFill>
                  <a:srgbClr val="1E2B2A"/>
                </a:solidFill>
              </a:rPr>
              <a:t>아무 생각 없이   ·   </a:t>
            </a:r>
            <a:pPr indent="0" marL="0">
              <a:lnSpc>
                <a:spcPct val="110000"/>
              </a:lnSpc>
              <a:buNone/>
            </a:pPr>
            <a:r>
              <a:rPr lang="en-US" sz="1400" b="1" dirty="0">
                <a:solidFill>
                  <a:srgbClr val="1F7A64"/>
                </a:solidFill>
              </a:rPr>
              <a:t>dictates </a:t>
            </a:r>
            <a:pPr indent="0" marL="0">
              <a:lnSpc>
                <a:spcPct val="110000"/>
              </a:lnSpc>
              <a:buNone/>
            </a:pPr>
            <a:r>
              <a:rPr lang="en-US" sz="1400" dirty="0">
                <a:solidFill>
                  <a:srgbClr val="1E2B2A"/>
                </a:solidFill>
              </a:rPr>
              <a:t>지시   ·   </a:t>
            </a:r>
            <a:pPr indent="0" marL="0">
              <a:lnSpc>
                <a:spcPct val="110000"/>
              </a:lnSpc>
              <a:buNone/>
            </a:pPr>
            <a:r>
              <a:rPr lang="en-US" sz="1400" b="1" dirty="0">
                <a:solidFill>
                  <a:srgbClr val="1F7A64"/>
                </a:solidFill>
              </a:rPr>
              <a:t>incapacity </a:t>
            </a:r>
            <a:pPr indent="0" marL="0">
              <a:lnSpc>
                <a:spcPct val="110000"/>
              </a:lnSpc>
              <a:buNone/>
            </a:pPr>
            <a:r>
              <a:rPr lang="en-US" sz="1400" dirty="0">
                <a:solidFill>
                  <a:srgbClr val="1E2B2A"/>
                </a:solidFill>
              </a:rPr>
              <a:t>무능   ·   </a:t>
            </a:r>
            <a:pPr indent="0" marL="0">
              <a:lnSpc>
                <a:spcPct val="110000"/>
              </a:lnSpc>
              <a:buNone/>
            </a:pPr>
            <a:r>
              <a:rPr lang="en-US" sz="1400" b="1" dirty="0">
                <a:solidFill>
                  <a:srgbClr val="1F7A64"/>
                </a:solidFill>
              </a:rPr>
              <a:t>procedures </a:t>
            </a:r>
            <a:pPr indent="0" marL="0">
              <a:lnSpc>
                <a:spcPct val="110000"/>
              </a:lnSpc>
              <a:buNone/>
            </a:pPr>
            <a:r>
              <a:rPr lang="en-US" sz="1400" dirty="0">
                <a:solidFill>
                  <a:srgbClr val="1E2B2A"/>
                </a:solidFill>
              </a:rPr>
              <a:t>절차   ·   </a:t>
            </a:r>
            <a:pPr indent="0" marL="0">
              <a:lnSpc>
                <a:spcPct val="110000"/>
              </a:lnSpc>
              <a:buNone/>
            </a:pPr>
            <a:r>
              <a:rPr lang="en-US" sz="1400" b="1" dirty="0">
                <a:solidFill>
                  <a:srgbClr val="1F7A64"/>
                </a:solidFill>
              </a:rPr>
              <a:t>efficient </a:t>
            </a:r>
            <a:pPr indent="0" marL="0">
              <a:lnSpc>
                <a:spcPct val="110000"/>
              </a:lnSpc>
              <a:buNone/>
            </a:pPr>
            <a:r>
              <a:rPr lang="en-US" sz="1400" dirty="0">
                <a:solidFill>
                  <a:srgbClr val="1E2B2A"/>
                </a:solidFill>
              </a:rPr>
              <a:t>효율적인   ·   </a:t>
            </a:r>
            <a:pPr indent="0" marL="0">
              <a:lnSpc>
                <a:spcPct val="110000"/>
              </a:lnSpc>
              <a:buNone/>
            </a:pPr>
            <a:r>
              <a:rPr lang="en-US" sz="1400" b="1" dirty="0">
                <a:solidFill>
                  <a:srgbClr val="1F7A64"/>
                </a:solidFill>
              </a:rPr>
              <a:t>repetitive </a:t>
            </a:r>
            <a:pPr indent="0" marL="0">
              <a:lnSpc>
                <a:spcPct val="110000"/>
              </a:lnSpc>
              <a:buNone/>
            </a:pPr>
            <a:r>
              <a:rPr lang="en-US" sz="1400" dirty="0">
                <a:solidFill>
                  <a:srgbClr val="1E2B2A"/>
                </a:solidFill>
              </a:rPr>
              <a:t>반복적인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train workers to perform their jobs</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train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they risk developing trained incapacity</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risk -ing</a:t>
            </a:r>
            <a:endParaRPr lang="en-US" sz="1700" dirty="0"/>
          </a:p>
          <a:p>
            <a:pPr indent="0" marL="0">
              <a:spcAft>
                <a:spcPts val="200"/>
              </a:spcAft>
              <a:buNone/>
            </a:pPr>
            <a:r>
              <a:rPr lang="en-US" sz="1400" dirty="0">
                <a:solidFill>
                  <a:srgbClr val="1E2B2A"/>
                </a:solidFill>
              </a:rPr>
              <a:t>risk는 동명사를 목적어로 (~할 위험이 있다)</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while ignoring other important matters</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접속사 + 분사구문</a:t>
            </a:r>
            <a:endParaRPr lang="en-US" sz="1700" dirty="0"/>
          </a:p>
          <a:p>
            <a:pPr indent="0" marL="0">
              <a:spcAft>
                <a:spcPts val="200"/>
              </a:spcAft>
              <a:buNone/>
            </a:pPr>
            <a:r>
              <a:rPr lang="en-US" sz="1400" dirty="0">
                <a:solidFill>
                  <a:srgbClr val="1E2B2A"/>
                </a:solidFill>
              </a:rPr>
              <a:t>while (they are) ignoring ~</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At the root of trained incapacity is a job</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부사구 + 동사 is + 주어 a job (단수)</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as variety in work decreases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비례의 as</a:t>
            </a:r>
            <a:endParaRPr lang="en-US" sz="1700" dirty="0"/>
          </a:p>
          <a:p>
            <a:pPr indent="0" marL="0">
              <a:spcAft>
                <a:spcPts val="200"/>
              </a:spcAft>
              <a:buNone/>
            </a:pPr>
            <a:r>
              <a:rPr lang="en-US" sz="1400" dirty="0">
                <a:solidFill>
                  <a:srgbClr val="1E2B2A"/>
                </a:solidFill>
              </a:rPr>
              <a:t>~할수록 (as A decreases, B also decreases)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When the workers of organizations are trained to do (A) jobs, they possibly end up being (B) to deal with new or changing situations.</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조직의 직원들이 (A) 일을 하도록 훈련받으면, 결국 새롭거나 변화하는 상황에 대처할 수 (B) 될 수 있다.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어떤 일? / (B) 새 상황에 대처할 수 있나?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At the root of trained incapacity is a job with little variety and repetitive tasks.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훈련된 무능의 근원에는 다양성이 거의 없고 반복적인 업무가 있다 → (A) monotonous</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조직은 직원을 일정한 방식으로 훈련하고 보상한다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문제</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생각 없이 반응하도록 훈련 → 훈련된 무능 (새 상황 대응 불가)</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재진술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In other words: 효율만 좇다 다른 중요한 문제를 무시</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원인</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 없는 반복 업무 = 훈련된 무능의 근원</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monotonous ----- unable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단조로운 = little variety, repetitive / 할 수 없는 = incapacity</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complex ----- afraid</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복잡한 ✘ / 두려워하는 ✘ → 단순 반복 업무가 원인</a:t>
            </a:r>
            <a:endParaRPr lang="en-US" sz="1200" dirty="0"/>
          </a:p>
        </p:txBody>
      </p:sp>
      <p:sp>
        <p:nvSpPr>
          <p:cNvPr id="13" name="Text 11"/>
          <p:cNvSpPr/>
          <p:nvPr/>
        </p:nvSpPr>
        <p:spPr>
          <a:xfrm>
            <a:off x="10332720" y="1600200"/>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repetitive ----- eager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반복적인 ✔ / 열망하는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demanding ----- prompt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힘든 ✘ / 신속한 ✘ → 대처를 '못 함'</a:t>
            </a:r>
            <a:endParaRPr lang="en-US" sz="1200" dirty="0"/>
          </a:p>
        </p:txBody>
      </p:sp>
      <p:sp>
        <p:nvSpPr>
          <p:cNvPr id="23" name="Text 21"/>
          <p:cNvSpPr/>
          <p:nvPr/>
        </p:nvSpPr>
        <p:spPr>
          <a:xfrm>
            <a:off x="10332720" y="3630168"/>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rgbClr val="F7E9E4"/>
          </a:solidFill>
          <a:ln w="25400">
            <a:solidFill>
              <a:srgbClr val="EF5B3F"/>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monotonous ----- unable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단조로운 = little variety, repetitive / 할 수 없는 = incapacity</a:t>
            </a:r>
            <a:endParaRPr lang="en-US" sz="1200" dirty="0"/>
          </a:p>
        </p:txBody>
      </p:sp>
      <p:sp>
        <p:nvSpPr>
          <p:cNvPr id="28" name="Text 26"/>
          <p:cNvSpPr/>
          <p:nvPr/>
        </p:nvSpPr>
        <p:spPr>
          <a:xfrm>
            <a:off x="10332720" y="4645152"/>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professional ----- willing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전문적인 ✘ / 기꺼이 하는 ✘</a:t>
            </a:r>
            <a:endParaRPr lang="en-US" sz="1200" dirty="0"/>
          </a:p>
        </p:txBody>
      </p:sp>
      <p:sp>
        <p:nvSpPr>
          <p:cNvPr id="33" name="Text 31"/>
          <p:cNvSpPr/>
          <p:nvPr/>
        </p:nvSpPr>
        <p:spPr>
          <a:xfrm>
            <a:off x="10332720" y="5660136"/>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Research by Paul Slovic of Decision Research and the University of Oregon shows that people who are otherwise caring and would go out of their way to help another individual become indifferent to the suffering of the masses.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In one experiment, people were given $5 to donate to lessen hunger overseas.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first choice was to give the money to a particular child, Rokia, a seven-year-old in Mali.</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second choice was to help twenty-one million hungry Africans.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 third choice was to help Rokia, but as just one of many victims of hunger.</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Can you guess which choice was most popular?</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Slovic reported that donations to the individual, Rokia, were far greater than donations to the second choice, the statistical portrayal of the hunger crisis.</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That’s not particularly surprising.</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But what is surprising, and some would say discouraging, is that adding the statistical realities of the larger hunger problem to Rokia’s story significantly reduced the contributions to Rokia.</a:t>
            </a:r>
            <a:endParaRPr lang="en-US" sz="1450" dirty="0"/>
          </a:p>
          <a:p>
            <a:pPr indent="0" marL="0">
              <a:lnSpc>
                <a:spcPct val="115000"/>
              </a:lnSpc>
              <a:spcBef>
                <a:spcPts val="800"/>
              </a:spcBef>
              <a:buNone/>
            </a:pPr>
            <a:r>
              <a:rPr lang="en-US" sz="1450" b="1" dirty="0">
                <a:solidFill>
                  <a:srgbClr val="1F7A64"/>
                </a:solidFill>
              </a:rPr>
              <a:t>↓  </a:t>
            </a:r>
            <a:pPr indent="0" marL="0">
              <a:lnSpc>
                <a:spcPct val="115000"/>
              </a:lnSpc>
              <a:buNone/>
            </a:pPr>
            <a:r>
              <a:rPr lang="en-US" sz="1450" dirty="0">
                <a:solidFill>
                  <a:srgbClr val="14453D"/>
                </a:solidFill>
              </a:rPr>
              <a:t>An experiment shows that while people are more willing to help </a:t>
            </a:r>
            <a:pPr indent="0" marL="0">
              <a:lnSpc>
                <a:spcPct val="115000"/>
              </a:lnSpc>
              <a:buNone/>
            </a:pPr>
            <a:r>
              <a:rPr lang="en-US" sz="1450" b="1" dirty="0">
                <a:solidFill>
                  <a:srgbClr val="EF5B3F"/>
                </a:solidFill>
              </a:rPr>
              <a:t>(A)</a:t>
            </a:r>
            <a:pPr indent="0" marL="0">
              <a:lnSpc>
                <a:spcPct val="115000"/>
              </a:lnSpc>
              <a:buNone/>
            </a:pPr>
            <a:r>
              <a:rPr lang="en-US" sz="1450" dirty="0">
                <a:solidFill>
                  <a:srgbClr val="14453D"/>
                </a:solidFill>
              </a:rPr>
              <a:t> in need, they become indifferent when given the </a:t>
            </a:r>
            <a:pPr indent="0" marL="0">
              <a:lnSpc>
                <a:spcPct val="115000"/>
              </a:lnSpc>
              <a:buNone/>
            </a:pPr>
            <a:r>
              <a:rPr lang="en-US" sz="1450" b="1" dirty="0">
                <a:solidFill>
                  <a:srgbClr val="EF5B3F"/>
                </a:solidFill>
              </a:rPr>
              <a:t>(B)</a:t>
            </a:r>
            <a:pPr indent="0" marL="0">
              <a:lnSpc>
                <a:spcPct val="115000"/>
              </a:lnSpc>
              <a:buNone/>
            </a:pPr>
            <a:r>
              <a:rPr lang="en-US" sz="1450" dirty="0">
                <a:solidFill>
                  <a:srgbClr val="14453D"/>
                </a:solidFill>
              </a:rPr>
              <a:t> perspective of hunger.</a:t>
            </a:r>
            <a:endParaRPr lang="en-US" sz="1450" dirty="0"/>
          </a:p>
          <a:p>
            <a:pPr indent="0" marL="0">
              <a:lnSpc>
                <a:spcPct val="115000"/>
              </a:lnSpc>
              <a:spcBef>
                <a:spcPts val="1000"/>
              </a:spcBef>
              <a:buNone/>
            </a:pPr>
            <a:r>
              <a:rPr lang="en-US" sz="1450" dirty="0">
                <a:solidFill>
                  <a:srgbClr val="14453D"/>
                </a:solidFill>
              </a:rPr>
              <a:t>①  an individual ----- larger</a:t>
            </a:r>
            <a:endParaRPr lang="en-US" sz="1450" dirty="0"/>
          </a:p>
          <a:p>
            <a:pPr indent="0" marL="0">
              <a:lnSpc>
                <a:spcPct val="115000"/>
              </a:lnSpc>
              <a:spcBef>
                <a:spcPts val="200"/>
              </a:spcBef>
              <a:buNone/>
            </a:pPr>
            <a:r>
              <a:rPr lang="en-US" sz="1450" dirty="0">
                <a:solidFill>
                  <a:srgbClr val="14453D"/>
                </a:solidFill>
              </a:rPr>
              <a:t>②  an individual ----- simpler</a:t>
            </a:r>
            <a:endParaRPr lang="en-US" sz="1450" dirty="0"/>
          </a:p>
          <a:p>
            <a:pPr indent="0" marL="0">
              <a:lnSpc>
                <a:spcPct val="115000"/>
              </a:lnSpc>
              <a:spcBef>
                <a:spcPts val="200"/>
              </a:spcBef>
              <a:buNone/>
            </a:pPr>
            <a:r>
              <a:rPr lang="en-US" sz="1450" dirty="0">
                <a:solidFill>
                  <a:srgbClr val="14453D"/>
                </a:solidFill>
              </a:rPr>
              <a:t>③  the masses ----- broader</a:t>
            </a:r>
            <a:endParaRPr lang="en-US" sz="1450" dirty="0"/>
          </a:p>
          <a:p>
            <a:pPr indent="0" marL="0">
              <a:lnSpc>
                <a:spcPct val="115000"/>
              </a:lnSpc>
              <a:spcBef>
                <a:spcPts val="200"/>
              </a:spcBef>
              <a:buNone/>
            </a:pPr>
            <a:r>
              <a:rPr lang="en-US" sz="1450" dirty="0">
                <a:solidFill>
                  <a:srgbClr val="14453D"/>
                </a:solidFill>
              </a:rPr>
              <a:t>④  the masses ----- fairer</a:t>
            </a:r>
            <a:endParaRPr lang="en-US" sz="1450" dirty="0"/>
          </a:p>
          <a:p>
            <a:pPr indent="0" marL="0">
              <a:lnSpc>
                <a:spcPct val="115000"/>
              </a:lnSpc>
              <a:spcBef>
                <a:spcPts val="200"/>
              </a:spcBef>
              <a:buNone/>
            </a:pPr>
            <a:r>
              <a:rPr lang="en-US" sz="1450" dirty="0">
                <a:solidFill>
                  <a:srgbClr val="14453D"/>
                </a:solidFill>
              </a:rPr>
              <a:t>⑤  a nation ----- clearer</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Research by Paul Slovic of Decision Research and the University of Oregon shows that </a:t>
            </a:r>
            <a:pPr indent="0" marL="0">
              <a:lnSpc>
                <a:spcPct val="120000"/>
              </a:lnSpc>
              <a:buNone/>
            </a:pPr>
            <a:r>
              <a:rPr lang="en-US" sz="1700" b="1" dirty="0">
                <a:solidFill>
                  <a:srgbClr val="2C7DA0"/>
                </a:solidFill>
                <a:highlight>
                  <a:srgbClr val="FFD45C"/>
                </a:highlight>
              </a:rPr>
              <a:t>people who are </a:t>
            </a:r>
            <a:pPr indent="0" marL="0">
              <a:lnSpc>
                <a:spcPct val="120000"/>
              </a:lnSpc>
              <a:buNone/>
            </a:pPr>
            <a:r>
              <a:rPr lang="en-US" sz="1700" b="1" u="dotted" dirty="0">
                <a:solidFill>
                  <a:srgbClr val="2C7DA0"/>
                </a:solidFill>
                <a:highlight>
                  <a:srgbClr val="FFD45C"/>
                </a:highlight>
                <a:uFill>
                  <a:solidFill>
                    <a:srgbClr val="1F7A64"/>
                  </a:solidFill>
                </a:uFill>
              </a:rPr>
              <a:t>otherwise</a:t>
            </a:r>
            <a:pPr indent="0" marL="0">
              <a:lnSpc>
                <a:spcPct val="120000"/>
              </a:lnSpc>
              <a:buNone/>
            </a:pPr>
            <a:r>
              <a:rPr lang="en-US" sz="1700" b="1" dirty="0">
                <a:solidFill>
                  <a:srgbClr val="2C7DA0"/>
                </a:solidFill>
                <a:highlight>
                  <a:srgbClr val="FFD45C"/>
                </a:highlight>
              </a:rPr>
              <a:t> caring and would </a:t>
            </a:r>
            <a:pPr indent="0" marL="0">
              <a:lnSpc>
                <a:spcPct val="120000"/>
              </a:lnSpc>
              <a:buNone/>
            </a:pPr>
            <a:r>
              <a:rPr lang="en-US" sz="1700" b="1" u="dotted" dirty="0">
                <a:solidFill>
                  <a:srgbClr val="2C7DA0"/>
                </a:solidFill>
                <a:highlight>
                  <a:srgbClr val="FFD45C"/>
                </a:highlight>
                <a:uFill>
                  <a:solidFill>
                    <a:srgbClr val="1F7A64"/>
                  </a:solidFill>
                </a:uFill>
              </a:rPr>
              <a:t>go out of their way</a:t>
            </a:r>
            <a:pPr indent="0" marL="0">
              <a:lnSpc>
                <a:spcPct val="120000"/>
              </a:lnSpc>
              <a:buNone/>
            </a:pPr>
            <a:r>
              <a:rPr lang="en-US" sz="1700" b="1" dirty="0">
                <a:solidFill>
                  <a:srgbClr val="2C7DA0"/>
                </a:solidFill>
                <a:highlight>
                  <a:srgbClr val="FFD45C"/>
                </a:highlight>
              </a:rPr>
              <a:t> to help another individual become </a:t>
            </a:r>
            <a:pPr indent="0" marL="0">
              <a:lnSpc>
                <a:spcPct val="120000"/>
              </a:lnSpc>
              <a:buNone/>
            </a:pPr>
            <a:r>
              <a:rPr lang="en-US" sz="1700" b="1" u="dotted" dirty="0">
                <a:solidFill>
                  <a:srgbClr val="2C7DA0"/>
                </a:solidFill>
                <a:highlight>
                  <a:srgbClr val="FFD45C"/>
                </a:highlight>
                <a:uFill>
                  <a:solidFill>
                    <a:srgbClr val="1F7A64"/>
                  </a:solidFill>
                </a:uFill>
              </a:rPr>
              <a:t>indifferent</a:t>
            </a:r>
            <a:pPr indent="0" marL="0">
              <a:lnSpc>
                <a:spcPct val="120000"/>
              </a:lnSpc>
              <a:buNone/>
            </a:pPr>
            <a:r>
              <a:rPr lang="en-US" sz="1700" dirty="0">
                <a:solidFill>
                  <a:srgbClr val="1E2B2A"/>
                </a:solidFill>
                <a:highlight>
                  <a:srgbClr val="FFD45C"/>
                </a:highlight>
              </a:rPr>
              <a:t> to the suffering of </a:t>
            </a:r>
            <a:pPr indent="0" marL="0">
              <a:lnSpc>
                <a:spcPct val="120000"/>
              </a:lnSpc>
              <a:buNone/>
            </a:pPr>
            <a:r>
              <a:rPr lang="en-US" sz="1700" u="dotted" dirty="0">
                <a:solidFill>
                  <a:srgbClr val="1F7A64"/>
                </a:solidFill>
                <a:highlight>
                  <a:srgbClr val="FFD45C"/>
                </a:highlight>
                <a:uFill>
                  <a:solidFill>
                    <a:srgbClr val="1F7A64"/>
                  </a:solidFill>
                </a:uFill>
              </a:rPr>
              <a:t>the masses</a:t>
            </a:r>
            <a:pPr indent="0" marL="0">
              <a:lnSpc>
                <a:spcPct val="120000"/>
              </a:lnSpc>
              <a:buNone/>
            </a:pPr>
            <a:r>
              <a:rPr lang="en-US" sz="1700" dirty="0">
                <a:solidFill>
                  <a:srgbClr val="1E2B2A"/>
                </a:solidFill>
                <a:highlight>
                  <a:srgbClr val="FFD45C"/>
                </a:highlight>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In one experiment, people </a:t>
            </a:r>
            <a:pPr indent="0" marL="0">
              <a:lnSpc>
                <a:spcPct val="120000"/>
              </a:lnSpc>
              <a:buNone/>
            </a:pPr>
            <a:r>
              <a:rPr lang="en-US" sz="1700" b="1" dirty="0">
                <a:solidFill>
                  <a:srgbClr val="2C7DA0"/>
                </a:solidFill>
              </a:rPr>
              <a:t>were given $5 to donate to lessen hunger</a:t>
            </a:r>
            <a:pPr indent="0" marL="0">
              <a:lnSpc>
                <a:spcPct val="120000"/>
              </a:lnSpc>
              <a:buNone/>
            </a:pPr>
            <a:r>
              <a:rPr lang="en-US" sz="1700" dirty="0">
                <a:solidFill>
                  <a:srgbClr val="1E2B2A"/>
                </a:solidFill>
              </a:rPr>
              <a:t> overseas.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The first choice was to give the money to a particular child, Rokia, a seven-year-old in Mali.</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The second choice was to help twenty-one million hungry Africans.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The third choice was to help Rokia, but as just one of many victims of hunger.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Can you guess which choice was most popular?</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highlight>
                  <a:srgbClr val="FFD45C"/>
                </a:highlight>
              </a:rPr>
              <a:t>Slovic reported that donations to the individual, Rokia, </a:t>
            </a:r>
            <a:pPr indent="0" marL="0">
              <a:lnSpc>
                <a:spcPct val="120000"/>
              </a:lnSpc>
              <a:buNone/>
            </a:pPr>
            <a:r>
              <a:rPr lang="en-US" sz="1700" b="1" dirty="0">
                <a:solidFill>
                  <a:srgbClr val="2C7DA0"/>
                </a:solidFill>
                <a:highlight>
                  <a:srgbClr val="FFD45C"/>
                </a:highlight>
              </a:rPr>
              <a:t>were far greater than</a:t>
            </a:r>
            <a:pPr indent="0" marL="0">
              <a:lnSpc>
                <a:spcPct val="120000"/>
              </a:lnSpc>
              <a:buNone/>
            </a:pPr>
            <a:r>
              <a:rPr lang="en-US" sz="1700" dirty="0">
                <a:solidFill>
                  <a:srgbClr val="1E2B2A"/>
                </a:solidFill>
                <a:highlight>
                  <a:srgbClr val="FFD45C"/>
                </a:highlight>
              </a:rPr>
              <a:t> donations to the second choice, the statistical </a:t>
            </a:r>
            <a:pPr indent="0" marL="0">
              <a:lnSpc>
                <a:spcPct val="120000"/>
              </a:lnSpc>
              <a:buNone/>
            </a:pPr>
            <a:r>
              <a:rPr lang="en-US" sz="1700" u="dotted" dirty="0">
                <a:solidFill>
                  <a:srgbClr val="1F7A64"/>
                </a:solidFill>
                <a:highlight>
                  <a:srgbClr val="FFD45C"/>
                </a:highlight>
                <a:uFill>
                  <a:solidFill>
                    <a:srgbClr val="1F7A64"/>
                  </a:solidFill>
                </a:uFill>
              </a:rPr>
              <a:t>portrayal</a:t>
            </a:r>
            <a:pPr indent="0" marL="0">
              <a:lnSpc>
                <a:spcPct val="120000"/>
              </a:lnSpc>
              <a:buNone/>
            </a:pPr>
            <a:r>
              <a:rPr lang="en-US" sz="1700" dirty="0">
                <a:solidFill>
                  <a:srgbClr val="1E2B2A"/>
                </a:solidFill>
                <a:highlight>
                  <a:srgbClr val="FFD45C"/>
                </a:highlight>
              </a:rPr>
              <a:t> of the hunger crisis.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rPr>
              <a:t>That’s not particularly surprising.</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(9) </a:t>
            </a:r>
            <a:pPr indent="0" marL="0">
              <a:lnSpc>
                <a:spcPct val="120000"/>
              </a:lnSpc>
              <a:buNone/>
            </a:pPr>
            <a:r>
              <a:rPr lang="en-US" sz="1700" dirty="0">
                <a:solidFill>
                  <a:srgbClr val="1E2B2A"/>
                </a:solidFill>
                <a:highlight>
                  <a:srgbClr val="FFD45C"/>
                </a:highlight>
              </a:rPr>
              <a:t>But </a:t>
            </a:r>
            <a:pPr indent="0" marL="0">
              <a:lnSpc>
                <a:spcPct val="120000"/>
              </a:lnSpc>
              <a:buNone/>
            </a:pPr>
            <a:r>
              <a:rPr lang="en-US" sz="1700" b="1" dirty="0">
                <a:solidFill>
                  <a:srgbClr val="2C7DA0"/>
                </a:solidFill>
                <a:highlight>
                  <a:srgbClr val="FFD45C"/>
                </a:highlight>
              </a:rPr>
              <a:t>what is surprising, and some would say </a:t>
            </a:r>
            <a:pPr indent="0" marL="0">
              <a:lnSpc>
                <a:spcPct val="120000"/>
              </a:lnSpc>
              <a:buNone/>
            </a:pPr>
            <a:r>
              <a:rPr lang="en-US" sz="1700" b="1" u="dotted" dirty="0">
                <a:solidFill>
                  <a:srgbClr val="2C7DA0"/>
                </a:solidFill>
                <a:highlight>
                  <a:srgbClr val="FFD45C"/>
                </a:highlight>
                <a:uFill>
                  <a:solidFill>
                    <a:srgbClr val="1F7A64"/>
                  </a:solidFill>
                </a:uFill>
              </a:rPr>
              <a:t>discouraging</a:t>
            </a:r>
            <a:pPr indent="0" marL="0">
              <a:lnSpc>
                <a:spcPct val="120000"/>
              </a:lnSpc>
              <a:buNone/>
            </a:pPr>
            <a:r>
              <a:rPr lang="en-US" sz="1700" b="1" dirty="0">
                <a:solidFill>
                  <a:srgbClr val="2C7DA0"/>
                </a:solidFill>
                <a:highlight>
                  <a:srgbClr val="FFD45C"/>
                </a:highlight>
              </a:rPr>
              <a:t>, is that</a:t>
            </a:r>
            <a:pPr indent="0" marL="0">
              <a:lnSpc>
                <a:spcPct val="120000"/>
              </a:lnSpc>
              <a:buNone/>
            </a:pPr>
            <a:r>
              <a:rPr lang="en-US" sz="1700" dirty="0">
                <a:solidFill>
                  <a:srgbClr val="1E2B2A"/>
                </a:solidFill>
                <a:highlight>
                  <a:srgbClr val="FFD45C"/>
                </a:highlight>
              </a:rPr>
              <a:t> </a:t>
            </a:r>
            <a:pPr indent="0" marL="0">
              <a:lnSpc>
                <a:spcPct val="120000"/>
              </a:lnSpc>
              <a:buNone/>
            </a:pPr>
            <a:r>
              <a:rPr lang="en-US" sz="1700" b="1" dirty="0">
                <a:solidFill>
                  <a:srgbClr val="2C7DA0"/>
                </a:solidFill>
                <a:highlight>
                  <a:srgbClr val="FFD45C"/>
                </a:highlight>
              </a:rPr>
              <a:t>adding the statistical realities of the larger hunger problem to Rokia’s story significantly reduced</a:t>
            </a:r>
            <a:pPr indent="0" marL="0">
              <a:lnSpc>
                <a:spcPct val="120000"/>
              </a:lnSpc>
              <a:buNone/>
            </a:pPr>
            <a:r>
              <a:rPr lang="en-US" sz="1700" dirty="0">
                <a:solidFill>
                  <a:srgbClr val="1E2B2A"/>
                </a:solidFill>
                <a:highlight>
                  <a:srgbClr val="FFD45C"/>
                </a:highlight>
              </a:rPr>
              <a:t> the </a:t>
            </a:r>
            <a:pPr indent="0" marL="0">
              <a:lnSpc>
                <a:spcPct val="120000"/>
              </a:lnSpc>
              <a:buNone/>
            </a:pPr>
            <a:r>
              <a:rPr lang="en-US" sz="1700" u="dotted" dirty="0">
                <a:solidFill>
                  <a:srgbClr val="1F7A64"/>
                </a:solidFill>
                <a:highlight>
                  <a:srgbClr val="FFD45C"/>
                </a:highlight>
                <a:uFill>
                  <a:solidFill>
                    <a:srgbClr val="1F7A64"/>
                  </a:solidFill>
                </a:uFill>
              </a:rPr>
              <a:t>contributions</a:t>
            </a:r>
            <a:pPr indent="0" marL="0">
              <a:lnSpc>
                <a:spcPct val="120000"/>
              </a:lnSpc>
              <a:buNone/>
            </a:pPr>
            <a:r>
              <a:rPr lang="en-US" sz="1700" dirty="0">
                <a:solidFill>
                  <a:srgbClr val="1E2B2A"/>
                </a:solidFill>
                <a:highlight>
                  <a:srgbClr val="FFD45C"/>
                </a:highlight>
              </a:rPr>
              <a:t> to Rokia.</a:t>
            </a:r>
            <a:endParaRPr lang="en-US" sz="14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otherwise </a:t>
            </a:r>
            <a:pPr indent="0" marL="0">
              <a:lnSpc>
                <a:spcPct val="110000"/>
              </a:lnSpc>
              <a:buNone/>
            </a:pPr>
            <a:r>
              <a:rPr lang="en-US" sz="1400" dirty="0">
                <a:solidFill>
                  <a:srgbClr val="1E2B2A"/>
                </a:solidFill>
              </a:rPr>
              <a:t>다른 면에서는   ·   </a:t>
            </a:r>
            <a:pPr indent="0" marL="0">
              <a:lnSpc>
                <a:spcPct val="110000"/>
              </a:lnSpc>
              <a:buNone/>
            </a:pPr>
            <a:r>
              <a:rPr lang="en-US" sz="1400" b="1" dirty="0">
                <a:solidFill>
                  <a:srgbClr val="1F7A64"/>
                </a:solidFill>
              </a:rPr>
              <a:t>go out of their way </a:t>
            </a:r>
            <a:pPr indent="0" marL="0">
              <a:lnSpc>
                <a:spcPct val="110000"/>
              </a:lnSpc>
              <a:buNone/>
            </a:pPr>
            <a:r>
              <a:rPr lang="en-US" sz="1400" dirty="0">
                <a:solidFill>
                  <a:srgbClr val="1E2B2A"/>
                </a:solidFill>
              </a:rPr>
              <a:t>일부러 애쓰다   ·   </a:t>
            </a:r>
            <a:pPr indent="0" marL="0">
              <a:lnSpc>
                <a:spcPct val="110000"/>
              </a:lnSpc>
              <a:buNone/>
            </a:pPr>
            <a:r>
              <a:rPr lang="en-US" sz="1400" b="1" dirty="0">
                <a:solidFill>
                  <a:srgbClr val="1F7A64"/>
                </a:solidFill>
              </a:rPr>
              <a:t>indifferent </a:t>
            </a:r>
            <a:pPr indent="0" marL="0">
              <a:lnSpc>
                <a:spcPct val="110000"/>
              </a:lnSpc>
              <a:buNone/>
            </a:pPr>
            <a:r>
              <a:rPr lang="en-US" sz="1400" dirty="0">
                <a:solidFill>
                  <a:srgbClr val="1E2B2A"/>
                </a:solidFill>
              </a:rPr>
              <a:t>무관심한   ·   </a:t>
            </a:r>
            <a:pPr indent="0" marL="0">
              <a:lnSpc>
                <a:spcPct val="110000"/>
              </a:lnSpc>
              <a:buNone/>
            </a:pPr>
            <a:r>
              <a:rPr lang="en-US" sz="1400" b="1" dirty="0">
                <a:solidFill>
                  <a:srgbClr val="1F7A64"/>
                </a:solidFill>
              </a:rPr>
              <a:t>the masses </a:t>
            </a:r>
            <a:pPr indent="0" marL="0">
              <a:lnSpc>
                <a:spcPct val="110000"/>
              </a:lnSpc>
              <a:buNone/>
            </a:pPr>
            <a:r>
              <a:rPr lang="en-US" sz="1400" dirty="0">
                <a:solidFill>
                  <a:srgbClr val="1E2B2A"/>
                </a:solidFill>
              </a:rPr>
              <a:t>대중   ·   </a:t>
            </a:r>
            <a:pPr indent="0" marL="0">
              <a:lnSpc>
                <a:spcPct val="110000"/>
              </a:lnSpc>
              <a:buNone/>
            </a:pPr>
            <a:r>
              <a:rPr lang="en-US" sz="1400" b="1" dirty="0">
                <a:solidFill>
                  <a:srgbClr val="1F7A64"/>
                </a:solidFill>
              </a:rPr>
              <a:t>portrayal </a:t>
            </a:r>
            <a:pPr indent="0" marL="0">
              <a:lnSpc>
                <a:spcPct val="110000"/>
              </a:lnSpc>
              <a:buNone/>
            </a:pPr>
            <a:r>
              <a:rPr lang="en-US" sz="1400" dirty="0">
                <a:solidFill>
                  <a:srgbClr val="1E2B2A"/>
                </a:solidFill>
              </a:rPr>
              <a:t>묘사   ·   </a:t>
            </a:r>
            <a:pPr indent="0" marL="0">
              <a:lnSpc>
                <a:spcPct val="110000"/>
              </a:lnSpc>
              <a:buNone/>
            </a:pPr>
            <a:r>
              <a:rPr lang="en-US" sz="1400" b="1" dirty="0">
                <a:solidFill>
                  <a:srgbClr val="1F7A64"/>
                </a:solidFill>
              </a:rPr>
              <a:t>discouraging </a:t>
            </a:r>
            <a:pPr indent="0" marL="0">
              <a:lnSpc>
                <a:spcPct val="110000"/>
              </a:lnSpc>
              <a:buNone/>
            </a:pPr>
            <a:r>
              <a:rPr lang="en-US" sz="1400" dirty="0">
                <a:solidFill>
                  <a:srgbClr val="1E2B2A"/>
                </a:solidFill>
              </a:rPr>
              <a:t>낙담시키는   ·   </a:t>
            </a:r>
            <a:pPr indent="0" marL="0">
              <a:lnSpc>
                <a:spcPct val="110000"/>
              </a:lnSpc>
              <a:buNone/>
            </a:pPr>
            <a:r>
              <a:rPr lang="en-US" sz="1400" b="1" dirty="0">
                <a:solidFill>
                  <a:srgbClr val="1F7A64"/>
                </a:solidFill>
              </a:rPr>
              <a:t>contributions </a:t>
            </a:r>
            <a:pPr indent="0" marL="0">
              <a:lnSpc>
                <a:spcPct val="110000"/>
              </a:lnSpc>
              <a:buNone/>
            </a:pPr>
            <a:r>
              <a:rPr lang="en-US" sz="1400" dirty="0">
                <a:solidFill>
                  <a:srgbClr val="1E2B2A"/>
                </a:solidFill>
              </a:rPr>
              <a:t>기부금</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people who are otherwise caring and would go out of their way to help another individual become indifferent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긴 주어 · 수일치</a:t>
            </a:r>
            <a:endParaRPr lang="en-US" sz="1700" dirty="0"/>
          </a:p>
          <a:p>
            <a:pPr indent="0" marL="0">
              <a:spcAft>
                <a:spcPts val="200"/>
              </a:spcAft>
              <a:buNone/>
            </a:pPr>
            <a:r>
              <a:rPr lang="en-US" sz="1400" dirty="0">
                <a:solidFill>
                  <a:srgbClr val="1E2B2A"/>
                </a:solidFill>
              </a:rPr>
              <a:t>주어 people + who절(길다) → 본동사 become (복수)</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were given $5 to donate to lessen hunger</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to부정사 형용사적 · 부사적</a:t>
            </a:r>
            <a:endParaRPr lang="en-US" sz="1700" dirty="0"/>
          </a:p>
          <a:p>
            <a:pPr indent="0" marL="0">
              <a:spcAft>
                <a:spcPts val="200"/>
              </a:spcAft>
              <a:buNone/>
            </a:pPr>
            <a:r>
              <a:rPr lang="en-US" sz="1400" dirty="0">
                <a:solidFill>
                  <a:srgbClr val="1E2B2A"/>
                </a:solidFill>
              </a:rPr>
              <a:t>$5 to donate (기부할 5달러) / to lessen (줄이기 위해)</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were far greater than</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비교급 강조 far</a:t>
            </a:r>
            <a:endParaRPr lang="en-US" sz="1700" dirty="0"/>
          </a:p>
          <a:p>
            <a:pPr indent="0" marL="0">
              <a:spcAft>
                <a:spcPts val="200"/>
              </a:spcAft>
              <a:buNone/>
            </a:pPr>
            <a:r>
              <a:rPr lang="en-US" sz="1400" dirty="0">
                <a:solidFill>
                  <a:srgbClr val="1E2B2A"/>
                </a:solidFill>
              </a:rPr>
              <a:t>far/much/even/still + 비교급 (very 불가)</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what is surprising, and some would say discouraging, is that</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what 주어절 · 삽입</a:t>
            </a:r>
            <a:endParaRPr lang="en-US" sz="1700" dirty="0"/>
          </a:p>
          <a:p>
            <a:pPr indent="0" marL="0">
              <a:spcAft>
                <a:spcPts val="200"/>
              </a:spcAft>
              <a:buNone/>
            </a:pPr>
            <a:r>
              <a:rPr lang="en-US" sz="1400" dirty="0">
                <a:solidFill>
                  <a:srgbClr val="1E2B2A"/>
                </a:solidFill>
              </a:rPr>
              <a:t>What절 주어 → is / 삽입절 some would say 건너뛰기</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adding the statistical realities of the larger hunger problem to Rokia’s story significantly reduced</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동명사 주어 · add A to B</a:t>
            </a:r>
            <a:endParaRPr lang="en-US" sz="1700" dirty="0"/>
          </a:p>
          <a:p>
            <a:pPr indent="0" marL="0">
              <a:spcAft>
                <a:spcPts val="200"/>
              </a:spcAft>
              <a:buNone/>
            </a:pPr>
            <a:r>
              <a:rPr lang="en-US" sz="1400" dirty="0">
                <a:solidFill>
                  <a:srgbClr val="1E2B2A"/>
                </a:solidFill>
              </a:rPr>
              <a:t>동명사 주어 adding ~ → 동사 reduced / A를 B에 더하다</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요약문 먼저</a:t>
            </a:r>
            <a:endParaRPr lang="en-US" sz="1300" dirty="0"/>
          </a:p>
        </p:txBody>
      </p:sp>
      <p:sp>
        <p:nvSpPr>
          <p:cNvPr id="6" name="Text 4"/>
          <p:cNvSpPr txBox="1"/>
          <p:nvPr/>
        </p:nvSpPr>
        <p:spPr>
          <a:xfrm>
            <a:off x="822960" y="1828800"/>
            <a:ext cx="4663440" cy="868680"/>
          </a:xfrm>
          <a:prstGeom prst="rect">
            <a:avLst/>
          </a:prstGeom>
          <a:noFill/>
          <a:ln/>
        </p:spPr>
        <p:txBody>
          <a:bodyPr wrap="square" lIns="0" tIns="0" rIns="0" bIns="0" rtlCol="0" anchor="t">
            <a:normAutofit/>
          </a:bodyPr>
          <a:lstStyle/>
          <a:p>
            <a:pPr indent="0" marL="0">
              <a:buNone/>
            </a:pPr>
            <a:r>
              <a:rPr lang="en-US" sz="1300" b="1" i="1" dirty="0">
                <a:solidFill>
                  <a:srgbClr val="14453D"/>
                </a:solidFill>
              </a:rPr>
              <a:t>An experiment shows that while people are more willing to help (A) in need, they become indifferent when given the (B) perspective of hunger.</a:t>
            </a:r>
            <a:endParaRPr lang="en-US" sz="1300" dirty="0"/>
          </a:p>
        </p:txBody>
      </p:sp>
      <p:sp>
        <p:nvSpPr>
          <p:cNvPr id="7" name="Text 5"/>
          <p:cNvSpPr txBox="1"/>
          <p:nvPr/>
        </p:nvSpPr>
        <p:spPr>
          <a:xfrm>
            <a:off x="822960" y="2715768"/>
            <a:ext cx="4663440" cy="457200"/>
          </a:xfrm>
          <a:prstGeom prst="rect">
            <a:avLst/>
          </a:prstGeom>
          <a:noFill/>
          <a:ln/>
        </p:spPr>
        <p:txBody>
          <a:bodyPr wrap="square" lIns="0" tIns="0" rIns="0" bIns="0" rtlCol="0" anchor="t">
            <a:normAutofit/>
          </a:bodyPr>
          <a:lstStyle/>
          <a:p>
            <a:pPr indent="0" marL="0">
              <a:buNone/>
            </a:pPr>
            <a:r>
              <a:rPr lang="en-US" sz="1100" dirty="0">
                <a:solidFill>
                  <a:srgbClr val="1E2B2A"/>
                </a:solidFill>
              </a:rPr>
              <a:t>한 실험은 사람들이 어려움에 처한 (A)을 돕는 데는 더 적극적이지만, 기아에 대한 (B) 관점이 주어지면 무관심해진다는 것을 보여 준다.</a:t>
            </a:r>
            <a:endParaRPr lang="en-US" sz="11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(A) 누구를 더 돕나? / (B) 어떤 관점이 주어지면 무관심?</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…adding the statistical realities of the larger hunger problem to Rokia’s story significantly reduced the contributions to Rokia.</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Rokia 이야기에 더 큰 기아 문제의 통계를 더하자 기부가 크게 줄었다 → (B) larger</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주장</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개인은 열심히 돕는 사람들도 대중의 고통에는 무관심해진다</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5달러 기부: ① Rokia 개인 ② 2,100만 아프리카인 ③ 희생자 중 하나인 Rokia</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 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개인 Rokia에 대한 기부 &gt; 통계적 묘사(②)에 대한 기부</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결과 ②</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Rokia 이야기에 '더 큰 기아 문제' 통계를 더하자 기부 급감</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an individual ----- larger</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한 개인 = Rokia / 더 큰 = the larger hunger problem</a:t>
            </a:r>
            <a:endParaRPr lang="en-US" sz="1400" dirty="0"/>
          </a:p>
        </p:txBody>
      </p:sp>
      <p:sp>
        <p:nvSpPr>
          <p:cNvPr id="9" name="Shape 7"/>
          <p:cNvSpPr/>
          <p:nvPr/>
        </p:nvSpPr>
        <p:spPr>
          <a:xfrm>
            <a:off x="4572000" y="1325880"/>
            <a:ext cx="7040880" cy="905256"/>
          </a:xfrm>
          <a:prstGeom prst="roundRect">
            <a:avLst>
              <a:gd name="adj" fmla="val 10101"/>
            </a:avLst>
          </a:prstGeom>
          <a:solidFill>
            <a:srgbClr val="F7E9E4"/>
          </a:solidFill>
          <a:ln w="25400">
            <a:solidFill>
              <a:srgbClr val="EF5B3F"/>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an individual ----- larger</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EF5B3F"/>
                </a:solidFill>
              </a:rPr>
              <a:t>✔ 한 개인 = Rokia / 더 큰 = the larger hunger problem</a:t>
            </a:r>
            <a:endParaRPr lang="en-US" sz="1200" dirty="0"/>
          </a:p>
        </p:txBody>
      </p:sp>
      <p:sp>
        <p:nvSpPr>
          <p:cNvPr id="13" name="Text 11"/>
          <p:cNvSpPr/>
          <p:nvPr/>
        </p:nvSpPr>
        <p:spPr>
          <a:xfrm>
            <a:off x="10332720" y="1600200"/>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an individual ----- simpler</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한 개인 ✔ / 더 단순한 ✘</a:t>
            </a:r>
            <a:endParaRPr lang="en-US" sz="1200" dirty="0"/>
          </a:p>
        </p:txBody>
      </p:sp>
      <p:sp>
        <p:nvSpPr>
          <p:cNvPr id="18" name="Text 16"/>
          <p:cNvSpPr/>
          <p:nvPr/>
        </p:nvSpPr>
        <p:spPr>
          <a:xfrm>
            <a:off x="10332720" y="2615184"/>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the masses ----- broader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대중 ✘ / 더 넓은 △ → 대중에겐 무관심</a:t>
            </a:r>
            <a:endParaRPr lang="en-US" sz="1200" dirty="0"/>
          </a:p>
        </p:txBody>
      </p:sp>
      <p:sp>
        <p:nvSpPr>
          <p:cNvPr id="23" name="Text 21"/>
          <p:cNvSpPr/>
          <p:nvPr/>
        </p:nvSpPr>
        <p:spPr>
          <a:xfrm>
            <a:off x="10332720" y="3630168"/>
            <a:ext cx="1097280" cy="365760"/>
          </a:xfrm>
          <a:prstGeom prst="roundRect">
            <a:avLst>
              <a:gd name="adj" fmla="val 37500"/>
            </a:avLst>
          </a:prstGeom>
          <a:solidFill>
            <a:srgbClr val="F4C7BC"/>
          </a:solidFill>
          <a:ln/>
        </p:spPr>
        <p:txBody>
          <a:bodyPr wrap="square" lIns="0" tIns="0" rIns="0" bIns="0" rtlCol="0" anchor="ctr"/>
          <a:lstStyle/>
          <a:p>
            <a:pPr algn="ctr" indent="0" marL="0">
              <a:buNone/>
            </a:pPr>
            <a:r>
              <a:rPr lang="en-US" sz="1200" b="1" dirty="0">
                <a:solidFill>
                  <a:srgbClr val="1E2B2A"/>
                </a:solidFill>
              </a:rPr>
              <a:t>반쪽 정답</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the masses ----- fairer</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대중 ✘ / 더 공정한 ✘</a:t>
            </a:r>
            <a:endParaRPr lang="en-US" sz="1200" dirty="0"/>
          </a:p>
        </p:txBody>
      </p:sp>
      <p:sp>
        <p:nvSpPr>
          <p:cNvPr id="28" name="Text 26"/>
          <p:cNvSpPr/>
          <p:nvPr/>
        </p:nvSpPr>
        <p:spPr>
          <a:xfrm>
            <a:off x="10332720" y="4645152"/>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 nation ----- clearer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한 국가 ✘ / 더 분명한 ✘</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2400" b="1" dirty="0">
                <a:solidFill>
                  <a:srgbClr val="14453D"/>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In 2006, Benedetto De Martino conducted a famous psychology experiment.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participants were each given $50 and separated into two groups—group A and B.</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Group A was given two options, “You can either gamble with that money or lose $30 of it.”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Group B was also given two options: “You can either gamble with that money or keep $20 of it.”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Having heard these options, 61.9% of participants in group A chose to gamble, while only 42.9% of participants in group B chose to gamble.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As you may have noticed, the two groups were given options that actually led to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However, because the choices were framed using two different terms, ‘lose’ versus ‘keep’, the participants came to different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is called the “framing effect”.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Using words that make people think of a negative outcome will yield different behavioral results than using words that make them think of a positive outcome.</a:t>
            </a:r>
            <a:endParaRPr lang="en-US" sz="1650" dirty="0"/>
          </a:p>
          <a:p>
            <a:pPr algn="r" indent="0" marL="0">
              <a:lnSpc>
                <a:spcPct val="115000"/>
              </a:lnSpc>
              <a:spcBef>
                <a:spcPts val="200"/>
              </a:spcBef>
              <a:buNone/>
            </a:pPr>
            <a:r>
              <a:rPr lang="en-US" sz="1100" i="1" dirty="0">
                <a:solidFill>
                  <a:srgbClr val="6E7F7C"/>
                </a:solidFill>
              </a:rPr>
              <a:t>*frame (특정한 방식으로) 표현하다</a:t>
            </a:r>
            <a:endParaRPr lang="en-US" sz="1650" dirty="0"/>
          </a:p>
          <a:p>
            <a:pPr indent="0" marL="0">
              <a:lnSpc>
                <a:spcPct val="115000"/>
              </a:lnSpc>
              <a:spcBef>
                <a:spcPts val="1000"/>
              </a:spcBef>
              <a:buNone/>
            </a:pPr>
            <a:r>
              <a:rPr lang="en-US" sz="1650" dirty="0">
                <a:solidFill>
                  <a:srgbClr val="14453D"/>
                </a:solidFill>
              </a:rPr>
              <a:t>①  serious financial loss</a:t>
            </a:r>
            <a:endParaRPr lang="en-US" sz="1650" dirty="0"/>
          </a:p>
          <a:p>
            <a:pPr indent="0" marL="0">
              <a:lnSpc>
                <a:spcPct val="115000"/>
              </a:lnSpc>
              <a:spcBef>
                <a:spcPts val="200"/>
              </a:spcBef>
              <a:buNone/>
            </a:pPr>
            <a:r>
              <a:rPr lang="en-US" sz="1650" dirty="0">
                <a:solidFill>
                  <a:srgbClr val="14453D"/>
                </a:solidFill>
              </a:rPr>
              <a:t>②  an identical outcome</a:t>
            </a:r>
            <a:endParaRPr lang="en-US" sz="1650" dirty="0"/>
          </a:p>
          <a:p>
            <a:pPr indent="0" marL="0">
              <a:lnSpc>
                <a:spcPct val="115000"/>
              </a:lnSpc>
              <a:spcBef>
                <a:spcPts val="200"/>
              </a:spcBef>
              <a:buNone/>
            </a:pPr>
            <a:r>
              <a:rPr lang="en-US" sz="1650" dirty="0">
                <a:solidFill>
                  <a:srgbClr val="14453D"/>
                </a:solidFill>
              </a:rPr>
              <a:t>③  avoiding gambling in any form</a:t>
            </a:r>
            <a:endParaRPr lang="en-US" sz="1650" dirty="0"/>
          </a:p>
          <a:p>
            <a:pPr indent="0" marL="0">
              <a:lnSpc>
                <a:spcPct val="115000"/>
              </a:lnSpc>
              <a:spcBef>
                <a:spcPts val="200"/>
              </a:spcBef>
              <a:buNone/>
            </a:pPr>
            <a:r>
              <a:rPr lang="en-US" sz="1650" dirty="0">
                <a:solidFill>
                  <a:srgbClr val="14453D"/>
                </a:solidFill>
              </a:rPr>
              <a:t>④  a huge burden of decision making</a:t>
            </a:r>
            <a:endParaRPr lang="en-US" sz="1650" dirty="0"/>
          </a:p>
          <a:p>
            <a:pPr indent="0" marL="0">
              <a:lnSpc>
                <a:spcPct val="115000"/>
              </a:lnSpc>
              <a:spcBef>
                <a:spcPts val="200"/>
              </a:spcBef>
              <a:buNone/>
            </a:pPr>
            <a:r>
              <a:rPr lang="en-US" sz="1650" dirty="0">
                <a:solidFill>
                  <a:srgbClr val="14453D"/>
                </a:solidFill>
              </a:rPr>
              <a:t>⑤  misunderstanding economic values</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In 2006, Benedetto De Martino </a:t>
            </a:r>
            <a:pPr indent="0" marL="0">
              <a:lnSpc>
                <a:spcPct val="120000"/>
              </a:lnSpc>
              <a:buNone/>
            </a:pPr>
            <a:r>
              <a:rPr lang="en-US" sz="1800" u="dotted" dirty="0">
                <a:solidFill>
                  <a:srgbClr val="1F7A64"/>
                </a:solidFill>
                <a:uFill>
                  <a:solidFill>
                    <a:srgbClr val="1F7A64"/>
                  </a:solidFill>
                </a:uFill>
              </a:rPr>
              <a:t>conducted</a:t>
            </a:r>
            <a:pPr indent="0" marL="0">
              <a:lnSpc>
                <a:spcPct val="120000"/>
              </a:lnSpc>
              <a:buNone/>
            </a:pPr>
            <a:r>
              <a:rPr lang="en-US" sz="1800" dirty="0">
                <a:solidFill>
                  <a:srgbClr val="1E2B2A"/>
                </a:solidFill>
              </a:rPr>
              <a:t> a famous psychology experiment.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The </a:t>
            </a:r>
            <a:pPr indent="0" marL="0">
              <a:lnSpc>
                <a:spcPct val="120000"/>
              </a:lnSpc>
              <a:buNone/>
            </a:pPr>
            <a:r>
              <a:rPr lang="en-US" sz="1800" u="dotted" dirty="0">
                <a:solidFill>
                  <a:srgbClr val="1F7A64"/>
                </a:solidFill>
                <a:uFill>
                  <a:solidFill>
                    <a:srgbClr val="1F7A64"/>
                  </a:solidFill>
                </a:uFill>
              </a:rPr>
              <a:t>participants</a:t>
            </a:r>
            <a:pPr indent="0" marL="0">
              <a:lnSpc>
                <a:spcPct val="120000"/>
              </a:lnSpc>
              <a:buNone/>
            </a:pPr>
            <a:r>
              <a:rPr lang="en-US" sz="1800" dirty="0">
                <a:solidFill>
                  <a:srgbClr val="1E2B2A"/>
                </a:solidFill>
              </a:rPr>
              <a:t> </a:t>
            </a:r>
            <a:pPr indent="0" marL="0">
              <a:lnSpc>
                <a:spcPct val="120000"/>
              </a:lnSpc>
              <a:buNone/>
            </a:pPr>
            <a:r>
              <a:rPr lang="en-US" sz="1800" b="1" dirty="0">
                <a:solidFill>
                  <a:srgbClr val="2C7DA0"/>
                </a:solidFill>
              </a:rPr>
              <a:t>were each given $50 and separated into</a:t>
            </a:r>
            <a:pPr indent="0" marL="0">
              <a:lnSpc>
                <a:spcPct val="120000"/>
              </a:lnSpc>
              <a:buNone/>
            </a:pPr>
            <a:r>
              <a:rPr lang="en-US" sz="1800" dirty="0">
                <a:solidFill>
                  <a:srgbClr val="1E2B2A"/>
                </a:solidFill>
              </a:rPr>
              <a:t> two groups—group A and B.</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Group A was given two options, “You can either </a:t>
            </a:r>
            <a:pPr indent="0" marL="0">
              <a:lnSpc>
                <a:spcPct val="120000"/>
              </a:lnSpc>
              <a:buNone/>
            </a:pPr>
            <a:r>
              <a:rPr lang="en-US" sz="1800" u="dotted" dirty="0">
                <a:solidFill>
                  <a:srgbClr val="1F7A64"/>
                </a:solidFill>
                <a:highlight>
                  <a:srgbClr val="FFD45C"/>
                </a:highlight>
                <a:uFill>
                  <a:solidFill>
                    <a:srgbClr val="1F7A64"/>
                  </a:solidFill>
                </a:uFill>
              </a:rPr>
              <a:t>gamble</a:t>
            </a:r>
            <a:pPr indent="0" marL="0">
              <a:lnSpc>
                <a:spcPct val="120000"/>
              </a:lnSpc>
              <a:buNone/>
            </a:pPr>
            <a:r>
              <a:rPr lang="en-US" sz="1800" dirty="0">
                <a:solidFill>
                  <a:srgbClr val="1E2B2A"/>
                </a:solidFill>
                <a:highlight>
                  <a:srgbClr val="FFD45C"/>
                </a:highlight>
              </a:rPr>
              <a:t> with that money or lose $30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Group B was also given two options: “You can either gamble with that money or keep $20 of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b="1" dirty="0">
                <a:solidFill>
                  <a:srgbClr val="2C7DA0"/>
                </a:solidFill>
              </a:rPr>
              <a:t>Having heard these options</a:t>
            </a:r>
            <a:pPr indent="0" marL="0">
              <a:lnSpc>
                <a:spcPct val="120000"/>
              </a:lnSpc>
              <a:buNone/>
            </a:pPr>
            <a:r>
              <a:rPr lang="en-US" sz="1800" dirty="0">
                <a:solidFill>
                  <a:srgbClr val="1E2B2A"/>
                </a:solidFill>
              </a:rPr>
              <a:t>, 61.9% of participants in group A chose to gamble, while only 42.9% of participants in group B chose to gamble.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As you may have noticed, the two groups were given options that actually led to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However, </a:t>
            </a:r>
            <a:pPr indent="0" marL="0">
              <a:lnSpc>
                <a:spcPct val="120000"/>
              </a:lnSpc>
              <a:buNone/>
            </a:pPr>
            <a:r>
              <a:rPr lang="en-US" sz="1800" b="1" dirty="0">
                <a:solidFill>
                  <a:srgbClr val="2C7DA0"/>
                </a:solidFill>
                <a:highlight>
                  <a:srgbClr val="FFD45C"/>
                </a:highlight>
              </a:rPr>
              <a:t>because the choices were </a:t>
            </a:r>
            <a:pPr indent="0" marL="0">
              <a:lnSpc>
                <a:spcPct val="120000"/>
              </a:lnSpc>
              <a:buNone/>
            </a:pPr>
            <a:r>
              <a:rPr lang="en-US" sz="1800" b="1" u="dotted" dirty="0">
                <a:solidFill>
                  <a:srgbClr val="2C7DA0"/>
                </a:solidFill>
                <a:highlight>
                  <a:srgbClr val="FFD45C"/>
                </a:highlight>
                <a:uFill>
                  <a:solidFill>
                    <a:srgbClr val="1F7A64"/>
                  </a:solidFill>
                </a:uFill>
              </a:rPr>
              <a:t>framed</a:t>
            </a:r>
            <a:pPr indent="0" marL="0">
              <a:lnSpc>
                <a:spcPct val="120000"/>
              </a:lnSpc>
              <a:buNone/>
            </a:pPr>
            <a:r>
              <a:rPr lang="en-US" sz="1800" b="1" dirty="0">
                <a:solidFill>
                  <a:srgbClr val="2C7DA0"/>
                </a:solidFill>
                <a:highlight>
                  <a:srgbClr val="FFD45C"/>
                </a:highlight>
              </a:rPr>
              <a:t> using two different terms</a:t>
            </a:r>
            <a:pPr indent="0" marL="0">
              <a:lnSpc>
                <a:spcPct val="120000"/>
              </a:lnSpc>
              <a:buNone/>
            </a:pPr>
            <a:r>
              <a:rPr lang="en-US" sz="1800" dirty="0">
                <a:solidFill>
                  <a:srgbClr val="1E2B2A"/>
                </a:solidFill>
                <a:highlight>
                  <a:srgbClr val="FFD45C"/>
                </a:highlight>
              </a:rPr>
              <a:t>, ‘lose’ versus ‘keep’, the participants came to different decisions.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b="1" dirty="0">
                <a:solidFill>
                  <a:srgbClr val="2C7DA0"/>
                </a:solidFill>
              </a:rPr>
              <a:t>This is called the “framing effect”</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Using words that make people think of a negative outcome will </a:t>
            </a:r>
            <a:pPr indent="0" marL="0">
              <a:lnSpc>
                <a:spcPct val="120000"/>
              </a:lnSpc>
              <a:buNone/>
            </a:pPr>
            <a:r>
              <a:rPr lang="en-US" sz="1800" u="dotted" dirty="0">
                <a:solidFill>
                  <a:srgbClr val="1F7A64"/>
                </a:solidFill>
                <a:uFill>
                  <a:solidFill>
                    <a:srgbClr val="1F7A64"/>
                  </a:solidFill>
                </a:uFill>
              </a:rPr>
              <a:t>yield</a:t>
            </a:r>
            <a:pPr indent="0" marL="0">
              <a:lnSpc>
                <a:spcPct val="120000"/>
              </a:lnSpc>
              <a:buNone/>
            </a:pPr>
            <a:r>
              <a:rPr lang="en-US" sz="1800" dirty="0">
                <a:solidFill>
                  <a:srgbClr val="1E2B2A"/>
                </a:solidFill>
              </a:rPr>
              <a:t> different </a:t>
            </a:r>
            <a:pPr indent="0" marL="0">
              <a:lnSpc>
                <a:spcPct val="120000"/>
              </a:lnSpc>
              <a:buNone/>
            </a:pPr>
            <a:r>
              <a:rPr lang="en-US" sz="1800" u="dotted" dirty="0">
                <a:solidFill>
                  <a:srgbClr val="1F7A64"/>
                </a:solidFill>
                <a:uFill>
                  <a:solidFill>
                    <a:srgbClr val="1F7A64"/>
                  </a:solidFill>
                </a:uFill>
              </a:rPr>
              <a:t>behavioral</a:t>
            </a:r>
            <a:pPr indent="0" marL="0">
              <a:lnSpc>
                <a:spcPct val="120000"/>
              </a:lnSpc>
              <a:buNone/>
            </a:pPr>
            <a:r>
              <a:rPr lang="en-US" sz="1800" dirty="0">
                <a:solidFill>
                  <a:srgbClr val="1E2B2A"/>
                </a:solidFill>
              </a:rPr>
              <a:t> results than using words that make them think of a positive outcome.</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conducted </a:t>
            </a:r>
            <a:pPr indent="0" marL="0">
              <a:lnSpc>
                <a:spcPct val="110000"/>
              </a:lnSpc>
              <a:buNone/>
            </a:pPr>
            <a:r>
              <a:rPr lang="en-US" sz="1400" dirty="0">
                <a:solidFill>
                  <a:srgbClr val="1E2B2A"/>
                </a:solidFill>
              </a:rPr>
              <a:t>실시했다   ·   </a:t>
            </a:r>
            <a:pPr indent="0" marL="0">
              <a:lnSpc>
                <a:spcPct val="110000"/>
              </a:lnSpc>
              <a:buNone/>
            </a:pPr>
            <a:r>
              <a:rPr lang="en-US" sz="1400" b="1" dirty="0">
                <a:solidFill>
                  <a:srgbClr val="1F7A64"/>
                </a:solidFill>
              </a:rPr>
              <a:t>participants </a:t>
            </a:r>
            <a:pPr indent="0" marL="0">
              <a:lnSpc>
                <a:spcPct val="110000"/>
              </a:lnSpc>
              <a:buNone/>
            </a:pPr>
            <a:r>
              <a:rPr lang="en-US" sz="1400" dirty="0">
                <a:solidFill>
                  <a:srgbClr val="1E2B2A"/>
                </a:solidFill>
              </a:rPr>
              <a:t>참가자들   ·   </a:t>
            </a:r>
            <a:pPr indent="0" marL="0">
              <a:lnSpc>
                <a:spcPct val="110000"/>
              </a:lnSpc>
              <a:buNone/>
            </a:pPr>
            <a:r>
              <a:rPr lang="en-US" sz="1400" b="1" dirty="0">
                <a:solidFill>
                  <a:srgbClr val="1F7A64"/>
                </a:solidFill>
              </a:rPr>
              <a:t>gamble </a:t>
            </a:r>
            <a:pPr indent="0" marL="0">
              <a:lnSpc>
                <a:spcPct val="110000"/>
              </a:lnSpc>
              <a:buNone/>
            </a:pPr>
            <a:r>
              <a:rPr lang="en-US" sz="1400" dirty="0">
                <a:solidFill>
                  <a:srgbClr val="1E2B2A"/>
                </a:solidFill>
              </a:rPr>
              <a:t>도박하다   ·   </a:t>
            </a:r>
            <a:pPr indent="0" marL="0">
              <a:lnSpc>
                <a:spcPct val="110000"/>
              </a:lnSpc>
              <a:buNone/>
            </a:pPr>
            <a:r>
              <a:rPr lang="en-US" sz="1400" b="1" dirty="0">
                <a:solidFill>
                  <a:srgbClr val="1F7A64"/>
                </a:solidFill>
              </a:rPr>
              <a:t>framed </a:t>
            </a:r>
            <a:pPr indent="0" marL="0">
              <a:lnSpc>
                <a:spcPct val="110000"/>
              </a:lnSpc>
              <a:buNone/>
            </a:pPr>
            <a:r>
              <a:rPr lang="en-US" sz="1400" dirty="0">
                <a:solidFill>
                  <a:srgbClr val="1E2B2A"/>
                </a:solidFill>
              </a:rPr>
              <a:t>표현된   ·   </a:t>
            </a:r>
            <a:pPr indent="0" marL="0">
              <a:lnSpc>
                <a:spcPct val="110000"/>
              </a:lnSpc>
              <a:buNone/>
            </a:pPr>
            <a:r>
              <a:rPr lang="en-US" sz="1400" b="1" dirty="0">
                <a:solidFill>
                  <a:srgbClr val="1F7A64"/>
                </a:solidFill>
              </a:rPr>
              <a:t>yield </a:t>
            </a:r>
            <a:pPr indent="0" marL="0">
              <a:lnSpc>
                <a:spcPct val="110000"/>
              </a:lnSpc>
              <a:buNone/>
            </a:pPr>
            <a:r>
              <a:rPr lang="en-US" sz="1400" dirty="0">
                <a:solidFill>
                  <a:srgbClr val="1E2B2A"/>
                </a:solidFill>
              </a:rPr>
              <a:t>낳다   ·   </a:t>
            </a:r>
            <a:pPr indent="0" marL="0">
              <a:lnSpc>
                <a:spcPct val="110000"/>
              </a:lnSpc>
              <a:buNone/>
            </a:pPr>
            <a:r>
              <a:rPr lang="en-US" sz="1400" b="1" dirty="0">
                <a:solidFill>
                  <a:srgbClr val="1F7A64"/>
                </a:solidFill>
              </a:rPr>
              <a:t>behavioral </a:t>
            </a:r>
            <a:pPr indent="0" marL="0">
              <a:lnSpc>
                <a:spcPct val="110000"/>
              </a:lnSpc>
              <a:buNone/>
            </a:pPr>
            <a:r>
              <a:rPr lang="en-US" sz="1400" dirty="0">
                <a:solidFill>
                  <a:srgbClr val="1E2B2A"/>
                </a:solidFill>
              </a:rPr>
              <a:t>행동의</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were each given $50 and separated into</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4형식 수동태 · 병렬</a:t>
            </a:r>
            <a:endParaRPr lang="en-US" sz="1700" dirty="0"/>
          </a:p>
          <a:p>
            <a:pPr indent="0" marL="0">
              <a:spcAft>
                <a:spcPts val="200"/>
              </a:spcAft>
              <a:buNone/>
            </a:pPr>
            <a:r>
              <a:rPr lang="en-US" sz="1400" dirty="0">
                <a:solidFill>
                  <a:srgbClr val="1E2B2A"/>
                </a:solidFill>
              </a:rPr>
              <a:t>were given $50 / (were) separated 병렬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Having heard these options</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완료 분사구문</a:t>
            </a:r>
            <a:endParaRPr lang="en-US" sz="1700" dirty="0"/>
          </a:p>
          <a:p>
            <a:pPr indent="0" marL="0">
              <a:spcAft>
                <a:spcPts val="200"/>
              </a:spcAft>
              <a:buNone/>
            </a:pPr>
            <a:r>
              <a:rPr lang="en-US" sz="1400" dirty="0">
                <a:solidFill>
                  <a:srgbClr val="1E2B2A"/>
                </a:solidFill>
              </a:rPr>
              <a:t>After they had heard ~</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because the choices were framed using two different terms</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수동태 · 분사구문</a:t>
            </a:r>
            <a:endParaRPr lang="en-US" sz="1700" dirty="0"/>
          </a:p>
          <a:p>
            <a:pPr indent="0" marL="0">
              <a:spcAft>
                <a:spcPts val="200"/>
              </a:spcAft>
              <a:buNone/>
            </a:pPr>
            <a:r>
              <a:rPr lang="en-US" sz="1400" dirty="0">
                <a:solidFill>
                  <a:srgbClr val="1E2B2A"/>
                </a:solidFill>
              </a:rPr>
              <a:t>were framed (표현되었다) + using ~ (~을 사용해서)</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This is called the “framing effect”</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call O C의 수동태</a:t>
            </a:r>
            <a:endParaRPr lang="en-US" sz="1700" dirty="0"/>
          </a:p>
          <a:p>
            <a:pPr indent="0" marL="0">
              <a:spcAft>
                <a:spcPts val="200"/>
              </a:spcAft>
              <a:buNone/>
            </a:pPr>
            <a:r>
              <a:rPr lang="en-US" sz="1400" dirty="0">
                <a:solidFill>
                  <a:srgbClr val="1E2B2A"/>
                </a:solidFill>
              </a:rPr>
              <a:t>We call this the framing effect → This is called ~</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…the two groups were given options that actually led to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두 그룹은 사실 ______로 이어지는 선택지를 받았다.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50 − 30 = 20 → 두 선택지의 결과는?</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However, because the choices were framed using two different terms, ‘lose’ versus ‘keep’, the participants came to different decisions.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그러나 '잃다'와 '간직하다'로 다르게 표현되어 다른 결정을 내렸다 → 결과는 같았다는 뜻</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실험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두 그룹 모두 50달러를 받음</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조건</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A: 30달러를 잃는다 / B: 20달러를 간직한다</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계산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50 − 30 = 20 → 둘 다 '20달러가 남는' 같은 결과</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반전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However: 표현만 달라서 다른 결정 → 틀 효과</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an identical outcome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동일한 결과 = 50−30 = 20, However로 '표현만 다름' 강조</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serious financial loss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심각한 금전적 손실 → lose 연상 함정</a:t>
            </a:r>
            <a:endParaRPr lang="en-US" sz="1200" dirty="0"/>
          </a:p>
        </p:txBody>
      </p:sp>
      <p:sp>
        <p:nvSpPr>
          <p:cNvPr id="13" name="Text 11"/>
          <p:cNvSpPr/>
          <p:nvPr/>
        </p:nvSpPr>
        <p:spPr>
          <a:xfrm>
            <a:off x="10332720" y="1600200"/>
            <a:ext cx="1097280" cy="365760"/>
          </a:xfrm>
          <a:prstGeom prst="roundRect">
            <a:avLst>
              <a:gd name="adj" fmla="val 37500"/>
            </a:avLst>
          </a:prstGeom>
          <a:solidFill>
            <a:srgbClr val="FFD45C"/>
          </a:solidFill>
          <a:ln/>
        </p:spPr>
        <p:txBody>
          <a:bodyPr wrap="square" lIns="0" tIns="0" rIns="0" bIns="0" rtlCol="0" anchor="ctr"/>
          <a:lstStyle/>
          <a:p>
            <a:pPr algn="ctr" indent="0" marL="0">
              <a:buNone/>
            </a:pPr>
            <a:r>
              <a:rPr lang="en-US" sz="1200" b="1" dirty="0">
                <a:solidFill>
                  <a:srgbClr val="1E2B2A"/>
                </a:solidFill>
              </a:rPr>
              <a:t>소재 함정</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an identical outcome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동일한 결과 = 50−30 = 20, However로 '표현만 다름' 강조</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avoiding gambling in any form</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모든 도박 회피 → 실제로 도박을 많이 선택</a:t>
            </a:r>
            <a:endParaRPr lang="en-US" sz="1200" dirty="0"/>
          </a:p>
        </p:txBody>
      </p:sp>
      <p:sp>
        <p:nvSpPr>
          <p:cNvPr id="23" name="Text 21"/>
          <p:cNvSpPr/>
          <p:nvPr/>
        </p:nvSpPr>
        <p:spPr>
          <a:xfrm>
            <a:off x="10332720" y="3630168"/>
            <a:ext cx="1097280" cy="365760"/>
          </a:xfrm>
          <a:prstGeom prst="roundRect">
            <a:avLst>
              <a:gd name="adj" fmla="val 37500"/>
            </a:avLst>
          </a:prstGeom>
          <a:solidFill>
            <a:srgbClr val="14453D"/>
          </a:solidFill>
          <a:ln/>
        </p:spPr>
        <p:txBody>
          <a:bodyPr wrap="square" lIns="0" tIns="0" rIns="0" bIns="0" rtlCol="0" anchor="ctr"/>
          <a:lstStyle/>
          <a:p>
            <a:pPr algn="ctr" indent="0" marL="0">
              <a:buNone/>
            </a:pPr>
            <a:r>
              <a:rPr lang="en-US" sz="1200" b="1" dirty="0">
                <a:solidFill>
                  <a:srgbClr val="FFFFFF"/>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a huge burden of decision making</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의사 결정의 큰 부담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misunderstanding economic values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경제적 가치의 오해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2400" b="1" dirty="0">
                <a:solidFill>
                  <a:srgbClr val="14453D"/>
                </a:solidFill>
              </a:rPr>
              <a:t>주어진 문장이 들어가기에 가장 적절한 곳은?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900" b="1" dirty="0">
                <a:solidFill>
                  <a:srgbClr val="EF5B3F"/>
                </a:solidFill>
              </a:rPr>
              <a:t>[주어진 문장]  </a:t>
            </a:r>
            <a:pPr indent="0" marL="0">
              <a:lnSpc>
                <a:spcPct val="115000"/>
              </a:lnSpc>
              <a:buNone/>
            </a:pPr>
            <a:r>
              <a:rPr lang="en-US" sz="1900" b="1" dirty="0">
                <a:solidFill>
                  <a:srgbClr val="14453D"/>
                </a:solidFill>
              </a:rPr>
              <a:t>This reflection process enables you to clearly see potential problems and ways to fix them.</a:t>
            </a:r>
            <a:endParaRPr lang="en-US" sz="1900" dirty="0"/>
          </a:p>
          <a:p>
            <a:pPr indent="0" marL="0">
              <a:lnSpc>
                <a:spcPct val="115000"/>
              </a:lnSpc>
              <a:buNone/>
            </a:pPr>
            <a:r>
              <a:rPr lang="en-US" sz="600" dirty="0">
                <a:solidFill>
                  <a:srgbClr val="000000"/>
                </a:solidFill>
              </a:rPr>
              <a:t> </a:t>
            </a:r>
            <a:endParaRPr lang="en-US" sz="1900" dirty="0"/>
          </a:p>
          <a:p>
            <a:pPr indent="0" marL="0">
              <a:lnSpc>
                <a:spcPct val="115000"/>
              </a:lnSpc>
              <a:buNone/>
            </a:pPr>
            <a:r>
              <a:rPr lang="en-US" sz="1900" dirty="0">
                <a:solidFill>
                  <a:srgbClr val="1E2B2A"/>
                </a:solidFill>
              </a:rPr>
              <a:t>Have you ever thought about what you are good at and not so good at during internal conversations with yourself?</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Inner thought processes like this help you get a clearer picture of your strengths and weaknesses.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① ) During the process, you may ask yourself a series of questions to identify blind spots that may be blocking you from reaching your goals.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② ) It is not only essential in personal development but also critical to corporate success.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③ ) The most consistently innovative companies in the world promote a culture which includes this self-inquiry.</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5000"/>
              </a:lnSpc>
              <a:buNone/>
            </a:pPr>
            <a:r>
              <a:rPr lang="en-US" sz="1900" dirty="0">
                <a:solidFill>
                  <a:srgbClr val="000000"/>
                </a:solidFill>
              </a:rPr>
              <a:t> </a:t>
            </a:r>
            <a:pPr indent="0" marL="0">
              <a:lnSpc>
                <a:spcPct val="115000"/>
              </a:lnSpc>
              <a:buNone/>
            </a:pPr>
            <a:r>
              <a:rPr lang="en-US" sz="1900" dirty="0">
                <a:solidFill>
                  <a:srgbClr val="1E2B2A"/>
                </a:solidFill>
              </a:rPr>
              <a:t>( ⑤ ) It is this self-awareness that allows the company to excel at developing innovative and outstanding products.</a:t>
            </a:r>
            <a:endParaRPr lang="en-US" sz="1900" dirty="0"/>
          </a:p>
          <a:p>
            <a:pPr algn="r" indent="0" marL="0">
              <a:lnSpc>
                <a:spcPct val="115000"/>
              </a:lnSpc>
              <a:spcBef>
                <a:spcPts val="200"/>
              </a:spcBef>
              <a:buNone/>
            </a:pPr>
            <a:r>
              <a:rPr lang="en-US" sz="1100" i="1" dirty="0">
                <a:solidFill>
                  <a:srgbClr val="6E7F7C"/>
                </a:solidFill>
              </a:rPr>
              <a:t>*blind spot 맹점, 약점</a:t>
            </a:r>
            <a:endParaRPr lang="en-US" sz="19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Have you ever thought about </a:t>
            </a:r>
            <a:pPr indent="0" marL="0">
              <a:lnSpc>
                <a:spcPct val="120000"/>
              </a:lnSpc>
              <a:buNone/>
            </a:pPr>
            <a:r>
              <a:rPr lang="en-US" sz="1800" b="1" dirty="0">
                <a:solidFill>
                  <a:srgbClr val="2C7DA0"/>
                </a:solidFill>
              </a:rPr>
              <a:t>what you are good at and not so good at</a:t>
            </a:r>
            <a:pPr indent="0" marL="0">
              <a:lnSpc>
                <a:spcPct val="120000"/>
              </a:lnSpc>
              <a:buNone/>
            </a:pPr>
            <a:r>
              <a:rPr lang="en-US" sz="1800" dirty="0">
                <a:solidFill>
                  <a:srgbClr val="1E2B2A"/>
                </a:solidFill>
              </a:rPr>
              <a:t> during </a:t>
            </a:r>
            <a:pPr indent="0" marL="0">
              <a:lnSpc>
                <a:spcPct val="120000"/>
              </a:lnSpc>
              <a:buNone/>
            </a:pPr>
            <a:r>
              <a:rPr lang="en-US" sz="1800" u="dotted" dirty="0">
                <a:solidFill>
                  <a:srgbClr val="1F7A64"/>
                </a:solidFill>
                <a:uFill>
                  <a:solidFill>
                    <a:srgbClr val="1F7A64"/>
                  </a:solidFill>
                </a:uFill>
              </a:rPr>
              <a:t>internal</a:t>
            </a:r>
            <a:pPr indent="0" marL="0">
              <a:lnSpc>
                <a:spcPct val="120000"/>
              </a:lnSpc>
              <a:buNone/>
            </a:pPr>
            <a:r>
              <a:rPr lang="en-US" sz="1800" dirty="0">
                <a:solidFill>
                  <a:srgbClr val="1E2B2A"/>
                </a:solidFill>
              </a:rPr>
              <a:t> conversations with yourself?</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Inner thought processes like this </a:t>
            </a:r>
            <a:pPr indent="0" marL="0">
              <a:lnSpc>
                <a:spcPct val="120000"/>
              </a:lnSpc>
              <a:buNone/>
            </a:pPr>
            <a:r>
              <a:rPr lang="en-US" sz="1800" b="1" dirty="0">
                <a:solidFill>
                  <a:srgbClr val="2C7DA0"/>
                </a:solidFill>
              </a:rPr>
              <a:t>help you get a clearer picture</a:t>
            </a:r>
            <a:pPr indent="0" marL="0">
              <a:lnSpc>
                <a:spcPct val="120000"/>
              </a:lnSpc>
              <a:buNone/>
            </a:pPr>
            <a:r>
              <a:rPr lang="en-US" sz="1800" dirty="0">
                <a:solidFill>
                  <a:srgbClr val="1E2B2A"/>
                </a:solidFill>
              </a:rPr>
              <a:t> of your strengths and weaknesses.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 ① ) During the process, you may ask yourself a series of questions to </a:t>
            </a:r>
            <a:pPr indent="0" marL="0">
              <a:lnSpc>
                <a:spcPct val="120000"/>
              </a:lnSpc>
              <a:buNone/>
            </a:pPr>
            <a:r>
              <a:rPr lang="en-US" sz="1800" u="dotted" dirty="0">
                <a:solidFill>
                  <a:srgbClr val="1F7A64"/>
                </a:solidFill>
                <a:highlight>
                  <a:srgbClr val="FFD45C"/>
                </a:highlight>
                <a:uFill>
                  <a:solidFill>
                    <a:srgbClr val="1F7A64"/>
                  </a:solidFill>
                </a:uFill>
              </a:rPr>
              <a:t>identify</a:t>
            </a:r>
            <a:pPr indent="0" marL="0">
              <a:lnSpc>
                <a:spcPct val="120000"/>
              </a:lnSpc>
              <a:buNone/>
            </a:pPr>
            <a:r>
              <a:rPr lang="en-US" sz="1800" dirty="0">
                <a:solidFill>
                  <a:srgbClr val="1E2B2A"/>
                </a:solidFill>
                <a:highlight>
                  <a:srgbClr val="FFD45C"/>
                </a:highlight>
              </a:rPr>
              <a:t> </a:t>
            </a:r>
            <a:pPr indent="0" marL="0">
              <a:lnSpc>
                <a:spcPct val="120000"/>
              </a:lnSpc>
              <a:buNone/>
            </a:pPr>
            <a:r>
              <a:rPr lang="en-US" sz="1800" b="1" dirty="0">
                <a:solidFill>
                  <a:srgbClr val="2C7DA0"/>
                </a:solidFill>
                <a:highlight>
                  <a:srgbClr val="FFD45C"/>
                </a:highlight>
              </a:rPr>
              <a:t>blind spots that may be blocking you from reaching</a:t>
            </a:r>
            <a:pPr indent="0" marL="0">
              <a:lnSpc>
                <a:spcPct val="120000"/>
              </a:lnSpc>
              <a:buNone/>
            </a:pPr>
            <a:r>
              <a:rPr lang="en-US" sz="1800" dirty="0">
                <a:solidFill>
                  <a:srgbClr val="1E2B2A"/>
                </a:solidFill>
                <a:highlight>
                  <a:srgbClr val="FFD45C"/>
                </a:highlight>
              </a:rPr>
              <a:t> your goals.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 ② ) </a:t>
            </a:r>
            <a:pPr indent="0" marL="0">
              <a:lnSpc>
                <a:spcPct val="120000"/>
              </a:lnSpc>
              <a:buNone/>
            </a:pPr>
            <a:r>
              <a:rPr lang="en-US" sz="1800" b="1" dirty="0">
                <a:solidFill>
                  <a:srgbClr val="2C7DA0"/>
                </a:solidFill>
                <a:highlight>
                  <a:srgbClr val="FFD45C"/>
                </a:highlight>
              </a:rPr>
              <a:t>It is not only essential in personal development but also critical</a:t>
            </a:r>
            <a:pPr indent="0" marL="0">
              <a:lnSpc>
                <a:spcPct val="120000"/>
              </a:lnSpc>
              <a:buNone/>
            </a:pPr>
            <a:r>
              <a:rPr lang="en-US" sz="1800" dirty="0">
                <a:solidFill>
                  <a:srgbClr val="1E2B2A"/>
                </a:solidFill>
                <a:highlight>
                  <a:srgbClr val="FFD45C"/>
                </a:highlight>
              </a:rPr>
              <a:t> to </a:t>
            </a:r>
            <a:pPr indent="0" marL="0">
              <a:lnSpc>
                <a:spcPct val="120000"/>
              </a:lnSpc>
              <a:buNone/>
            </a:pPr>
            <a:r>
              <a:rPr lang="en-US" sz="1800" u="dotted" dirty="0">
                <a:solidFill>
                  <a:srgbClr val="1F7A64"/>
                </a:solidFill>
                <a:highlight>
                  <a:srgbClr val="FFD45C"/>
                </a:highlight>
                <a:uFill>
                  <a:solidFill>
                    <a:srgbClr val="1F7A64"/>
                  </a:solidFill>
                </a:uFill>
              </a:rPr>
              <a:t>corporate</a:t>
            </a:r>
            <a:pPr indent="0" marL="0">
              <a:lnSpc>
                <a:spcPct val="120000"/>
              </a:lnSpc>
              <a:buNone/>
            </a:pPr>
            <a:r>
              <a:rPr lang="en-US" sz="1800" dirty="0">
                <a:solidFill>
                  <a:srgbClr val="1E2B2A"/>
                </a:solidFill>
                <a:highlight>
                  <a:srgbClr val="FFD45C"/>
                </a:highlight>
              </a:rPr>
              <a:t> success.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 ③ ) The most </a:t>
            </a:r>
            <a:pPr indent="0" marL="0">
              <a:lnSpc>
                <a:spcPct val="120000"/>
              </a:lnSpc>
              <a:buNone/>
            </a:pPr>
            <a:r>
              <a:rPr lang="en-US" sz="1800" u="dotted" dirty="0">
                <a:solidFill>
                  <a:srgbClr val="1F7A64"/>
                </a:solidFill>
                <a:uFill>
                  <a:solidFill>
                    <a:srgbClr val="1F7A64"/>
                  </a:solidFill>
                </a:uFill>
              </a:rPr>
              <a:t>consistently</a:t>
            </a:r>
            <a:pPr indent="0" marL="0">
              <a:lnSpc>
                <a:spcPct val="120000"/>
              </a:lnSpc>
              <a:buNone/>
            </a:pPr>
            <a:r>
              <a:rPr lang="en-US" sz="1800" dirty="0">
                <a:solidFill>
                  <a:srgbClr val="1E2B2A"/>
                </a:solidFill>
              </a:rPr>
              <a:t> </a:t>
            </a:r>
            <a:pPr indent="0" marL="0">
              <a:lnSpc>
                <a:spcPct val="120000"/>
              </a:lnSpc>
              <a:buNone/>
            </a:pPr>
            <a:r>
              <a:rPr lang="en-US" sz="1800" u="dotted" dirty="0">
                <a:solidFill>
                  <a:srgbClr val="1F7A64"/>
                </a:solidFill>
                <a:uFill>
                  <a:solidFill>
                    <a:srgbClr val="1F7A64"/>
                  </a:solidFill>
                </a:uFill>
              </a:rPr>
              <a:t>innovative</a:t>
            </a:r>
            <a:pPr indent="0" marL="0">
              <a:lnSpc>
                <a:spcPct val="120000"/>
              </a:lnSpc>
              <a:buNone/>
            </a:pPr>
            <a:r>
              <a:rPr lang="en-US" sz="1800" dirty="0">
                <a:solidFill>
                  <a:srgbClr val="1E2B2A"/>
                </a:solidFill>
              </a:rPr>
              <a:t> companies in the world promote a culture which includes this </a:t>
            </a:r>
            <a:pPr indent="0" marL="0">
              <a:lnSpc>
                <a:spcPct val="120000"/>
              </a:lnSpc>
              <a:buNone/>
            </a:pPr>
            <a:r>
              <a:rPr lang="en-US" sz="1800" u="dotted" dirty="0">
                <a:solidFill>
                  <a:srgbClr val="1F7A64"/>
                </a:solidFill>
                <a:uFill>
                  <a:solidFill>
                    <a:srgbClr val="1F7A64"/>
                  </a:solidFill>
                </a:uFill>
              </a:rPr>
              <a:t>self-inquiry</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 ⑤ ) </a:t>
            </a:r>
            <a:pPr indent="0" marL="0">
              <a:lnSpc>
                <a:spcPct val="120000"/>
              </a:lnSpc>
              <a:buNone/>
            </a:pPr>
            <a:r>
              <a:rPr lang="en-US" sz="1800" b="1" dirty="0">
                <a:solidFill>
                  <a:srgbClr val="2C7DA0"/>
                </a:solidFill>
              </a:rPr>
              <a:t>It is this self-awareness that allows</a:t>
            </a:r>
            <a:pPr indent="0" marL="0">
              <a:lnSpc>
                <a:spcPct val="120000"/>
              </a:lnSpc>
              <a:buNone/>
            </a:pPr>
            <a:r>
              <a:rPr lang="en-US" sz="1800" dirty="0">
                <a:solidFill>
                  <a:srgbClr val="1E2B2A"/>
                </a:solidFill>
              </a:rPr>
              <a:t> the company to </a:t>
            </a:r>
            <a:pPr indent="0" marL="0">
              <a:lnSpc>
                <a:spcPct val="120000"/>
              </a:lnSpc>
              <a:buNone/>
            </a:pPr>
            <a:r>
              <a:rPr lang="en-US" sz="1800" u="dotted" dirty="0">
                <a:solidFill>
                  <a:srgbClr val="1F7A64"/>
                </a:solidFill>
                <a:uFill>
                  <a:solidFill>
                    <a:srgbClr val="1F7A64"/>
                  </a:solidFill>
                </a:uFill>
              </a:rPr>
              <a:t>excel</a:t>
            </a:r>
            <a:pPr indent="0" marL="0">
              <a:lnSpc>
                <a:spcPct val="120000"/>
              </a:lnSpc>
              <a:buNone/>
            </a:pPr>
            <a:r>
              <a:rPr lang="en-US" sz="1800" dirty="0">
                <a:solidFill>
                  <a:srgbClr val="1E2B2A"/>
                </a:solidFill>
              </a:rPr>
              <a:t> at developing innovative and outstanding products.</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internal </a:t>
            </a:r>
            <a:pPr indent="0" marL="0">
              <a:lnSpc>
                <a:spcPct val="110000"/>
              </a:lnSpc>
              <a:buNone/>
            </a:pPr>
            <a:r>
              <a:rPr lang="en-US" sz="1400" dirty="0">
                <a:solidFill>
                  <a:srgbClr val="1E2B2A"/>
                </a:solidFill>
              </a:rPr>
              <a:t>내적인   ·   </a:t>
            </a:r>
            <a:pPr indent="0" marL="0">
              <a:lnSpc>
                <a:spcPct val="110000"/>
              </a:lnSpc>
              <a:buNone/>
            </a:pPr>
            <a:r>
              <a:rPr lang="en-US" sz="1400" b="1" dirty="0">
                <a:solidFill>
                  <a:srgbClr val="1F7A64"/>
                </a:solidFill>
              </a:rPr>
              <a:t>identify </a:t>
            </a:r>
            <a:pPr indent="0" marL="0">
              <a:lnSpc>
                <a:spcPct val="110000"/>
              </a:lnSpc>
              <a:buNone/>
            </a:pPr>
            <a:r>
              <a:rPr lang="en-US" sz="1400" dirty="0">
                <a:solidFill>
                  <a:srgbClr val="1E2B2A"/>
                </a:solidFill>
              </a:rPr>
              <a:t>찾아내다   ·   </a:t>
            </a:r>
            <a:pPr indent="0" marL="0">
              <a:lnSpc>
                <a:spcPct val="110000"/>
              </a:lnSpc>
              <a:buNone/>
            </a:pPr>
            <a:r>
              <a:rPr lang="en-US" sz="1400" b="1" dirty="0">
                <a:solidFill>
                  <a:srgbClr val="1F7A64"/>
                </a:solidFill>
              </a:rPr>
              <a:t>corporate </a:t>
            </a:r>
            <a:pPr indent="0" marL="0">
              <a:lnSpc>
                <a:spcPct val="110000"/>
              </a:lnSpc>
              <a:buNone/>
            </a:pPr>
            <a:r>
              <a:rPr lang="en-US" sz="1400" dirty="0">
                <a:solidFill>
                  <a:srgbClr val="1E2B2A"/>
                </a:solidFill>
              </a:rPr>
              <a:t>기업의   ·   </a:t>
            </a:r>
            <a:pPr indent="0" marL="0">
              <a:lnSpc>
                <a:spcPct val="110000"/>
              </a:lnSpc>
              <a:buNone/>
            </a:pPr>
            <a:r>
              <a:rPr lang="en-US" sz="1400" b="1" dirty="0">
                <a:solidFill>
                  <a:srgbClr val="1F7A64"/>
                </a:solidFill>
              </a:rPr>
              <a:t>consistently </a:t>
            </a:r>
            <a:pPr indent="0" marL="0">
              <a:lnSpc>
                <a:spcPct val="110000"/>
              </a:lnSpc>
              <a:buNone/>
            </a:pPr>
            <a:r>
              <a:rPr lang="en-US" sz="1400" dirty="0">
                <a:solidFill>
                  <a:srgbClr val="1E2B2A"/>
                </a:solidFill>
              </a:rPr>
              <a:t>꾸준히   ·   </a:t>
            </a:r>
            <a:pPr indent="0" marL="0">
              <a:lnSpc>
                <a:spcPct val="110000"/>
              </a:lnSpc>
              <a:buNone/>
            </a:pPr>
            <a:r>
              <a:rPr lang="en-US" sz="1400" b="1" dirty="0">
                <a:solidFill>
                  <a:srgbClr val="1F7A64"/>
                </a:solidFill>
              </a:rPr>
              <a:t>innovative </a:t>
            </a:r>
            <a:pPr indent="0" marL="0">
              <a:lnSpc>
                <a:spcPct val="110000"/>
              </a:lnSpc>
              <a:buNone/>
            </a:pPr>
            <a:r>
              <a:rPr lang="en-US" sz="1400" dirty="0">
                <a:solidFill>
                  <a:srgbClr val="1E2B2A"/>
                </a:solidFill>
              </a:rPr>
              <a:t>혁신적인   ·   </a:t>
            </a:r>
            <a:pPr indent="0" marL="0">
              <a:lnSpc>
                <a:spcPct val="110000"/>
              </a:lnSpc>
              <a:buNone/>
            </a:pPr>
            <a:r>
              <a:rPr lang="en-US" sz="1400" b="1" dirty="0">
                <a:solidFill>
                  <a:srgbClr val="1F7A64"/>
                </a:solidFill>
              </a:rPr>
              <a:t>self-inquiry </a:t>
            </a:r>
            <a:pPr indent="0" marL="0">
              <a:lnSpc>
                <a:spcPct val="110000"/>
              </a:lnSpc>
              <a:buNone/>
            </a:pPr>
            <a:r>
              <a:rPr lang="en-US" sz="1400" dirty="0">
                <a:solidFill>
                  <a:srgbClr val="1E2B2A"/>
                </a:solidFill>
              </a:rPr>
              <a:t>자기 탐구   ·   </a:t>
            </a:r>
            <a:pPr indent="0" marL="0">
              <a:lnSpc>
                <a:spcPct val="110000"/>
              </a:lnSpc>
              <a:buNone/>
            </a:pPr>
            <a:r>
              <a:rPr lang="en-US" sz="1400" b="1" dirty="0">
                <a:solidFill>
                  <a:srgbClr val="1F7A64"/>
                </a:solidFill>
              </a:rPr>
              <a:t>excel </a:t>
            </a:r>
            <a:pPr indent="0" marL="0">
              <a:lnSpc>
                <a:spcPct val="110000"/>
              </a:lnSpc>
              <a:buNone/>
            </a:pPr>
            <a:r>
              <a:rPr lang="en-US" sz="1400" dirty="0">
                <a:solidFill>
                  <a:srgbClr val="1E2B2A"/>
                </a:solidFill>
              </a:rPr>
              <a:t>뛰어나다</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문법</a:t>
            </a:r>
            <a:endParaRPr lang="en-US" sz="1200" dirty="0"/>
          </a:p>
        </p:txBody>
      </p:sp>
      <p:sp>
        <p:nvSpPr>
          <p:cNvPr id="4" name="Shape 2"/>
          <p:cNvSpPr/>
          <p:nvPr/>
        </p:nvSpPr>
        <p:spPr>
          <a:xfrm>
            <a:off x="548640" y="1280160"/>
            <a:ext cx="11064240" cy="918058"/>
          </a:xfrm>
          <a:prstGeom prst="roundRect">
            <a:avLst>
              <a:gd name="adj" fmla="val 9960"/>
            </a:avLst>
          </a:prstGeom>
          <a:solidFill>
            <a:srgbClr val="EAF3F7"/>
          </a:solidFill>
          <a:ln w="12700">
            <a:solidFill>
              <a:srgbClr val="D3E5EE"/>
            </a:solidFill>
            <a:prstDash val="solid"/>
          </a:ln>
        </p:spPr>
      </p:sp>
      <p:sp>
        <p:nvSpPr>
          <p:cNvPr id="5" name="Text 3"/>
          <p:cNvSpPr txBox="1"/>
          <p:nvPr/>
        </p:nvSpPr>
        <p:spPr>
          <a:xfrm>
            <a:off x="822960" y="1371600"/>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what you are good at and not so good at</a:t>
            </a:r>
            <a:endParaRPr lang="en-US" sz="1500" dirty="0"/>
          </a:p>
        </p:txBody>
      </p:sp>
      <p:sp>
        <p:nvSpPr>
          <p:cNvPr id="6" name="Text 4"/>
          <p:cNvSpPr txBox="1"/>
          <p:nvPr/>
        </p:nvSpPr>
        <p:spPr>
          <a:xfrm>
            <a:off x="6400800" y="1353312"/>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간접의문문</a:t>
            </a:r>
            <a:endParaRPr lang="en-US" sz="1700" dirty="0"/>
          </a:p>
          <a:p>
            <a:pPr indent="0" marL="0">
              <a:spcAft>
                <a:spcPts val="200"/>
              </a:spcAft>
              <a:buNone/>
            </a:pPr>
            <a:r>
              <a:rPr lang="en-US" sz="1400" dirty="0">
                <a:solidFill>
                  <a:srgbClr val="1E2B2A"/>
                </a:solidFill>
              </a:rPr>
              <a:t>의문사 what + 주어 + 동사 (전치사 about의 목적어)</a:t>
            </a:r>
            <a:endParaRPr lang="en-US" sz="1700" dirty="0"/>
          </a:p>
        </p:txBody>
      </p:sp>
      <p:sp>
        <p:nvSpPr>
          <p:cNvPr id="7" name="Shape 5"/>
          <p:cNvSpPr/>
          <p:nvPr/>
        </p:nvSpPr>
        <p:spPr>
          <a:xfrm>
            <a:off x="548640" y="2307946"/>
            <a:ext cx="11064240" cy="918058"/>
          </a:xfrm>
          <a:prstGeom prst="roundRect">
            <a:avLst>
              <a:gd name="adj" fmla="val 9960"/>
            </a:avLst>
          </a:prstGeom>
          <a:solidFill>
            <a:srgbClr val="FFFFFF"/>
          </a:solidFill>
          <a:ln w="12700">
            <a:solidFill>
              <a:srgbClr val="D3E5EE"/>
            </a:solidFill>
            <a:prstDash val="solid"/>
          </a:ln>
        </p:spPr>
      </p:sp>
      <p:sp>
        <p:nvSpPr>
          <p:cNvPr id="8" name="Text 6"/>
          <p:cNvSpPr txBox="1"/>
          <p:nvPr/>
        </p:nvSpPr>
        <p:spPr>
          <a:xfrm>
            <a:off x="822960" y="2399386"/>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help you get a clearer picture</a:t>
            </a:r>
            <a:endParaRPr lang="en-US" sz="1500" dirty="0"/>
          </a:p>
        </p:txBody>
      </p:sp>
      <p:sp>
        <p:nvSpPr>
          <p:cNvPr id="9" name="Text 7"/>
          <p:cNvSpPr txBox="1"/>
          <p:nvPr/>
        </p:nvSpPr>
        <p:spPr>
          <a:xfrm>
            <a:off x="6400800" y="2381098"/>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help O 원형</a:t>
            </a:r>
            <a:endParaRPr lang="en-US" sz="1700" dirty="0"/>
          </a:p>
          <a:p>
            <a:pPr indent="0" marL="0">
              <a:spcAft>
                <a:spcPts val="200"/>
              </a:spcAft>
              <a:buNone/>
            </a:pPr>
            <a:r>
              <a:rPr lang="en-US" sz="1400" dirty="0">
                <a:solidFill>
                  <a:srgbClr val="1E2B2A"/>
                </a:solidFill>
              </a:rPr>
              <a:t>help + 목적어 + (to) 동사원형</a:t>
            </a:r>
            <a:endParaRPr lang="en-US" sz="1700" dirty="0"/>
          </a:p>
        </p:txBody>
      </p:sp>
      <p:sp>
        <p:nvSpPr>
          <p:cNvPr id="10" name="Shape 8"/>
          <p:cNvSpPr/>
          <p:nvPr/>
        </p:nvSpPr>
        <p:spPr>
          <a:xfrm>
            <a:off x="548640" y="3335731"/>
            <a:ext cx="11064240" cy="918058"/>
          </a:xfrm>
          <a:prstGeom prst="roundRect">
            <a:avLst>
              <a:gd name="adj" fmla="val 9960"/>
            </a:avLst>
          </a:prstGeom>
          <a:solidFill>
            <a:srgbClr val="EAF3F7"/>
          </a:solidFill>
          <a:ln w="12700">
            <a:solidFill>
              <a:srgbClr val="D3E5EE"/>
            </a:solidFill>
            <a:prstDash val="solid"/>
          </a:ln>
        </p:spPr>
      </p:sp>
      <p:sp>
        <p:nvSpPr>
          <p:cNvPr id="11" name="Text 9"/>
          <p:cNvSpPr txBox="1"/>
          <p:nvPr/>
        </p:nvSpPr>
        <p:spPr>
          <a:xfrm>
            <a:off x="822960" y="3427171"/>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blind spots that may be blocking you from reaching</a:t>
            </a:r>
            <a:endParaRPr lang="en-US" sz="1500" dirty="0"/>
          </a:p>
        </p:txBody>
      </p:sp>
      <p:sp>
        <p:nvSpPr>
          <p:cNvPr id="12" name="Text 10"/>
          <p:cNvSpPr txBox="1"/>
          <p:nvPr/>
        </p:nvSpPr>
        <p:spPr>
          <a:xfrm>
            <a:off x="6400800" y="3408883"/>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block O from -ing</a:t>
            </a:r>
            <a:endParaRPr lang="en-US" sz="1700" dirty="0"/>
          </a:p>
          <a:p>
            <a:pPr indent="0" marL="0">
              <a:spcAft>
                <a:spcPts val="200"/>
              </a:spcAft>
              <a:buNone/>
            </a:pPr>
            <a:r>
              <a:rPr lang="en-US" sz="1400" dirty="0">
                <a:solidFill>
                  <a:srgbClr val="1E2B2A"/>
                </a:solidFill>
              </a:rPr>
              <a:t>~가 …하는 것을 막다 / 주격 관계대명사 that</a:t>
            </a:r>
            <a:endParaRPr lang="en-US" sz="1700" dirty="0"/>
          </a:p>
        </p:txBody>
      </p:sp>
      <p:sp>
        <p:nvSpPr>
          <p:cNvPr id="13" name="Shape 11"/>
          <p:cNvSpPr/>
          <p:nvPr/>
        </p:nvSpPr>
        <p:spPr>
          <a:xfrm>
            <a:off x="548640" y="4363517"/>
            <a:ext cx="11064240" cy="918058"/>
          </a:xfrm>
          <a:prstGeom prst="roundRect">
            <a:avLst>
              <a:gd name="adj" fmla="val 9960"/>
            </a:avLst>
          </a:prstGeom>
          <a:solidFill>
            <a:srgbClr val="FFFFFF"/>
          </a:solidFill>
          <a:ln w="12700">
            <a:solidFill>
              <a:srgbClr val="D3E5EE"/>
            </a:solidFill>
            <a:prstDash val="solid"/>
          </a:ln>
        </p:spPr>
      </p:sp>
      <p:sp>
        <p:nvSpPr>
          <p:cNvPr id="14" name="Text 12"/>
          <p:cNvSpPr txBox="1"/>
          <p:nvPr/>
        </p:nvSpPr>
        <p:spPr>
          <a:xfrm>
            <a:off x="822960" y="4454957"/>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It is not only essential in personal development but also critical</a:t>
            </a:r>
            <a:endParaRPr lang="en-US" sz="1500" dirty="0"/>
          </a:p>
        </p:txBody>
      </p:sp>
      <p:sp>
        <p:nvSpPr>
          <p:cNvPr id="15" name="Text 13"/>
          <p:cNvSpPr txBox="1"/>
          <p:nvPr/>
        </p:nvSpPr>
        <p:spPr>
          <a:xfrm>
            <a:off x="6400800" y="4436669"/>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not only A but also B</a:t>
            </a:r>
            <a:endParaRPr lang="en-US" sz="1700" dirty="0"/>
          </a:p>
          <a:p>
            <a:pPr indent="0" marL="0">
              <a:spcAft>
                <a:spcPts val="200"/>
              </a:spcAft>
              <a:buNone/>
            </a:pPr>
            <a:r>
              <a:rPr lang="en-US" sz="1400" dirty="0">
                <a:solidFill>
                  <a:srgbClr val="1E2B2A"/>
                </a:solidFill>
              </a:rPr>
              <a:t>It = this reflection process (주어진 문장)</a:t>
            </a:r>
            <a:endParaRPr lang="en-US" sz="1700" dirty="0"/>
          </a:p>
        </p:txBody>
      </p:sp>
      <p:sp>
        <p:nvSpPr>
          <p:cNvPr id="16" name="Shape 14"/>
          <p:cNvSpPr/>
          <p:nvPr/>
        </p:nvSpPr>
        <p:spPr>
          <a:xfrm>
            <a:off x="548640" y="5391302"/>
            <a:ext cx="11064240" cy="918058"/>
          </a:xfrm>
          <a:prstGeom prst="roundRect">
            <a:avLst>
              <a:gd name="adj" fmla="val 9960"/>
            </a:avLst>
          </a:prstGeom>
          <a:solidFill>
            <a:srgbClr val="EAF3F7"/>
          </a:solidFill>
          <a:ln w="12700">
            <a:solidFill>
              <a:srgbClr val="D3E5EE"/>
            </a:solidFill>
            <a:prstDash val="solid"/>
          </a:ln>
        </p:spPr>
      </p:sp>
      <p:sp>
        <p:nvSpPr>
          <p:cNvPr id="17" name="Text 15"/>
          <p:cNvSpPr txBox="1"/>
          <p:nvPr/>
        </p:nvSpPr>
        <p:spPr>
          <a:xfrm>
            <a:off x="822960" y="5482742"/>
            <a:ext cx="5303520" cy="735178"/>
          </a:xfrm>
          <a:prstGeom prst="rect">
            <a:avLst/>
          </a:prstGeom>
          <a:noFill/>
          <a:ln/>
        </p:spPr>
        <p:txBody>
          <a:bodyPr wrap="square" lIns="0" tIns="0" rIns="0" bIns="0" rtlCol="0" anchor="ctr"/>
          <a:lstStyle/>
          <a:p>
            <a:pPr indent="0" marL="0">
              <a:buNone/>
            </a:pPr>
            <a:r>
              <a:rPr lang="en-US" sz="1500" b="1" i="1" dirty="0">
                <a:solidFill>
                  <a:srgbClr val="2C7DA0"/>
                </a:solidFill>
              </a:rPr>
              <a:t>It is this self-awareness that allows</a:t>
            </a:r>
            <a:endParaRPr lang="en-US" sz="1500" dirty="0"/>
          </a:p>
        </p:txBody>
      </p:sp>
      <p:sp>
        <p:nvSpPr>
          <p:cNvPr id="18" name="Text 16"/>
          <p:cNvSpPr txBox="1"/>
          <p:nvPr/>
        </p:nvSpPr>
        <p:spPr>
          <a:xfrm>
            <a:off x="6400800" y="5464454"/>
            <a:ext cx="5029200" cy="771754"/>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It is ~ that 강조구문</a:t>
            </a:r>
            <a:endParaRPr lang="en-US" sz="1700" dirty="0"/>
          </a:p>
          <a:p>
            <a:pPr indent="0" marL="0">
              <a:spcAft>
                <a:spcPts val="200"/>
              </a:spcAft>
              <a:buNone/>
            </a:pPr>
            <a:r>
              <a:rPr lang="en-US" sz="1400" dirty="0">
                <a:solidFill>
                  <a:srgbClr val="1E2B2A"/>
                </a:solidFill>
              </a:rPr>
              <a:t>this self-awareness 강조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주어진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This reflection process enables you to clearly see potential problems and ways to fix them.</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이러한 성찰 과정은 잠재적인 문제들과 그것을 고칠 방법을 분명하게 보게 해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This reflection process가 가리킬 '성찰 과정'은 어디서 처음 나오나?</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During the process, you may ask yourself a series of questions to identify blind spots…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맹점(blind spots)을 찾는 질문 → 주어진 문장의 potential problems로 연결</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주어진 문장</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This reflection process → 앞에 '성찰 과정'의 구체적 설명이 와야 함</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①자리 뒤</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맹점을 찾기 위해 스스로 질문 = 성찰 과정의 내용</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②자리 뒤</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It is not only … but also … → It이 가리킬 단수 명사 필요</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질문으로 맹점 찾기 → [이 성찰 과정이 문제를 보게 함] → It(그것)은 개인·기업에 중요</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 ② ) 자리</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질문으로 맹점 찾기 → 이 성찰 과정이 문제를 보게 함 → It(성찰 과정)은 중요</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① ) 자리</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맹점 찾기 질문보다 '문제를 분명히 본다'는 결과가 먼저 나오게 됨</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14" name="Shape 12"/>
          <p:cNvSpPr/>
          <p:nvPr/>
        </p:nvSpPr>
        <p:spPr>
          <a:xfrm>
            <a:off x="4572000" y="2340864"/>
            <a:ext cx="7040880" cy="905256"/>
          </a:xfrm>
          <a:prstGeom prst="roundRect">
            <a:avLst>
              <a:gd name="adj" fmla="val 10101"/>
            </a:avLst>
          </a:prstGeom>
          <a:solidFill>
            <a:srgbClr val="F7E9E4"/>
          </a:solidFill>
          <a:ln w="25400">
            <a:solidFill>
              <a:srgbClr val="EF5B3F"/>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 ② ) 자리</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EF5B3F"/>
                </a:solidFill>
              </a:rPr>
              <a:t>✔ 질문으로 맹점 찾기 → 이 성찰 과정이 문제를 보게 함 → It(성찰 과정)은 중요</a:t>
            </a:r>
            <a:endParaRPr lang="en-US" sz="1200" dirty="0"/>
          </a:p>
        </p:txBody>
      </p:sp>
      <p:sp>
        <p:nvSpPr>
          <p:cNvPr id="18" name="Text 16"/>
          <p:cNvSpPr/>
          <p:nvPr/>
        </p:nvSpPr>
        <p:spPr>
          <a:xfrm>
            <a:off x="10332720" y="2615184"/>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③ ) 자리</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It(개인·기업에 중요)이 가리킬 대상이 앞 문장과 끊김</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④ ) 자리</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회사 문화 → 구글 예시는 이미 자연스럽게 연결됨</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9" name="Shape 27"/>
          <p:cNvSpPr/>
          <p:nvPr/>
        </p:nvSpPr>
        <p:spPr>
          <a:xfrm>
            <a:off x="4572000" y="5385816"/>
            <a:ext cx="7040880" cy="905256"/>
          </a:xfrm>
          <a:prstGeom prst="roundRect">
            <a:avLst>
              <a:gd name="adj" fmla="val 10101"/>
            </a:avLst>
          </a:prstGeom>
          <a:solidFill>
            <a:srgbClr val="FFFFFF"/>
          </a:solidFill>
          <a:ln w="12700">
            <a:solidFill>
              <a:srgbClr val="E6F2ED"/>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 ⑤ ) 자리</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6E7F7C"/>
                </a:solidFill>
              </a:rPr>
              <a:t>✘ 구글 예시 → this self-awareness로 이미 연결됨</a:t>
            </a:r>
            <a:endParaRPr lang="en-US" sz="1200" dirty="0"/>
          </a:p>
        </p:txBody>
      </p:sp>
      <p:sp>
        <p:nvSpPr>
          <p:cNvPr id="33" name="Text 31"/>
          <p:cNvSpPr/>
          <p:nvPr/>
        </p:nvSpPr>
        <p:spPr>
          <a:xfrm>
            <a:off x="10332720" y="5660136"/>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흐름 단절</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2400" b="1" dirty="0">
                <a:solidFill>
                  <a:srgbClr val="14453D"/>
                </a:solidFill>
              </a:rPr>
              <a:t>문맥상 낱말의 쓰임이 적절하지 않은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a:t>
            </a:r>
            <a:endParaRPr lang="en-US" sz="1200" dirty="0"/>
          </a:p>
        </p:txBody>
      </p:sp>
      <p:sp>
        <p:nvSpPr>
          <p:cNvPr id="4" name="Shape 2"/>
          <p:cNvSpPr/>
          <p:nvPr/>
        </p:nvSpPr>
        <p:spPr>
          <a:xfrm>
            <a:off x="548640" y="1234440"/>
            <a:ext cx="11064240" cy="5074920"/>
          </a:xfrm>
          <a:prstGeom prst="roundRect">
            <a:avLst>
              <a:gd name="adj" fmla="val 1802"/>
            </a:avLst>
          </a:prstGeom>
          <a:solidFill>
            <a:srgbClr val="FFFFFF"/>
          </a:solidFill>
          <a:ln w="19050">
            <a:solidFill>
              <a:srgbClr val="E6F2ED"/>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2150" dirty="0">
                <a:solidFill>
                  <a:srgbClr val="1E2B2A"/>
                </a:solidFill>
              </a:rPr>
              <a:t>Formal organizations such as multinational corporations train workers to perform their jobs in a certain way and reward them for good </a:t>
            </a:r>
            <a:pPr indent="0" marL="0">
              <a:lnSpc>
                <a:spcPct val="115000"/>
              </a:lnSpc>
              <a:buNone/>
            </a:pPr>
            <a:r>
              <a:rPr lang="en-US" sz="2150" b="1" u="sng" dirty="0">
                <a:solidFill>
                  <a:srgbClr val="1E2B2A"/>
                </a:solidFill>
              </a:rPr>
              <a:t>①performance</a:t>
            </a:r>
            <a:pPr indent="0" marL="0">
              <a:lnSpc>
                <a:spcPct val="115000"/>
              </a:lnSpc>
              <a:buNone/>
            </a:pPr>
            <a:r>
              <a:rPr lang="en-US" sz="2150" dirty="0">
                <a:solidFill>
                  <a:srgbClr val="1E2B2A"/>
                </a:solidFill>
              </a:rPr>
              <a:t>.</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When workers are trained to respond </a:t>
            </a:r>
            <a:pPr indent="0" marL="0">
              <a:lnSpc>
                <a:spcPct val="115000"/>
              </a:lnSpc>
              <a:buNone/>
            </a:pPr>
            <a:r>
              <a:rPr lang="en-US" sz="2150" b="1" u="sng" dirty="0">
                <a:solidFill>
                  <a:srgbClr val="1E2B2A"/>
                </a:solidFill>
              </a:rPr>
              <a:t>②mindlessly</a:t>
            </a:r>
            <a:pPr indent="0" marL="0">
              <a:lnSpc>
                <a:spcPct val="115000"/>
              </a:lnSpc>
              <a:buNone/>
            </a:pPr>
            <a:r>
              <a:rPr lang="en-US" sz="2150" dirty="0">
                <a:solidFill>
                  <a:srgbClr val="1E2B2A"/>
                </a:solidFill>
              </a:rPr>
              <a:t> to the dictates of the job, however, they risk developing trained incapacity—the inability to respond to new or unusual circumstances or to recognize when official rules or procedures do not apply or may be doing harm.</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In other words, workers are trained to do their jobs in an efficient way to meet organizational goals while </a:t>
            </a:r>
            <a:pPr indent="0" marL="0">
              <a:lnSpc>
                <a:spcPct val="115000"/>
              </a:lnSpc>
              <a:buNone/>
            </a:pPr>
            <a:r>
              <a:rPr lang="en-US" sz="2150" b="1" u="sng" dirty="0">
                <a:solidFill>
                  <a:srgbClr val="1E2B2A"/>
                </a:solidFill>
              </a:rPr>
              <a:t>③ignoring</a:t>
            </a:r>
            <a:pPr indent="0" marL="0">
              <a:lnSpc>
                <a:spcPct val="115000"/>
              </a:lnSpc>
              <a:buNone/>
            </a:pPr>
            <a:r>
              <a:rPr lang="en-US" sz="2150" dirty="0">
                <a:solidFill>
                  <a:srgbClr val="1E2B2A"/>
                </a:solidFill>
              </a:rPr>
              <a:t> other important matters related to their health, the community, and the environment.</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At the root of trained incapacity is a job with little variety and </a:t>
            </a:r>
            <a:pPr indent="0" marL="0">
              <a:lnSpc>
                <a:spcPct val="115000"/>
              </a:lnSpc>
              <a:buNone/>
            </a:pPr>
            <a:r>
              <a:rPr lang="en-US" sz="2150" b="1" u="sng" dirty="0">
                <a:solidFill>
                  <a:srgbClr val="1E2B2A"/>
                </a:solidFill>
              </a:rPr>
              <a:t>④repetitive</a:t>
            </a:r>
            <a:pPr indent="0" marL="0">
              <a:lnSpc>
                <a:spcPct val="115000"/>
              </a:lnSpc>
              <a:buNone/>
            </a:pPr>
            <a:r>
              <a:rPr lang="en-US" sz="2150" dirty="0">
                <a:solidFill>
                  <a:srgbClr val="1E2B2A"/>
                </a:solidFill>
              </a:rPr>
              <a:t> tasks.</a:t>
            </a:r>
            <a:pPr indent="0" marL="0">
              <a:lnSpc>
                <a:spcPct val="115000"/>
              </a:lnSpc>
              <a:buNone/>
            </a:pPr>
            <a:r>
              <a:rPr lang="en-US" sz="2150" dirty="0">
                <a:solidFill>
                  <a:srgbClr val="000000"/>
                </a:solidFill>
              </a:rPr>
              <a:t> </a:t>
            </a:r>
            <a:pPr indent="0" marL="0">
              <a:lnSpc>
                <a:spcPct val="115000"/>
              </a:lnSpc>
              <a:buNone/>
            </a:pPr>
            <a:r>
              <a:rPr lang="en-US" sz="2150" dirty="0">
                <a:solidFill>
                  <a:srgbClr val="1E2B2A"/>
                </a:solidFill>
              </a:rPr>
              <a:t>Economist Thorstein Veblen argues that as variety in work </a:t>
            </a:r>
            <a:pPr indent="0" marL="0">
              <a:lnSpc>
                <a:spcPct val="115000"/>
              </a:lnSpc>
              <a:buNone/>
            </a:pPr>
            <a:r>
              <a:rPr lang="en-US" sz="2150" b="1" u="sng" dirty="0">
                <a:solidFill>
                  <a:srgbClr val="1E2B2A"/>
                </a:solidFill>
              </a:rPr>
              <a:t>⑤increases</a:t>
            </a:r>
            <a:pPr indent="0" marL="0">
              <a:lnSpc>
                <a:spcPct val="115000"/>
              </a:lnSpc>
              <a:buNone/>
            </a:pPr>
            <a:r>
              <a:rPr lang="en-US" sz="2150" dirty="0">
                <a:solidFill>
                  <a:srgbClr val="1E2B2A"/>
                </a:solidFill>
              </a:rPr>
              <a:t>, the amount of thought and time needed to perform a job also decreases.</a:t>
            </a:r>
            <a:endParaRPr lang="en-US" sz="2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정답 근거 &amp; 문법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근거</a:t>
            </a:r>
            <a:endParaRPr lang="en-US" sz="1200" dirty="0"/>
          </a:p>
        </p:txBody>
      </p:sp>
      <p:sp>
        <p:nvSpPr>
          <p:cNvPr id="4" name="Shape 2"/>
          <p:cNvSpPr/>
          <p:nvPr/>
        </p:nvSpPr>
        <p:spPr>
          <a:xfrm>
            <a:off x="548640" y="1234440"/>
            <a:ext cx="11064240" cy="3977640"/>
          </a:xfrm>
          <a:prstGeom prst="roundRect">
            <a:avLst>
              <a:gd name="adj" fmla="val 2299"/>
            </a:avLst>
          </a:prstGeom>
          <a:solidFill>
            <a:srgbClr val="FFFFFF"/>
          </a:solidFill>
          <a:ln w="19050">
            <a:solidFill>
              <a:srgbClr val="E6F2ED"/>
            </a:solidFill>
            <a:prstDash val="solid"/>
          </a:ln>
        </p:spPr>
      </p:sp>
      <p:sp>
        <p:nvSpPr>
          <p:cNvPr id="5" name="Text 3"/>
          <p:cNvSpPr txBox="1"/>
          <p:nvPr/>
        </p:nvSpPr>
        <p:spPr>
          <a:xfrm>
            <a:off x="777240" y="1371600"/>
            <a:ext cx="10607040" cy="374904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Formal organizations such as </a:t>
            </a:r>
            <a:pPr indent="0" marL="0">
              <a:lnSpc>
                <a:spcPct val="120000"/>
              </a:lnSpc>
              <a:buNone/>
            </a:pPr>
            <a:r>
              <a:rPr lang="en-US" sz="1800" u="dotted" dirty="0">
                <a:solidFill>
                  <a:srgbClr val="1F7A64"/>
                </a:solidFill>
                <a:uFill>
                  <a:solidFill>
                    <a:srgbClr val="1F7A64"/>
                  </a:solidFill>
                </a:uFill>
              </a:rPr>
              <a:t>multinational</a:t>
            </a:r>
            <a:pPr indent="0" marL="0">
              <a:lnSpc>
                <a:spcPct val="120000"/>
              </a:lnSpc>
              <a:buNone/>
            </a:pPr>
            <a:r>
              <a:rPr lang="en-US" sz="1800" dirty="0">
                <a:solidFill>
                  <a:srgbClr val="1E2B2A"/>
                </a:solidFill>
              </a:rPr>
              <a:t> corporations </a:t>
            </a:r>
            <a:pPr indent="0" marL="0">
              <a:lnSpc>
                <a:spcPct val="120000"/>
              </a:lnSpc>
              <a:buNone/>
            </a:pPr>
            <a:r>
              <a:rPr lang="en-US" sz="1800" b="1" dirty="0">
                <a:solidFill>
                  <a:srgbClr val="2C7DA0"/>
                </a:solidFill>
              </a:rPr>
              <a:t>train workers to perform their jobs</a:t>
            </a:r>
            <a:pPr indent="0" marL="0">
              <a:lnSpc>
                <a:spcPct val="120000"/>
              </a:lnSpc>
              <a:buNone/>
            </a:pPr>
            <a:r>
              <a:rPr lang="en-US" sz="1800" dirty="0">
                <a:solidFill>
                  <a:srgbClr val="1E2B2A"/>
                </a:solidFill>
              </a:rPr>
              <a:t> in a certain way and reward them for good </a:t>
            </a:r>
            <a:pPr indent="0" marL="0">
              <a:lnSpc>
                <a:spcPct val="120000"/>
              </a:lnSpc>
              <a:buNone/>
            </a:pPr>
            <a:r>
              <a:rPr lang="en-US" sz="1800" b="1" u="sng" dirty="0">
                <a:solidFill>
                  <a:srgbClr val="1E2B2A"/>
                </a:solidFill>
              </a:rPr>
              <a:t>①performance</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workers are trained to respond </a:t>
            </a:r>
            <a:pPr indent="0" marL="0">
              <a:lnSpc>
                <a:spcPct val="120000"/>
              </a:lnSpc>
              <a:buNone/>
            </a:pPr>
            <a:r>
              <a:rPr lang="en-US" sz="1800" b="1" u="sng" dirty="0">
                <a:solidFill>
                  <a:srgbClr val="1E2B2A"/>
                </a:solidFill>
              </a:rPr>
              <a:t>②mindlessly</a:t>
            </a:r>
            <a:pPr indent="0" marL="0">
              <a:lnSpc>
                <a:spcPct val="120000"/>
              </a:lnSpc>
              <a:buNone/>
            </a:pPr>
            <a:r>
              <a:rPr lang="en-US" sz="1800" dirty="0">
                <a:solidFill>
                  <a:srgbClr val="1E2B2A"/>
                </a:solidFill>
              </a:rPr>
              <a:t> to the </a:t>
            </a:r>
            <a:pPr indent="0" marL="0">
              <a:lnSpc>
                <a:spcPct val="120000"/>
              </a:lnSpc>
              <a:buNone/>
            </a:pPr>
            <a:r>
              <a:rPr lang="en-US" sz="1800" u="dotted" dirty="0">
                <a:solidFill>
                  <a:srgbClr val="1F7A64"/>
                </a:solidFill>
                <a:uFill>
                  <a:solidFill>
                    <a:srgbClr val="1F7A64"/>
                  </a:solidFill>
                </a:uFill>
              </a:rPr>
              <a:t>dictates</a:t>
            </a:r>
            <a:pPr indent="0" marL="0">
              <a:lnSpc>
                <a:spcPct val="120000"/>
              </a:lnSpc>
              <a:buNone/>
            </a:pPr>
            <a:r>
              <a:rPr lang="en-US" sz="1800" dirty="0">
                <a:solidFill>
                  <a:srgbClr val="1E2B2A"/>
                </a:solidFill>
              </a:rPr>
              <a:t> of the job, however, </a:t>
            </a:r>
            <a:pPr indent="0" marL="0">
              <a:lnSpc>
                <a:spcPct val="120000"/>
              </a:lnSpc>
              <a:buNone/>
            </a:pPr>
            <a:r>
              <a:rPr lang="en-US" sz="1800" b="1" dirty="0">
                <a:solidFill>
                  <a:srgbClr val="2C7DA0"/>
                </a:solidFill>
              </a:rPr>
              <a:t>they risk developing trained </a:t>
            </a:r>
            <a:pPr indent="0" marL="0">
              <a:lnSpc>
                <a:spcPct val="120000"/>
              </a:lnSpc>
              <a:buNone/>
            </a:pPr>
            <a:r>
              <a:rPr lang="en-US" sz="1800" b="1" u="dotted" dirty="0">
                <a:solidFill>
                  <a:srgbClr val="2C7DA0"/>
                </a:solidFill>
                <a:uFill>
                  <a:solidFill>
                    <a:srgbClr val="1F7A64"/>
                  </a:solidFill>
                </a:uFill>
              </a:rPr>
              <a:t>incapacity</a:t>
            </a:r>
            <a:pPr indent="0" marL="0">
              <a:lnSpc>
                <a:spcPct val="120000"/>
              </a:lnSpc>
              <a:buNone/>
            </a:pPr>
            <a:r>
              <a:rPr lang="en-US" sz="1800" dirty="0">
                <a:solidFill>
                  <a:srgbClr val="1E2B2A"/>
                </a:solidFill>
              </a:rPr>
              <a:t>—the inability to respond to new or unusual circumstances or to recognize when official rules or </a:t>
            </a:r>
            <a:pPr indent="0" marL="0">
              <a:lnSpc>
                <a:spcPct val="120000"/>
              </a:lnSpc>
              <a:buNone/>
            </a:pPr>
            <a:r>
              <a:rPr lang="en-US" sz="1800" u="dotted" dirty="0">
                <a:solidFill>
                  <a:srgbClr val="1F7A64"/>
                </a:solidFill>
                <a:uFill>
                  <a:solidFill>
                    <a:srgbClr val="1F7A64"/>
                  </a:solidFill>
                </a:uFill>
              </a:rPr>
              <a:t>procedures</a:t>
            </a:r>
            <a:pPr indent="0" marL="0">
              <a:lnSpc>
                <a:spcPct val="120000"/>
              </a:lnSpc>
              <a:buNone/>
            </a:pPr>
            <a:r>
              <a:rPr lang="en-US" sz="1800" dirty="0">
                <a:solidFill>
                  <a:srgbClr val="1E2B2A"/>
                </a:solidFill>
              </a:rPr>
              <a:t> do not apply or may be doing harm.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In other words, workers are trained to do their jobs in an </a:t>
            </a:r>
            <a:pPr indent="0" marL="0">
              <a:lnSpc>
                <a:spcPct val="120000"/>
              </a:lnSpc>
              <a:buNone/>
            </a:pPr>
            <a:r>
              <a:rPr lang="en-US" sz="1800" u="dotted" dirty="0">
                <a:solidFill>
                  <a:srgbClr val="1F7A64"/>
                </a:solidFill>
                <a:uFill>
                  <a:solidFill>
                    <a:srgbClr val="1F7A64"/>
                  </a:solidFill>
                </a:uFill>
              </a:rPr>
              <a:t>efficient</a:t>
            </a:r>
            <a:pPr indent="0" marL="0">
              <a:lnSpc>
                <a:spcPct val="120000"/>
              </a:lnSpc>
              <a:buNone/>
            </a:pPr>
            <a:r>
              <a:rPr lang="en-US" sz="1800" dirty="0">
                <a:solidFill>
                  <a:srgbClr val="1E2B2A"/>
                </a:solidFill>
              </a:rPr>
              <a:t> way to meet organizational goals while </a:t>
            </a:r>
            <a:pPr indent="0" marL="0">
              <a:lnSpc>
                <a:spcPct val="120000"/>
              </a:lnSpc>
              <a:buNone/>
            </a:pPr>
            <a:r>
              <a:rPr lang="en-US" sz="1800" b="1" u="sng" dirty="0">
                <a:solidFill>
                  <a:srgbClr val="1E2B2A"/>
                </a:solidFill>
              </a:rPr>
              <a:t>③ignoring</a:t>
            </a:r>
            <a:pPr indent="0" marL="0">
              <a:lnSpc>
                <a:spcPct val="120000"/>
              </a:lnSpc>
              <a:buNone/>
            </a:pPr>
            <a:r>
              <a:rPr lang="en-US" sz="1800" dirty="0">
                <a:solidFill>
                  <a:srgbClr val="1E2B2A"/>
                </a:solidFill>
              </a:rPr>
              <a:t> other important matters related to their health, the community, and the environment.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b="1" dirty="0">
                <a:solidFill>
                  <a:srgbClr val="2C7DA0"/>
                </a:solidFill>
                <a:highlight>
                  <a:srgbClr val="FFD45C"/>
                </a:highlight>
              </a:rPr>
              <a:t>At the root of trained incapacity is a job</a:t>
            </a:r>
            <a:pPr indent="0" marL="0">
              <a:lnSpc>
                <a:spcPct val="120000"/>
              </a:lnSpc>
              <a:buNone/>
            </a:pPr>
            <a:r>
              <a:rPr lang="en-US" sz="1800" dirty="0">
                <a:solidFill>
                  <a:srgbClr val="1E2B2A"/>
                </a:solidFill>
                <a:highlight>
                  <a:srgbClr val="FFD45C"/>
                </a:highlight>
              </a:rPr>
              <a:t> with little variety and </a:t>
            </a:r>
            <a:pPr indent="0" marL="0">
              <a:lnSpc>
                <a:spcPct val="120000"/>
              </a:lnSpc>
              <a:buNone/>
            </a:pPr>
            <a:r>
              <a:rPr lang="en-US" sz="1800" b="1" u="sng" dirty="0">
                <a:solidFill>
                  <a:srgbClr val="1E2B2A"/>
                </a:solidFill>
                <a:highlight>
                  <a:srgbClr val="FFD45C"/>
                </a:highlight>
              </a:rPr>
              <a:t>④repetitive</a:t>
            </a:r>
            <a:pPr indent="0" marL="0">
              <a:lnSpc>
                <a:spcPct val="120000"/>
              </a:lnSpc>
              <a:buNone/>
            </a:pPr>
            <a:r>
              <a:rPr lang="en-US" sz="1800" dirty="0">
                <a:solidFill>
                  <a:srgbClr val="1E2B2A"/>
                </a:solidFill>
                <a:highlight>
                  <a:srgbClr val="FFD45C"/>
                </a:highlight>
              </a:rPr>
              <a:t> tasks.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Economist Thorstein Veblen argues that as variety in work </a:t>
            </a:r>
            <a:pPr indent="0" marL="0">
              <a:lnSpc>
                <a:spcPct val="120000"/>
              </a:lnSpc>
              <a:buNone/>
            </a:pPr>
            <a:r>
              <a:rPr lang="en-US" sz="1800" b="1" u="sng" dirty="0">
                <a:solidFill>
                  <a:srgbClr val="1E2B2A"/>
                </a:solidFill>
                <a:highlight>
                  <a:srgbClr val="FFD45C"/>
                </a:highlight>
              </a:rPr>
              <a:t>⑤increases</a:t>
            </a:r>
            <a:pPr indent="0" marL="0">
              <a:lnSpc>
                <a:spcPct val="120000"/>
              </a:lnSpc>
              <a:buNone/>
            </a:pPr>
            <a:r>
              <a:rPr lang="en-US" sz="1800" dirty="0">
                <a:solidFill>
                  <a:srgbClr val="1E2B2A"/>
                </a:solidFill>
                <a:highlight>
                  <a:srgbClr val="FFD45C"/>
                </a:highlight>
              </a:rPr>
              <a:t>, </a:t>
            </a:r>
            <a:pPr indent="0" marL="0">
              <a:lnSpc>
                <a:spcPct val="120000"/>
              </a:lnSpc>
              <a:buNone/>
            </a:pPr>
            <a:r>
              <a:rPr lang="en-US" sz="1800" b="1" dirty="0">
                <a:solidFill>
                  <a:srgbClr val="2C7DA0"/>
                </a:solidFill>
                <a:highlight>
                  <a:srgbClr val="FFD45C"/>
                </a:highlight>
              </a:rPr>
              <a:t>the amount of thought and time needed to perform a job also decreases</a:t>
            </a:r>
            <a:pPr indent="0" marL="0">
              <a:lnSpc>
                <a:spcPct val="120000"/>
              </a:lnSpc>
              <a:buNone/>
            </a:pPr>
            <a:r>
              <a:rPr lang="en-US" sz="1800" dirty="0">
                <a:solidFill>
                  <a:srgbClr val="1E2B2A"/>
                </a:solidFill>
                <a:highlight>
                  <a:srgbClr val="FFD45C"/>
                </a:highlight>
              </a:rPr>
              <a:t>.</a:t>
            </a:r>
            <a:endParaRPr lang="en-US" sz="1500" dirty="0"/>
          </a:p>
        </p:txBody>
      </p:sp>
      <p:sp>
        <p:nvSpPr>
          <p:cNvPr id="6" name="Shape 4"/>
          <p:cNvSpPr/>
          <p:nvPr/>
        </p:nvSpPr>
        <p:spPr>
          <a:xfrm>
            <a:off x="548640" y="5303520"/>
            <a:ext cx="11064240" cy="731520"/>
          </a:xfrm>
          <a:prstGeom prst="roundRect">
            <a:avLst>
              <a:gd name="adj" fmla="val 12500"/>
            </a:avLst>
          </a:prstGeom>
          <a:solidFill>
            <a:srgbClr val="EAF5EF"/>
          </a:solidFill>
          <a:ln w="12700">
            <a:solidFill>
              <a:srgbClr val="CFE6D9"/>
            </a:solidFill>
            <a:prstDash val="solid"/>
          </a:ln>
        </p:spPr>
      </p:sp>
      <p:sp>
        <p:nvSpPr>
          <p:cNvPr id="7" name="Text 5"/>
          <p:cNvSpPr txBox="1"/>
          <p:nvPr/>
        </p:nvSpPr>
        <p:spPr>
          <a:xfrm>
            <a:off x="731520" y="5349240"/>
            <a:ext cx="10698480" cy="640080"/>
          </a:xfrm>
          <a:prstGeom prst="rect">
            <a:avLst/>
          </a:prstGeom>
          <a:noFill/>
          <a:ln/>
        </p:spPr>
        <p:txBody>
          <a:bodyPr wrap="square" lIns="0" tIns="0" rIns="0" bIns="0" rtlCol="0" anchor="ctr">
            <a:normAutofit/>
          </a:bodyPr>
          <a:lstStyle/>
          <a:p>
            <a:pPr indent="0" marL="0">
              <a:lnSpc>
                <a:spcPct val="110000"/>
              </a:lnSpc>
              <a:buNone/>
            </a:pPr>
            <a:r>
              <a:rPr lang="en-US" sz="1400" b="1" dirty="0">
                <a:solidFill>
                  <a:srgbClr val="FFFFFF"/>
                </a:solidFill>
                <a:highlight>
                  <a:srgbClr val="1F7A64"/>
                </a:highlight>
              </a:rPr>
              <a:t> 어휘 </a:t>
            </a:r>
            <a:pPr indent="0" marL="0">
              <a:lnSpc>
                <a:spcPct val="110000"/>
              </a:lnSpc>
              <a:buNone/>
            </a:pPr>
            <a:r>
              <a:rPr lang="en-US" sz="1400" dirty="0">
                <a:solidFill>
                  <a:srgbClr val="000000"/>
                </a:solidFill>
              </a:rPr>
              <a:t>   </a:t>
            </a:r>
            <a:pPr indent="0" marL="0">
              <a:lnSpc>
                <a:spcPct val="110000"/>
              </a:lnSpc>
              <a:buNone/>
            </a:pPr>
            <a:r>
              <a:rPr lang="en-US" sz="1400" b="1" dirty="0">
                <a:solidFill>
                  <a:srgbClr val="1F7A64"/>
                </a:solidFill>
              </a:rPr>
              <a:t>multinational </a:t>
            </a:r>
            <a:pPr indent="0" marL="0">
              <a:lnSpc>
                <a:spcPct val="110000"/>
              </a:lnSpc>
              <a:buNone/>
            </a:pPr>
            <a:r>
              <a:rPr lang="en-US" sz="1400" dirty="0">
                <a:solidFill>
                  <a:srgbClr val="1E2B2A"/>
                </a:solidFill>
              </a:rPr>
              <a:t>다국적의   ·   </a:t>
            </a:r>
            <a:pPr indent="0" marL="0">
              <a:lnSpc>
                <a:spcPct val="110000"/>
              </a:lnSpc>
              <a:buNone/>
            </a:pPr>
            <a:r>
              <a:rPr lang="en-US" sz="1400" b="1" dirty="0">
                <a:solidFill>
                  <a:srgbClr val="1F7A64"/>
                </a:solidFill>
              </a:rPr>
              <a:t>dictates </a:t>
            </a:r>
            <a:pPr indent="0" marL="0">
              <a:lnSpc>
                <a:spcPct val="110000"/>
              </a:lnSpc>
              <a:buNone/>
            </a:pPr>
            <a:r>
              <a:rPr lang="en-US" sz="1400" dirty="0">
                <a:solidFill>
                  <a:srgbClr val="1E2B2A"/>
                </a:solidFill>
              </a:rPr>
              <a:t>지시   ·   </a:t>
            </a:r>
            <a:pPr indent="0" marL="0">
              <a:lnSpc>
                <a:spcPct val="110000"/>
              </a:lnSpc>
              <a:buNone/>
            </a:pPr>
            <a:r>
              <a:rPr lang="en-US" sz="1400" b="1" dirty="0">
                <a:solidFill>
                  <a:srgbClr val="1F7A64"/>
                </a:solidFill>
              </a:rPr>
              <a:t>incapacity </a:t>
            </a:r>
            <a:pPr indent="0" marL="0">
              <a:lnSpc>
                <a:spcPct val="110000"/>
              </a:lnSpc>
              <a:buNone/>
            </a:pPr>
            <a:r>
              <a:rPr lang="en-US" sz="1400" dirty="0">
                <a:solidFill>
                  <a:srgbClr val="1E2B2A"/>
                </a:solidFill>
              </a:rPr>
              <a:t>무능   ·   </a:t>
            </a:r>
            <a:pPr indent="0" marL="0">
              <a:lnSpc>
                <a:spcPct val="110000"/>
              </a:lnSpc>
              <a:buNone/>
            </a:pPr>
            <a:r>
              <a:rPr lang="en-US" sz="1400" b="1" dirty="0">
                <a:solidFill>
                  <a:srgbClr val="1F7A64"/>
                </a:solidFill>
              </a:rPr>
              <a:t>procedures </a:t>
            </a:r>
            <a:pPr indent="0" marL="0">
              <a:lnSpc>
                <a:spcPct val="110000"/>
              </a:lnSpc>
              <a:buNone/>
            </a:pPr>
            <a:r>
              <a:rPr lang="en-US" sz="1400" dirty="0">
                <a:solidFill>
                  <a:srgbClr val="1E2B2A"/>
                </a:solidFill>
              </a:rPr>
              <a:t>절차   ·   </a:t>
            </a:r>
            <a:pPr indent="0" marL="0">
              <a:lnSpc>
                <a:spcPct val="110000"/>
              </a:lnSpc>
              <a:buNone/>
            </a:pPr>
            <a:r>
              <a:rPr lang="en-US" sz="1400" b="1" dirty="0">
                <a:solidFill>
                  <a:srgbClr val="1F7A64"/>
                </a:solidFill>
              </a:rPr>
              <a:t>efficient </a:t>
            </a:r>
            <a:pPr indent="0" marL="0">
              <a:lnSpc>
                <a:spcPct val="110000"/>
              </a:lnSpc>
              <a:buNone/>
            </a:pPr>
            <a:r>
              <a:rPr lang="en-US" sz="1400" dirty="0">
                <a:solidFill>
                  <a:srgbClr val="1E2B2A"/>
                </a:solidFill>
              </a:rPr>
              <a:t>효율적인</a:t>
            </a:r>
            <a:endParaRPr lang="en-US" sz="1400" dirty="0"/>
          </a:p>
        </p:txBody>
      </p:sp>
      <p:sp>
        <p:nvSpPr>
          <p:cNvPr id="8"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rgbClr val="6E7F7C"/>
                </a:solidFill>
              </a:rPr>
              <a:t>형광 = 정답 근거 문장     </a:t>
            </a:r>
            <a:pPr indent="0" marL="0">
              <a:buNone/>
            </a:pPr>
            <a:r>
              <a:rPr lang="en-US" sz="1100" b="1" dirty="0">
                <a:solidFill>
                  <a:srgbClr val="2C7DA0"/>
                </a:solidFill>
              </a:rPr>
              <a:t>파란 굵은 글씨 </a:t>
            </a:r>
            <a:pPr indent="0" marL="0">
              <a:buNone/>
            </a:pPr>
            <a:r>
              <a:rPr lang="en-US" sz="1100" dirty="0">
                <a:solidFill>
                  <a:srgbClr val="6E7F7C"/>
                </a:solidFill>
              </a:rPr>
              <a:t>= 문법·내신 포인트     </a:t>
            </a:r>
            <a:pPr indent="0" marL="0">
              <a:buNone/>
            </a:pPr>
            <a:r>
              <a:rPr lang="en-US" sz="1100" b="1" dirty="0">
                <a:solidFill>
                  <a:srgbClr val="1F7A64"/>
                </a:solidFill>
              </a:rPr>
              <a:t>초록 점선 단어 </a:t>
            </a:r>
            <a:pPr indent="0" marL="0">
              <a:buNone/>
            </a:pPr>
            <a:r>
              <a:rPr lang="en-US" sz="1100" dirty="0">
                <a:solidFill>
                  <a:srgbClr val="6E7F7C"/>
                </a:solidFill>
              </a:rPr>
              <a:t>= 하단 어휘     </a:t>
            </a:r>
            <a:pPr indent="0" marL="0">
              <a:buNone/>
            </a:pPr>
            <a:r>
              <a:rPr lang="en-US" sz="1100" b="1" dirty="0">
                <a:solidFill>
                  <a:srgbClr val="1F7A64"/>
                </a:solidFill>
              </a:rPr>
              <a:t>(1) (2) (3) </a:t>
            </a:r>
            <a:pPr indent="0" marL="0">
              <a:buNone/>
            </a:pPr>
            <a:r>
              <a:rPr lang="en-US" sz="1100" dirty="0">
                <a:solidFill>
                  <a:srgbClr val="6E7F7C"/>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문법·내신 포인트</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문법</a:t>
            </a:r>
            <a:endParaRPr lang="en-US" sz="1200" dirty="0"/>
          </a:p>
        </p:txBody>
      </p:sp>
      <p:sp>
        <p:nvSpPr>
          <p:cNvPr id="4" name="Shape 2"/>
          <p:cNvSpPr/>
          <p:nvPr/>
        </p:nvSpPr>
        <p:spPr>
          <a:xfrm>
            <a:off x="548640" y="1280160"/>
            <a:ext cx="11064240" cy="1051560"/>
          </a:xfrm>
          <a:prstGeom prst="roundRect">
            <a:avLst>
              <a:gd name="adj" fmla="val 8696"/>
            </a:avLst>
          </a:prstGeom>
          <a:solidFill>
            <a:srgbClr val="EAF3F7"/>
          </a:solidFill>
          <a:ln w="12700">
            <a:solidFill>
              <a:srgbClr val="D3E5EE"/>
            </a:solidFill>
            <a:prstDash val="solid"/>
          </a:ln>
        </p:spPr>
      </p:sp>
      <p:sp>
        <p:nvSpPr>
          <p:cNvPr id="5" name="Text 3"/>
          <p:cNvSpPr txBox="1"/>
          <p:nvPr/>
        </p:nvSpPr>
        <p:spPr>
          <a:xfrm>
            <a:off x="822960" y="1371600"/>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train workers to perform their jobs</a:t>
            </a:r>
            <a:endParaRPr lang="en-US" sz="1500" dirty="0"/>
          </a:p>
        </p:txBody>
      </p:sp>
      <p:sp>
        <p:nvSpPr>
          <p:cNvPr id="6" name="Text 4"/>
          <p:cNvSpPr txBox="1"/>
          <p:nvPr/>
        </p:nvSpPr>
        <p:spPr>
          <a:xfrm>
            <a:off x="6400800" y="1353312"/>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train O to V</a:t>
            </a:r>
            <a:endParaRPr lang="en-US" sz="1700" dirty="0"/>
          </a:p>
          <a:p>
            <a:pPr indent="0" marL="0">
              <a:spcAft>
                <a:spcPts val="200"/>
              </a:spcAft>
              <a:buNone/>
            </a:pPr>
            <a:r>
              <a:rPr lang="en-US" sz="1400" dirty="0">
                <a:solidFill>
                  <a:srgbClr val="1E2B2A"/>
                </a:solidFill>
              </a:rPr>
              <a:t>목적격 보어 to부정사</a:t>
            </a:r>
            <a:endParaRPr lang="en-US" sz="1700" dirty="0"/>
          </a:p>
        </p:txBody>
      </p:sp>
      <p:sp>
        <p:nvSpPr>
          <p:cNvPr id="7" name="Shape 5"/>
          <p:cNvSpPr/>
          <p:nvPr/>
        </p:nvSpPr>
        <p:spPr>
          <a:xfrm>
            <a:off x="548640" y="2441448"/>
            <a:ext cx="11064240" cy="1051560"/>
          </a:xfrm>
          <a:prstGeom prst="roundRect">
            <a:avLst>
              <a:gd name="adj" fmla="val 8696"/>
            </a:avLst>
          </a:prstGeom>
          <a:solidFill>
            <a:srgbClr val="FFFFFF"/>
          </a:solidFill>
          <a:ln w="12700">
            <a:solidFill>
              <a:srgbClr val="D3E5EE"/>
            </a:solidFill>
            <a:prstDash val="solid"/>
          </a:ln>
        </p:spPr>
      </p:sp>
      <p:sp>
        <p:nvSpPr>
          <p:cNvPr id="8" name="Text 6"/>
          <p:cNvSpPr txBox="1"/>
          <p:nvPr/>
        </p:nvSpPr>
        <p:spPr>
          <a:xfrm>
            <a:off x="822960" y="2532888"/>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they risk developing trained incapacity</a:t>
            </a:r>
            <a:endParaRPr lang="en-US" sz="1500" dirty="0"/>
          </a:p>
        </p:txBody>
      </p:sp>
      <p:sp>
        <p:nvSpPr>
          <p:cNvPr id="9" name="Text 7"/>
          <p:cNvSpPr txBox="1"/>
          <p:nvPr/>
        </p:nvSpPr>
        <p:spPr>
          <a:xfrm>
            <a:off x="6400800" y="2514600"/>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risk -ing</a:t>
            </a:r>
            <a:endParaRPr lang="en-US" sz="1700" dirty="0"/>
          </a:p>
          <a:p>
            <a:pPr indent="0" marL="0">
              <a:spcAft>
                <a:spcPts val="200"/>
              </a:spcAft>
              <a:buNone/>
            </a:pPr>
            <a:r>
              <a:rPr lang="en-US" sz="1400" dirty="0">
                <a:solidFill>
                  <a:srgbClr val="1E2B2A"/>
                </a:solidFill>
              </a:rPr>
              <a:t>~할 위험이 있다</a:t>
            </a:r>
            <a:endParaRPr lang="en-US" sz="1700" dirty="0"/>
          </a:p>
        </p:txBody>
      </p:sp>
      <p:sp>
        <p:nvSpPr>
          <p:cNvPr id="10" name="Shape 8"/>
          <p:cNvSpPr/>
          <p:nvPr/>
        </p:nvSpPr>
        <p:spPr>
          <a:xfrm>
            <a:off x="548640" y="3602736"/>
            <a:ext cx="11064240" cy="1051560"/>
          </a:xfrm>
          <a:prstGeom prst="roundRect">
            <a:avLst>
              <a:gd name="adj" fmla="val 8696"/>
            </a:avLst>
          </a:prstGeom>
          <a:solidFill>
            <a:srgbClr val="EAF3F7"/>
          </a:solidFill>
          <a:ln w="12700">
            <a:solidFill>
              <a:srgbClr val="D3E5EE"/>
            </a:solidFill>
            <a:prstDash val="solid"/>
          </a:ln>
        </p:spPr>
      </p:sp>
      <p:sp>
        <p:nvSpPr>
          <p:cNvPr id="11" name="Text 9"/>
          <p:cNvSpPr txBox="1"/>
          <p:nvPr/>
        </p:nvSpPr>
        <p:spPr>
          <a:xfrm>
            <a:off x="822960" y="3694176"/>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At the root of trained incapacity is a job</a:t>
            </a:r>
            <a:endParaRPr lang="en-US" sz="1500" dirty="0"/>
          </a:p>
        </p:txBody>
      </p:sp>
      <p:sp>
        <p:nvSpPr>
          <p:cNvPr id="12" name="Text 10"/>
          <p:cNvSpPr txBox="1"/>
          <p:nvPr/>
        </p:nvSpPr>
        <p:spPr>
          <a:xfrm>
            <a:off x="6400800" y="3675888"/>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부사구 도치</a:t>
            </a:r>
            <a:endParaRPr lang="en-US" sz="1700" dirty="0"/>
          </a:p>
          <a:p>
            <a:pPr indent="0" marL="0">
              <a:spcAft>
                <a:spcPts val="200"/>
              </a:spcAft>
              <a:buNone/>
            </a:pPr>
            <a:r>
              <a:rPr lang="en-US" sz="1400" dirty="0">
                <a:solidFill>
                  <a:srgbClr val="1E2B2A"/>
                </a:solidFill>
              </a:rPr>
              <a:t>주어 a job (단수) → is</a:t>
            </a:r>
            <a:endParaRPr lang="en-US" sz="1700" dirty="0"/>
          </a:p>
        </p:txBody>
      </p:sp>
      <p:sp>
        <p:nvSpPr>
          <p:cNvPr id="13" name="Shape 11"/>
          <p:cNvSpPr/>
          <p:nvPr/>
        </p:nvSpPr>
        <p:spPr>
          <a:xfrm>
            <a:off x="548640" y="4764024"/>
            <a:ext cx="11064240" cy="1051560"/>
          </a:xfrm>
          <a:prstGeom prst="roundRect">
            <a:avLst>
              <a:gd name="adj" fmla="val 8696"/>
            </a:avLst>
          </a:prstGeom>
          <a:solidFill>
            <a:srgbClr val="FFFFFF"/>
          </a:solidFill>
          <a:ln w="12700">
            <a:solidFill>
              <a:srgbClr val="D3E5EE"/>
            </a:solidFill>
            <a:prstDash val="solid"/>
          </a:ln>
        </p:spPr>
      </p:sp>
      <p:sp>
        <p:nvSpPr>
          <p:cNvPr id="14" name="Text 12"/>
          <p:cNvSpPr txBox="1"/>
          <p:nvPr/>
        </p:nvSpPr>
        <p:spPr>
          <a:xfrm>
            <a:off x="822960" y="4855464"/>
            <a:ext cx="5303520" cy="868680"/>
          </a:xfrm>
          <a:prstGeom prst="rect">
            <a:avLst/>
          </a:prstGeom>
          <a:noFill/>
          <a:ln/>
        </p:spPr>
        <p:txBody>
          <a:bodyPr wrap="square" lIns="0" tIns="0" rIns="0" bIns="0" rtlCol="0" anchor="ctr"/>
          <a:lstStyle/>
          <a:p>
            <a:pPr indent="0" marL="0">
              <a:buNone/>
            </a:pPr>
            <a:r>
              <a:rPr lang="en-US" sz="1500" b="1" i="1" dirty="0">
                <a:solidFill>
                  <a:srgbClr val="2C7DA0"/>
                </a:solidFill>
              </a:rPr>
              <a:t>the amount of thought and time needed to perform a job also decreases</a:t>
            </a:r>
            <a:endParaRPr lang="en-US" sz="1500" dirty="0"/>
          </a:p>
        </p:txBody>
      </p:sp>
      <p:sp>
        <p:nvSpPr>
          <p:cNvPr id="15" name="Text 13"/>
          <p:cNvSpPr txBox="1"/>
          <p:nvPr/>
        </p:nvSpPr>
        <p:spPr>
          <a:xfrm>
            <a:off x="6400800" y="4837176"/>
            <a:ext cx="5029200" cy="905256"/>
          </a:xfrm>
          <a:prstGeom prst="rect">
            <a:avLst/>
          </a:prstGeom>
          <a:noFill/>
          <a:ln/>
        </p:spPr>
        <p:txBody>
          <a:bodyPr wrap="square" lIns="0" tIns="0" rIns="0" bIns="0" rtlCol="0" anchor="ctr"/>
          <a:lstStyle/>
          <a:p>
            <a:pPr indent="0" marL="0">
              <a:spcAft>
                <a:spcPts val="200"/>
              </a:spcAft>
              <a:buNone/>
            </a:pPr>
            <a:r>
              <a:rPr lang="en-US" sz="1700" b="1" dirty="0">
                <a:solidFill>
                  <a:srgbClr val="14453D"/>
                </a:solidFill>
              </a:rPr>
              <a:t>과거분사 후치 · 수일치</a:t>
            </a:r>
            <a:endParaRPr lang="en-US" sz="1700" dirty="0"/>
          </a:p>
          <a:p>
            <a:pPr indent="0" marL="0">
              <a:spcAft>
                <a:spcPts val="200"/>
              </a:spcAft>
              <a:buNone/>
            </a:pPr>
            <a:r>
              <a:rPr lang="en-US" sz="1400" dirty="0">
                <a:solidFill>
                  <a:srgbClr val="1E2B2A"/>
                </a:solidFill>
              </a:rPr>
              <a:t>time (which is) needed / 주어 the amount → decreases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rgbClr val="E6F2ED"/>
          </a:solidFill>
          <a:ln w="12700">
            <a:solidFill>
              <a:srgbClr val="E6F2ED"/>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rgbClr val="1F7A64"/>
                </a:solidFill>
              </a:rPr>
              <a:t>STEP 1 · 의심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normAutofit/>
          </a:bodyPr>
          <a:lstStyle/>
          <a:p>
            <a:pPr indent="0" marL="0">
              <a:buNone/>
            </a:pPr>
            <a:r>
              <a:rPr lang="en-US" sz="1600" b="1" i="1" dirty="0">
                <a:solidFill>
                  <a:srgbClr val="14453D"/>
                </a:solidFill>
              </a:rPr>
              <a:t>…as variety in work ⑤increases, the amount of thought and time needed to perform a job also decreases.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normAutofit/>
          </a:bodyPr>
          <a:lstStyle/>
          <a:p>
            <a:pPr indent="0" marL="0">
              <a:buNone/>
            </a:pPr>
            <a:r>
              <a:rPr lang="en-US" sz="1400" dirty="0">
                <a:solidFill>
                  <a:srgbClr val="1E2B2A"/>
                </a:solidFill>
              </a:rPr>
              <a:t>업무의 다양성이 ⑤증가할수록, 일에 필요한 생각과 시간도 감소한다 (?)</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rgbClr val="EF5B3F"/>
                </a:solidFill>
              </a:rPr>
              <a:t>찾을 것  </a:t>
            </a:r>
            <a:pPr indent="0" marL="0">
              <a:buNone/>
            </a:pPr>
            <a:r>
              <a:rPr lang="en-US" sz="1500" b="1" dirty="0">
                <a:solidFill>
                  <a:srgbClr val="14453D"/>
                </a:solidFill>
              </a:rPr>
              <a:t>업무 다양성과 '생각·시간'은 같이 늘까, 같이 줄까?</a:t>
            </a:r>
            <a:endParaRPr lang="en-US" sz="1500" dirty="0"/>
          </a:p>
        </p:txBody>
      </p:sp>
      <p:sp>
        <p:nvSpPr>
          <p:cNvPr id="9" name="Shape 7"/>
          <p:cNvSpPr/>
          <p:nvPr/>
        </p:nvSpPr>
        <p:spPr>
          <a:xfrm>
            <a:off x="548640" y="3931920"/>
            <a:ext cx="5212080" cy="2331720"/>
          </a:xfrm>
          <a:prstGeom prst="roundRect">
            <a:avLst>
              <a:gd name="adj" fmla="val 4706"/>
            </a:avLst>
          </a:prstGeom>
          <a:solidFill>
            <a:srgbClr val="FFFFFF"/>
          </a:solidFill>
          <a:ln w="19050">
            <a:solidFill>
              <a:srgbClr val="EF5B3F"/>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rgbClr val="EF5B3F"/>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rgbClr val="14453D"/>
                </a:solidFill>
              </a:rPr>
              <a:t>At the root of trained incapacity is a job with little variety and repetitive tasks.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rgbClr val="6E7F7C"/>
                </a:solidFill>
              </a:rPr>
              <a:t>근원은 다양성이 거의 없는 업무 → 다양성이 '줄어드는' 상황</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rgbClr val="1F7A64"/>
                </a:solidFill>
              </a:rPr>
              <a:t>글의 흐름</a:t>
            </a:r>
            <a:endParaRPr lang="en-US" sz="1300" dirty="0"/>
          </a:p>
        </p:txBody>
      </p:sp>
      <p:sp>
        <p:nvSpPr>
          <p:cNvPr id="15" name="Shape 12"/>
          <p:cNvSpPr/>
          <p:nvPr/>
        </p:nvSpPr>
        <p:spPr>
          <a:xfrm>
            <a:off x="6537960" y="2057400"/>
            <a:ext cx="0" cy="3511296"/>
          </a:xfrm>
          <a:prstGeom prst="line">
            <a:avLst/>
          </a:prstGeom>
          <a:noFill/>
          <a:ln w="38100">
            <a:solidFill>
              <a:srgbClr val="E6F2ED"/>
            </a:solidFill>
            <a:prstDash val="solid"/>
          </a:ln>
        </p:spPr>
      </p:sp>
      <p:sp>
        <p:nvSpPr>
          <p:cNvPr id="16" name="Text 13"/>
          <p:cNvSpPr/>
          <p:nvPr/>
        </p:nvSpPr>
        <p:spPr>
          <a:xfrm>
            <a:off x="6263640" y="178308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도입</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rgbClr val="1E2B2A"/>
                </a:solidFill>
              </a:rPr>
              <a:t>조직은 정해진 방식으로 훈련하고 좋은 성과에 보상</a:t>
            </a:r>
            <a:endParaRPr lang="en-US" sz="1400" dirty="0"/>
          </a:p>
        </p:txBody>
      </p:sp>
      <p:sp>
        <p:nvSpPr>
          <p:cNvPr id="19" name="Text 16"/>
          <p:cNvSpPr/>
          <p:nvPr/>
        </p:nvSpPr>
        <p:spPr>
          <a:xfrm>
            <a:off x="6263640" y="295351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문제</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rgbClr val="1E2B2A"/>
                </a:solidFill>
              </a:rPr>
              <a:t>생각 없이 반응 → 훈련된 무능, 다른 문제 무시</a:t>
            </a:r>
            <a:endParaRPr lang="en-US" sz="1400" dirty="0"/>
          </a:p>
        </p:txBody>
      </p:sp>
      <p:sp>
        <p:nvSpPr>
          <p:cNvPr id="22" name="Text 19"/>
          <p:cNvSpPr/>
          <p:nvPr/>
        </p:nvSpPr>
        <p:spPr>
          <a:xfrm>
            <a:off x="6263640" y="412394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원인</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 없는 반복 업무 (little variety)</a:t>
            </a:r>
            <a:endParaRPr lang="en-US" sz="1400" dirty="0"/>
          </a:p>
        </p:txBody>
      </p:sp>
      <p:sp>
        <p:nvSpPr>
          <p:cNvPr id="25" name="Text 22"/>
          <p:cNvSpPr/>
          <p:nvPr/>
        </p:nvSpPr>
        <p:spPr>
          <a:xfrm>
            <a:off x="6263640" y="5294376"/>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rgbClr val="1F7A64"/>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rgbClr val="1E2B2A"/>
                </a:solidFill>
              </a:rPr>
              <a:t>다양성이 '감소'할수록 생각·시간도 감소 → ⑤ increases ✘</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STEP 3</a:t>
            </a:r>
            <a:endParaRPr lang="en-US" sz="1200" dirty="0"/>
          </a:p>
        </p:txBody>
      </p:sp>
      <p:sp>
        <p:nvSpPr>
          <p:cNvPr id="4" name="Shape 2"/>
          <p:cNvSpPr/>
          <p:nvPr/>
        </p:nvSpPr>
        <p:spPr>
          <a:xfrm>
            <a:off x="548640" y="1325880"/>
            <a:ext cx="3749040" cy="4983480"/>
          </a:xfrm>
          <a:prstGeom prst="roundRect">
            <a:avLst>
              <a:gd name="adj" fmla="val 3659"/>
            </a:avLst>
          </a:prstGeom>
          <a:solidFill>
            <a:srgbClr val="14453D"/>
          </a:solidFill>
          <a:ln w="12700">
            <a:solidFill>
              <a:srgbClr val="14453D"/>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rgbClr val="FFD45C"/>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rgbClr val="FFFFFF"/>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rgbClr val="FFFFFF"/>
                </a:solidFill>
              </a:rPr>
              <a:t>increases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rgbClr val="E6F2ED"/>
                </a:solidFill>
              </a:rPr>
              <a:t>increases → decreases로 고쳐야 함: 다양성 감소 ↔ 생각·시간 감소</a:t>
            </a:r>
            <a:endParaRPr lang="en-US" sz="1400" dirty="0"/>
          </a:p>
        </p:txBody>
      </p:sp>
      <p:sp>
        <p:nvSpPr>
          <p:cNvPr id="9" name="Shape 7"/>
          <p:cNvSpPr/>
          <p:nvPr/>
        </p:nvSpPr>
        <p:spPr>
          <a:xfrm>
            <a:off x="4572000" y="1325880"/>
            <a:ext cx="7040880" cy="905256"/>
          </a:xfrm>
          <a:prstGeom prst="roundRect">
            <a:avLst>
              <a:gd name="adj" fmla="val 10101"/>
            </a:avLst>
          </a:prstGeom>
          <a:solidFill>
            <a:srgbClr val="FFFFFF"/>
          </a:solidFill>
          <a:ln w="12700">
            <a:solidFill>
              <a:srgbClr val="E6F2ED"/>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performance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좋은 성과에 보상 — 적절</a:t>
            </a:r>
            <a:endParaRPr lang="en-US" sz="1200" dirty="0"/>
          </a:p>
        </p:txBody>
      </p:sp>
      <p:sp>
        <p:nvSpPr>
          <p:cNvPr id="13" name="Text 11"/>
          <p:cNvSpPr/>
          <p:nvPr/>
        </p:nvSpPr>
        <p:spPr>
          <a:xfrm>
            <a:off x="10332720" y="1600200"/>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14" name="Shape 12"/>
          <p:cNvSpPr/>
          <p:nvPr/>
        </p:nvSpPr>
        <p:spPr>
          <a:xfrm>
            <a:off x="4572000" y="2340864"/>
            <a:ext cx="7040880" cy="905256"/>
          </a:xfrm>
          <a:prstGeom prst="roundRect">
            <a:avLst>
              <a:gd name="adj" fmla="val 10101"/>
            </a:avLst>
          </a:prstGeom>
          <a:solidFill>
            <a:srgbClr val="FFFFFF"/>
          </a:solidFill>
          <a:ln w="12700">
            <a:solidFill>
              <a:srgbClr val="E6F2ED"/>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mindlessly</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rgbClr val="6E7F7C"/>
                </a:solidFill>
              </a:rPr>
              <a:t>○ 생각 없이 반응 → 훈련된 무능 — 적절</a:t>
            </a:r>
            <a:endParaRPr lang="en-US" sz="1200" dirty="0"/>
          </a:p>
        </p:txBody>
      </p:sp>
      <p:sp>
        <p:nvSpPr>
          <p:cNvPr id="18" name="Text 16"/>
          <p:cNvSpPr/>
          <p:nvPr/>
        </p:nvSpPr>
        <p:spPr>
          <a:xfrm>
            <a:off x="10332720" y="2615184"/>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19" name="Shape 17"/>
          <p:cNvSpPr/>
          <p:nvPr/>
        </p:nvSpPr>
        <p:spPr>
          <a:xfrm>
            <a:off x="4572000" y="3355848"/>
            <a:ext cx="7040880" cy="905256"/>
          </a:xfrm>
          <a:prstGeom prst="roundRect">
            <a:avLst>
              <a:gd name="adj" fmla="val 10101"/>
            </a:avLst>
          </a:prstGeom>
          <a:solidFill>
            <a:srgbClr val="FFFFFF"/>
          </a:solidFill>
          <a:ln w="12700">
            <a:solidFill>
              <a:srgbClr val="E6F2ED"/>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ignoring</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rgbClr val="6E7F7C"/>
                </a:solidFill>
              </a:rPr>
              <a:t>○ 효율만 좇다 다른 문제를 무시 — 적절</a:t>
            </a:r>
            <a:endParaRPr lang="en-US" sz="1200" dirty="0"/>
          </a:p>
        </p:txBody>
      </p:sp>
      <p:sp>
        <p:nvSpPr>
          <p:cNvPr id="23" name="Text 21"/>
          <p:cNvSpPr/>
          <p:nvPr/>
        </p:nvSpPr>
        <p:spPr>
          <a:xfrm>
            <a:off x="10332720" y="3630168"/>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24" name="Shape 22"/>
          <p:cNvSpPr/>
          <p:nvPr/>
        </p:nvSpPr>
        <p:spPr>
          <a:xfrm>
            <a:off x="4572000" y="4370832"/>
            <a:ext cx="7040880" cy="905256"/>
          </a:xfrm>
          <a:prstGeom prst="roundRect">
            <a:avLst>
              <a:gd name="adj" fmla="val 10101"/>
            </a:avLst>
          </a:prstGeom>
          <a:solidFill>
            <a:srgbClr val="FFFFFF"/>
          </a:solidFill>
          <a:ln w="12700">
            <a:solidFill>
              <a:srgbClr val="E6F2ED"/>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rgbClr val="6E7F7C"/>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rgbClr val="14453D"/>
                </a:solidFill>
              </a:rPr>
              <a:t>repetitive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rgbClr val="6E7F7C"/>
                </a:solidFill>
              </a:rPr>
              <a:t>○ little variety와 짝 — 적절</a:t>
            </a:r>
            <a:endParaRPr lang="en-US" sz="1200" dirty="0"/>
          </a:p>
        </p:txBody>
      </p:sp>
      <p:sp>
        <p:nvSpPr>
          <p:cNvPr id="28" name="Text 26"/>
          <p:cNvSpPr/>
          <p:nvPr/>
        </p:nvSpPr>
        <p:spPr>
          <a:xfrm>
            <a:off x="10332720" y="4645152"/>
            <a:ext cx="1097280" cy="365760"/>
          </a:xfrm>
          <a:prstGeom prst="roundRect">
            <a:avLst>
              <a:gd name="adj" fmla="val 37500"/>
            </a:avLst>
          </a:prstGeom>
          <a:solidFill>
            <a:srgbClr val="E6F2ED"/>
          </a:solidFill>
          <a:ln/>
        </p:spPr>
        <p:txBody>
          <a:bodyPr wrap="square" lIns="0" tIns="0" rIns="0" bIns="0" rtlCol="0" anchor="ctr"/>
          <a:lstStyle/>
          <a:p>
            <a:pPr algn="ctr" indent="0" marL="0">
              <a:buNone/>
            </a:pPr>
            <a:r>
              <a:rPr lang="en-US" sz="1200" b="1" dirty="0">
                <a:solidFill>
                  <a:srgbClr val="14453D"/>
                </a:solidFill>
              </a:rPr>
              <a:t>적절</a:t>
            </a:r>
            <a:endParaRPr lang="en-US" sz="1200" dirty="0"/>
          </a:p>
        </p:txBody>
      </p:sp>
      <p:sp>
        <p:nvSpPr>
          <p:cNvPr id="29" name="Shape 27"/>
          <p:cNvSpPr/>
          <p:nvPr/>
        </p:nvSpPr>
        <p:spPr>
          <a:xfrm>
            <a:off x="4572000" y="5385816"/>
            <a:ext cx="7040880" cy="905256"/>
          </a:xfrm>
          <a:prstGeom prst="roundRect">
            <a:avLst>
              <a:gd name="adj" fmla="val 10101"/>
            </a:avLst>
          </a:prstGeom>
          <a:solidFill>
            <a:srgbClr val="F7E9E4"/>
          </a:solidFill>
          <a:ln w="25400">
            <a:solidFill>
              <a:srgbClr val="EF5B3F"/>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rgbClr val="EF5B3F"/>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rgbClr val="14453D"/>
                </a:solidFill>
              </a:rPr>
              <a:t>increases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rgbClr val="EF5B3F"/>
                </a:solidFill>
              </a:rPr>
              <a:t>✔ increases → decreases로 고쳐야 함: 다양성 감소 ↔ 생각·시간 감소</a:t>
            </a:r>
            <a:endParaRPr lang="en-US" sz="1200" dirty="0"/>
          </a:p>
        </p:txBody>
      </p:sp>
      <p:sp>
        <p:nvSpPr>
          <p:cNvPr id="33" name="Text 31"/>
          <p:cNvSpPr/>
          <p:nvPr/>
        </p:nvSpPr>
        <p:spPr>
          <a:xfrm>
            <a:off x="10332720" y="5660136"/>
            <a:ext cx="1097280" cy="365760"/>
          </a:xfrm>
          <a:prstGeom prst="roundRect">
            <a:avLst>
              <a:gd name="adj" fmla="val 37500"/>
            </a:avLst>
          </a:prstGeom>
          <a:solidFill>
            <a:srgbClr val="EF5B3F"/>
          </a:solidFill>
          <a:ln/>
        </p:spPr>
        <p:txBody>
          <a:bodyPr wrap="square" lIns="0" tIns="0" rIns="0" bIns="0" rtlCol="0" anchor="ctr"/>
          <a:lstStyle/>
          <a:p>
            <a:pPr algn="ctr" indent="0" marL="0">
              <a:buNone/>
            </a:pPr>
            <a:r>
              <a:rPr lang="en-US" sz="1200" b="1" dirty="0">
                <a:solidFill>
                  <a:srgbClr val="FFFFFF"/>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2026-10-13T08:24:15Z</dcterms:created>
  <dcterms:modified xsi:type="dcterms:W3CDTF">2026-10-13T08:24:15Z</dcterms:modified>
</cp:coreProperties>
</file>