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Lst>
  <p:notesMasterIdLst>
    <p:notesMasterId r:id="rId8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01741148-7f24-c4ae-4cf1-ff0105a5f804}">
          <p14:sldIdLst>
            <p14:sldId id="256"/>
            <p14:sldId id="257"/>
            <p14:sldId id="258"/>
          </p14:sldIdLst>
        </p14:section>
        <p14:section name="풀이 공식" id="{232be411-4568-8260-59e2-e0436d5d57ad}">
          <p14:sldIdLst>
            <p14:sldId id="259"/>
            <p14:sldId id="260"/>
          </p14:sldIdLst>
        </p14:section>
        <p14:section name="Part 1 · Ex 92–98" id="{27dcf67b-302a-31e3-52e0-5051fda93276}">
          <p14:sldIdLst>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Lst>
        </p14:section>
        <p14:section name="Part 2 · Ex 99–104" id="{213cb731-8b24-6380-b882-dff722aa0fc8}">
          <p14:sldIdLst>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Lst>
        </p14:section>
        <p14:section name="정리" id="{e4cadb5b-25c3-ea5c-bba4-105f3221de7f}">
          <p14:sldIdLst>
            <p14:sldId id="338"/>
            <p14:sldId id="339"/>
            <p14:sldId id="340"/>
            <p14:sldId id="341"/>
            <p14:sldId id="34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notesMaster" Target="notesMasters/notesMaster1.xml"/><Relationship Id="rId90" Type="http://schemas.openxmlformats.org/officeDocument/2006/relationships/presProps" Target="presProps.xml"/><Relationship Id="rId91" Type="http://schemas.openxmlformats.org/officeDocument/2006/relationships/viewProps" Target="viewProps.xml"/><Relationship Id="rId92" Type="http://schemas.openxmlformats.org/officeDocument/2006/relationships/theme" Target="theme/theme1.xml"/><Relationship Id="rId9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【인사·목표 제시】 "숙제로 풀어 온 13문제를 오늘 하나씩 해설할 거예요. 오늘의 목표는 하나, 요약문은 본문의 '다른 말(paraphrase)' 찾기!"
【시간 배분 추천】 1차시 = 채점 + 풀이 공식 + Ex 92~98, 2차시 = Ex 99~104. 한 문제당 약 8~9분(지문+보기·근거 3분 + 문법 2분 + 흐름·정답·오답 3~4분). 시간이 부족하면 문법 슬라이드는 위의 두 개만 짚고 넘어가세요.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【채점 진행】 "숙제 꺼내세요. 정답 불러 줄게요." 학생들이 스스로 채점하게 한 뒤, 문제별로 틀린 사람 손 들기 → 많이 틀린 번호를 칠판에 적어 두고 해설 때 시간을 더 쓰세요.
【정답】 92-③ 93-⑤ 94-① 95-④ 96-② 97-④ 98-① 99-② 100-④ 101-① 102-② 103-② 104-⑤
【한 줄 핵심】 92 유목 생활 유지 = 문화적 정체성 / 93 손실을 떠올리게 하는 선택지는 피한다 / 94 한 사람의 행동이 사회적 접촉으로 퍼진다 / 95 의식적 성찰 → 개인 + 집단 성취 / 96 냄새를 해석해 위험 신호를 전한다 / 97 문화별 선호 사고방식 → 다양성이 팀워크 향상 / 98 처음 제시된 것이 극단적 평가를 받는다 / 99 의지력보다 과정의 단순성 / 100 단조로운 일 → 새 상황에 대처 못 함 / 101 개인은 돕지만 큰 통계 앞에서는 무관심 / 102 두 선택지는 사실 같은 결과 / 103 질문으로 맹점 찾기 → 문제를 분명히 봄 / 104 다양성 감소 → 생각·시간도 감소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【진행 방식 안내】 "숙제로 다 풀어 왔죠? 매 문제마다 ① 지문+보기 보면서 고른 답 확인 → ② 정답 근거 &amp; 문법 포인트 → ③ 글의 흐름 정리 → ④ 정답과 오답 이유, 이 순서로 해설할게요."
【팁】 지문+보기 슬라이드를 띄우자마자 "몇 번 골랐어?" 손가락으로 표시하게 하면 오답 분포를 바로 알 수 있어요. 많이 틀린 선택지는 정답·오답 슬라이드에서 더 오래 설명하세요.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스크립트】 "요약문 문제는 본문을 다 읽고 요약문을 보면 늦어요. 순서를 바꿔 볼게요.
1단계, 요약문을 먼저 읽고 (A)와 (B)에 무엇이 들어갈지 질문을 만들어요. 예: '몽골인들은 유목 생활을 어떻게 하지?'
2단계, 본문의 주제문과 결론에서 근거를 찾아요. 본문의 maximum or minimum이 요약문에선 extreme처럼 '다른 말'로 바뀌어요.
3단계, (A)와 (B)를 각각 근거로 확인해요. 두 칸 모두 맞아야 정답이에요."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스크립트】 "글을 읽다가 이 네 종류 단어가 나오면 꼭 동그라미 치세요. 답이 바로 근처에 있어요."
【오른쪽 위 칩】 오늘 문제 중 그 신호어가 결정적이었던 Exercise 번호예요. 해당 문제를 풀 때 "아까 배운 반전 신호어 기억나?" 하고 다시 연결해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【본론 시작】 "이제 한 문제씩 해설할게요. 지문+보기를 보면서 내가 고른 답과 이유를 떠올려 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진행】 지문을 펴기 전에 이 질문으로 30초 동안 짝과 이야기 → 2~3명 발표. 정답을 고르지 말고 '오늘 글의 소재'에 관심을 갖게 하는 단계예요.
【참고】 "요즘 세상에 아직도 말 타고 유목 생활하는 나라가 있을까?"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숙제로 풀어 온 문제를 그대로 띄운 화면입니다. "몇 번 골랐어?" 손가락으로 표시하게 해서 답 분포를 확인하고, 정답은 아직 말하지 마세요. 많이 고른 오답이 있으면 정답·오답 슬라이드에서 그 선택지를 더 오래 설명하세요.
【한 줄 요약】 (A) 생활 방식을 어떻게? / (B) 전통은 무엇에 필수적?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문장 번호 순서대로 읽으며 해설하고, 형광 문장(1, 4, 5번)에서 멈춰 "여기가 정답 근거!"라고 강조하세요. 파란 형광은 문법·내신 포인트예요. 아래 설명을 보고 짚어 주세요.
【문법·내신 포인트 (파란 형광)】
• that goes back at least a thousand years
   → 주격 관계대명사 수일치: 선행사 a way of life(단수) → goes
• Just as their ancestors did
   → just as + 대동사: ~했던 것처럼: did = obtained their staple foods
• , which is an essential skill to guard and manage
   → 계속적 which · to부정사: which = horse riding / to guard and manage: skill을 꾸미는 형용사적 용법
• regard horse riding, along with the life on the plains, as
   → regard A as B: A를 B로 여기다 — 삽입구 along with ~ 건너뛰기
• makes them who they are
   → make O C (명사절): 목적격 보어 자리에 명사절 who they are: 그들을 그들답게 만들다
【도입 질문】 "요즘 세상에 아직도 말 타고 유목 생활하는 나라가 있을까?"
【풀이 핵심】 요약문부터 읽기 → (A)는 '생활 방식을 어떻게 하나', (B)는 '전통이 무엇에 필수적인가'. 본문의 preserve, continue, still이 반복 → (A) maintain. 마지막 문장 makes them who they are → (B) identity.
【오답 설명】 ②④처럼 한 칸만 맞는 '반쪽 정답'이 요약문 단골 함정. 두 칸 모두 근거를 확인!
【Plus Q】 (a) a way of life = 평야에서 유목 생활 + 승마 숙달 / (b) motorbike ↔ horse riding.
【문장별 해석 · 선생님 참고용 (★ = 정답 근거)】
(1) ★ 세계 인구의 대다수가 현재 도시 지역에 살지만, 수십만 명의 몽골인들은 적어도 천 년을 거슬러 올라가는 (a) 생활 방식을 계속 보존하고 있다.
(2) 몽골인들은 중국, 러시아와 국경을 맞댄 광활한 평야를 가로지르며 유목 생활을 해 왔다.
(3) 조상들이 그랬던 것처럼, 그들은 주식인 유제품과 고기를 평야에서 기르는 동물들에게서 얻는다.
(4) ★ 몽골인들은 또한 승마를 숙달하는 법을 배우는 전통을 이어 가는데, 승마는 가축 떼를 지키고 관리하는 데 필수적인 기술이다.
(5) ★ 오늘날 일부는 대신 (b) 오토바이를 쓰기도 하지만, 대부분의 몽골인들은 여전히 평야에서의 삶과 함께 승마를 자신들을 자신들답게 만드는 대체할 수 없는 유산으로 여긴다.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근거 찾기를 마친 뒤 "그래서 이 글은 한마디로 뭐야?" 하고 정리할 때 띄우세요. 왼쪽 위(빈칸 문장) → 오른쪽(글의 흐름 1~4) → 왼쪽 아래(결정적 단서) 순서로 설명하면 됩니다. 정답은 다음 슬라이드에서 공개!
【도입 질문】 "요즘 세상에 아직도 말 타고 유목 생활하는 나라가 있을까?"
【풀이 핵심】 요약문부터 읽기 → (A)는 '생활 방식을 어떻게 하나', (B)는 '전통이 무엇에 필수적인가'. 본문의 preserve, continue, still이 반복 → (A) maintain. 마지막 문장 makes them who they are → (B) identity.
【오답 설명】 ②④처럼 한 칸만 맞는 '반쪽 정답'이 요약문 단골 함정. 두 칸 모두 근거를 확인!
【Plus Q】 (a) a way of life = 평야에서 유목 생활 + 승마 숙달 / (b) motorbike ↔ horse riding.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"몇 번 골랐어?" 다시 확인 → 오답을 하나씩 "이건 왜 아닐까?" 물어보고 → 정답 확인.
【선택지별 설명】
① 버리다 ✘ / 다양성 ✘ → 글은 '보존한다'
② 유지하다 ✔ / 다양성 ✘ → 다양성 이야기 없음
③ 유지하다 = preserve·continue / 정체성 = who they are
④ 개혁하다 ✘ / 정체성 ✔ → 전통을 바꾸지 않음
⑤ 개혁하다 ✘ / 복잡성 ✘
【마무리 멘트】 "정답 ③은 지문의 근거 문장을 다른 말로 바꾼 거예요. 답은 늘 지문 안에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【진행】 1분 동안 혼자 고르기 → 손가락(1 또는 2)으로 동시에 답 들기 → 정답과 이유 확인. 틀린 학생이 많으면 근거 슬라이드의 파란 형광으로 돌아가 다시 짚어 주세요.
【정답 · 해설】
1. goes — 선행사 a way of life(단수) → goes
2. which — 콤마 뒤 계속적 용법 → that 불가
3. as — regard A as B (A를 B로 여기다)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진행】 지문을 펴기 전에 이 질문으로 30초 동안 짝과 이야기 → 2~3명 발표. 정답을 고르지 말고 '오늘 글의 소재'에 관심을 갖게 하는 단계예요.
【참고】 "'30달러를 잃는다' vs '20달러를 간직한다', 둘 중 뭐가 더 기분 나빠?" → 같은 결과인데 '잃는다'가 더 싫다!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숙제로 풀어 온 문제를 그대로 띄운 화면입니다. "몇 번 골랐어?" 손가락으로 표시하게 해서 답 분포를 확인하고, 정답은 아직 말하지 마세요. 많이 고른 오답이 있으면 정답·오답 슬라이드에서 그 선택지를 더 오래 설명하세요.
【한 줄 요약】 (A) 어떤 상황? / (B) 무엇을 예상하게 하는 선택지를 피하나?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문장 번호 순서대로 읽으며 해설하고, 형광 문장(5, 7, 9번)에서 멈춰 "여기가 정답 근거!"라고 강조하세요. 파란 형광은 문법·내신 포인트예요. 아래 설명을 보고 짚어 주세요.
【문법·내신 포인트 (파란 형광)】
• were each given $50 and separated into
   → 4형식 수동태 · 병렬: give O1 O2의 수동 were given $50 / were (given and) separated 병렬
• Having heard these options
   → 완료 분사구문: After they had heard ~: 주절보다 먼저 일어난 일
• options that actually led to an identical outcome
   → 주격 관계대명사: 선행사 options(복수) → led to (lead to: ~로 이어지다)
• Using words that make people think of a negative outcome will yield
   → 동명사 주어 · make O 원형: 동명사 주어(단수) + will yield / make people think: 사역동사 + 동사원형
【도입 질문】 "'30달러를 잃는다' vs '20달러를 간직한다', 둘 중 뭐가 더 기분 나빠?" → 같은 결과인데 '잃는다'가 더 싫다!
【풀이 핵심】 A 그룹은 '잃는다'는 선택지를 피하려고 도박을 더 많이 택함 → 사람들은 손실(loss)을 예상하게 하는 선택을 피한다. 상황 = 결정을 내려야 하는(decision-making) 상황.
【오답 설명】 ③ loss만, ④ decision-making만 맞는 반쪽 정답. profit은 정반대.
【Plus Q】 (a) options = choices / (b) This = 선택지가 다른 말로 표현되어 다른 결정을 내린 것.
【문장별 해석 · 선생님 참고용 (★ = 정답 근거)】
(1) 2006년, Benedetto De Martino는 유명한 심리학 실험을 실시했다.
(2) 참가자들은 각각 50달러를 받고 A와 B 두 그룹으로 나뉘었다.
(3) A 그룹은 두 가지 (a) 선택지를 받았다: "그 돈으로 도박을 하거나, 그중 30달러를 잃을 수 있다."
(4) B 그룹도 두 가지 선택지를 받았다: "그 돈으로 도박을 하거나, 그중 20달러를 간직할 수 있다."
(5) ★ 이 선택지를 들은 후, A 그룹 참가자의 61.9%가 도박을 택한 반면, B 그룹은 42.9%만이 도박을 택했다.
(6) 눈치챘겠지만, 두 그룹은 사실 동일한 결과로 이어지는 선택지를 받았다.
(7) ★ 그러나 선택지가 '잃다'와 '간직하다'라는 두 가지 다른 말로 표현되었기 때문에 참가자들은 다른 결정을 내렸다.
(8) (b) 이것을 '틀 효과'라고 부른다.
(9) ★ 부정적인 결과를 떠올리게 하는 말을 쓰면, 긍정적인 결과를 떠올리게 하는 말을 쓸 때와 다른 행동 결과가 나올 것이다.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근거 찾기를 마친 뒤 "그래서 이 글은 한마디로 뭐야?" 하고 정리할 때 띄우세요. 왼쪽 위(빈칸 문장) → 오른쪽(글의 흐름 1~4) → 왼쪽 아래(결정적 단서) 순서로 설명하면 됩니다. 정답은 다음 슬라이드에서 공개!
【도입 질문】 "'30달러를 잃는다' vs '20달러를 간직한다', 둘 중 뭐가 더 기분 나빠?" → 같은 결과인데 '잃는다'가 더 싫다!
【풀이 핵심】 A 그룹은 '잃는다'는 선택지를 피하려고 도박을 더 많이 택함 → 사람들은 손실(loss)을 예상하게 하는 선택을 피한다. 상황 = 결정을 내려야 하는(decision-making) 상황.
【오답 설명】 ③ loss만, ④ decision-making만 맞는 반쪽 정답. profit은 정반대.
【Plus Q】 (a) options = choices / (b) This = 선택지가 다른 말로 표현되어 다른 결정을 내린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"몇 번 골랐어?" 다시 확인 → 오답을 하나씩 "이건 왜 아닐까?" 물어보고 → 정답 확인.
【선택지별 설명】
① 이익 공유 ✘ / 거래 ✘ → 글에 없음
② 생명 위협 ✘ / 이익 ✘ → 이익이 아니라 손실을 피함
③ 생명 위협 ✘ / 손실 ✔
④ 의사 결정 ✔ / 이익 ✘ → 이익은 오히려 선호
⑤ 의사 결정 상황 / 손실(lose)을 예상 → 피함
【마무리 멘트】 "정답 ⑤은 지문의 근거 문장을 다른 말로 바꾼 거예요. 답은 늘 지문 안에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【진행】 1분 동안 혼자 고르기 → 손가락(1 또는 2)으로 동시에 답 들기 → 정답과 이유 확인. 틀린 학생이 많으면 근거 슬라이드의 파란 형광으로 돌아가 다시 짚어 주세요.
【정답 · 해설】
1. Having heard — 참가자가 '들은' 것(능동) + 주절보다 먼저 → 완료 분사구문
2. led — 관계절의 동사 자리 → led
3. think — 사역동사 make + O + 동사원형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진행】 지문을 펴기 전에 이 질문으로 30초 동안 짝과 이야기 → 2~3명 발표. 정답을 고르지 말고 '오늘 글의 소재'에 관심을 갖게 하는 단계예요.
【참고】 "친구가 다이어트 시작하면 나도 하고 싶어진 적 있어?"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숙제로 풀어 온 문제를 그대로 띄운 화면입니다. "몇 번 골랐어?" 손가락으로 표시하게 해서 답 분포를 확인하고, 정답은 아직 말하지 마세요. 많이 고른 오답이 있으면 정답·오답 슬라이드에서 그 선택지를 더 오래 설명하세요.
【한 줄 요약】 (A) 행동이 욕구를 어떻게 하나? / (B) 무엇을 통해?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문장 번호 순서대로 읽으며 해설하고, 형광 문장(3, 6, 7번)에서 멈춰 "여기가 정답 근거!"라고 강조하세요. 파란 형광은 문법·내신 포인트예요. 아래 설명을 보고 짚어 주세요.
【문법·내신 포인트 (파란 형광)】
• While studying obesity
   → 접속사 + 분사구문: While (they were) studying ~
• a greater chance that you will become obese yourself
   → 동격의 that: chance = that절 (~할 가능성) / yourself 강조 용법
• become more inclined to eat
   → be(become) inclined to V: ~하고 싶어지다 (to부정사)
• Many cases of such social contagion happen
   → 주어-동사 수일치: 주어 Many cases(복수) → happen (of ~ 수식어 건너뛰기)
• We barely notice
   → 준부정어 barely: 거의 ~않다 (not과 함께 쓰지 않음)
【도입 질문】 "친구가 다이어트 시작하면 나도 하고 싶어진 적 있어?"
【풀이 핵심】 We tend to copy the behavior of those around us → 한 사람의 행동이 다른 사람의 욕구를 '유발(trigger)'한다. 통로 = friends, social networks → contacts.
【오답 설명】 ⑤ pressure: '사회적 압력'이라는 말이 익숙해서 고르기 쉬운 소재 함정. 글은 압력이 아니라 '따라 하기'.
【어법】 Many cases of such social contagion happen — 주어는 cases(복수)!
【문장별 해석 · 선생님 참고용 (★ = 정답 근거)】
(1) 인간관계 속 비만을 연구하던 중, 하버드 대학의 Nicholas Christakis와 동료들은 중요한 발견을 했다: 비만인 친구들이 있으면 자신도 비만이 될 가능성이 더 크다는 것이다.
(2) 마찬가지로, 건강한 친구들이 있으면 자신도 건강할 가능성이 더 크다.
(3) ★ 이것은 우리가 주변 사람들의 행동을 따라 하는 경향이 있기 때문에 일어난다.
(4) 예를 들어, 친구들이 기름진 음식을 파는 식당에 초대하면, 당신은 기름진 음식을 더 먹고 싶어질 것이다.
(5) 반면에, 친구 옆에서 몇 번 달려 본 뒤에는 혼자서도 조깅을 시작할지 모른다.
(6) ★ Nicholas는 이러한 행동의 전이를 '사회적 전염'이라고 부른다.
(7) ★ 그러한 사회적 전염의 많은 사례가 사회적 관계망을 통해 일상에서 미묘하게 일어난다: 흡연의 확산, 다이어트의 확산, 심지어 행복의 확산까지.
(8) 우리는 이 흥미로운 숨은 원리를 거의 알아차리지 못하지만, 그것은 실제로 우리 삶의 많은 선택을 결정할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근거 찾기를 마친 뒤 "그래서 이 글은 한마디로 뭐야?" 하고 정리할 때 띄우세요. 왼쪽 위(빈칸 문장) → 오른쪽(글의 흐름 1~4) → 왼쪽 아래(결정적 단서) 순서로 설명하면 됩니다. 정답은 다음 슬라이드에서 공개!
【도입 질문】 "친구가 다이어트 시작하면 나도 하고 싶어진 적 있어?"
【풀이 핵심】 We tend to copy the behavior of those around us → 한 사람의 행동이 다른 사람의 욕구를 '유발(trigger)'한다. 통로 = friends, social networks → contacts.
【오답 설명】 ⑤ pressure: '사회적 압력'이라는 말이 익숙해서 고르기 쉬운 소재 함정. 글은 압력이 아니라 '따라 하기'.
【어법】 Many cases of such social contagion happen — 주어는 cases(복수)!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"몇 번 골랐어?" 다시 확인 → 오답을 하나씩 "이건 왜 아닐까?" 물어보고 → 정답 확인.
【선택지별 설명】
① 유발하다 = 따라 하게 만들다 / 접촉 = friends·networks
② 반영하다 ✘ / 접촉 ✔
③ 유발하다 ✔ / 구조 ✘ → 사회 구조 이야기 아님
④ 승인하다 ✘ / 구조 ✘
⑤ 승인하다 ✘ / 압력 ✘ → '사회적 압력' 연상 함정
【마무리 멘트】 "정답 ①은 지문의 근거 문장을 다른 말로 바꾼 거예요. 답은 늘 지문 안에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【진행】 1분 동안 혼자 고르기 → 손가락(1 또는 2)으로 동시에 답 들기 → 정답과 이유 확인. 틀린 학생이 많으면 근거 슬라이드의 파란 형광으로 돌아가 다시 짚어 주세요.
【정답 · 해설】
1. happen — 주어 cases(복수) → happen
2. to eat — be(become) inclined to V
3. barely notice — barely 자체가 부정어 → not과 함께 쓰지 않음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진행】 지문을 펴기 전에 이 질문으로 30초 동안 짝과 이야기 → 2~3명 발표. 정답을 고르지 말고 '오늘 글의 소재'에 관심을 갖게 하는 단계예요.
【참고】 "시험 끝나고 '내가 왜 틀렸지?' 스스로 물어본 적 있어? 그게 바로 자기 성찰!"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숙제로 풀어 온 문제를 그대로 띄운 화면입니다. "몇 번 골랐어?" 손가락으로 표시하게 해서 답 분포를 확인하고, 정답은 아직 말하지 마세요. 많이 고른 오답이 있으면 정답·오답 슬라이드에서 그 선택지를 더 오래 설명하세요.
【한 줄 요약】 (A) 어떤 노력? / (B) 개인 발전 말고 또 어떤 성취?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문장 번호 순서대로 읽으며 해설하고, 형광 문장(2, 4, 5, 6번)에서 멈춰 "여기가 정답 근거!"라고 강조하세요. 파란 형광은 문법·내신 포인트예요. 아래 설명을 보고 짚어 주세요.
【문법·내신 포인트 (파란 형광)】
• what you are good at and not so good at
   → 간접의문문 · 전치사 during: about의 목적어로 간접의문문 / 뒤에 명사구 → 전치사 during
• help you get a clearer picture
   → help O 원형: help + 목적어 + (to) 동사원형
• enables you to clearly see
   → enable O to V · 부사: 동사 see를 꾸미므로 부사 clearly
• It is not only essential in personal development but also critical
   → not only A but also B: 형용사 essential / critical 병렬
• It is this self-awareness that allows
   → It is ~ that 강조구문: this self-awareness를 강조. that 뒤 동사 allows
【도입 질문】 "시험 끝나고 '내가 왜 틀렸지?' 스스로 물어본 적 있어? 그게 바로 자기 성찰!"
【풀이 핵심】 (A) 스스로 질문을 던지는 의도적인 노력 = conscious. (B) not only personal development but also corporate success → 개인 말고 '집단적' 성취 = collective.
【오답 설명】 inventive(창의적인)는 innovative를 떠올리게 하지만 '노력'의 성격과 맞지 않음. ⑤ modest는 B칸이 틀린 반쪽 정답.
【연결】 이 지문은 Ex 103(문장 삽입)에서 다시 나옵니다.
【문장별 해석 · 선생님 참고용 (★ = 정답 근거)】
(1) 자신과의 내적 대화 중에 자신이 무엇을 잘하고 무엇을 잘 못하는지 생각해 본 적이 있는가?
(2) ★ 이와 같은 내적 사고 과정은 자신의 강점과 약점에 대해 더 분명한 그림을 얻도록 돕는다.
(3) 그 과정에서, 당신은 목표 달성을 막고 있을지 모르는 맹점을 찾기 위해 스스로에게 일련의 질문을 던질 수 있다.
(4) ★ 이러한 성찰 과정은 잠재적인 문제들과 그것을 고칠 방법을 분명하게 보게 해 준다.
(5) ★ 그것은 개인의 발전에 필수적일 뿐만 아니라 기업의 성공에도 매우 중요하다.
(6) ★ 세계에서 가장 꾸준히 혁신적인 회사들은 이런 자기 탐구를 포함하는 문화를 장려한다.
(7) 예를 들어, 구글은 직원들에게 매주 금요일 자유 시간을 주어 현재 프로젝트의 장단점을 되돌아보고 '만약 ~라면?' 식의 질문으로 새로운 가능성을 떠올리게 한다.
(8) 그 회사가 혁신적이고 뛰어난 제품 개발에 탁월하게 해 주는 것은 바로 이 자기 인식이다.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근거 찾기를 마친 뒤 "그래서 이 글은 한마디로 뭐야?" 하고 정리할 때 띄우세요. 왼쪽 위(빈칸 문장) → 오른쪽(글의 흐름 1~4) → 왼쪽 아래(결정적 단서) 순서로 설명하면 됩니다. 정답은 다음 슬라이드에서 공개!
【도입 질문】 "시험 끝나고 '내가 왜 틀렸지?' 스스로 물어본 적 있어? 그게 바로 자기 성찰!"
【풀이 핵심】 (A) 스스로 질문을 던지는 의도적인 노력 = conscious. (B) not only personal development but also corporate success → 개인 말고 '집단적' 성취 = collective.
【오답 설명】 inventive(창의적인)는 innovative를 떠올리게 하지만 '노력'의 성격과 맞지 않음. ⑤ modest는 B칸이 틀린 반쪽 정답.
【연결】 이 지문은 Ex 103(문장 삽입)에서 다시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"몇 번 골랐어?" 다시 확인 → 오답을 하나씩 "이건 왜 아닐까?" 물어보고 → 정답 확인.
【선택지별 설명】
① 창의적인 ✘ / 직업적인 ✘
② 창의적인 ✘ / 예상치 못한 ✘
③ 독립적인 ✘ / 즉각적인 ✘
④ 의식적인 = 스스로 묻는 성찰 / 집단적인 = corporate success
⑤ 의식적인 ✔ / 적당한 ✘
【마무리 멘트】 "정답 ④은 지문의 근거 문장을 다른 말로 바꾼 거예요. 답은 늘 지문 안에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【진행】 1분 동안 혼자 고르기 → 손가락(1 또는 2)으로 동시에 답 들기 → 정답과 이유 확인. 틀린 학생이 많으면 근거 슬라이드의 파란 형광으로 돌아가 다시 짚어 주세요.
【정답 · 해설】
1. during — 뒤에 명사구 → 전치사 during
2. clearly — 동사 see를 꾸미는 부사
3. that — It is ~ that 강조구문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진행】 지문을 펴기 전에 이 질문으로 30초 동안 짝과 이야기 → 2~3명 발표. 정답을 고르지 말고 '오늘 글의 소재'에 관심을 갖게 하는 단계예요.
【참고】 "물고기가 '위험해!'라고 말할 수 있을까? 냄새로 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숙제로 풀어 온 문제를 그대로 띄운 화면입니다. "몇 번 골랐어?" 손가락으로 표시하게 해서 답 분포를 확인하고, 정답은 아직 말하지 마세요. 많이 고른 오답이 있으면 정답·오답 슬라이드에서 그 선택지를 더 오래 설명하세요.
【한 줄 요약】 (A) 냄새를 어떻게? / (B) 위험을 어떻게 하려고 방출?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문장 번호 순서대로 읽으며 해설하고, 형광 문장(4, 5, 7번)에서 멈춰 "여기가 정답 근거!"라고 강조하세요. 파란 형광은 문법·내신 포인트예요. 아래 설명을 보고 짚어 주세요.
【문법·내신 포인트 (파란 형광)】
• , which consists of two distinct sensory systems
   → 계속적 which · consist of: which = a sophisticated sense of smell(단수) → consists (수동태 불가)
• causing them to respond accordingly
   → 결과의 분사구문 · cause O to V: and it causes them to respond ~
• including fish and lobsters
   → 전치사 including: ~을 포함하여 (주어 many marine animals ↔ 동사 release)
• Failure to detect and decode this odor properly would make the subject easy prey
   → 무생물 주어 · make O C: 실패가 ~을 먹이로 만들다 → ~하지 못하면 먹이가 된다
• whether the odor released is one of fear
   → whether 명사절 · 과거분사 후치: recognize의 목적어 / the odor (which is) released
【도입 질문】 "물고기가 '위험해!'라고 말할 수 있을까? 냄새로 말한다!"
【풀이 핵심】 두 번째 체계의 역할 interpreting the hidden messages → (A) interpreting. 냄새를 방출하는 목적 to warn others of the presence of danger → (B) signal(알리다).
【오답 설명】 ⑤ escape: 위험하면 도망간다는 상식 연상 → 소재 함정. 글은 '알리기'.
【어법】 which consists of (O) / is consisted of (X) — consist는 수동태 불가!
【문장별 해석 · 선생님 참고용 (★ = 정답 근거)】
(1) 생존 확률을 높이기 위해 많은 동물들은 정교한 후각을 진화시켰는데, 그것은 두 개의 별개의 감각 체계로 이루어져 있다.
(2) 첫 번째 체계는 냄새를 감지하는 것을 담당한다.
(3) 두 번째 체계는 그 냄새를 이해하고 그것을 몸의 기관에 적절한 메시지를 보내는 뇌의 부분으로 전달하는 것을 담당하여, 기관들이 그에 맞게 반응하게 한다.
(4) ★ 후자의 체계는 다양한 냄새에 담긴 숨은 메시지를 해석하는 데 중대한 역할을 한다.
(5) ★ 예를 들어, 물고기와 바닷가재를 포함한 많은 해양 동물들은 다른 개체들에게 위험의 존재를 경고하기 위해 특정한 화학적 냄새를 방출한다.
(6) 이 냄새를 제대로 감지하고 판독하지 못하면 그 개체는 포식자의 쉬운 먹이가 될 것이다.
(7) ★ 결과적으로, 방출된 냄새가 두려움, 위험, 배고픔 중 어떤 것인지 알아보는 능력은 동물의 생존에 필수적이다.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근거 찾기를 마친 뒤 "그래서 이 글은 한마디로 뭐야?" 하고 정리할 때 띄우세요. 왼쪽 위(빈칸 문장) → 오른쪽(글의 흐름 1~4) → 왼쪽 아래(결정적 단서) 순서로 설명하면 됩니다. 정답은 다음 슬라이드에서 공개!
【도입 질문】 "물고기가 '위험해!'라고 말할 수 있을까? 냄새로 말한다!"
【풀이 핵심】 두 번째 체계의 역할 interpreting the hidden messages → (A) interpreting. 냄새를 방출하는 목적 to warn others of the presence of danger → (B) signal(알리다).
【오답 설명】 ⑤ escape: 위험하면 도망간다는 상식 연상 → 소재 함정. 글은 '알리기'.
【어법】 which consists of (O) / is consisted of (X) — consist는 수동태 불가!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"몇 번 골랐어?" 다시 확인 → 오답을 하나씩 "이건 왜 아닐까?" 물어보고 → 정답 확인.
【선택지별 설명】
① 제거하다 ✘ / 물리치다 ✘
② 해석하다 = interpreting·decode / 신호를 보내다 = warn
③ 해석하다 ✔ / 물리치다 ✘ → 위험을 '알리는' 것
④ 분배하다 ✘ / 신호를 보내다 ✔
⑤ 분배하다 ✘ / 도망치다 ✘ → '위험 = 도망' 연상
【마무리 멘트】 "정답 ②은 지문의 근거 문장을 다른 말로 바꾼 거예요. 답은 늘 지문 안에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【진행】 1분 동안 혼자 고르기 → 손가락(1 또는 2)으로 동시에 답 들기 → 정답과 이유 확인. 틀린 학생이 많으면 근거 슬라이드의 파란 형광으로 돌아가 다시 짚어 주세요.
【정답 · 해설】
1. consists of — consist는 자동사 → 수동태 불가
2. including — 전치사 including (~을 포함하여)
3. easy — 명사 prey를 꾸미는 형용사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진행】 지문을 펴기 전에 이 질문으로 30초 동안 짝과 이야기 → 2~3명 발표. 정답을 고르지 말고 '오늘 글의 소재'에 관심을 갖게 하는 단계예요.
【참고】 "어항 사진 보고 처음 눈에 들어오는 게 물고기야, 물풀이야?"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숙제로 풀어 온 문제를 그대로 띄운 화면입니다. "몇 번 골랐어?" 손가락으로 표시하게 해서 답 분포를 확인하고, 정답은 아직 말하지 마세요. 많이 고른 오답이 있으면 정답·오답 슬라이드에서 그 선택지를 더 오래 설명하세요.
【한 줄 요약】 (A) 어떤 사고방식? / (B) 다양성이 팀워크를 어떻게?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문장 번호 순서대로 읽으며 해설하고, 형광 문장(2, 6, 7, 8번)에서 멈춰 "여기가 정답 근거!"라고 강조하세요. 파란 형광은 문법·내신 포인트예요. 아래 설명을 보고 짚어 주세요.
【문법·내신 포인트 (파란 형광)】
• they will likely look at different parts of it
   → 대명사 it: it = the same thing(단수) — 어법 출제
• attributed this phenomenon to
   → attribute A to B: A를 B의 탓(결과)으로 보다
• When asked what they had observed afterwards
   → 접속사 + 분사구문 · 간접의문: When (they were) asked / what they had observed (과거완료)
• more likely than Westerners to consider
   → be likely to V 비교: be more likely (than ~) to V: ~보다 …할 가능성이 더 높다
• , often noticing specifics
   → 분사구문: and they often notice specifics → noticing (주어 Westerners)
【도입 질문】 "어항 사진 보고 처음 눈에 들어오는 게 물고기야, 물풀이야?"
【풀이 핵심】 문화마다 '더 잘 쓰는' 사고방식이 있다 → preferred. 마지막 문장 invaluable source of team strength → enhance.
【오답 설명】 ③ distinct(뚜렷한)는 A칸만 놓고 보면 그럴듯하지만 allocate(할당하다)가 틀린 반쪽 정답. ⑤ undermine은 정반대.
【연결】 수능특강 03강 Ex 3과 같은 실험 소재예요 (분석적 vs 총체적).
【문장별 해석 · 선생님 참고용 (★ = 정답 근거)】
(1) 아시아인과 서양인에게 같은 것을 보여 주면, 그들은 아마 그것의 서로 다른 부분을 볼 것이다.
(2) ★ 한 연구는 이 현상을 그들의 사고방식의 문화적 차이 때문이라고 보았다.
(3) 실험의 일부로, 미국인과 일본인 참가자들에게 20초짜리 수중 장면 애니메이션 영상을 보여 주었다.
(4) 나중에 무엇을 관찰했는지 질문받았을 때, 미국인들은 열대어처럼 장면 앞쪽의 물체에 집중했다고 말했다.
(5) 한편, 일본인들은 형형색색의 산호처럼 배경의 물체에 집중했다.
(6) ★ 이 결과는 아시아인들이 서양인들보다 정보를 인식할 때 전체 맥락을 고려할 가능성이 더 높다는 증거를 보여 준다.
(7) ★ 반면에, 서양인들은 정보 처리에서 더 독립적이고 분석적이어서, 종종 세부 사항을 알아차린다.
(8) ★ 이러한 사고방식의 다양성은, 팀에 작은 세부 사항에 집중할 수 있는 구성원과 큰 그림을 볼 수 있는 구성원이 함께 있다면, 팀 역량의 매우 귀중한 원천이 될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근거 찾기를 마친 뒤 "그래서 이 글은 한마디로 뭐야?" 하고 정리할 때 띄우세요. 왼쪽 위(빈칸 문장) → 오른쪽(글의 흐름 1~4) → 왼쪽 아래(결정적 단서) 순서로 설명하면 됩니다. 정답은 다음 슬라이드에서 공개!
【도입 질문】 "어항 사진 보고 처음 눈에 들어오는 게 물고기야, 물풀이야?"
【풀이 핵심】 문화마다 '더 잘 쓰는' 사고방식이 있다 → preferred. 마지막 문장 invaluable source of team strength → enhance.
【오답 설명】 ③ distinct(뚜렷한)는 A칸만 놓고 보면 그럴듯하지만 allocate(할당하다)가 틀린 반쪽 정답. ⑤ undermine은 정반대.
【연결】 수능특강 03강 Ex 3과 같은 실험 소재예요 (분석적 vs 총체적).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"몇 번 골랐어?" 다시 확인 → 오답을 하나씩 "이건 왜 아닐까?" 물어보고 → 정답 확인.
【선택지별 설명】
① 피상적인 ✘ / 할당하다 ✘
② 실용적인 ✘ / 향상시키다 ✔
③ 뚜렷한 △ / 할당하다 ✘ → B칸이 틀림
④ 선호하는 = 문화에 따라 더 쓰는 방식 / 향상시키다 = invaluable source
⑤ 확장된 ✘ / 약화시키다 ✘
【마무리 멘트】 "정답 ④은 지문의 근거 문장을 다른 말로 바꾼 거예요. 답은 늘 지문 안에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【진행】 1분 동안 혼자 고르기 → 손가락(1 또는 2)으로 동시에 답 들기 → 정답과 이유 확인. 틀린 학생이 많으면 근거 슬라이드의 파란 형광으로 돌아가 다시 짚어 주세요.
【정답 · 해설】
1. it — the same thing(단수)을 가리킴
2. asked — 그들이 '질문받은' 것 → 수동 분사구문
3. noticing — 서양인이 '알아차리는' 것 → 능동 현재분사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진행】 지문을 펴기 전에 이 질문으로 30초 동안 짝과 이야기 → 2~3명 발표. 정답을 고르지 말고 '오늘 글의 소재'에 관심을 갖게 하는 단계예요.
【참고】 "노래 경연에서 첫 번째 순서는 유리할까, 불리할까?"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숙제로 풀어 온 문제를 그대로 띄운 화면입니다. "몇 번 골랐어?" 손가락으로 표시하게 해서 답 분포를 확인하고, 정답은 아직 말하지 마세요. 많이 고른 오답이 있으면 정답·오답 슬라이드에서 그 선택지를 더 오래 설명하세요.
【한 줄 요약】 (A) 어느 위치? / (B) 어떤 평가?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문장 번호 순서대로 읽으며 해설하고, 형광 문장(1, 4, 6번)에서 멈춰 "여기가 정답 근거!"라고 강조하세요. 파란 형광은 문법·내신 포인트예요. 아래 설명을 보고 짚어 주세요.
【문법·내신 포인트 (파란 형광)】
• the prejudicial impact that the presentation order of a question, idea, answer, or product has on a respondent
   → 목적격 관계대명사: have an impact on ~: impact가 has의 목적어로 앞으로 나감
• Whether the item is located in the first, last, or middle position sometimes affects
   → whether 명사절 주어: 명사절 주어는 단수 → affects
• had respondents rate a list of occupations
   → 사역동사 have O 원형: 응답자들에게 평가하게 했다
• the one presented first
   → 대명사 one · 과거분사 후치: one = occupation / (which was) presented first
• The first beverage tasted was rated
   → 과거분사 후치 · 수동태: beverage (which was) tasted / was rated
【도입 질문】 "노래 경연에서 첫 번째 순서는 유리할까, 불리할까?"
【풀이 핵심】 연구 결과 두 개의 공통점: '처음' 제시된 것 → (A) initial. 최고 또는 최저 = 양 끝 → (B) extreme. maximum or minimum을 한 단어로 바꾸는 것이 포인트!
【오답 설명】 ③ last: 본문 2번 문장에 있는 단어라 눈에 띄는 소재 함정. ② moderate, ⑤ average는 극단의 반대.
【기출】 2013년 3월 고2 학평.
【출처】 [2013년 3월 고2 학평]
【문장별 해석 · 선생님 참고용 (★ = 정답 근거)】
(1) ★ 순서 효과란 질문, 아이디어, 답변, 상품의 제시 순서가 응답자에게 미치는 편향된 영향이다.
(2) 항목이 처음, 마지막, 중간 중 어디에 놓이느냐가 때때로 그 항목의 선택이나 그에 대한 반응에 영향을 미친다.
(3) 초기 자극이 이후 자극의 기준틀로 작용할 때 순서 효과에 주목한 연구가 여럿 있었다.
(4) ★ 일리노이 대학의 Robert Ferber는 응답자들에게 직업 목록을 평가하게 했는데, 직업의 순서와 상관없이 최고 또는 최저 평가는 처음 제시된 것에서 나왔다.
(5) 또 다른 연구에서, 피실험자들은 '절대 사지 않겠다'부터 '반드시 사겠다'까지의 척도로 음료의 구매 의향을 평가하도록 요청받았다.
(6) ★ 처음 맛본 음료가 상당히 더 높게 평가되었다.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근거 찾기를 마친 뒤 "그래서 이 글은 한마디로 뭐야?" 하고 정리할 때 띄우세요. 왼쪽 위(빈칸 문장) → 오른쪽(글의 흐름 1~4) → 왼쪽 아래(결정적 단서) 순서로 설명하면 됩니다. 정답은 다음 슬라이드에서 공개!
【도입 질문】 "노래 경연에서 첫 번째 순서는 유리할까, 불리할까?"
【풀이 핵심】 연구 결과 두 개의 공통점: '처음' 제시된 것 → (A) initial. 최고 또는 최저 = 양 끝 → (B) extreme. maximum or minimum을 한 단어로 바꾸는 것이 포인트!
【오답 설명】 ③ last: 본문 2번 문장에 있는 단어라 눈에 띄는 소재 함정. ② moderate, ⑤ average는 극단의 반대.
【기출】 2013년 3월 고2 학평.
【출처】 [2013년 3월 고2 학평]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"몇 번 골랐어?" 다시 확인 → 오답을 하나씩 "이건 왜 아닐까?" 물어보고 → 정답 확인.
【선택지별 설명】
① 처음의 = presented first / 극단적인 = maximum or minimum
② 고정된 ✘ / 중간 정도의 ✘ → 극단과 반대
③ 마지막 ✘ / 분명한 ✘ → last는 본문 단어일 뿐
④ 무작위 ✘ / 불확실한 ✘
⑤ 가변적인 ✘ / 평균적인 ✘
【마무리 멘트】 "정답 ①은 지문의 근거 문장을 다른 말로 바꾼 거예요. 답은 늘 지문 안에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【진행】 1분 동안 혼자 고르기 → 손가락(1 또는 2)으로 동시에 답 들기 → 정답과 이유 확인. 틀린 학생이 많으면 근거 슬라이드의 파란 형광으로 돌아가 다시 짚어 주세요.
【정답 · 해설】
1. affects — whether 명사절 주어 → 단수 동사
2. rate — 사역동사 have + O + 동사원형
3. tasted — 음료가 '맛보아진' 것 → 과거분사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 차시 시작】 지난 시간 풀이 3단계와 신호어 4종을 1분 동안 복습하고 시작하세요.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진행】 지문을 펴기 전에 이 질문으로 30초 동안 짝과 이야기 → 2~3명 발표. 정답을 고르지 말고 '오늘 글의 소재'에 관심을 갖게 하는 단계예요.
【참고】 "다이어트 실패하는 이유, 의지가 약해서일까?"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숙제로 풀어 온 문제를 그대로 띄운 화면입니다. "몇 번 골랐어?" 손가락으로 표시하게 해서 답 분포를 확인하고, 정답은 아직 말하지 마세요. 많이 고른 오답이 있으면 정답·오답 슬라이드에서 그 선택지를 더 오래 설명하세요.
【한 줄 요약】 (A) 과정의 무엇? / (B) 무엇보다 더 중요?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문장 번호 순서대로 읽으며 해설하고, 형광 문장(2, 4, 5번)에서 멈춰 "여기가 정답 근거!"라고 강조하세요. 파란 형광은 문법·내신 포인트예요. 아래 설명을 보고 짚어 주세요.
【문법·내신 포인트 (파란 형광)】
• depends mostly on determination, persistence and self-discipline
   → depend on · 병렬: 명사 세 개 병렬 (A, B and C)
• the more complicated people thought their diet plan was, the sooner they were likely to drop it
   → the 비교급, the 비교급: ~할수록 더 …하다 (complicated는 was의 보어)
• a more complex diet that involves keeping track of
   → 주격 관계대명사 · involve -ing: involve는 동명사를 목적어로
• can lead them to give up on it
   → lead O to V: 목적격 보어 to부정사
【도입 질문】 "다이어트 실패하는 이유, 의지가 약해서일까?"
【풀이 핵심】 While this mental power matters → 반전 신호! 정신력(willpower)보다 '복잡하지 않은 계획'(simplicity)이 중요. (B) willpower = determination, persistence, self-discipline을 묶은 말.
【오답 설명】 ④ consistency는 persistence(끈기)와 비슷해 보여 고르기 쉬움 → 반쪽 정답.
【교재 표기】 'a new research'는 원래 research가 불가산이라 어색하지만 교재 원문대로 두었어요.
【기출】 2013년 6월 고2 학평.
【출처】 [2013년 6월 고2 학평]
【문장별 해석 · 선생님 참고용 (★ = 정답 근거)】
(1) 많은 사람들은 다이어트의 성공이 주로 결단력, 끈기, 자기 절제에 달려 있다고 생각한다.
(2) ★ 이런 정신력도 중요하지만, 새로운 연구에 따르면 다이어트 자체의 훨씬 더 미묘한 측면도 감량되는 체중에 큰 영향을 미칠 수 있다.
(3) 연구자들은 매우 다른 두 가지 다이어트 계획을 따르는 여성들의 다이어트 행동을 비교했다.
(4) ★ 그들은 사람들이 자신의 다이어트 계획을 더 복잡하다고 생각할수록 그것을 더 빨리 그만두는 경향이 있다는 것을 발견했다.
(5) ★ 다시 말해, 먹은 양과 품목을 기록하는 것을 포함하는 더 복잡한 다이어트를 하는 사람들에게는, 다이어트의 어려움에 대한 주관적인 인상이 그들로 하여금 다이어트를 포기하게 만들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근거 찾기를 마친 뒤 "그래서 이 글은 한마디로 뭐야?" 하고 정리할 때 띄우세요. 왼쪽 위(빈칸 문장) → 오른쪽(글의 흐름 1~4) → 왼쪽 아래(결정적 단서) 순서로 설명하면 됩니다. 정답은 다음 슬라이드에서 공개!
【도입 질문】 "다이어트 실패하는 이유, 의지가 약해서일까?"
【풀이 핵심】 While this mental power matters → 반전 신호! 정신력(willpower)보다 '복잡하지 않은 계획'(simplicity)이 중요. (B) willpower = determination, persistence, self-discipline을 묶은 말.
【오답 설명】 ④ consistency는 persistence(끈기)와 비슷해 보여 고르기 쉬움 → 반쪽 정답.
【교재 표기】 'a new research'는 원래 research가 불가산이라 어색하지만 교재 원문대로 두었어요.
【기출】 2013년 6월 고2 학평.
【출처】 [2013년 6월 고2 학평]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"몇 번 골랐어?" 다시 확인 → 오답을 하나씩 "이건 왜 아닐까?" 물어보고 → 정답 확인.
【선택지별 설명】
① 단순성 ✔ / 필요성 ✘
② 단순성 = 복잡함의 반대 / 의지력 = determination·persistence
③ 인기 ✘ / 필요성 ✘
④ 일관성 ✘ / 의지력 ✔ → persistence(끈기)와 혼동
⑤ 일관성 ✘ / 비용 ✘
【마무리 멘트】 "정답 ②은 지문의 근거 문장을 다른 말로 바꾼 거예요. 답은 늘 지문 안에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【진행】 1분 동안 혼자 고르기 → 손가락(1 또는 2)으로 동시에 답 들기 → 정답과 이유 확인. 틀린 학생이 많으면 근거 슬라이드의 파란 형광으로 돌아가 다시 짚어 주세요.
【정답 · 해설】
1. depends — 주어 the success(단수)
2. the sooner — the 비교급, the 비교급
3. keeping — involve + 동명사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진행】 지문을 펴기 전에 이 질문으로 30초 동안 짝과 이야기 → 2~3명 발표. 정답을 고르지 말고 '오늘 글의 소재'에 관심을 갖게 하는 단계예요.
【참고】 "매뉴얼대로만 일하던 알바생이 처음 보는 상황을 만나면?"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숙제로 풀어 온 문제를 그대로 띄운 화면입니다. "몇 번 골랐어?" 손가락으로 표시하게 해서 답 분포를 확인하고, 정답은 아직 말하지 마세요. 많이 고른 오답이 있으면 정답·오답 슬라이드에서 그 선택지를 더 오래 설명하세요.
【한 줄 요약】 (A) 어떤 일? / (B) 새 상황에 대처할 수 있나?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문장 번호 순서대로 읽으며 해설하고, 형광 문장(2, 4번)에서 멈춰 "여기가 정답 근거!"라고 강조하세요. 파란 형광은 문법·내신 포인트예요. 아래 설명을 보고 짚어 주세요.
【문법·내신 포인트 (파란 형광)】
• train workers to perform their jobs
   → train O to V: 목적격 보어 to부정사
• they risk developing trained incapacity
   → risk -ing: risk는 동명사를 목적어로 (~할 위험이 있다)
• while ignoring other important matters
   → 접속사 + 분사구문: while (they are) ignoring ~
• At the root of trained incapacity is a job
   → 부사구 도치: 부사구 + 동사 is + 주어 a job (단수)
• as variety in work decreases
   → 비례의 as: ~할수록 (as A decreases, B also decreases)
【도입 질문】 "매뉴얼대로만 일하던 알바생이 처음 보는 상황을 만나면?"
【풀이 핵심】 little variety and repetitive tasks = monotonous(단조로운). trained incapacity = 새 상황에 대응할 수 '없게' 됨 → unable.
【오답 설명】 ② repetitive는 본문 단어 그대로라 A칸은 맞지만 eager가 틀린 반쪽 정답.
【연결】 이 지문은 Ex 104(어휘)에서 다시 나옵니다.
【기출】 2014년 6월 고2 학평.
【출처】 [2014년 6월 고2 학평]
【문장별 해석 · 선생님 참고용 (★ = 정답 근거)】
(1) 다국적 기업 같은 공식 조직은 직원들이 일정한 방식으로 업무를 수행하도록 훈련하고 좋은 성과에 보상한다.
(2) ★ 그러나 직원들이 업무 지시에 아무 생각 없이 반응하도록 훈련받으면, 훈련된 무능, 즉 새롭거나 특이한 상황에 대응하지 못하거나 공식 규칙이나 절차가 적용되지 않거나 해를 끼칠 수 있을 때를 인식하지 못하는 무능을 키울 위험이 있다.
(3) 다시 말해, 직원들은 조직의 목표를 달성하기 위해 효율적으로 일하도록 훈련받는 동안 자신의 건강, 지역 사회, 환경과 관련된 다른 중요한 문제를 무시하게 된다.
(4) ★ 훈련된 무능의 근원에는 다양성이 거의 없고 반복적인 업무가 있다.
(5) 경제학자 Thorstein Veblen은 업무의 다양성이 감소할수록 일을 수행하는 데 필요한 생각과 시간도 감소한다고 주장한다.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근거 찾기를 마친 뒤 "그래서 이 글은 한마디로 뭐야?" 하고 정리할 때 띄우세요. 왼쪽 위(빈칸 문장) → 오른쪽(글의 흐름 1~4) → 왼쪽 아래(결정적 단서) 순서로 설명하면 됩니다. 정답은 다음 슬라이드에서 공개!
【도입 질문】 "매뉴얼대로만 일하던 알바생이 처음 보는 상황을 만나면?"
【풀이 핵심】 little variety and repetitive tasks = monotonous(단조로운). trained incapacity = 새 상황에 대응할 수 '없게' 됨 → unable.
【오답 설명】 ② repetitive는 본문 단어 그대로라 A칸은 맞지만 eager가 틀린 반쪽 정답.
【연결】 이 지문은 Ex 104(어휘)에서 다시 나옵니다.
【기출】 2014년 6월 고2 학평.
【출처】 [2014년 6월 고2 학평]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"몇 번 골랐어?" 다시 확인 → 오답을 하나씩 "이건 왜 아닐까?" 물어보고 → 정답 확인.
【선택지별 설명】
① 복잡한 ✘ / 두려워하는 ✘ → 단순 반복 업무가 원인
② 반복적인 ✔ / 열망하는 ✘
③ 힘든 ✘ / 신속한 ✘ → 대처를 '못 함'
④ 단조로운 = little variety, repetitive / 할 수 없는 = incapacity
⑤ 전문적인 ✘ / 기꺼이 하는 ✘
【마무리 멘트】 "정답 ④은 지문의 근거 문장을 다른 말로 바꾼 거예요. 답은 늘 지문 안에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【진행】 1분 동안 혼자 고르기 → 손가락(1 또는 2)으로 동시에 답 들기 → 정답과 이유 확인. 틀린 학생이 많으면 근거 슬라이드의 파란 형광으로 돌아가 다시 짚어 주세요.
【정답 · 해설】
1. developing — risk + 동명사
2. is — 부사구 도치 → 주어 a job(단수)
3. ignoring — 직원들이 '무시하는' 것 → 능동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진행】 지문을 펴기 전에 이 질문으로 30초 동안 짝과 이야기 → 2~3명 발표. 정답을 고르지 말고 '오늘 글의 소재'에 관심을 갖게 하는 단계예요.
【참고】 "광고에서 '굶주리는 아이 1억 명' vs '7살 Rokia의 사진', 어느 쪽에 더 기부하고 싶어?"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숙제로 풀어 온 문제를 그대로 띄운 화면입니다. "몇 번 골랐어?" 손가락으로 표시하게 해서 답 분포를 확인하고, 정답은 아직 말하지 마세요. 많이 고른 오답이 있으면 정답·오답 슬라이드에서 그 선택지를 더 오래 설명하세요.
【한 줄 요약】 (A) 누구를 더 돕나? / (B) 어떤 관점이 주어지면 무관심?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문장 번호 순서대로 읽으며 해설하고, 형광 문장(1, 7, 9번)에서 멈춰 "여기가 정답 근거!"라고 강조하세요. 파란 형광은 문법·내신 포인트예요. 아래 설명을 보고 짚어 주세요.
【문법·내신 포인트 (파란 형광)】
• people who are otherwise caring and would go out of their way to help another individual become indifferent
   → 긴 주어 · 수일치: 주어 people + who절(길다) → 본동사 become (복수)
• were given $5 to donate to lessen hunger
   → to부정사 형용사적 · 부사적: $5 to donate (기부할 5달러) / to lessen (줄이기 위해)
• were far greater than
   → 비교급 강조 far: far/much/even/still + 비교급 (very 불가)
• what is surprising, and some would say discouraging, is that
   → what 주어절 · 삽입: What절 주어 → is / 삽입절 some would say 건너뛰기
• adding the statistical realities of the larger hunger problem to Rokia’s story significantly reduced
   → 동명사 주어 · add A to B: 동명사 주어 adding ~ → 동사 reduced / A를 B에 더하다
【도입 질문】 "광고에서 '굶주리는 아이 1억 명' vs '7살 Rokia의 사진', 어느 쪽에 더 기부하고 싶어?"
【풀이 핵심】 개인(individual) Rokia에게는 기부가 많고, 더 큰(larger) 기아 문제의 통계를 보여 주면 줄어든다.
【오답 설명】 ③ the masses는 정반대(대중에겐 무관심). broader는 larger와 비슷해 보여도 A칸이 틀린 반쪽 정답.
【기출】 2015년 9월 고2 학평.
【출처】 [2015년 9월 고2 학평]
【문장별 해석 · 선생님 참고용 (★ = 정답 근거)】
(1) ★ Decision Research와 오리건 대학의 Paul Slovic의 연구는, 다른 면에서는 배려심이 있고 다른 개인을 돕기 위해 애쓰는 사람들도 대중의 고통에는 무관심해진다는 것을 보여 준다.
(2) 한 실험에서 사람들은 해외 기아를 줄이기 위해 기부할 5달러를 받았다.
(3) 첫 번째 선택은 말리의 일곱 살 아이 Rokia라는 특정 아동에게 돈을 주는 것이었다.
(4) 두 번째 선택은 2,100만 명의 굶주린 아프리카인을 돕는 것이었다.
(5) 세 번째 선택은 Rokia를 돕되, 기아의 많은 희생자 중 한 명으로서 돕는 것이었다.
(6) 어떤 선택이 가장 인기가 있었는지 짐작할 수 있는가?
(7) ★ Slovic은 개인 Rokia에 대한 기부가 기아 위기를 통계적으로 묘사한 두 번째 선택에 대한 기부보다 훨씬 많았다고 보고했다.
(8) 그것은 특별히 놀랍지 않다.
(9) ★ 그러나 놀랍고, 어떤 이들은 낙담스럽다고 말할 만한 것은, Rokia의 이야기에 더 큰 기아 문제의 통계적 현실을 덧붙이자 Rokia에 대한 기부가 크게 줄었다는 것이다.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근거 찾기를 마친 뒤 "그래서 이 글은 한마디로 뭐야?" 하고 정리할 때 띄우세요. 왼쪽 위(빈칸 문장) → 오른쪽(글의 흐름 1~4) → 왼쪽 아래(결정적 단서) 순서로 설명하면 됩니다. 정답은 다음 슬라이드에서 공개!
【도입 질문】 "광고에서 '굶주리는 아이 1억 명' vs '7살 Rokia의 사진', 어느 쪽에 더 기부하고 싶어?"
【풀이 핵심】 개인(individual) Rokia에게는 기부가 많고, 더 큰(larger) 기아 문제의 통계를 보여 주면 줄어든다.
【오답 설명】 ③ the masses는 정반대(대중에겐 무관심). broader는 larger와 비슷해 보여도 A칸이 틀린 반쪽 정답.
【기출】 2015년 9월 고2 학평.
【출처】 [2015년 9월 고2 학평]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"몇 번 골랐어?" 다시 확인 → 오답을 하나씩 "이건 왜 아닐까?" 물어보고 → 정답 확인.
【선택지별 설명】
① 한 개인 = Rokia / 더 큰 = the larger hunger problem
② 한 개인 ✔ / 더 단순한 ✘
③ 대중 ✘ / 더 넓은 △ → 대중에겐 무관심
④ 대중 ✘ / 더 공정한 ✘
⑤ 한 국가 ✘ / 더 분명한 ✘
【마무리 멘트】 "정답 ①은 지문의 근거 문장을 다른 말로 바꾼 거예요. 답은 늘 지문 안에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【진행】 1분 동안 혼자 고르기 → 손가락(1 또는 2)으로 동시에 답 들기 → 정답과 이유 확인. 틀린 학생이 많으면 근거 슬라이드의 파란 형광으로 돌아가 다시 짚어 주세요.
【정답 · 해설】
1. become — 주어 People(복수) — who절 건너뛰기
2. far — 비교급 강조: far/much/even/still (very 불가)
3. that — 뒤가 완전한 절 → 보어절 접속사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숙제로 풀어 온 문제를 그대로 띄운 화면입니다. "몇 번 골랐어?" 손가락으로 표시하게 해서 답 분포를 확인하고, 정답은 아직 말하지 마세요. 많이 고른 오답이 있으면 정답·오답 슬라이드에서 그 선택지를 더 오래 설명하세요.
【한 줄 요약】 50 − 30 = 20 → 두 선택지의 결과는?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문장 번호 순서대로 읽으며 해설하고, 형광 문장(3, 4, 7번)에서 멈춰 "여기가 정답 근거!"라고 강조하세요. 파란 형광은 문법·내신 포인트예요. 아래 설명을 보고 짚어 주세요.
【문법·내신 포인트 (파란 형광)】
• were each given $50 and separated into
   → 4형식 수동태 · 병렬: were given $50 / (were) separated 병렬
• Having heard these options
   → 완료 분사구문: After they had heard ~
• because the choices were framed using two different terms
   → 수동태 · 분사구문: were framed (표현되었다) + using ~ (~을 사용해서)
• This is called the “framing effect”
   → call O C의 수동태: We call this the framing effect → This is called ~
【변형 패턴】 Ex 93 지문 그대로, 요약문 → 빈칸 추론으로 바꾼 문제예요. "아까 푼 지문 기억나지?"로 시작하세요.
【풀이 핵심】 칠판에 계산: 50 − 30 = 20 / 20 남김 → 결과는 똑같다! 빈칸 바로 다음 문장이 However로 시작 → '결과는 같지만, 표현이 달라 다른 결정'이라는 흐름.
【오답 설명】 ① serious financial loss는 lose를 보고 고르는 소재 함정.
【문장별 해석 · 선생님 참고용 (★ = 정답 근거)】
(1) 2006년, Benedetto De Martino는 유명한 심리학 실험을 실시했다.
(2) 참가자들은 각각 50달러를 받고 A와 B 두 그룹으로 나뉘었다.
(3) ★ A 그룹은 두 가지 선택지를 받았다: "그 돈으로 도박을 하거나, 그중 30달러를 잃을 수 있다."
(4) ★ B 그룹도 두 가지 선택지를 받았다: "그 돈으로 도박을 하거나, 그중 20달러를 간직할 수 있다."
(5) 이 선택지를 들은 후, A 그룹의 61.9%가 도박을 택한 반면, B 그룹은 42.9%만 도박을 택했다.
(6) 눈치챘겠지만, 두 그룹은 사실 ______로 이어지는 선택지를 받았다.
(7) ★ 그러나 선택지가 '잃다'와 '간직하다'라는 다른 말로 표현되었기 때문에 참가자들은 다른 결정을 내렸다.
(8) 이것을 '틀 효과'라고 부른다.
(9) 부정적인 결과를 떠올리게 하는 말을 쓰면, 긍정적인 결과를 떠올리게 하는 말을 쓸 때와 다른 행동 결과가 나올 것이다.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근거 찾기를 마친 뒤 "그래서 이 글은 한마디로 뭐야?" 하고 정리할 때 띄우세요. 왼쪽 위(빈칸 문장) → 오른쪽(글의 흐름 1~4) → 왼쪽 아래(결정적 단서) 순서로 설명하면 됩니다. 정답은 다음 슬라이드에서 공개!
【변형 패턴】 Ex 93 지문 그대로, 요약문 → 빈칸 추론으로 바꾼 문제예요. "아까 푼 지문 기억나지?"로 시작하세요.
【풀이 핵심】 칠판에 계산: 50 − 30 = 20 / 20 남김 → 결과는 똑같다! 빈칸 바로 다음 문장이 However로 시작 → '결과는 같지만, 표현이 달라 다른 결정'이라는 흐름.
【오답 설명】 ① serious financial loss는 lose를 보고 고르는 소재 함정.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"몇 번 골랐어?" 다시 확인 → 오답을 하나씩 "이건 왜 아닐까?" 물어보고 → 정답 확인.
【선택지별 설명】
① 심각한 금전적 손실 → lose 연상 함정
② 동일한 결과 = 50−30 = 20, However로 '표현만 다름' 강조
③ 모든 도박 회피 → 실제로 도박을 많이 선택
④ 의사 결정의 큰 부담 → 글에 없음
⑤ 경제적 가치의 오해 → 글에 없음
【마무리 멘트】 "정답 ②은 지문의 근거 문장을 다른 말로 바꾼 거예요. 답은 늘 지문 안에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【진행】 1분 동안 혼자 고르기 → 손가락(1 또는 2)으로 동시에 답 들기 → 정답과 이유 확인. 틀린 학생이 많으면 근거 슬라이드의 파란 형광으로 돌아가 다시 짚어 주세요.
【정답 · 해설】
1. given — 참가자가 '받은' 것 → 수동태
2. framed — 선택지가 '표현된' 것 → 수동태
3. called — call O C의 수동태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숙제로 풀어 온 문제를 그대로 띄운 화면입니다. "몇 번 골랐어?" 손가락으로 표시하게 해서 답 분포를 확인하고, 정답은 아직 말하지 마세요. 많이 고른 오답이 있으면 정답·오답 슬라이드에서 그 선택지를 더 오래 설명하세요.
【한 줄 요약】 This reflection process가 가리킬 '성찰 과정'은 어디서 처음 나오나?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문장 번호 순서대로 읽으며 해설하고, 형광 문장(3, 4번)에서 멈춰 "여기가 정답 근거!"라고 강조하세요. 파란 형광은 문법·내신 포인트예요. 아래 설명을 보고 짚어 주세요.
【문법·내신 포인트 (파란 형광)】
• what you are good at and not so good at
   → 간접의문문: 의문사 what + 주어 + 동사 (전치사 about의 목적어)
• help you get a clearer picture
   → help O 원형: help + 목적어 + (to) 동사원형
• blind spots that may be blocking you from reaching
   → block O from -ing: ~가 …하는 것을 막다 / 주격 관계대명사 that
• It is not only essential in personal development but also critical
   → not only A but also B: It = this reflection process (주어진 문장)
• It is this self-awareness that allows
   → It is ~ that 강조구문: this self-awareness 강조
【변형 패턴】 Ex 95 지문을 문장 삽입으로 바꾼 문제예요.
【풀이 핵심】 주어진 문장의 지시어 This reflection process → 앞에 성찰의 구체적 내용(질문으로 맹점 찾기)이 와야 함. 그리고 ②자리 뒤 It is not only essential …의 It이 '이 성찰 과정'을 받아야 자연스럽다.
【팁】 문장 삽입은 '지시어(this, it)·연결어'를 따라가면 된다. ②를 빼고 읽어 보면 '맹점 질문 → It은 중요하다'에서 It이 무엇인지 애매해지는 '논리의 틈'이 보여요.
【문장별 해석 · 선생님 참고용 (★ = 정답 근거)】
(1) 자신과의 내적 대화 중에 자신이 무엇을 잘하고 무엇을 잘 못하는지 생각해 본 적이 있는가?
(2) 이와 같은 내적 사고 과정은 자신의 강점과 약점에 대해 더 분명한 그림을 얻도록 돕는다.
(3) ★ ( ① ) 그 과정에서, 당신은 목표 달성을 막고 있을지 모르는 맹점을 찾기 위해 스스로에게 일련의 질문을 던질 수 있다.
(4) ★ ( ② ) 그것은 개인의 발전에 필수적일 뿐만 아니라 기업의 성공에도 매우 중요하다.
(5) ( ③ ) 세계에서 가장 꾸준히 혁신적인 회사들은 이런 자기 탐구를 포함하는 문화를 장려한다.
(6) ( ④ ) 예를 들어, 구글은 직원들에게 매주 금요일 자유 시간을 준다.
(7) ( ⑤ ) 그 회사가 혁신적인 제품 개발에 탁월하게 해 주는 것은 바로 이 자기 인식이다.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근거 찾기를 마친 뒤 "그래서 이 글은 한마디로 뭐야?" 하고 정리할 때 띄우세요. 왼쪽 위(빈칸 문장) → 오른쪽(글의 흐름 1~4) → 왼쪽 아래(결정적 단서) 순서로 설명하면 됩니다. 정답은 다음 슬라이드에서 공개!
【변형 패턴】 Ex 95 지문을 문장 삽입으로 바꾼 문제예요.
【풀이 핵심】 주어진 문장의 지시어 This reflection process → 앞에 성찰의 구체적 내용(질문으로 맹점 찾기)이 와야 함. 그리고 ②자리 뒤 It is not only essential …의 It이 '이 성찰 과정'을 받아야 자연스럽다.
【팁】 문장 삽입은 '지시어(this, it)·연결어'를 따라가면 된다. ②를 빼고 읽어 보면 '맹점 질문 → It은 중요하다'에서 It이 무엇인지 애매해지는 '논리의 틈'이 보여요.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"몇 번 골랐어?" 다시 확인 → 오답을 하나씩 "이건 왜 아닐까?" 물어보고 → 정답 확인.
【선택지별 설명】
① 맹점 찾기 질문보다 '문제를 분명히 본다'는 결과가 먼저 나오게 됨
② 질문으로 맹점 찾기 → 이 성찰 과정이 문제를 보게 함 → It(성찰 과정)은 중요
③ It(개인·기업에 중요)이 가리킬 대상이 앞 문장과 끊김
④ 회사 문화 → 구글 예시는 이미 자연스럽게 연결됨
⑤ 구글 예시 → this self-awareness로 이미 연결됨
【마무리 멘트】 "정답 ②은 지문의 근거 문장을 다른 말로 바꾼 거예요. 답은 늘 지문 안에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【진행】 1분 동안 혼자 고르기 → 손가락(1 또는 2)으로 동시에 답 들기 → 정답과 이유 확인. 틀린 학생이 많으면 근거 슬라이드의 파란 형광으로 돌아가 다시 짚어 주세요.
【정답 · 해설】
1. reaching — block O from -ing
2. critical — be동사 보어 형용사 병렬 (essential / critical)
3. includes — 선행사 a culture(단수)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숙제로 풀어 온 문제를 그대로 띄운 화면입니다. "몇 번 골랐어?" 손가락으로 표시하게 해서 답 분포를 확인하고, 정답은 아직 말하지 마세요. 많이 고른 오답이 있으면 정답·오답 슬라이드에서 그 선택지를 더 오래 설명하세요.
【한 줄 요약】 업무 다양성과 '생각·시간'은 같이 늘까, 같이 줄까?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문장 번호 순서대로 읽으며 해설하고, 형광 문장(4, 5번)에서 멈춰 "여기가 정답 근거!"라고 강조하세요. 파란 형광은 문법·내신 포인트예요. 아래 설명을 보고 짚어 주세요.
【문법·내신 포인트 (파란 형광)】
• train workers to perform their jobs
   → train O to V: 목적격 보어 to부정사
• they risk developing trained incapacity
   → risk -ing: ~할 위험이 있다
• At the root of trained incapacity is a job
   → 부사구 도치: 주어 a job (단수) → is
• the amount of thought and time needed to perform a job also decreases
   → 과거분사 후치 · 수일치: time (which is) needed / 주어 the amount → decreases
【변형 패턴】 Ex 100 지문을 어휘 문제로 바꾼 문제예요. Ex 100 원문에는 ⑤가 decreases로 되어 있어요.
【풀이 핵심】 ⑤ 문장은 '다양성 ↓ → 생각·시간 ↓'라는 같은 방향의 비례. 앞 문장 little variety(다양성이 거의 없는)와도 맞아야 하므로 increases가 아니라 decreases.
【팁】 어휘 문제는 '글 전체의 방향(+/−)'과 맞지 않는 단어를 찾는 것. 반의어(increase ↔ decrease)로 바꿔 넣어 보면 정답이 보인다.
【문장별 해석 · 선생님 참고용 (★ = 정답 근거)】
(1) 다국적 기업 같은 공식 조직은 직원들이 일정한 방식으로 업무를 수행하도록 훈련하고 좋은 ①성과에 보상한다.
(2) 그러나 직원들이 업무 지시에 ②아무 생각 없이 반응하도록 훈련받으면, 훈련된 무능을 키울 위험이 있다.
(3) 다시 말해, 직원들은 효율적으로 일하도록 훈련받으면서 다른 중요한 문제를 ③무시한다.
(4) ★ 훈련된 무능의 근원에는 다양성이 거의 없고 ④반복적인 업무가 있다.
(5) ★ Veblen은 업무의 다양성이 ⑤증가할수록(→ 감소할수록) 일을 수행하는 데 필요한 생각과 시간도 감소한다고 주장한다.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근거 찾기를 마친 뒤 "그래서 이 글은 한마디로 뭐야?" 하고 정리할 때 띄우세요. 왼쪽 위(빈칸 문장) → 오른쪽(글의 흐름 1~4) → 왼쪽 아래(결정적 단서) 순서로 설명하면 됩니다. 정답은 다음 슬라이드에서 공개!
【변형 패턴】 Ex 100 지문을 어휘 문제로 바꾼 문제예요. Ex 100 원문에는 ⑤가 decreases로 되어 있어요.
【풀이 핵심】 ⑤ 문장은 '다양성 ↓ → 생각·시간 ↓'라는 같은 방향의 비례. 앞 문장 little variety(다양성이 거의 없는)와도 맞아야 하므로 increases가 아니라 decreases.
【팁】 어휘 문제는 '글 전체의 방향(+/−)'과 맞지 않는 단어를 찾는 것. 반의어(increase ↔ decrease)로 바꿔 넣어 보면 정답이 보인다.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 사용법】 "몇 번 골랐어?" 다시 확인 → 오답을 하나씩 "이건 왜 아닐까?" 물어보고 → 정답 확인.
【선택지별 설명】
① 좋은 성과에 보상 — 적절
② 생각 없이 반응 → 훈련된 무능 — 적절
③ 효율만 좇다 다른 문제를 무시 — 적절
④ little variety와 짝 — 적절
⑤ increases → decreases로 고쳐야 함: 다양성 감소 ↔ 생각·시간 감소
【마무리 멘트】 "정답 ⑤은 지문의 근거 문장을 다른 말로 바꾼 거예요. 답은 늘 지문 안에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【진행】 1분 동안 혼자 고르기 → 손가락(1 또는 2)으로 동시에 답 들기 → 정답과 이유 확인. 틀린 학생이 많으면 근거 슬라이드의 파란 형광으로 돌아가 다시 짚어 주세요.
【정답 · 해설】
1. to perform — train O to V
2. to respond — inability to V (~할 수 없음)
3. decreases — 주어 the amount(단수)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【진행】 번호를 부르면 손 든 학생이 뜻을 말하기 (스피드 퀴즈). 또는 모둠별로 1분 동안 공책에 뜻을 써서 점수 경쟁. 다음 슬라이드에서 정답 공개.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확인】 1. preserve = 보존하다 / 2. heritage = 유산 / 3. identical = 동일한 / 4. inclined = ~하고 싶은 / 5. consistently = 꾸준히 / 6. sophisticated = 정교한 / 7. predator = 포식자 / 8. phenomenon = 현상 / 9. respondent = 응답자 / 10. persistence = 끈기 / 11. incapacity = 무능 / 12. indifferent = 무관심한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【진행】 골든벨처럼 문제마다 화이트보드(또는 손가락 1·2)로 동시에 답 들기 → 틀린 문제는 근거 슬라이드의 파란 형광으로 돌아가 다시 확인. 다음 슬라이드에서 정답 공개.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해설】
1. happen — 주어 cases(복수)
2. consists of — consist는 수동태 불가
3. to clearly see — enable O to V
4. is — 부사구 도치 → 주어 a job(단수)
5. rate — 사역동사 have + O + 동사원형
6. the sooner — the 비교급, the 비교급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 멘트】 "오늘 13문제를 같은 방법으로 풀었어요. 다음 시간에도 요약문부터 읽기 → 주제문·결론 찾기 → 짝으로 검증하기!"
【과제 안내】 틀린 문제의 요약문 (A)·(B)를 본문 속 단어로 다시 찾아 써 오기. 다음 시간 시작 5분 동안 확인하세요.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445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400" b="1" dirty="0">
                <a:solidFill>
                  <a:srgbClr val="FFFFFF"/>
                </a:solidFill>
              </a:defRPr>
            </a:lvl1pPr>
          </a:lstStyle>
          <a:p>
            <a:pPr algn="l" indent="0" marL="0">
              <a:buNone/>
            </a:pPr>
            <a:endParaRPr lang="en-US" sz="4400" dirty="0"/>
          </a:p>
        </p:txBody>
      </p:sp>
      <p:sp>
        <p:nvSpPr>
          <p:cNvPr id="3" name="Text 0"/>
          <p:cNvSpPr/>
          <p:nvPr>
            <p:ph idx="101" type="body" hasCustomPrompt="1"/>
          </p:nvPr>
        </p:nvSpPr>
        <p:spPr>
          <a:xfrm>
            <a:off x="731520" y="3566160"/>
            <a:ext cx="10698480" cy="1280160"/>
          </a:xfrm>
          <a:prstGeom prst="rect">
            <a:avLst/>
          </a:prstGeom>
          <a:noFill/>
          <a:ln/>
        </p:spPr>
        <p:txBody>
          <a:bodyPr wrap="square" rtlCol="0"/>
          <a:lstStyle>
            <a:lvl1pPr algn="l" indent="0" marL="0">
              <a:buNone/>
              <a:defRPr lang="en-US" sz="2000" dirty="0">
                <a:solidFill>
                  <a:srgbClr val="E6F2ED"/>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rtlCol="0"/>
          <a:lstStyle>
            <a:lvl1pPr algn="l" indent="0" marL="0">
              <a:buNone/>
              <a:defRPr lang="en-US" sz="3000" b="1" dirty="0">
                <a:solidFill>
                  <a:srgbClr val="14453D"/>
                </a:solidFill>
              </a:defRPr>
            </a:lvl1pPr>
          </a:lstStyle>
          <a:p>
            <a:pPr algn="l" indent="0" marL="0">
              <a:buNone/>
            </a:pPr>
            <a:endParaRPr lang="en-US" sz="30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E7F7C"/>
                </a:solidFill>
              </a:rPr>
              <a:t>절대수능맵 독해 유형심화 Unit 08 · 요약문 완성의 함정</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2.xml"/><Relationship Id="rId3" Type="http://schemas.openxmlformats.org/officeDocument/2006/relationships/notesSlide" Target="../notesSlides/notesSlide8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914400"/>
            <a:ext cx="822960" cy="822960"/>
          </a:xfrm>
          <a:prstGeom prst="rect">
            <a:avLst/>
          </a:prstGeom>
        </p:spPr>
      </p:pic>
      <p:sp>
        <p:nvSpPr>
          <p:cNvPr id="3" name="Text 0"/>
          <p:cNvSpPr/>
          <p:nvPr>
            <p:ph idx="100" type="title" hasCustomPrompt="1"/>
          </p:nvPr>
        </p:nvSpPr>
        <p:spPr>
          <a:xfrm>
            <a:off x="731520" y="2011680"/>
            <a:ext cx="10698480" cy="1463040"/>
          </a:xfrm>
          <a:prstGeom prst="rect">
            <a:avLst/>
          </a:prstGeom>
          <a:noFill/>
          <a:ln/>
        </p:spPr>
        <p:txBody>
          <a:bodyPr wrap="square" lIns="0" tIns="0" rIns="0" bIns="0" rtlCol="0" anchor="ctr"/>
          <a:lstStyle/>
          <a:p>
            <a:pPr algn="l" indent="0" marL="0">
              <a:buNone/>
            </a:pPr>
            <a:r>
              <a:rPr lang="en-US" sz="4400" b="1" dirty="0">
                <a:solidFill>
                  <a:srgbClr val="FFFFFF"/>
                </a:solidFill>
              </a:rPr>
              <a:t>독해 유형심화 Unit 08  Ex 92–104</a:t>
            </a:r>
            <a:endParaRPr lang="en-US" sz="4400" dirty="0"/>
          </a:p>
        </p:txBody>
      </p:sp>
      <p:sp>
        <p:nvSpPr>
          <p:cNvPr id="4" name="Text 0"/>
          <p:cNvSpPr/>
          <p:nvPr>
            <p:ph idx="101" type="body" hasCustomPrompt="1"/>
          </p:nvPr>
        </p:nvSpPr>
        <p:spPr>
          <a:xfrm>
            <a:off x="731520" y="3566160"/>
            <a:ext cx="10698480" cy="1280160"/>
          </a:xfrm>
          <a:prstGeom prst="rect">
            <a:avLst/>
          </a:prstGeom>
          <a:noFill/>
          <a:ln/>
        </p:spPr>
        <p:txBody>
          <a:bodyPr wrap="square" lIns="0" tIns="0" rIns="0" bIns="0" rtlCol="0" anchor="t"/>
          <a:lstStyle/>
          <a:p>
            <a:pPr algn="l" indent="0" marL="0">
              <a:buNone/>
            </a:pPr>
            <a:r>
              <a:rPr lang="en-US" sz="2000" dirty="0">
                <a:solidFill>
                  <a:srgbClr val="E6F2ED"/>
                </a:solidFill>
              </a:rPr>
              <a:t>요약문 완성 10문항 + 변형 3문항 (빈칸 · 문장 삽입 · 어휘)</a:t>
            </a:r>
            <a:endParaRPr lang="en-US" sz="2000" dirty="0"/>
          </a:p>
          <a:p>
            <a:pPr algn="l" indent="0" marL="0">
              <a:buNone/>
            </a:pPr>
            <a:r>
              <a:rPr lang="en-US" sz="2000" b="1" dirty="0">
                <a:solidFill>
                  <a:srgbClr val="FFD45C"/>
                </a:solidFill>
              </a:rPr>
              <a:t>오늘의 목표: 요약문은 본문의 '다른 말(paraphrase)' 찾기</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14453D"/>
                </a:solidFill>
              </a:rPr>
              <a:t>채점부터! 정답 한눈에 보기</a:t>
            </a:r>
            <a:endParaRPr lang="en-US" sz="3000" dirty="0"/>
          </a:p>
        </p:txBody>
      </p:sp>
      <p:sp>
        <p:nvSpPr>
          <p:cNvPr id="3" name="Shape 1"/>
          <p:cNvSpPr/>
          <p:nvPr/>
        </p:nvSpPr>
        <p:spPr>
          <a:xfrm>
            <a:off x="548640" y="1325880"/>
            <a:ext cx="1416014" cy="2148840"/>
          </a:xfrm>
          <a:prstGeom prst="roundRect">
            <a:avLst>
              <a:gd name="adj" fmla="val 7749"/>
            </a:avLst>
          </a:prstGeom>
          <a:solidFill>
            <a:srgbClr val="E6F2ED"/>
          </a:solidFill>
          <a:ln w="12700">
            <a:solidFill>
              <a:srgbClr val="E6F2ED"/>
            </a:solidFill>
            <a:prstDash val="solid"/>
          </a:ln>
        </p:spPr>
      </p:sp>
      <p:sp>
        <p:nvSpPr>
          <p:cNvPr id="4" name="Text 2"/>
          <p:cNvSpPr txBox="1"/>
          <p:nvPr/>
        </p:nvSpPr>
        <p:spPr>
          <a:xfrm>
            <a:off x="548640" y="1463040"/>
            <a:ext cx="1416014" cy="411480"/>
          </a:xfrm>
          <a:prstGeom prst="rect">
            <a:avLst/>
          </a:prstGeom>
          <a:noFill/>
          <a:ln/>
        </p:spPr>
        <p:txBody>
          <a:bodyPr wrap="square" lIns="0" tIns="0" rIns="0" bIns="0" rtlCol="0" anchor="ctr"/>
          <a:lstStyle/>
          <a:p>
            <a:pPr algn="ctr" indent="0" marL="0">
              <a:buNone/>
            </a:pPr>
            <a:r>
              <a:rPr lang="en-US" sz="1800" b="1" dirty="0">
                <a:solidFill>
                  <a:srgbClr val="14453D"/>
                </a:solidFill>
              </a:rPr>
              <a:t>Ex 92</a:t>
            </a:r>
            <a:endParaRPr lang="en-US" sz="1800" dirty="0"/>
          </a:p>
        </p:txBody>
      </p:sp>
      <p:sp>
        <p:nvSpPr>
          <p:cNvPr id="5" name="Text 3"/>
          <p:cNvSpPr txBox="1"/>
          <p:nvPr/>
        </p:nvSpPr>
        <p:spPr>
          <a:xfrm>
            <a:off x="548640" y="1874520"/>
            <a:ext cx="1416014" cy="1005840"/>
          </a:xfrm>
          <a:prstGeom prst="rect">
            <a:avLst/>
          </a:prstGeom>
          <a:noFill/>
          <a:ln/>
        </p:spPr>
        <p:txBody>
          <a:bodyPr wrap="square" lIns="0" tIns="0" rIns="0" bIns="0" rtlCol="0" anchor="ctr"/>
          <a:lstStyle/>
          <a:p>
            <a:pPr algn="ctr" indent="0" marL="0">
              <a:buNone/>
            </a:pPr>
            <a:r>
              <a:rPr lang="en-US" sz="6000" b="1" dirty="0">
                <a:solidFill>
                  <a:srgbClr val="EF5B3F"/>
                </a:solidFill>
              </a:rPr>
              <a:t>③</a:t>
            </a:r>
            <a:endParaRPr lang="en-US" sz="6000" dirty="0"/>
          </a:p>
        </p:txBody>
      </p:sp>
      <p:sp>
        <p:nvSpPr>
          <p:cNvPr id="6" name="Text 4"/>
          <p:cNvSpPr txBox="1"/>
          <p:nvPr/>
        </p:nvSpPr>
        <p:spPr>
          <a:xfrm>
            <a:off x="548640" y="2971800"/>
            <a:ext cx="1416014" cy="320040"/>
          </a:xfrm>
          <a:prstGeom prst="rect">
            <a:avLst/>
          </a:prstGeom>
          <a:noFill/>
          <a:ln/>
        </p:spPr>
        <p:txBody>
          <a:bodyPr wrap="square" lIns="0" tIns="0" rIns="0" bIns="0" rtlCol="0" anchor="ctr"/>
          <a:lstStyle/>
          <a:p>
            <a:pPr algn="ctr" indent="0" marL="0">
              <a:buNone/>
            </a:pPr>
            <a:r>
              <a:rPr lang="en-US" sz="1300" dirty="0">
                <a:solidFill>
                  <a:srgbClr val="6E7F7C"/>
                </a:solidFill>
              </a:rPr>
              <a:t>요약문</a:t>
            </a:r>
            <a:endParaRPr lang="en-US" sz="1300" dirty="0"/>
          </a:p>
        </p:txBody>
      </p:sp>
      <p:sp>
        <p:nvSpPr>
          <p:cNvPr id="7" name="Shape 5"/>
          <p:cNvSpPr/>
          <p:nvPr/>
        </p:nvSpPr>
        <p:spPr>
          <a:xfrm>
            <a:off x="2129246" y="1325880"/>
            <a:ext cx="1416014" cy="2148840"/>
          </a:xfrm>
          <a:prstGeom prst="roundRect">
            <a:avLst>
              <a:gd name="adj" fmla="val 7749"/>
            </a:avLst>
          </a:prstGeom>
          <a:solidFill>
            <a:srgbClr val="E6F2ED"/>
          </a:solidFill>
          <a:ln w="12700">
            <a:solidFill>
              <a:srgbClr val="E6F2ED"/>
            </a:solidFill>
            <a:prstDash val="solid"/>
          </a:ln>
        </p:spPr>
      </p:sp>
      <p:sp>
        <p:nvSpPr>
          <p:cNvPr id="8" name="Text 6"/>
          <p:cNvSpPr txBox="1"/>
          <p:nvPr/>
        </p:nvSpPr>
        <p:spPr>
          <a:xfrm>
            <a:off x="2129246" y="1463040"/>
            <a:ext cx="1416014" cy="411480"/>
          </a:xfrm>
          <a:prstGeom prst="rect">
            <a:avLst/>
          </a:prstGeom>
          <a:noFill/>
          <a:ln/>
        </p:spPr>
        <p:txBody>
          <a:bodyPr wrap="square" lIns="0" tIns="0" rIns="0" bIns="0" rtlCol="0" anchor="ctr"/>
          <a:lstStyle/>
          <a:p>
            <a:pPr algn="ctr" indent="0" marL="0">
              <a:buNone/>
            </a:pPr>
            <a:r>
              <a:rPr lang="en-US" sz="1800" b="1" dirty="0">
                <a:solidFill>
                  <a:srgbClr val="14453D"/>
                </a:solidFill>
              </a:rPr>
              <a:t>Ex 93</a:t>
            </a:r>
            <a:endParaRPr lang="en-US" sz="1800" dirty="0"/>
          </a:p>
        </p:txBody>
      </p:sp>
      <p:sp>
        <p:nvSpPr>
          <p:cNvPr id="9" name="Text 7"/>
          <p:cNvSpPr txBox="1"/>
          <p:nvPr/>
        </p:nvSpPr>
        <p:spPr>
          <a:xfrm>
            <a:off x="2129246" y="1874520"/>
            <a:ext cx="1416014" cy="1005840"/>
          </a:xfrm>
          <a:prstGeom prst="rect">
            <a:avLst/>
          </a:prstGeom>
          <a:noFill/>
          <a:ln/>
        </p:spPr>
        <p:txBody>
          <a:bodyPr wrap="square" lIns="0" tIns="0" rIns="0" bIns="0" rtlCol="0" anchor="ctr"/>
          <a:lstStyle/>
          <a:p>
            <a:pPr algn="ctr" indent="0" marL="0">
              <a:buNone/>
            </a:pPr>
            <a:r>
              <a:rPr lang="en-US" sz="6000" b="1" dirty="0">
                <a:solidFill>
                  <a:srgbClr val="EF5B3F"/>
                </a:solidFill>
              </a:rPr>
              <a:t>⑤</a:t>
            </a:r>
            <a:endParaRPr lang="en-US" sz="6000" dirty="0"/>
          </a:p>
        </p:txBody>
      </p:sp>
      <p:sp>
        <p:nvSpPr>
          <p:cNvPr id="10" name="Text 8"/>
          <p:cNvSpPr txBox="1"/>
          <p:nvPr/>
        </p:nvSpPr>
        <p:spPr>
          <a:xfrm>
            <a:off x="2129246" y="2971800"/>
            <a:ext cx="1416014" cy="320040"/>
          </a:xfrm>
          <a:prstGeom prst="rect">
            <a:avLst/>
          </a:prstGeom>
          <a:noFill/>
          <a:ln/>
        </p:spPr>
        <p:txBody>
          <a:bodyPr wrap="square" lIns="0" tIns="0" rIns="0" bIns="0" rtlCol="0" anchor="ctr"/>
          <a:lstStyle/>
          <a:p>
            <a:pPr algn="ctr" indent="0" marL="0">
              <a:buNone/>
            </a:pPr>
            <a:r>
              <a:rPr lang="en-US" sz="1300" dirty="0">
                <a:solidFill>
                  <a:srgbClr val="6E7F7C"/>
                </a:solidFill>
              </a:rPr>
              <a:t>요약문</a:t>
            </a:r>
            <a:endParaRPr lang="en-US" sz="1300" dirty="0"/>
          </a:p>
        </p:txBody>
      </p:sp>
      <p:sp>
        <p:nvSpPr>
          <p:cNvPr id="11" name="Shape 9"/>
          <p:cNvSpPr/>
          <p:nvPr/>
        </p:nvSpPr>
        <p:spPr>
          <a:xfrm>
            <a:off x="3709851" y="1325880"/>
            <a:ext cx="1416014" cy="2148840"/>
          </a:xfrm>
          <a:prstGeom prst="roundRect">
            <a:avLst>
              <a:gd name="adj" fmla="val 7749"/>
            </a:avLst>
          </a:prstGeom>
          <a:solidFill>
            <a:srgbClr val="E6F2ED"/>
          </a:solidFill>
          <a:ln w="12700">
            <a:solidFill>
              <a:srgbClr val="E6F2ED"/>
            </a:solidFill>
            <a:prstDash val="solid"/>
          </a:ln>
        </p:spPr>
      </p:sp>
      <p:sp>
        <p:nvSpPr>
          <p:cNvPr id="12" name="Text 10"/>
          <p:cNvSpPr txBox="1"/>
          <p:nvPr/>
        </p:nvSpPr>
        <p:spPr>
          <a:xfrm>
            <a:off x="3709851" y="1463040"/>
            <a:ext cx="1416014" cy="411480"/>
          </a:xfrm>
          <a:prstGeom prst="rect">
            <a:avLst/>
          </a:prstGeom>
          <a:noFill/>
          <a:ln/>
        </p:spPr>
        <p:txBody>
          <a:bodyPr wrap="square" lIns="0" tIns="0" rIns="0" bIns="0" rtlCol="0" anchor="ctr"/>
          <a:lstStyle/>
          <a:p>
            <a:pPr algn="ctr" indent="0" marL="0">
              <a:buNone/>
            </a:pPr>
            <a:r>
              <a:rPr lang="en-US" sz="1800" b="1" dirty="0">
                <a:solidFill>
                  <a:srgbClr val="14453D"/>
                </a:solidFill>
              </a:rPr>
              <a:t>Ex 94</a:t>
            </a:r>
            <a:endParaRPr lang="en-US" sz="1800" dirty="0"/>
          </a:p>
        </p:txBody>
      </p:sp>
      <p:sp>
        <p:nvSpPr>
          <p:cNvPr id="13" name="Text 11"/>
          <p:cNvSpPr txBox="1"/>
          <p:nvPr/>
        </p:nvSpPr>
        <p:spPr>
          <a:xfrm>
            <a:off x="3709851" y="1874520"/>
            <a:ext cx="1416014" cy="1005840"/>
          </a:xfrm>
          <a:prstGeom prst="rect">
            <a:avLst/>
          </a:prstGeom>
          <a:noFill/>
          <a:ln/>
        </p:spPr>
        <p:txBody>
          <a:bodyPr wrap="square" lIns="0" tIns="0" rIns="0" bIns="0" rtlCol="0" anchor="ctr"/>
          <a:lstStyle/>
          <a:p>
            <a:pPr algn="ctr" indent="0" marL="0">
              <a:buNone/>
            </a:pPr>
            <a:r>
              <a:rPr lang="en-US" sz="6000" b="1" dirty="0">
                <a:solidFill>
                  <a:srgbClr val="EF5B3F"/>
                </a:solidFill>
              </a:rPr>
              <a:t>①</a:t>
            </a:r>
            <a:endParaRPr lang="en-US" sz="6000" dirty="0"/>
          </a:p>
        </p:txBody>
      </p:sp>
      <p:sp>
        <p:nvSpPr>
          <p:cNvPr id="14" name="Text 12"/>
          <p:cNvSpPr txBox="1"/>
          <p:nvPr/>
        </p:nvSpPr>
        <p:spPr>
          <a:xfrm>
            <a:off x="3709851" y="2971800"/>
            <a:ext cx="1416014" cy="320040"/>
          </a:xfrm>
          <a:prstGeom prst="rect">
            <a:avLst/>
          </a:prstGeom>
          <a:noFill/>
          <a:ln/>
        </p:spPr>
        <p:txBody>
          <a:bodyPr wrap="square" lIns="0" tIns="0" rIns="0" bIns="0" rtlCol="0" anchor="ctr"/>
          <a:lstStyle/>
          <a:p>
            <a:pPr algn="ctr" indent="0" marL="0">
              <a:buNone/>
            </a:pPr>
            <a:r>
              <a:rPr lang="en-US" sz="1300" dirty="0">
                <a:solidFill>
                  <a:srgbClr val="6E7F7C"/>
                </a:solidFill>
              </a:rPr>
              <a:t>요약문</a:t>
            </a:r>
            <a:endParaRPr lang="en-US" sz="1300" dirty="0"/>
          </a:p>
        </p:txBody>
      </p:sp>
      <p:sp>
        <p:nvSpPr>
          <p:cNvPr id="15" name="Shape 13"/>
          <p:cNvSpPr/>
          <p:nvPr/>
        </p:nvSpPr>
        <p:spPr>
          <a:xfrm>
            <a:off x="5290457" y="1325880"/>
            <a:ext cx="1416014" cy="2148840"/>
          </a:xfrm>
          <a:prstGeom prst="roundRect">
            <a:avLst>
              <a:gd name="adj" fmla="val 7749"/>
            </a:avLst>
          </a:prstGeom>
          <a:solidFill>
            <a:srgbClr val="E6F2ED"/>
          </a:solidFill>
          <a:ln w="12700">
            <a:solidFill>
              <a:srgbClr val="E6F2ED"/>
            </a:solidFill>
            <a:prstDash val="solid"/>
          </a:ln>
        </p:spPr>
      </p:sp>
      <p:sp>
        <p:nvSpPr>
          <p:cNvPr id="16" name="Text 14"/>
          <p:cNvSpPr txBox="1"/>
          <p:nvPr/>
        </p:nvSpPr>
        <p:spPr>
          <a:xfrm>
            <a:off x="5290457" y="1463040"/>
            <a:ext cx="1416014" cy="411480"/>
          </a:xfrm>
          <a:prstGeom prst="rect">
            <a:avLst/>
          </a:prstGeom>
          <a:noFill/>
          <a:ln/>
        </p:spPr>
        <p:txBody>
          <a:bodyPr wrap="square" lIns="0" tIns="0" rIns="0" bIns="0" rtlCol="0" anchor="ctr"/>
          <a:lstStyle/>
          <a:p>
            <a:pPr algn="ctr" indent="0" marL="0">
              <a:buNone/>
            </a:pPr>
            <a:r>
              <a:rPr lang="en-US" sz="1800" b="1" dirty="0">
                <a:solidFill>
                  <a:srgbClr val="14453D"/>
                </a:solidFill>
              </a:rPr>
              <a:t>Ex 95</a:t>
            </a:r>
            <a:endParaRPr lang="en-US" sz="1800" dirty="0"/>
          </a:p>
        </p:txBody>
      </p:sp>
      <p:sp>
        <p:nvSpPr>
          <p:cNvPr id="17" name="Text 15"/>
          <p:cNvSpPr txBox="1"/>
          <p:nvPr/>
        </p:nvSpPr>
        <p:spPr>
          <a:xfrm>
            <a:off x="5290457" y="1874520"/>
            <a:ext cx="1416014" cy="1005840"/>
          </a:xfrm>
          <a:prstGeom prst="rect">
            <a:avLst/>
          </a:prstGeom>
          <a:noFill/>
          <a:ln/>
        </p:spPr>
        <p:txBody>
          <a:bodyPr wrap="square" lIns="0" tIns="0" rIns="0" bIns="0" rtlCol="0" anchor="ctr"/>
          <a:lstStyle/>
          <a:p>
            <a:pPr algn="ctr" indent="0" marL="0">
              <a:buNone/>
            </a:pPr>
            <a:r>
              <a:rPr lang="en-US" sz="6000" b="1" dirty="0">
                <a:solidFill>
                  <a:srgbClr val="EF5B3F"/>
                </a:solidFill>
              </a:rPr>
              <a:t>④</a:t>
            </a:r>
            <a:endParaRPr lang="en-US" sz="6000" dirty="0"/>
          </a:p>
        </p:txBody>
      </p:sp>
      <p:sp>
        <p:nvSpPr>
          <p:cNvPr id="18" name="Text 16"/>
          <p:cNvSpPr txBox="1"/>
          <p:nvPr/>
        </p:nvSpPr>
        <p:spPr>
          <a:xfrm>
            <a:off x="5290457" y="2971800"/>
            <a:ext cx="1416014" cy="320040"/>
          </a:xfrm>
          <a:prstGeom prst="rect">
            <a:avLst/>
          </a:prstGeom>
          <a:noFill/>
          <a:ln/>
        </p:spPr>
        <p:txBody>
          <a:bodyPr wrap="square" lIns="0" tIns="0" rIns="0" bIns="0" rtlCol="0" anchor="ctr"/>
          <a:lstStyle/>
          <a:p>
            <a:pPr algn="ctr" indent="0" marL="0">
              <a:buNone/>
            </a:pPr>
            <a:r>
              <a:rPr lang="en-US" sz="1300" dirty="0">
                <a:solidFill>
                  <a:srgbClr val="6E7F7C"/>
                </a:solidFill>
              </a:rPr>
              <a:t>요약문</a:t>
            </a:r>
            <a:endParaRPr lang="en-US" sz="1300" dirty="0"/>
          </a:p>
        </p:txBody>
      </p:sp>
      <p:sp>
        <p:nvSpPr>
          <p:cNvPr id="19" name="Shape 17"/>
          <p:cNvSpPr/>
          <p:nvPr/>
        </p:nvSpPr>
        <p:spPr>
          <a:xfrm>
            <a:off x="6871063" y="1325880"/>
            <a:ext cx="1416014" cy="2148840"/>
          </a:xfrm>
          <a:prstGeom prst="roundRect">
            <a:avLst>
              <a:gd name="adj" fmla="val 7749"/>
            </a:avLst>
          </a:prstGeom>
          <a:solidFill>
            <a:srgbClr val="E6F2ED"/>
          </a:solidFill>
          <a:ln w="12700">
            <a:solidFill>
              <a:srgbClr val="E6F2ED"/>
            </a:solidFill>
            <a:prstDash val="solid"/>
          </a:ln>
        </p:spPr>
      </p:sp>
      <p:sp>
        <p:nvSpPr>
          <p:cNvPr id="20" name="Text 18"/>
          <p:cNvSpPr txBox="1"/>
          <p:nvPr/>
        </p:nvSpPr>
        <p:spPr>
          <a:xfrm>
            <a:off x="6871063" y="1463040"/>
            <a:ext cx="1416014" cy="411480"/>
          </a:xfrm>
          <a:prstGeom prst="rect">
            <a:avLst/>
          </a:prstGeom>
          <a:noFill/>
          <a:ln/>
        </p:spPr>
        <p:txBody>
          <a:bodyPr wrap="square" lIns="0" tIns="0" rIns="0" bIns="0" rtlCol="0" anchor="ctr"/>
          <a:lstStyle/>
          <a:p>
            <a:pPr algn="ctr" indent="0" marL="0">
              <a:buNone/>
            </a:pPr>
            <a:r>
              <a:rPr lang="en-US" sz="1800" b="1" dirty="0">
                <a:solidFill>
                  <a:srgbClr val="14453D"/>
                </a:solidFill>
              </a:rPr>
              <a:t>Ex 96</a:t>
            </a:r>
            <a:endParaRPr lang="en-US" sz="1800" dirty="0"/>
          </a:p>
        </p:txBody>
      </p:sp>
      <p:sp>
        <p:nvSpPr>
          <p:cNvPr id="21" name="Text 19"/>
          <p:cNvSpPr txBox="1"/>
          <p:nvPr/>
        </p:nvSpPr>
        <p:spPr>
          <a:xfrm>
            <a:off x="6871063" y="1874520"/>
            <a:ext cx="1416014" cy="1005840"/>
          </a:xfrm>
          <a:prstGeom prst="rect">
            <a:avLst/>
          </a:prstGeom>
          <a:noFill/>
          <a:ln/>
        </p:spPr>
        <p:txBody>
          <a:bodyPr wrap="square" lIns="0" tIns="0" rIns="0" bIns="0" rtlCol="0" anchor="ctr"/>
          <a:lstStyle/>
          <a:p>
            <a:pPr algn="ctr" indent="0" marL="0">
              <a:buNone/>
            </a:pPr>
            <a:r>
              <a:rPr lang="en-US" sz="6000" b="1" dirty="0">
                <a:solidFill>
                  <a:srgbClr val="EF5B3F"/>
                </a:solidFill>
              </a:rPr>
              <a:t>②</a:t>
            </a:r>
            <a:endParaRPr lang="en-US" sz="6000" dirty="0"/>
          </a:p>
        </p:txBody>
      </p:sp>
      <p:sp>
        <p:nvSpPr>
          <p:cNvPr id="22" name="Text 20"/>
          <p:cNvSpPr txBox="1"/>
          <p:nvPr/>
        </p:nvSpPr>
        <p:spPr>
          <a:xfrm>
            <a:off x="6871063" y="2971800"/>
            <a:ext cx="1416014" cy="320040"/>
          </a:xfrm>
          <a:prstGeom prst="rect">
            <a:avLst/>
          </a:prstGeom>
          <a:noFill/>
          <a:ln/>
        </p:spPr>
        <p:txBody>
          <a:bodyPr wrap="square" lIns="0" tIns="0" rIns="0" bIns="0" rtlCol="0" anchor="ctr"/>
          <a:lstStyle/>
          <a:p>
            <a:pPr algn="ctr" indent="0" marL="0">
              <a:buNone/>
            </a:pPr>
            <a:r>
              <a:rPr lang="en-US" sz="1300" dirty="0">
                <a:solidFill>
                  <a:srgbClr val="6E7F7C"/>
                </a:solidFill>
              </a:rPr>
              <a:t>요약문</a:t>
            </a:r>
            <a:endParaRPr lang="en-US" sz="1300" dirty="0"/>
          </a:p>
        </p:txBody>
      </p:sp>
      <p:sp>
        <p:nvSpPr>
          <p:cNvPr id="23" name="Shape 21"/>
          <p:cNvSpPr/>
          <p:nvPr/>
        </p:nvSpPr>
        <p:spPr>
          <a:xfrm>
            <a:off x="8451669" y="1325880"/>
            <a:ext cx="1416014" cy="2148840"/>
          </a:xfrm>
          <a:prstGeom prst="roundRect">
            <a:avLst>
              <a:gd name="adj" fmla="val 7749"/>
            </a:avLst>
          </a:prstGeom>
          <a:solidFill>
            <a:srgbClr val="E6F2ED"/>
          </a:solidFill>
          <a:ln w="12700">
            <a:solidFill>
              <a:srgbClr val="E6F2ED"/>
            </a:solidFill>
            <a:prstDash val="solid"/>
          </a:ln>
        </p:spPr>
      </p:sp>
      <p:sp>
        <p:nvSpPr>
          <p:cNvPr id="24" name="Text 22"/>
          <p:cNvSpPr txBox="1"/>
          <p:nvPr/>
        </p:nvSpPr>
        <p:spPr>
          <a:xfrm>
            <a:off x="8451669" y="1463040"/>
            <a:ext cx="1416014" cy="411480"/>
          </a:xfrm>
          <a:prstGeom prst="rect">
            <a:avLst/>
          </a:prstGeom>
          <a:noFill/>
          <a:ln/>
        </p:spPr>
        <p:txBody>
          <a:bodyPr wrap="square" lIns="0" tIns="0" rIns="0" bIns="0" rtlCol="0" anchor="ctr"/>
          <a:lstStyle/>
          <a:p>
            <a:pPr algn="ctr" indent="0" marL="0">
              <a:buNone/>
            </a:pPr>
            <a:r>
              <a:rPr lang="en-US" sz="1800" b="1" dirty="0">
                <a:solidFill>
                  <a:srgbClr val="14453D"/>
                </a:solidFill>
              </a:rPr>
              <a:t>Ex 97</a:t>
            </a:r>
            <a:endParaRPr lang="en-US" sz="1800" dirty="0"/>
          </a:p>
        </p:txBody>
      </p:sp>
      <p:sp>
        <p:nvSpPr>
          <p:cNvPr id="25" name="Text 23"/>
          <p:cNvSpPr txBox="1"/>
          <p:nvPr/>
        </p:nvSpPr>
        <p:spPr>
          <a:xfrm>
            <a:off x="8451669" y="1874520"/>
            <a:ext cx="1416014" cy="1005840"/>
          </a:xfrm>
          <a:prstGeom prst="rect">
            <a:avLst/>
          </a:prstGeom>
          <a:noFill/>
          <a:ln/>
        </p:spPr>
        <p:txBody>
          <a:bodyPr wrap="square" lIns="0" tIns="0" rIns="0" bIns="0" rtlCol="0" anchor="ctr"/>
          <a:lstStyle/>
          <a:p>
            <a:pPr algn="ctr" indent="0" marL="0">
              <a:buNone/>
            </a:pPr>
            <a:r>
              <a:rPr lang="en-US" sz="6000" b="1" dirty="0">
                <a:solidFill>
                  <a:srgbClr val="EF5B3F"/>
                </a:solidFill>
              </a:rPr>
              <a:t>④</a:t>
            </a:r>
            <a:endParaRPr lang="en-US" sz="6000" dirty="0"/>
          </a:p>
        </p:txBody>
      </p:sp>
      <p:sp>
        <p:nvSpPr>
          <p:cNvPr id="26" name="Text 24"/>
          <p:cNvSpPr txBox="1"/>
          <p:nvPr/>
        </p:nvSpPr>
        <p:spPr>
          <a:xfrm>
            <a:off x="8451669" y="2971800"/>
            <a:ext cx="1416014" cy="320040"/>
          </a:xfrm>
          <a:prstGeom prst="rect">
            <a:avLst/>
          </a:prstGeom>
          <a:noFill/>
          <a:ln/>
        </p:spPr>
        <p:txBody>
          <a:bodyPr wrap="square" lIns="0" tIns="0" rIns="0" bIns="0" rtlCol="0" anchor="ctr"/>
          <a:lstStyle/>
          <a:p>
            <a:pPr algn="ctr" indent="0" marL="0">
              <a:buNone/>
            </a:pPr>
            <a:r>
              <a:rPr lang="en-US" sz="1300" dirty="0">
                <a:solidFill>
                  <a:srgbClr val="6E7F7C"/>
                </a:solidFill>
              </a:rPr>
              <a:t>요약문</a:t>
            </a:r>
            <a:endParaRPr lang="en-US" sz="1300" dirty="0"/>
          </a:p>
        </p:txBody>
      </p:sp>
      <p:sp>
        <p:nvSpPr>
          <p:cNvPr id="27" name="Shape 25"/>
          <p:cNvSpPr/>
          <p:nvPr/>
        </p:nvSpPr>
        <p:spPr>
          <a:xfrm>
            <a:off x="10032274" y="1325880"/>
            <a:ext cx="1416014" cy="2148840"/>
          </a:xfrm>
          <a:prstGeom prst="roundRect">
            <a:avLst>
              <a:gd name="adj" fmla="val 7749"/>
            </a:avLst>
          </a:prstGeom>
          <a:solidFill>
            <a:srgbClr val="E6F2ED"/>
          </a:solidFill>
          <a:ln w="12700">
            <a:solidFill>
              <a:srgbClr val="E6F2ED"/>
            </a:solidFill>
            <a:prstDash val="solid"/>
          </a:ln>
        </p:spPr>
      </p:sp>
      <p:sp>
        <p:nvSpPr>
          <p:cNvPr id="28" name="Text 26"/>
          <p:cNvSpPr txBox="1"/>
          <p:nvPr/>
        </p:nvSpPr>
        <p:spPr>
          <a:xfrm>
            <a:off x="10032274" y="1463040"/>
            <a:ext cx="1416014" cy="411480"/>
          </a:xfrm>
          <a:prstGeom prst="rect">
            <a:avLst/>
          </a:prstGeom>
          <a:noFill/>
          <a:ln/>
        </p:spPr>
        <p:txBody>
          <a:bodyPr wrap="square" lIns="0" tIns="0" rIns="0" bIns="0" rtlCol="0" anchor="ctr"/>
          <a:lstStyle/>
          <a:p>
            <a:pPr algn="ctr" indent="0" marL="0">
              <a:buNone/>
            </a:pPr>
            <a:r>
              <a:rPr lang="en-US" sz="1800" b="1" dirty="0">
                <a:solidFill>
                  <a:srgbClr val="14453D"/>
                </a:solidFill>
              </a:rPr>
              <a:t>Ex 98</a:t>
            </a:r>
            <a:endParaRPr lang="en-US" sz="1800" dirty="0"/>
          </a:p>
        </p:txBody>
      </p:sp>
      <p:sp>
        <p:nvSpPr>
          <p:cNvPr id="29" name="Text 27"/>
          <p:cNvSpPr txBox="1"/>
          <p:nvPr/>
        </p:nvSpPr>
        <p:spPr>
          <a:xfrm>
            <a:off x="10032274" y="1874520"/>
            <a:ext cx="1416014" cy="1005840"/>
          </a:xfrm>
          <a:prstGeom prst="rect">
            <a:avLst/>
          </a:prstGeom>
          <a:noFill/>
          <a:ln/>
        </p:spPr>
        <p:txBody>
          <a:bodyPr wrap="square" lIns="0" tIns="0" rIns="0" bIns="0" rtlCol="0" anchor="ctr"/>
          <a:lstStyle/>
          <a:p>
            <a:pPr algn="ctr" indent="0" marL="0">
              <a:buNone/>
            </a:pPr>
            <a:r>
              <a:rPr lang="en-US" sz="6000" b="1" dirty="0">
                <a:solidFill>
                  <a:srgbClr val="EF5B3F"/>
                </a:solidFill>
              </a:rPr>
              <a:t>①</a:t>
            </a:r>
            <a:endParaRPr lang="en-US" sz="6000" dirty="0"/>
          </a:p>
        </p:txBody>
      </p:sp>
      <p:sp>
        <p:nvSpPr>
          <p:cNvPr id="30" name="Text 28"/>
          <p:cNvSpPr txBox="1"/>
          <p:nvPr/>
        </p:nvSpPr>
        <p:spPr>
          <a:xfrm>
            <a:off x="10032274" y="2971800"/>
            <a:ext cx="1416014" cy="320040"/>
          </a:xfrm>
          <a:prstGeom prst="rect">
            <a:avLst/>
          </a:prstGeom>
          <a:noFill/>
          <a:ln/>
        </p:spPr>
        <p:txBody>
          <a:bodyPr wrap="square" lIns="0" tIns="0" rIns="0" bIns="0" rtlCol="0" anchor="ctr"/>
          <a:lstStyle/>
          <a:p>
            <a:pPr algn="ctr" indent="0" marL="0">
              <a:buNone/>
            </a:pPr>
            <a:r>
              <a:rPr lang="en-US" sz="1300" dirty="0">
                <a:solidFill>
                  <a:srgbClr val="6E7F7C"/>
                </a:solidFill>
              </a:rPr>
              <a:t>요약문</a:t>
            </a:r>
            <a:endParaRPr lang="en-US" sz="1300" dirty="0"/>
          </a:p>
        </p:txBody>
      </p:sp>
      <p:sp>
        <p:nvSpPr>
          <p:cNvPr id="31" name="Shape 29"/>
          <p:cNvSpPr/>
          <p:nvPr/>
        </p:nvSpPr>
        <p:spPr>
          <a:xfrm>
            <a:off x="548640" y="3703320"/>
            <a:ext cx="1416014" cy="2148840"/>
          </a:xfrm>
          <a:prstGeom prst="roundRect">
            <a:avLst>
              <a:gd name="adj" fmla="val 7749"/>
            </a:avLst>
          </a:prstGeom>
          <a:solidFill>
            <a:srgbClr val="E6F2ED"/>
          </a:solidFill>
          <a:ln w="12700">
            <a:solidFill>
              <a:srgbClr val="E6F2ED"/>
            </a:solidFill>
            <a:prstDash val="solid"/>
          </a:ln>
        </p:spPr>
      </p:sp>
      <p:sp>
        <p:nvSpPr>
          <p:cNvPr id="32" name="Text 30"/>
          <p:cNvSpPr txBox="1"/>
          <p:nvPr/>
        </p:nvSpPr>
        <p:spPr>
          <a:xfrm>
            <a:off x="548640" y="3840480"/>
            <a:ext cx="1416014" cy="411480"/>
          </a:xfrm>
          <a:prstGeom prst="rect">
            <a:avLst/>
          </a:prstGeom>
          <a:noFill/>
          <a:ln/>
        </p:spPr>
        <p:txBody>
          <a:bodyPr wrap="square" lIns="0" tIns="0" rIns="0" bIns="0" rtlCol="0" anchor="ctr"/>
          <a:lstStyle/>
          <a:p>
            <a:pPr algn="ctr" indent="0" marL="0">
              <a:buNone/>
            </a:pPr>
            <a:r>
              <a:rPr lang="en-US" sz="1800" b="1" dirty="0">
                <a:solidFill>
                  <a:srgbClr val="14453D"/>
                </a:solidFill>
              </a:rPr>
              <a:t>Ex 99</a:t>
            </a:r>
            <a:endParaRPr lang="en-US" sz="1800" dirty="0"/>
          </a:p>
        </p:txBody>
      </p:sp>
      <p:sp>
        <p:nvSpPr>
          <p:cNvPr id="33" name="Text 31"/>
          <p:cNvSpPr txBox="1"/>
          <p:nvPr/>
        </p:nvSpPr>
        <p:spPr>
          <a:xfrm>
            <a:off x="548640" y="4251960"/>
            <a:ext cx="1416014" cy="1005840"/>
          </a:xfrm>
          <a:prstGeom prst="rect">
            <a:avLst/>
          </a:prstGeom>
          <a:noFill/>
          <a:ln/>
        </p:spPr>
        <p:txBody>
          <a:bodyPr wrap="square" lIns="0" tIns="0" rIns="0" bIns="0" rtlCol="0" anchor="ctr"/>
          <a:lstStyle/>
          <a:p>
            <a:pPr algn="ctr" indent="0" marL="0">
              <a:buNone/>
            </a:pPr>
            <a:r>
              <a:rPr lang="en-US" sz="6000" b="1" dirty="0">
                <a:solidFill>
                  <a:srgbClr val="EF5B3F"/>
                </a:solidFill>
              </a:rPr>
              <a:t>②</a:t>
            </a:r>
            <a:endParaRPr lang="en-US" sz="6000" dirty="0"/>
          </a:p>
        </p:txBody>
      </p:sp>
      <p:sp>
        <p:nvSpPr>
          <p:cNvPr id="34" name="Text 32"/>
          <p:cNvSpPr txBox="1"/>
          <p:nvPr/>
        </p:nvSpPr>
        <p:spPr>
          <a:xfrm>
            <a:off x="548640" y="5349240"/>
            <a:ext cx="1416014" cy="320040"/>
          </a:xfrm>
          <a:prstGeom prst="rect">
            <a:avLst/>
          </a:prstGeom>
          <a:noFill/>
          <a:ln/>
        </p:spPr>
        <p:txBody>
          <a:bodyPr wrap="square" lIns="0" tIns="0" rIns="0" bIns="0" rtlCol="0" anchor="ctr"/>
          <a:lstStyle/>
          <a:p>
            <a:pPr algn="ctr" indent="0" marL="0">
              <a:buNone/>
            </a:pPr>
            <a:r>
              <a:rPr lang="en-US" sz="1300" dirty="0">
                <a:solidFill>
                  <a:srgbClr val="6E7F7C"/>
                </a:solidFill>
              </a:rPr>
              <a:t>요약문</a:t>
            </a:r>
            <a:endParaRPr lang="en-US" sz="1300" dirty="0"/>
          </a:p>
        </p:txBody>
      </p:sp>
      <p:sp>
        <p:nvSpPr>
          <p:cNvPr id="35" name="Shape 33"/>
          <p:cNvSpPr/>
          <p:nvPr/>
        </p:nvSpPr>
        <p:spPr>
          <a:xfrm>
            <a:off x="2129246" y="3703320"/>
            <a:ext cx="1416014" cy="2148840"/>
          </a:xfrm>
          <a:prstGeom prst="roundRect">
            <a:avLst>
              <a:gd name="adj" fmla="val 7749"/>
            </a:avLst>
          </a:prstGeom>
          <a:solidFill>
            <a:srgbClr val="E6F2ED"/>
          </a:solidFill>
          <a:ln w="12700">
            <a:solidFill>
              <a:srgbClr val="E6F2ED"/>
            </a:solidFill>
            <a:prstDash val="solid"/>
          </a:ln>
        </p:spPr>
      </p:sp>
      <p:sp>
        <p:nvSpPr>
          <p:cNvPr id="36" name="Text 34"/>
          <p:cNvSpPr txBox="1"/>
          <p:nvPr/>
        </p:nvSpPr>
        <p:spPr>
          <a:xfrm>
            <a:off x="2129246" y="3840480"/>
            <a:ext cx="1416014" cy="411480"/>
          </a:xfrm>
          <a:prstGeom prst="rect">
            <a:avLst/>
          </a:prstGeom>
          <a:noFill/>
          <a:ln/>
        </p:spPr>
        <p:txBody>
          <a:bodyPr wrap="square" lIns="0" tIns="0" rIns="0" bIns="0" rtlCol="0" anchor="ctr"/>
          <a:lstStyle/>
          <a:p>
            <a:pPr algn="ctr" indent="0" marL="0">
              <a:buNone/>
            </a:pPr>
            <a:r>
              <a:rPr lang="en-US" sz="1800" b="1" dirty="0">
                <a:solidFill>
                  <a:srgbClr val="14453D"/>
                </a:solidFill>
              </a:rPr>
              <a:t>Ex 100</a:t>
            </a:r>
            <a:endParaRPr lang="en-US" sz="1800" dirty="0"/>
          </a:p>
        </p:txBody>
      </p:sp>
      <p:sp>
        <p:nvSpPr>
          <p:cNvPr id="37" name="Text 35"/>
          <p:cNvSpPr txBox="1"/>
          <p:nvPr/>
        </p:nvSpPr>
        <p:spPr>
          <a:xfrm>
            <a:off x="2129246" y="4251960"/>
            <a:ext cx="1416014" cy="1005840"/>
          </a:xfrm>
          <a:prstGeom prst="rect">
            <a:avLst/>
          </a:prstGeom>
          <a:noFill/>
          <a:ln/>
        </p:spPr>
        <p:txBody>
          <a:bodyPr wrap="square" lIns="0" tIns="0" rIns="0" bIns="0" rtlCol="0" anchor="ctr"/>
          <a:lstStyle/>
          <a:p>
            <a:pPr algn="ctr" indent="0" marL="0">
              <a:buNone/>
            </a:pPr>
            <a:r>
              <a:rPr lang="en-US" sz="6000" b="1" dirty="0">
                <a:solidFill>
                  <a:srgbClr val="EF5B3F"/>
                </a:solidFill>
              </a:rPr>
              <a:t>④</a:t>
            </a:r>
            <a:endParaRPr lang="en-US" sz="6000" dirty="0"/>
          </a:p>
        </p:txBody>
      </p:sp>
      <p:sp>
        <p:nvSpPr>
          <p:cNvPr id="38" name="Text 36"/>
          <p:cNvSpPr txBox="1"/>
          <p:nvPr/>
        </p:nvSpPr>
        <p:spPr>
          <a:xfrm>
            <a:off x="2129246" y="5349240"/>
            <a:ext cx="1416014" cy="320040"/>
          </a:xfrm>
          <a:prstGeom prst="rect">
            <a:avLst/>
          </a:prstGeom>
          <a:noFill/>
          <a:ln/>
        </p:spPr>
        <p:txBody>
          <a:bodyPr wrap="square" lIns="0" tIns="0" rIns="0" bIns="0" rtlCol="0" anchor="ctr"/>
          <a:lstStyle/>
          <a:p>
            <a:pPr algn="ctr" indent="0" marL="0">
              <a:buNone/>
            </a:pPr>
            <a:r>
              <a:rPr lang="en-US" sz="1300" dirty="0">
                <a:solidFill>
                  <a:srgbClr val="6E7F7C"/>
                </a:solidFill>
              </a:rPr>
              <a:t>요약문</a:t>
            </a:r>
            <a:endParaRPr lang="en-US" sz="1300" dirty="0"/>
          </a:p>
        </p:txBody>
      </p:sp>
      <p:sp>
        <p:nvSpPr>
          <p:cNvPr id="39" name="Shape 37"/>
          <p:cNvSpPr/>
          <p:nvPr/>
        </p:nvSpPr>
        <p:spPr>
          <a:xfrm>
            <a:off x="3709851" y="3703320"/>
            <a:ext cx="1416014" cy="2148840"/>
          </a:xfrm>
          <a:prstGeom prst="roundRect">
            <a:avLst>
              <a:gd name="adj" fmla="val 7749"/>
            </a:avLst>
          </a:prstGeom>
          <a:solidFill>
            <a:srgbClr val="E6F2ED"/>
          </a:solidFill>
          <a:ln w="12700">
            <a:solidFill>
              <a:srgbClr val="E6F2ED"/>
            </a:solidFill>
            <a:prstDash val="solid"/>
          </a:ln>
        </p:spPr>
      </p:sp>
      <p:sp>
        <p:nvSpPr>
          <p:cNvPr id="40" name="Text 38"/>
          <p:cNvSpPr txBox="1"/>
          <p:nvPr/>
        </p:nvSpPr>
        <p:spPr>
          <a:xfrm>
            <a:off x="3709851" y="3840480"/>
            <a:ext cx="1416014" cy="411480"/>
          </a:xfrm>
          <a:prstGeom prst="rect">
            <a:avLst/>
          </a:prstGeom>
          <a:noFill/>
          <a:ln/>
        </p:spPr>
        <p:txBody>
          <a:bodyPr wrap="square" lIns="0" tIns="0" rIns="0" bIns="0" rtlCol="0" anchor="ctr"/>
          <a:lstStyle/>
          <a:p>
            <a:pPr algn="ctr" indent="0" marL="0">
              <a:buNone/>
            </a:pPr>
            <a:r>
              <a:rPr lang="en-US" sz="1800" b="1" dirty="0">
                <a:solidFill>
                  <a:srgbClr val="14453D"/>
                </a:solidFill>
              </a:rPr>
              <a:t>Ex 101</a:t>
            </a:r>
            <a:endParaRPr lang="en-US" sz="1800" dirty="0"/>
          </a:p>
        </p:txBody>
      </p:sp>
      <p:sp>
        <p:nvSpPr>
          <p:cNvPr id="41" name="Text 39"/>
          <p:cNvSpPr txBox="1"/>
          <p:nvPr/>
        </p:nvSpPr>
        <p:spPr>
          <a:xfrm>
            <a:off x="3709851" y="4251960"/>
            <a:ext cx="1416014" cy="1005840"/>
          </a:xfrm>
          <a:prstGeom prst="rect">
            <a:avLst/>
          </a:prstGeom>
          <a:noFill/>
          <a:ln/>
        </p:spPr>
        <p:txBody>
          <a:bodyPr wrap="square" lIns="0" tIns="0" rIns="0" bIns="0" rtlCol="0" anchor="ctr"/>
          <a:lstStyle/>
          <a:p>
            <a:pPr algn="ctr" indent="0" marL="0">
              <a:buNone/>
            </a:pPr>
            <a:r>
              <a:rPr lang="en-US" sz="6000" b="1" dirty="0">
                <a:solidFill>
                  <a:srgbClr val="EF5B3F"/>
                </a:solidFill>
              </a:rPr>
              <a:t>①</a:t>
            </a:r>
            <a:endParaRPr lang="en-US" sz="6000" dirty="0"/>
          </a:p>
        </p:txBody>
      </p:sp>
      <p:sp>
        <p:nvSpPr>
          <p:cNvPr id="42" name="Text 40"/>
          <p:cNvSpPr txBox="1"/>
          <p:nvPr/>
        </p:nvSpPr>
        <p:spPr>
          <a:xfrm>
            <a:off x="3709851" y="5349240"/>
            <a:ext cx="1416014" cy="320040"/>
          </a:xfrm>
          <a:prstGeom prst="rect">
            <a:avLst/>
          </a:prstGeom>
          <a:noFill/>
          <a:ln/>
        </p:spPr>
        <p:txBody>
          <a:bodyPr wrap="square" lIns="0" tIns="0" rIns="0" bIns="0" rtlCol="0" anchor="ctr"/>
          <a:lstStyle/>
          <a:p>
            <a:pPr algn="ctr" indent="0" marL="0">
              <a:buNone/>
            </a:pPr>
            <a:r>
              <a:rPr lang="en-US" sz="1300" dirty="0">
                <a:solidFill>
                  <a:srgbClr val="6E7F7C"/>
                </a:solidFill>
              </a:rPr>
              <a:t>요약문</a:t>
            </a:r>
            <a:endParaRPr lang="en-US" sz="1300" dirty="0"/>
          </a:p>
        </p:txBody>
      </p:sp>
      <p:sp>
        <p:nvSpPr>
          <p:cNvPr id="43" name="Shape 41"/>
          <p:cNvSpPr/>
          <p:nvPr/>
        </p:nvSpPr>
        <p:spPr>
          <a:xfrm>
            <a:off x="5290457" y="3703320"/>
            <a:ext cx="1416014" cy="2148840"/>
          </a:xfrm>
          <a:prstGeom prst="roundRect">
            <a:avLst>
              <a:gd name="adj" fmla="val 7749"/>
            </a:avLst>
          </a:prstGeom>
          <a:solidFill>
            <a:srgbClr val="E6F2ED"/>
          </a:solidFill>
          <a:ln w="12700">
            <a:solidFill>
              <a:srgbClr val="E6F2ED"/>
            </a:solidFill>
            <a:prstDash val="solid"/>
          </a:ln>
        </p:spPr>
      </p:sp>
      <p:sp>
        <p:nvSpPr>
          <p:cNvPr id="44" name="Text 42"/>
          <p:cNvSpPr txBox="1"/>
          <p:nvPr/>
        </p:nvSpPr>
        <p:spPr>
          <a:xfrm>
            <a:off x="5290457" y="3840480"/>
            <a:ext cx="1416014" cy="411480"/>
          </a:xfrm>
          <a:prstGeom prst="rect">
            <a:avLst/>
          </a:prstGeom>
          <a:noFill/>
          <a:ln/>
        </p:spPr>
        <p:txBody>
          <a:bodyPr wrap="square" lIns="0" tIns="0" rIns="0" bIns="0" rtlCol="0" anchor="ctr"/>
          <a:lstStyle/>
          <a:p>
            <a:pPr algn="ctr" indent="0" marL="0">
              <a:buNone/>
            </a:pPr>
            <a:r>
              <a:rPr lang="en-US" sz="1800" b="1" dirty="0">
                <a:solidFill>
                  <a:srgbClr val="14453D"/>
                </a:solidFill>
              </a:rPr>
              <a:t>Ex 102</a:t>
            </a:r>
            <a:endParaRPr lang="en-US" sz="1800" dirty="0"/>
          </a:p>
        </p:txBody>
      </p:sp>
      <p:sp>
        <p:nvSpPr>
          <p:cNvPr id="45" name="Text 43"/>
          <p:cNvSpPr txBox="1"/>
          <p:nvPr/>
        </p:nvSpPr>
        <p:spPr>
          <a:xfrm>
            <a:off x="5290457" y="4251960"/>
            <a:ext cx="1416014" cy="1005840"/>
          </a:xfrm>
          <a:prstGeom prst="rect">
            <a:avLst/>
          </a:prstGeom>
          <a:noFill/>
          <a:ln/>
        </p:spPr>
        <p:txBody>
          <a:bodyPr wrap="square" lIns="0" tIns="0" rIns="0" bIns="0" rtlCol="0" anchor="ctr"/>
          <a:lstStyle/>
          <a:p>
            <a:pPr algn="ctr" indent="0" marL="0">
              <a:buNone/>
            </a:pPr>
            <a:r>
              <a:rPr lang="en-US" sz="6000" b="1" dirty="0">
                <a:solidFill>
                  <a:srgbClr val="EF5B3F"/>
                </a:solidFill>
              </a:rPr>
              <a:t>②</a:t>
            </a:r>
            <a:endParaRPr lang="en-US" sz="6000" dirty="0"/>
          </a:p>
        </p:txBody>
      </p:sp>
      <p:sp>
        <p:nvSpPr>
          <p:cNvPr id="46" name="Text 44"/>
          <p:cNvSpPr txBox="1"/>
          <p:nvPr/>
        </p:nvSpPr>
        <p:spPr>
          <a:xfrm>
            <a:off x="5290457" y="5349240"/>
            <a:ext cx="1416014" cy="320040"/>
          </a:xfrm>
          <a:prstGeom prst="rect">
            <a:avLst/>
          </a:prstGeom>
          <a:noFill/>
          <a:ln/>
        </p:spPr>
        <p:txBody>
          <a:bodyPr wrap="square" lIns="0" tIns="0" rIns="0" bIns="0" rtlCol="0" anchor="ctr"/>
          <a:lstStyle/>
          <a:p>
            <a:pPr algn="ctr" indent="0" marL="0">
              <a:buNone/>
            </a:pPr>
            <a:r>
              <a:rPr lang="en-US" sz="1300" dirty="0">
                <a:solidFill>
                  <a:srgbClr val="6E7F7C"/>
                </a:solidFill>
              </a:rPr>
              <a:t>빈칸</a:t>
            </a:r>
            <a:endParaRPr lang="en-US" sz="1300" dirty="0"/>
          </a:p>
        </p:txBody>
      </p:sp>
      <p:sp>
        <p:nvSpPr>
          <p:cNvPr id="47" name="Shape 45"/>
          <p:cNvSpPr/>
          <p:nvPr/>
        </p:nvSpPr>
        <p:spPr>
          <a:xfrm>
            <a:off x="6871063" y="3703320"/>
            <a:ext cx="1416014" cy="2148840"/>
          </a:xfrm>
          <a:prstGeom prst="roundRect">
            <a:avLst>
              <a:gd name="adj" fmla="val 7749"/>
            </a:avLst>
          </a:prstGeom>
          <a:solidFill>
            <a:srgbClr val="E6F2ED"/>
          </a:solidFill>
          <a:ln w="12700">
            <a:solidFill>
              <a:srgbClr val="E6F2ED"/>
            </a:solidFill>
            <a:prstDash val="solid"/>
          </a:ln>
        </p:spPr>
      </p:sp>
      <p:sp>
        <p:nvSpPr>
          <p:cNvPr id="48" name="Text 46"/>
          <p:cNvSpPr txBox="1"/>
          <p:nvPr/>
        </p:nvSpPr>
        <p:spPr>
          <a:xfrm>
            <a:off x="6871063" y="3840480"/>
            <a:ext cx="1416014" cy="411480"/>
          </a:xfrm>
          <a:prstGeom prst="rect">
            <a:avLst/>
          </a:prstGeom>
          <a:noFill/>
          <a:ln/>
        </p:spPr>
        <p:txBody>
          <a:bodyPr wrap="square" lIns="0" tIns="0" rIns="0" bIns="0" rtlCol="0" anchor="ctr"/>
          <a:lstStyle/>
          <a:p>
            <a:pPr algn="ctr" indent="0" marL="0">
              <a:buNone/>
            </a:pPr>
            <a:r>
              <a:rPr lang="en-US" sz="1800" b="1" dirty="0">
                <a:solidFill>
                  <a:srgbClr val="14453D"/>
                </a:solidFill>
              </a:rPr>
              <a:t>Ex 103</a:t>
            </a:r>
            <a:endParaRPr lang="en-US" sz="1800" dirty="0"/>
          </a:p>
        </p:txBody>
      </p:sp>
      <p:sp>
        <p:nvSpPr>
          <p:cNvPr id="49" name="Text 47"/>
          <p:cNvSpPr txBox="1"/>
          <p:nvPr/>
        </p:nvSpPr>
        <p:spPr>
          <a:xfrm>
            <a:off x="6871063" y="4251960"/>
            <a:ext cx="1416014" cy="1005840"/>
          </a:xfrm>
          <a:prstGeom prst="rect">
            <a:avLst/>
          </a:prstGeom>
          <a:noFill/>
          <a:ln/>
        </p:spPr>
        <p:txBody>
          <a:bodyPr wrap="square" lIns="0" tIns="0" rIns="0" bIns="0" rtlCol="0" anchor="ctr"/>
          <a:lstStyle/>
          <a:p>
            <a:pPr algn="ctr" indent="0" marL="0">
              <a:buNone/>
            </a:pPr>
            <a:r>
              <a:rPr lang="en-US" sz="6000" b="1" dirty="0">
                <a:solidFill>
                  <a:srgbClr val="EF5B3F"/>
                </a:solidFill>
              </a:rPr>
              <a:t>②</a:t>
            </a:r>
            <a:endParaRPr lang="en-US" sz="6000" dirty="0"/>
          </a:p>
        </p:txBody>
      </p:sp>
      <p:sp>
        <p:nvSpPr>
          <p:cNvPr id="50" name="Text 48"/>
          <p:cNvSpPr txBox="1"/>
          <p:nvPr/>
        </p:nvSpPr>
        <p:spPr>
          <a:xfrm>
            <a:off x="6871063" y="5349240"/>
            <a:ext cx="1416014" cy="320040"/>
          </a:xfrm>
          <a:prstGeom prst="rect">
            <a:avLst/>
          </a:prstGeom>
          <a:noFill/>
          <a:ln/>
        </p:spPr>
        <p:txBody>
          <a:bodyPr wrap="square" lIns="0" tIns="0" rIns="0" bIns="0" rtlCol="0" anchor="ctr"/>
          <a:lstStyle/>
          <a:p>
            <a:pPr algn="ctr" indent="0" marL="0">
              <a:buNone/>
            </a:pPr>
            <a:r>
              <a:rPr lang="en-US" sz="1300" dirty="0">
                <a:solidFill>
                  <a:srgbClr val="6E7F7C"/>
                </a:solidFill>
              </a:rPr>
              <a:t>삽입</a:t>
            </a:r>
            <a:endParaRPr lang="en-US" sz="1300" dirty="0"/>
          </a:p>
        </p:txBody>
      </p:sp>
      <p:sp>
        <p:nvSpPr>
          <p:cNvPr id="51" name="Shape 49"/>
          <p:cNvSpPr/>
          <p:nvPr/>
        </p:nvSpPr>
        <p:spPr>
          <a:xfrm>
            <a:off x="8451669" y="3703320"/>
            <a:ext cx="1416014" cy="2148840"/>
          </a:xfrm>
          <a:prstGeom prst="roundRect">
            <a:avLst>
              <a:gd name="adj" fmla="val 7749"/>
            </a:avLst>
          </a:prstGeom>
          <a:solidFill>
            <a:srgbClr val="E6F2ED"/>
          </a:solidFill>
          <a:ln w="12700">
            <a:solidFill>
              <a:srgbClr val="E6F2ED"/>
            </a:solidFill>
            <a:prstDash val="solid"/>
          </a:ln>
        </p:spPr>
      </p:sp>
      <p:sp>
        <p:nvSpPr>
          <p:cNvPr id="52" name="Text 50"/>
          <p:cNvSpPr txBox="1"/>
          <p:nvPr/>
        </p:nvSpPr>
        <p:spPr>
          <a:xfrm>
            <a:off x="8451669" y="3840480"/>
            <a:ext cx="1416014" cy="411480"/>
          </a:xfrm>
          <a:prstGeom prst="rect">
            <a:avLst/>
          </a:prstGeom>
          <a:noFill/>
          <a:ln/>
        </p:spPr>
        <p:txBody>
          <a:bodyPr wrap="square" lIns="0" tIns="0" rIns="0" bIns="0" rtlCol="0" anchor="ctr"/>
          <a:lstStyle/>
          <a:p>
            <a:pPr algn="ctr" indent="0" marL="0">
              <a:buNone/>
            </a:pPr>
            <a:r>
              <a:rPr lang="en-US" sz="1800" b="1" dirty="0">
                <a:solidFill>
                  <a:srgbClr val="14453D"/>
                </a:solidFill>
              </a:rPr>
              <a:t>Ex 104</a:t>
            </a:r>
            <a:endParaRPr lang="en-US" sz="1800" dirty="0"/>
          </a:p>
        </p:txBody>
      </p:sp>
      <p:sp>
        <p:nvSpPr>
          <p:cNvPr id="53" name="Text 51"/>
          <p:cNvSpPr txBox="1"/>
          <p:nvPr/>
        </p:nvSpPr>
        <p:spPr>
          <a:xfrm>
            <a:off x="8451669" y="4251960"/>
            <a:ext cx="1416014" cy="1005840"/>
          </a:xfrm>
          <a:prstGeom prst="rect">
            <a:avLst/>
          </a:prstGeom>
          <a:noFill/>
          <a:ln/>
        </p:spPr>
        <p:txBody>
          <a:bodyPr wrap="square" lIns="0" tIns="0" rIns="0" bIns="0" rtlCol="0" anchor="ctr"/>
          <a:lstStyle/>
          <a:p>
            <a:pPr algn="ctr" indent="0" marL="0">
              <a:buNone/>
            </a:pPr>
            <a:r>
              <a:rPr lang="en-US" sz="6000" b="1" dirty="0">
                <a:solidFill>
                  <a:srgbClr val="EF5B3F"/>
                </a:solidFill>
              </a:rPr>
              <a:t>⑤</a:t>
            </a:r>
            <a:endParaRPr lang="en-US" sz="6000" dirty="0"/>
          </a:p>
        </p:txBody>
      </p:sp>
      <p:sp>
        <p:nvSpPr>
          <p:cNvPr id="54" name="Text 52"/>
          <p:cNvSpPr txBox="1"/>
          <p:nvPr/>
        </p:nvSpPr>
        <p:spPr>
          <a:xfrm>
            <a:off x="8451669" y="5349240"/>
            <a:ext cx="1416014" cy="320040"/>
          </a:xfrm>
          <a:prstGeom prst="rect">
            <a:avLst/>
          </a:prstGeom>
          <a:noFill/>
          <a:ln/>
        </p:spPr>
        <p:txBody>
          <a:bodyPr wrap="square" lIns="0" tIns="0" rIns="0" bIns="0" rtlCol="0" anchor="ctr"/>
          <a:lstStyle/>
          <a:p>
            <a:pPr algn="ctr" indent="0" marL="0">
              <a:buNone/>
            </a:pPr>
            <a:r>
              <a:rPr lang="en-US" sz="1300" dirty="0">
                <a:solidFill>
                  <a:srgbClr val="6E7F7C"/>
                </a:solidFill>
              </a:rPr>
              <a:t>어휘</a:t>
            </a:r>
            <a:endParaRPr lang="en-US" sz="1300" dirty="0"/>
          </a:p>
        </p:txBody>
      </p:sp>
      <p:sp>
        <p:nvSpPr>
          <p:cNvPr id="55" name="Text 53"/>
          <p:cNvSpPr txBox="1"/>
          <p:nvPr/>
        </p:nvSpPr>
        <p:spPr>
          <a:xfrm>
            <a:off x="548640" y="6053328"/>
            <a:ext cx="11064240" cy="320040"/>
          </a:xfrm>
          <a:prstGeom prst="rect">
            <a:avLst/>
          </a:prstGeom>
          <a:noFill/>
          <a:ln/>
        </p:spPr>
        <p:txBody>
          <a:bodyPr wrap="square" lIns="0" tIns="0" rIns="0" bIns="0" rtlCol="0" anchor="ctr"/>
          <a:lstStyle/>
          <a:p>
            <a:pPr indent="0" marL="0">
              <a:buNone/>
            </a:pPr>
            <a:r>
              <a:rPr lang="en-US" sz="1400" b="1" dirty="0">
                <a:solidFill>
                  <a:srgbClr val="1F7A64"/>
                </a:solidFill>
              </a:rPr>
              <a:t>틀린 문제 번호에 동그라미 → 해설 때 집중해서 듣기!</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14453D"/>
                </a:solidFill>
              </a:rPr>
              <a:t>오늘 수업은 이렇게 진행해요</a:t>
            </a:r>
            <a:endParaRPr lang="en-US" sz="3000" dirty="0"/>
          </a:p>
        </p:txBody>
      </p:sp>
      <p:sp>
        <p:nvSpPr>
          <p:cNvPr id="3" name="Shape 1"/>
          <p:cNvSpPr/>
          <p:nvPr/>
        </p:nvSpPr>
        <p:spPr>
          <a:xfrm>
            <a:off x="548640" y="1554480"/>
            <a:ext cx="2606040" cy="4206240"/>
          </a:xfrm>
          <a:prstGeom prst="roundRect">
            <a:avLst>
              <a:gd name="adj" fmla="val 5263"/>
            </a:avLst>
          </a:prstGeom>
          <a:solidFill>
            <a:srgbClr val="E6F2ED"/>
          </a:solidFill>
          <a:ln w="12700">
            <a:solidFill>
              <a:srgbClr val="E6F2ED"/>
            </a:solidFill>
            <a:prstDash val="solid"/>
          </a:ln>
          <a:effectLst>
            <a:outerShdw sx="100000" sy="100000" kx="0" ky="0" algn="bl" rotWithShape="0" blurRad="101600" dist="25400" dir="5400000">
              <a:srgbClr val="1E2B2A">
                <a:alpha val="12000"/>
              </a:srgbClr>
            </a:outerShdw>
          </a:effectLst>
        </p:spPr>
      </p:sp>
      <p:sp>
        <p:nvSpPr>
          <p:cNvPr id="4" name="Text 2"/>
          <p:cNvSpPr/>
          <p:nvPr/>
        </p:nvSpPr>
        <p:spPr>
          <a:xfrm>
            <a:off x="822960" y="1828800"/>
            <a:ext cx="822960" cy="822960"/>
          </a:xfrm>
          <a:prstGeom prst="ellipse">
            <a:avLst/>
          </a:prstGeom>
          <a:solidFill>
            <a:srgbClr val="1F7A64"/>
          </a:solidFill>
          <a:ln/>
        </p:spPr>
        <p:txBody>
          <a:bodyPr wrap="square" lIns="0" tIns="0" rIns="0" bIns="0" rtlCol="0" anchor="ctr"/>
          <a:lstStyle/>
          <a:p>
            <a:pPr algn="ctr" indent="0" marL="0">
              <a:buNone/>
            </a:pPr>
            <a:r>
              <a:rPr lang="en-US" sz="3200" b="1" dirty="0">
                <a:solidFill>
                  <a:srgbClr val="FFFFFF"/>
                </a:solidFill>
              </a:rPr>
              <a:t>1</a:t>
            </a:r>
            <a:endParaRPr lang="en-US" sz="3200" dirty="0"/>
          </a:p>
        </p:txBody>
      </p:sp>
      <p:sp>
        <p:nvSpPr>
          <p:cNvPr id="5" name="Text 3"/>
          <p:cNvSpPr txBox="1"/>
          <p:nvPr/>
        </p:nvSpPr>
        <p:spPr>
          <a:xfrm>
            <a:off x="822960" y="2880360"/>
            <a:ext cx="2103120" cy="822960"/>
          </a:xfrm>
          <a:prstGeom prst="rect">
            <a:avLst/>
          </a:prstGeom>
          <a:noFill/>
          <a:ln/>
        </p:spPr>
        <p:txBody>
          <a:bodyPr wrap="square" lIns="0" tIns="0" rIns="0" bIns="0" rtlCol="0" anchor="t"/>
          <a:lstStyle/>
          <a:p>
            <a:pPr indent="0" marL="0">
              <a:buNone/>
            </a:pPr>
            <a:r>
              <a:rPr lang="en-US" sz="2000" b="1" dirty="0">
                <a:solidFill>
                  <a:srgbClr val="14453D"/>
                </a:solidFill>
              </a:rPr>
              <a:t>채점하기</a:t>
            </a:r>
            <a:endParaRPr lang="en-US" sz="2000" dirty="0"/>
          </a:p>
        </p:txBody>
      </p:sp>
      <p:sp>
        <p:nvSpPr>
          <p:cNvPr id="6" name="Text 4"/>
          <p:cNvSpPr txBox="1"/>
          <p:nvPr/>
        </p:nvSpPr>
        <p:spPr>
          <a:xfrm>
            <a:off x="822960" y="3749040"/>
            <a:ext cx="2103120" cy="1188720"/>
          </a:xfrm>
          <a:prstGeom prst="rect">
            <a:avLst/>
          </a:prstGeom>
          <a:noFill/>
          <a:ln/>
        </p:spPr>
        <p:txBody>
          <a:bodyPr wrap="square" lIns="0" tIns="0" rIns="0" bIns="0" rtlCol="0" anchor="t"/>
          <a:lstStyle/>
          <a:p>
            <a:pPr indent="0" marL="0">
              <a:buNone/>
            </a:pPr>
            <a:r>
              <a:rPr lang="en-US" sz="1500" dirty="0">
                <a:solidFill>
                  <a:srgbClr val="1E2B2A"/>
                </a:solidFill>
              </a:rPr>
              <a:t>정답 한눈에 보기로 채점 → 틀린 문제 표시</a:t>
            </a:r>
            <a:endParaRPr lang="en-US" sz="1500" dirty="0"/>
          </a:p>
        </p:txBody>
      </p:sp>
      <p:sp>
        <p:nvSpPr>
          <p:cNvPr id="7" name="Text 5"/>
          <p:cNvSpPr/>
          <p:nvPr/>
        </p:nvSpPr>
        <p:spPr>
          <a:xfrm>
            <a:off x="822960" y="5120640"/>
            <a:ext cx="1280160" cy="329184"/>
          </a:xfrm>
          <a:prstGeom prst="roundRect">
            <a:avLst>
              <a:gd name="adj" fmla="val 41667"/>
            </a:avLst>
          </a:prstGeom>
          <a:solidFill>
            <a:srgbClr val="EF5B3F"/>
          </a:solidFill>
          <a:ln/>
        </p:spPr>
        <p:txBody>
          <a:bodyPr wrap="square" lIns="0" tIns="0" rIns="0" bIns="0" rtlCol="0" anchor="ctr"/>
          <a:lstStyle/>
          <a:p>
            <a:pPr algn="ctr" indent="0" marL="0">
              <a:buNone/>
            </a:pPr>
            <a:r>
              <a:rPr lang="en-US" sz="1300" b="1" dirty="0">
                <a:solidFill>
                  <a:srgbClr val="FFFFFF"/>
                </a:solidFill>
              </a:rPr>
              <a:t>약 5분</a:t>
            </a:r>
            <a:endParaRPr lang="en-US" sz="1300" dirty="0"/>
          </a:p>
        </p:txBody>
      </p:sp>
      <p:sp>
        <p:nvSpPr>
          <p:cNvPr id="8" name="Shape 6"/>
          <p:cNvSpPr/>
          <p:nvPr/>
        </p:nvSpPr>
        <p:spPr>
          <a:xfrm>
            <a:off x="3383280" y="1554480"/>
            <a:ext cx="2606040" cy="4206240"/>
          </a:xfrm>
          <a:prstGeom prst="roundRect">
            <a:avLst>
              <a:gd name="adj" fmla="val 5263"/>
            </a:avLst>
          </a:prstGeom>
          <a:solidFill>
            <a:srgbClr val="FFFFFF"/>
          </a:solidFill>
          <a:ln w="12700">
            <a:solidFill>
              <a:srgbClr val="E6F2ED"/>
            </a:solidFill>
            <a:prstDash val="solid"/>
          </a:ln>
          <a:effectLst>
            <a:outerShdw sx="100000" sy="100000" kx="0" ky="0" algn="bl" rotWithShape="0" blurRad="101600" dist="25400" dir="5400000">
              <a:srgbClr val="1E2B2A">
                <a:alpha val="12000"/>
              </a:srgbClr>
            </a:outerShdw>
          </a:effectLst>
        </p:spPr>
      </p:sp>
      <p:sp>
        <p:nvSpPr>
          <p:cNvPr id="9" name="Text 7"/>
          <p:cNvSpPr/>
          <p:nvPr/>
        </p:nvSpPr>
        <p:spPr>
          <a:xfrm>
            <a:off x="3657600" y="1828800"/>
            <a:ext cx="822960" cy="822960"/>
          </a:xfrm>
          <a:prstGeom prst="ellipse">
            <a:avLst/>
          </a:prstGeom>
          <a:solidFill>
            <a:srgbClr val="1F7A64"/>
          </a:solidFill>
          <a:ln/>
        </p:spPr>
        <p:txBody>
          <a:bodyPr wrap="square" lIns="0" tIns="0" rIns="0" bIns="0" rtlCol="0" anchor="ctr"/>
          <a:lstStyle/>
          <a:p>
            <a:pPr algn="ctr" indent="0" marL="0">
              <a:buNone/>
            </a:pPr>
            <a:r>
              <a:rPr lang="en-US" sz="3200" b="1" dirty="0">
                <a:solidFill>
                  <a:srgbClr val="FFFFFF"/>
                </a:solidFill>
              </a:rPr>
              <a:t>2</a:t>
            </a:r>
            <a:endParaRPr lang="en-US" sz="3200" dirty="0"/>
          </a:p>
        </p:txBody>
      </p:sp>
      <p:sp>
        <p:nvSpPr>
          <p:cNvPr id="10" name="Text 8"/>
          <p:cNvSpPr txBox="1"/>
          <p:nvPr/>
        </p:nvSpPr>
        <p:spPr>
          <a:xfrm>
            <a:off x="3657600" y="2880360"/>
            <a:ext cx="2103120" cy="822960"/>
          </a:xfrm>
          <a:prstGeom prst="rect">
            <a:avLst/>
          </a:prstGeom>
          <a:noFill/>
          <a:ln/>
        </p:spPr>
        <p:txBody>
          <a:bodyPr wrap="square" lIns="0" tIns="0" rIns="0" bIns="0" rtlCol="0" anchor="t"/>
          <a:lstStyle/>
          <a:p>
            <a:pPr indent="0" marL="0">
              <a:buNone/>
            </a:pPr>
            <a:r>
              <a:rPr lang="en-US" sz="2000" b="1" dirty="0">
                <a:solidFill>
                  <a:srgbClr val="14453D"/>
                </a:solidFill>
              </a:rPr>
              <a:t>풀이 공식 익히기</a:t>
            </a:r>
            <a:endParaRPr lang="en-US" sz="2000" dirty="0"/>
          </a:p>
        </p:txBody>
      </p:sp>
      <p:sp>
        <p:nvSpPr>
          <p:cNvPr id="11" name="Text 9"/>
          <p:cNvSpPr txBox="1"/>
          <p:nvPr/>
        </p:nvSpPr>
        <p:spPr>
          <a:xfrm>
            <a:off x="3657600" y="3749040"/>
            <a:ext cx="2103120" cy="1188720"/>
          </a:xfrm>
          <a:prstGeom prst="rect">
            <a:avLst/>
          </a:prstGeom>
          <a:noFill/>
          <a:ln/>
        </p:spPr>
        <p:txBody>
          <a:bodyPr wrap="square" lIns="0" tIns="0" rIns="0" bIns="0" rtlCol="0" anchor="t"/>
          <a:lstStyle/>
          <a:p>
            <a:pPr indent="0" marL="0">
              <a:buNone/>
            </a:pPr>
            <a:r>
              <a:rPr lang="en-US" sz="1500" dirty="0">
                <a:solidFill>
                  <a:srgbClr val="1E2B2A"/>
                </a:solidFill>
              </a:rPr>
              <a:t>요약문 3단계 · 신호어</a:t>
            </a:r>
            <a:endParaRPr lang="en-US" sz="1500" dirty="0"/>
          </a:p>
        </p:txBody>
      </p:sp>
      <p:sp>
        <p:nvSpPr>
          <p:cNvPr id="12" name="Text 10"/>
          <p:cNvSpPr/>
          <p:nvPr/>
        </p:nvSpPr>
        <p:spPr>
          <a:xfrm>
            <a:off x="3657600" y="5120640"/>
            <a:ext cx="1280160" cy="329184"/>
          </a:xfrm>
          <a:prstGeom prst="roundRect">
            <a:avLst>
              <a:gd name="adj" fmla="val 41667"/>
            </a:avLst>
          </a:prstGeom>
          <a:solidFill>
            <a:srgbClr val="EF5B3F"/>
          </a:solidFill>
          <a:ln/>
        </p:spPr>
        <p:txBody>
          <a:bodyPr wrap="square" lIns="0" tIns="0" rIns="0" bIns="0" rtlCol="0" anchor="ctr"/>
          <a:lstStyle/>
          <a:p>
            <a:pPr algn="ctr" indent="0" marL="0">
              <a:buNone/>
            </a:pPr>
            <a:r>
              <a:rPr lang="en-US" sz="1300" b="1" dirty="0">
                <a:solidFill>
                  <a:srgbClr val="FFFFFF"/>
                </a:solidFill>
              </a:rPr>
              <a:t>약 10분</a:t>
            </a:r>
            <a:endParaRPr lang="en-US" sz="1300" dirty="0"/>
          </a:p>
        </p:txBody>
      </p:sp>
      <p:sp>
        <p:nvSpPr>
          <p:cNvPr id="13" name="Shape 11"/>
          <p:cNvSpPr/>
          <p:nvPr/>
        </p:nvSpPr>
        <p:spPr>
          <a:xfrm>
            <a:off x="6217920" y="1554480"/>
            <a:ext cx="2606040" cy="4206240"/>
          </a:xfrm>
          <a:prstGeom prst="roundRect">
            <a:avLst>
              <a:gd name="adj" fmla="val 5263"/>
            </a:avLst>
          </a:prstGeom>
          <a:solidFill>
            <a:srgbClr val="E6F2ED"/>
          </a:solidFill>
          <a:ln w="12700">
            <a:solidFill>
              <a:srgbClr val="E6F2ED"/>
            </a:solidFill>
            <a:prstDash val="solid"/>
          </a:ln>
          <a:effectLst>
            <a:outerShdw sx="100000" sy="100000" kx="0" ky="0" algn="bl" rotWithShape="0" blurRad="101600" dist="25400" dir="5400000">
              <a:srgbClr val="1E2B2A">
                <a:alpha val="12000"/>
              </a:srgbClr>
            </a:outerShdw>
          </a:effectLst>
        </p:spPr>
      </p:sp>
      <p:sp>
        <p:nvSpPr>
          <p:cNvPr id="14" name="Text 12"/>
          <p:cNvSpPr/>
          <p:nvPr/>
        </p:nvSpPr>
        <p:spPr>
          <a:xfrm>
            <a:off x="6492240" y="1828800"/>
            <a:ext cx="822960" cy="822960"/>
          </a:xfrm>
          <a:prstGeom prst="ellipse">
            <a:avLst/>
          </a:prstGeom>
          <a:solidFill>
            <a:srgbClr val="1F7A64"/>
          </a:solidFill>
          <a:ln/>
        </p:spPr>
        <p:txBody>
          <a:bodyPr wrap="square" lIns="0" tIns="0" rIns="0" bIns="0" rtlCol="0" anchor="ctr"/>
          <a:lstStyle/>
          <a:p>
            <a:pPr algn="ctr" indent="0" marL="0">
              <a:buNone/>
            </a:pPr>
            <a:r>
              <a:rPr lang="en-US" sz="3200" b="1" dirty="0">
                <a:solidFill>
                  <a:srgbClr val="FFFFFF"/>
                </a:solidFill>
              </a:rPr>
              <a:t>3</a:t>
            </a:r>
            <a:endParaRPr lang="en-US" sz="3200" dirty="0"/>
          </a:p>
        </p:txBody>
      </p:sp>
      <p:sp>
        <p:nvSpPr>
          <p:cNvPr id="15" name="Text 13"/>
          <p:cNvSpPr txBox="1"/>
          <p:nvPr/>
        </p:nvSpPr>
        <p:spPr>
          <a:xfrm>
            <a:off x="6492240" y="2880360"/>
            <a:ext cx="2103120" cy="822960"/>
          </a:xfrm>
          <a:prstGeom prst="rect">
            <a:avLst/>
          </a:prstGeom>
          <a:noFill/>
          <a:ln/>
        </p:spPr>
        <p:txBody>
          <a:bodyPr wrap="square" lIns="0" tIns="0" rIns="0" bIns="0" rtlCol="0" anchor="t"/>
          <a:lstStyle/>
          <a:p>
            <a:pPr indent="0" marL="0">
              <a:buNone/>
            </a:pPr>
            <a:r>
              <a:rPr lang="en-US" sz="2000" b="1" dirty="0">
                <a:solidFill>
                  <a:srgbClr val="14453D"/>
                </a:solidFill>
              </a:rPr>
              <a:t>Exercise 92–98</a:t>
            </a:r>
            <a:endParaRPr lang="en-US" sz="2000" dirty="0"/>
          </a:p>
        </p:txBody>
      </p:sp>
      <p:sp>
        <p:nvSpPr>
          <p:cNvPr id="16" name="Text 14"/>
          <p:cNvSpPr txBox="1"/>
          <p:nvPr/>
        </p:nvSpPr>
        <p:spPr>
          <a:xfrm>
            <a:off x="6492240" y="3749040"/>
            <a:ext cx="2103120" cy="1188720"/>
          </a:xfrm>
          <a:prstGeom prst="rect">
            <a:avLst/>
          </a:prstGeom>
          <a:noFill/>
          <a:ln/>
        </p:spPr>
        <p:txBody>
          <a:bodyPr wrap="square" lIns="0" tIns="0" rIns="0" bIns="0" rtlCol="0" anchor="t"/>
          <a:lstStyle/>
          <a:p>
            <a:pPr indent="0" marL="0">
              <a:buNone/>
            </a:pPr>
            <a:r>
              <a:rPr lang="en-US" sz="1500" dirty="0">
                <a:solidFill>
                  <a:srgbClr val="1E2B2A"/>
                </a:solidFill>
              </a:rPr>
              <a:t>Hook → 지문+보기 → 근거·이유 → 흐름 → 정답 → 어법 체크</a:t>
            </a:r>
            <a:endParaRPr lang="en-US" sz="1500" dirty="0"/>
          </a:p>
        </p:txBody>
      </p:sp>
      <p:sp>
        <p:nvSpPr>
          <p:cNvPr id="17" name="Text 15"/>
          <p:cNvSpPr/>
          <p:nvPr/>
        </p:nvSpPr>
        <p:spPr>
          <a:xfrm>
            <a:off x="6492240" y="5120640"/>
            <a:ext cx="1280160" cy="329184"/>
          </a:xfrm>
          <a:prstGeom prst="roundRect">
            <a:avLst>
              <a:gd name="adj" fmla="val 41667"/>
            </a:avLst>
          </a:prstGeom>
          <a:solidFill>
            <a:srgbClr val="EF5B3F"/>
          </a:solidFill>
          <a:ln/>
        </p:spPr>
        <p:txBody>
          <a:bodyPr wrap="square" lIns="0" tIns="0" rIns="0" bIns="0" rtlCol="0" anchor="ctr"/>
          <a:lstStyle/>
          <a:p>
            <a:pPr algn="ctr" indent="0" marL="0">
              <a:buNone/>
            </a:pPr>
            <a:r>
              <a:rPr lang="en-US" sz="1300" b="1" dirty="0">
                <a:solidFill>
                  <a:srgbClr val="FFFFFF"/>
                </a:solidFill>
              </a:rPr>
              <a:t>1차시</a:t>
            </a:r>
            <a:endParaRPr lang="en-US" sz="1300" dirty="0"/>
          </a:p>
        </p:txBody>
      </p:sp>
      <p:sp>
        <p:nvSpPr>
          <p:cNvPr id="18" name="Shape 16"/>
          <p:cNvSpPr/>
          <p:nvPr/>
        </p:nvSpPr>
        <p:spPr>
          <a:xfrm>
            <a:off x="9052560" y="1554480"/>
            <a:ext cx="2606040" cy="4206240"/>
          </a:xfrm>
          <a:prstGeom prst="roundRect">
            <a:avLst>
              <a:gd name="adj" fmla="val 5263"/>
            </a:avLst>
          </a:prstGeom>
          <a:solidFill>
            <a:srgbClr val="FFFFFF"/>
          </a:solidFill>
          <a:ln w="12700">
            <a:solidFill>
              <a:srgbClr val="E6F2ED"/>
            </a:solidFill>
            <a:prstDash val="solid"/>
          </a:ln>
          <a:effectLst>
            <a:outerShdw sx="100000" sy="100000" kx="0" ky="0" algn="bl" rotWithShape="0" blurRad="101600" dist="25400" dir="5400000">
              <a:srgbClr val="1E2B2A">
                <a:alpha val="12000"/>
              </a:srgbClr>
            </a:outerShdw>
          </a:effectLst>
        </p:spPr>
      </p:sp>
      <p:sp>
        <p:nvSpPr>
          <p:cNvPr id="19" name="Text 17"/>
          <p:cNvSpPr/>
          <p:nvPr/>
        </p:nvSpPr>
        <p:spPr>
          <a:xfrm>
            <a:off x="9326880" y="1828800"/>
            <a:ext cx="822960" cy="822960"/>
          </a:xfrm>
          <a:prstGeom prst="ellipse">
            <a:avLst/>
          </a:prstGeom>
          <a:solidFill>
            <a:srgbClr val="1F7A64"/>
          </a:solidFill>
          <a:ln/>
        </p:spPr>
        <p:txBody>
          <a:bodyPr wrap="square" lIns="0" tIns="0" rIns="0" bIns="0" rtlCol="0" anchor="ctr"/>
          <a:lstStyle/>
          <a:p>
            <a:pPr algn="ctr" indent="0" marL="0">
              <a:buNone/>
            </a:pPr>
            <a:r>
              <a:rPr lang="en-US" sz="3200" b="1" dirty="0">
                <a:solidFill>
                  <a:srgbClr val="FFFFFF"/>
                </a:solidFill>
              </a:rPr>
              <a:t>4</a:t>
            </a:r>
            <a:endParaRPr lang="en-US" sz="3200" dirty="0"/>
          </a:p>
        </p:txBody>
      </p:sp>
      <p:sp>
        <p:nvSpPr>
          <p:cNvPr id="20" name="Text 18"/>
          <p:cNvSpPr txBox="1"/>
          <p:nvPr/>
        </p:nvSpPr>
        <p:spPr>
          <a:xfrm>
            <a:off x="9326880" y="2880360"/>
            <a:ext cx="2103120" cy="822960"/>
          </a:xfrm>
          <a:prstGeom prst="rect">
            <a:avLst/>
          </a:prstGeom>
          <a:noFill/>
          <a:ln/>
        </p:spPr>
        <p:txBody>
          <a:bodyPr wrap="square" lIns="0" tIns="0" rIns="0" bIns="0" rtlCol="0" anchor="t"/>
          <a:lstStyle/>
          <a:p>
            <a:pPr indent="0" marL="0">
              <a:buNone/>
            </a:pPr>
            <a:r>
              <a:rPr lang="en-US" sz="2000" b="1" dirty="0">
                <a:solidFill>
                  <a:srgbClr val="14453D"/>
                </a:solidFill>
              </a:rPr>
              <a:t>Exercise 99–104</a:t>
            </a:r>
            <a:endParaRPr lang="en-US" sz="2000" dirty="0"/>
          </a:p>
        </p:txBody>
      </p:sp>
      <p:sp>
        <p:nvSpPr>
          <p:cNvPr id="21" name="Text 19"/>
          <p:cNvSpPr txBox="1"/>
          <p:nvPr/>
        </p:nvSpPr>
        <p:spPr>
          <a:xfrm>
            <a:off x="9326880" y="3749040"/>
            <a:ext cx="2103120" cy="1188720"/>
          </a:xfrm>
          <a:prstGeom prst="rect">
            <a:avLst/>
          </a:prstGeom>
          <a:noFill/>
          <a:ln/>
        </p:spPr>
        <p:txBody>
          <a:bodyPr wrap="square" lIns="0" tIns="0" rIns="0" bIns="0" rtlCol="0" anchor="t"/>
          <a:lstStyle/>
          <a:p>
            <a:pPr indent="0" marL="0">
              <a:buNone/>
            </a:pPr>
            <a:r>
              <a:rPr lang="en-US" sz="1500" dirty="0">
                <a:solidFill>
                  <a:srgbClr val="1E2B2A"/>
                </a:solidFill>
              </a:rPr>
              <a:t>같은 순서 + 마지막에 복습 미니테스트</a:t>
            </a:r>
            <a:endParaRPr lang="en-US" sz="1500" dirty="0"/>
          </a:p>
        </p:txBody>
      </p:sp>
      <p:sp>
        <p:nvSpPr>
          <p:cNvPr id="22" name="Text 20"/>
          <p:cNvSpPr/>
          <p:nvPr/>
        </p:nvSpPr>
        <p:spPr>
          <a:xfrm>
            <a:off x="9326880" y="5120640"/>
            <a:ext cx="1280160" cy="329184"/>
          </a:xfrm>
          <a:prstGeom prst="roundRect">
            <a:avLst>
              <a:gd name="adj" fmla="val 41667"/>
            </a:avLst>
          </a:prstGeom>
          <a:solidFill>
            <a:srgbClr val="EF5B3F"/>
          </a:solidFill>
          <a:ln/>
        </p:spPr>
        <p:txBody>
          <a:bodyPr wrap="square" lIns="0" tIns="0" rIns="0" bIns="0" rtlCol="0" anchor="ctr"/>
          <a:lstStyle/>
          <a:p>
            <a:pPr algn="ctr" indent="0" marL="0">
              <a:buNone/>
            </a:pPr>
            <a:r>
              <a:rPr lang="en-US" sz="1300" b="1" dirty="0">
                <a:solidFill>
                  <a:srgbClr val="FFFFFF"/>
                </a:solidFill>
              </a:rPr>
              <a:t>2차시</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14453D"/>
                </a:solidFill>
              </a:rPr>
              <a:t>요약문 완성, 딱 3단계만 기억하자</a:t>
            </a:r>
            <a:endParaRPr lang="en-US" sz="3000" dirty="0"/>
          </a:p>
        </p:txBody>
      </p:sp>
      <p:sp>
        <p:nvSpPr>
          <p:cNvPr id="3" name="Shape 1"/>
          <p:cNvSpPr/>
          <p:nvPr/>
        </p:nvSpPr>
        <p:spPr>
          <a:xfrm>
            <a:off x="548640" y="1463040"/>
            <a:ext cx="3520440" cy="4480560"/>
          </a:xfrm>
          <a:prstGeom prst="roundRect">
            <a:avLst>
              <a:gd name="adj" fmla="val 3896"/>
            </a:avLst>
          </a:prstGeom>
          <a:solidFill>
            <a:srgbClr val="E6F2ED"/>
          </a:solidFill>
          <a:ln w="12700">
            <a:solidFill>
              <a:srgbClr val="E6F2ED"/>
            </a:solidFill>
            <a:prstDash val="solid"/>
          </a:ln>
        </p:spPr>
      </p:sp>
      <p:sp>
        <p:nvSpPr>
          <p:cNvPr id="4" name="Shape 2"/>
          <p:cNvSpPr/>
          <p:nvPr/>
        </p:nvSpPr>
        <p:spPr>
          <a:xfrm>
            <a:off x="868680" y="1783080"/>
            <a:ext cx="914400" cy="914400"/>
          </a:xfrm>
          <a:prstGeom prst="ellipse">
            <a:avLst/>
          </a:prstGeom>
          <a:solidFill>
            <a:srgbClr val="1F7A64"/>
          </a:solidFill>
          <a:ln w="12700">
            <a:solidFill>
              <a:srgbClr val="1F7A64"/>
            </a:solidFill>
            <a:prstDash val="solid"/>
          </a:ln>
        </p:spPr>
      </p:sp>
      <p:pic>
        <p:nvPicPr>
          <p:cNvPr id="5" name="Image 0" descr="preencoded.png">    </p:cNvPr>
          <p:cNvPicPr>
            <a:picLocks noChangeAspect="1"/>
          </p:cNvPicPr>
          <p:nvPr/>
        </p:nvPicPr>
        <p:blipFill>
          <a:blip r:embed="rId1"/>
          <a:stretch>
            <a:fillRect/>
          </a:stretch>
        </p:blipFill>
        <p:spPr>
          <a:xfrm>
            <a:off x="1097280" y="2011680"/>
            <a:ext cx="457200" cy="457200"/>
          </a:xfrm>
          <a:prstGeom prst="rect">
            <a:avLst/>
          </a:prstGeom>
        </p:spPr>
      </p:pic>
      <p:sp>
        <p:nvSpPr>
          <p:cNvPr id="6" name="Text 3"/>
          <p:cNvSpPr txBox="1"/>
          <p:nvPr/>
        </p:nvSpPr>
        <p:spPr>
          <a:xfrm>
            <a:off x="1965960" y="1874520"/>
            <a:ext cx="1828800" cy="365760"/>
          </a:xfrm>
          <a:prstGeom prst="rect">
            <a:avLst/>
          </a:prstGeom>
          <a:noFill/>
          <a:ln/>
        </p:spPr>
        <p:txBody>
          <a:bodyPr wrap="square" lIns="0" tIns="0" rIns="0" bIns="0" rtlCol="0" anchor="ctr"/>
          <a:lstStyle/>
          <a:p>
            <a:pPr indent="0" marL="0">
              <a:buNone/>
            </a:pPr>
            <a:r>
              <a:rPr lang="en-US" sz="1400" b="1" dirty="0">
                <a:solidFill>
                  <a:srgbClr val="EF5B3F"/>
                </a:solidFill>
              </a:rPr>
              <a:t>STEP 1</a:t>
            </a:r>
            <a:endParaRPr lang="en-US" sz="1400" dirty="0"/>
          </a:p>
        </p:txBody>
      </p:sp>
      <p:sp>
        <p:nvSpPr>
          <p:cNvPr id="7" name="Text 4"/>
          <p:cNvSpPr txBox="1"/>
          <p:nvPr/>
        </p:nvSpPr>
        <p:spPr>
          <a:xfrm>
            <a:off x="1965960" y="2240280"/>
            <a:ext cx="2011680" cy="457200"/>
          </a:xfrm>
          <a:prstGeom prst="rect">
            <a:avLst/>
          </a:prstGeom>
          <a:noFill/>
          <a:ln/>
        </p:spPr>
        <p:txBody>
          <a:bodyPr wrap="square" lIns="0" tIns="0" rIns="0" bIns="0" rtlCol="0" anchor="ctr"/>
          <a:lstStyle/>
          <a:p>
            <a:pPr indent="0" marL="0">
              <a:buNone/>
            </a:pPr>
            <a:r>
              <a:rPr lang="en-US" sz="2000" b="1" dirty="0">
                <a:solidFill>
                  <a:srgbClr val="14453D"/>
                </a:solidFill>
              </a:rPr>
              <a:t>요약문부터 읽기</a:t>
            </a:r>
            <a:endParaRPr lang="en-US" sz="2000" dirty="0"/>
          </a:p>
        </p:txBody>
      </p:sp>
      <p:sp>
        <p:nvSpPr>
          <p:cNvPr id="8" name="Text 5"/>
          <p:cNvSpPr txBox="1"/>
          <p:nvPr/>
        </p:nvSpPr>
        <p:spPr>
          <a:xfrm>
            <a:off x="868680" y="3017520"/>
            <a:ext cx="2926080" cy="2651760"/>
          </a:xfrm>
          <a:prstGeom prst="rect">
            <a:avLst/>
          </a:prstGeom>
          <a:noFill/>
          <a:ln/>
        </p:spPr>
        <p:txBody>
          <a:bodyPr wrap="square" lIns="0" tIns="0" rIns="0" bIns="0" rtlCol="0" anchor="t"/>
          <a:lstStyle/>
          <a:p>
            <a:pPr indent="0" marL="0">
              <a:spcAft>
                <a:spcPts val="600"/>
              </a:spcAft>
              <a:buNone/>
            </a:pPr>
            <a:r>
              <a:rPr lang="en-US" sz="1700" dirty="0">
                <a:solidFill>
                  <a:srgbClr val="1E2B2A"/>
                </a:solidFill>
              </a:rPr>
              <a:t>본문보다 요약문 먼저!</a:t>
            </a:r>
            <a:endParaRPr lang="en-US" sz="1700" dirty="0"/>
          </a:p>
          <a:p>
            <a:pPr indent="0" marL="0">
              <a:spcAft>
                <a:spcPts val="600"/>
              </a:spcAft>
              <a:buNone/>
            </a:pPr>
            <a:r>
              <a:rPr lang="en-US" sz="1700" dirty="0">
                <a:solidFill>
                  <a:srgbClr val="1E2B2A"/>
                </a:solidFill>
              </a:rPr>
              <a:t>→ (A)·(B)에 어떤 말이 와야 할지 '질문' 만들기</a:t>
            </a:r>
            <a:endParaRPr lang="en-US" sz="1700" dirty="0"/>
          </a:p>
        </p:txBody>
      </p:sp>
      <p:pic>
        <p:nvPicPr>
          <p:cNvPr id="9" name="Image 1" descr="preencoded.png">    </p:cNvPr>
          <p:cNvPicPr>
            <a:picLocks noChangeAspect="1"/>
          </p:cNvPicPr>
          <p:nvPr/>
        </p:nvPicPr>
        <p:blipFill>
          <a:blip r:embed="rId2"/>
          <a:stretch>
            <a:fillRect/>
          </a:stretch>
        </p:blipFill>
        <p:spPr>
          <a:xfrm>
            <a:off x="4096512" y="3520440"/>
            <a:ext cx="228600" cy="228600"/>
          </a:xfrm>
          <a:prstGeom prst="rect">
            <a:avLst/>
          </a:prstGeom>
        </p:spPr>
      </p:pic>
      <p:sp>
        <p:nvSpPr>
          <p:cNvPr id="10" name="Shape 6"/>
          <p:cNvSpPr/>
          <p:nvPr/>
        </p:nvSpPr>
        <p:spPr>
          <a:xfrm>
            <a:off x="4343400" y="1463040"/>
            <a:ext cx="3520440" cy="4480560"/>
          </a:xfrm>
          <a:prstGeom prst="roundRect">
            <a:avLst>
              <a:gd name="adj" fmla="val 3896"/>
            </a:avLst>
          </a:prstGeom>
          <a:solidFill>
            <a:srgbClr val="E6F2ED"/>
          </a:solidFill>
          <a:ln w="12700">
            <a:solidFill>
              <a:srgbClr val="E6F2ED"/>
            </a:solidFill>
            <a:prstDash val="solid"/>
          </a:ln>
        </p:spPr>
      </p:sp>
      <p:sp>
        <p:nvSpPr>
          <p:cNvPr id="11" name="Shape 7"/>
          <p:cNvSpPr/>
          <p:nvPr/>
        </p:nvSpPr>
        <p:spPr>
          <a:xfrm>
            <a:off x="4663440" y="1783080"/>
            <a:ext cx="914400" cy="914400"/>
          </a:xfrm>
          <a:prstGeom prst="ellipse">
            <a:avLst/>
          </a:prstGeom>
          <a:solidFill>
            <a:srgbClr val="1F7A64"/>
          </a:solidFill>
          <a:ln w="12700">
            <a:solidFill>
              <a:srgbClr val="1F7A64"/>
            </a:solidFill>
            <a:prstDash val="solid"/>
          </a:ln>
        </p:spPr>
      </p:sp>
      <p:pic>
        <p:nvPicPr>
          <p:cNvPr id="12" name="Image 2" descr="preencoded.png">    </p:cNvPr>
          <p:cNvPicPr>
            <a:picLocks noChangeAspect="1"/>
          </p:cNvPicPr>
          <p:nvPr/>
        </p:nvPicPr>
        <p:blipFill>
          <a:blip r:embed="rId3"/>
          <a:stretch>
            <a:fillRect/>
          </a:stretch>
        </p:blipFill>
        <p:spPr>
          <a:xfrm>
            <a:off x="4892040" y="2011680"/>
            <a:ext cx="457200" cy="457200"/>
          </a:xfrm>
          <a:prstGeom prst="rect">
            <a:avLst/>
          </a:prstGeom>
        </p:spPr>
      </p:pic>
      <p:sp>
        <p:nvSpPr>
          <p:cNvPr id="13" name="Text 8"/>
          <p:cNvSpPr txBox="1"/>
          <p:nvPr/>
        </p:nvSpPr>
        <p:spPr>
          <a:xfrm>
            <a:off x="5760720" y="1874520"/>
            <a:ext cx="1828800" cy="365760"/>
          </a:xfrm>
          <a:prstGeom prst="rect">
            <a:avLst/>
          </a:prstGeom>
          <a:noFill/>
          <a:ln/>
        </p:spPr>
        <p:txBody>
          <a:bodyPr wrap="square" lIns="0" tIns="0" rIns="0" bIns="0" rtlCol="0" anchor="ctr"/>
          <a:lstStyle/>
          <a:p>
            <a:pPr indent="0" marL="0">
              <a:buNone/>
            </a:pPr>
            <a:r>
              <a:rPr lang="en-US" sz="1400" b="1" dirty="0">
                <a:solidFill>
                  <a:srgbClr val="EF5B3F"/>
                </a:solidFill>
              </a:rPr>
              <a:t>STEP 2</a:t>
            </a:r>
            <a:endParaRPr lang="en-US" sz="1400" dirty="0"/>
          </a:p>
        </p:txBody>
      </p:sp>
      <p:sp>
        <p:nvSpPr>
          <p:cNvPr id="14" name="Text 9"/>
          <p:cNvSpPr txBox="1"/>
          <p:nvPr/>
        </p:nvSpPr>
        <p:spPr>
          <a:xfrm>
            <a:off x="5760720" y="2240280"/>
            <a:ext cx="2011680" cy="457200"/>
          </a:xfrm>
          <a:prstGeom prst="rect">
            <a:avLst/>
          </a:prstGeom>
          <a:noFill/>
          <a:ln/>
        </p:spPr>
        <p:txBody>
          <a:bodyPr wrap="square" lIns="0" tIns="0" rIns="0" bIns="0" rtlCol="0" anchor="ctr"/>
          <a:lstStyle/>
          <a:p>
            <a:pPr indent="0" marL="0">
              <a:buNone/>
            </a:pPr>
            <a:r>
              <a:rPr lang="en-US" sz="2000" b="1" dirty="0">
                <a:solidFill>
                  <a:srgbClr val="14453D"/>
                </a:solidFill>
              </a:rPr>
              <a:t>주제문·결론 찾기</a:t>
            </a:r>
            <a:endParaRPr lang="en-US" sz="2000" dirty="0"/>
          </a:p>
        </p:txBody>
      </p:sp>
      <p:sp>
        <p:nvSpPr>
          <p:cNvPr id="15" name="Text 10"/>
          <p:cNvSpPr txBox="1"/>
          <p:nvPr/>
        </p:nvSpPr>
        <p:spPr>
          <a:xfrm>
            <a:off x="4663440" y="3017520"/>
            <a:ext cx="2926080" cy="2651760"/>
          </a:xfrm>
          <a:prstGeom prst="rect">
            <a:avLst/>
          </a:prstGeom>
          <a:noFill/>
          <a:ln/>
        </p:spPr>
        <p:txBody>
          <a:bodyPr wrap="square" lIns="0" tIns="0" rIns="0" bIns="0" rtlCol="0" anchor="t"/>
          <a:lstStyle/>
          <a:p>
            <a:pPr indent="0" marL="0">
              <a:spcAft>
                <a:spcPts val="600"/>
              </a:spcAft>
              <a:buNone/>
            </a:pPr>
            <a:r>
              <a:rPr lang="en-US" sz="1700" dirty="0">
                <a:solidFill>
                  <a:srgbClr val="1E2B2A"/>
                </a:solidFill>
              </a:rPr>
              <a:t>본문 주제문·실험 결과에서 근거 찾기</a:t>
            </a:r>
            <a:endParaRPr lang="en-US" sz="1700" dirty="0"/>
          </a:p>
          <a:p>
            <a:pPr indent="0" marL="0">
              <a:spcAft>
                <a:spcPts val="600"/>
              </a:spcAft>
              <a:buNone/>
            </a:pPr>
            <a:r>
              <a:rPr lang="en-US" sz="1700" dirty="0">
                <a:solidFill>
                  <a:srgbClr val="1E2B2A"/>
                </a:solidFill>
              </a:rPr>
              <a:t>→ 본문 단어가 요약문에선 '다른 말'로 바뀐다</a:t>
            </a:r>
            <a:endParaRPr lang="en-US" sz="1700" dirty="0"/>
          </a:p>
        </p:txBody>
      </p:sp>
      <p:pic>
        <p:nvPicPr>
          <p:cNvPr id="16" name="Image 3" descr="preencoded.png">    </p:cNvPr>
          <p:cNvPicPr>
            <a:picLocks noChangeAspect="1"/>
          </p:cNvPicPr>
          <p:nvPr/>
        </p:nvPicPr>
        <p:blipFill>
          <a:blip r:embed="rId4"/>
          <a:stretch>
            <a:fillRect/>
          </a:stretch>
        </p:blipFill>
        <p:spPr>
          <a:xfrm>
            <a:off x="7891272" y="3520440"/>
            <a:ext cx="228600" cy="228600"/>
          </a:xfrm>
          <a:prstGeom prst="rect">
            <a:avLst/>
          </a:prstGeom>
        </p:spPr>
      </p:pic>
      <p:sp>
        <p:nvSpPr>
          <p:cNvPr id="17" name="Shape 11"/>
          <p:cNvSpPr/>
          <p:nvPr/>
        </p:nvSpPr>
        <p:spPr>
          <a:xfrm>
            <a:off x="8138160" y="1463040"/>
            <a:ext cx="3520440" cy="4480560"/>
          </a:xfrm>
          <a:prstGeom prst="roundRect">
            <a:avLst>
              <a:gd name="adj" fmla="val 3896"/>
            </a:avLst>
          </a:prstGeom>
          <a:solidFill>
            <a:srgbClr val="E6F2ED"/>
          </a:solidFill>
          <a:ln w="12700">
            <a:solidFill>
              <a:srgbClr val="E6F2ED"/>
            </a:solidFill>
            <a:prstDash val="solid"/>
          </a:ln>
        </p:spPr>
      </p:sp>
      <p:sp>
        <p:nvSpPr>
          <p:cNvPr id="18" name="Shape 12"/>
          <p:cNvSpPr/>
          <p:nvPr/>
        </p:nvSpPr>
        <p:spPr>
          <a:xfrm>
            <a:off x="8458200" y="1783080"/>
            <a:ext cx="914400" cy="914400"/>
          </a:xfrm>
          <a:prstGeom prst="ellipse">
            <a:avLst/>
          </a:prstGeom>
          <a:solidFill>
            <a:srgbClr val="1F7A64"/>
          </a:solidFill>
          <a:ln w="12700">
            <a:solidFill>
              <a:srgbClr val="1F7A64"/>
            </a:solidFill>
            <a:prstDash val="solid"/>
          </a:ln>
        </p:spPr>
      </p:sp>
      <p:pic>
        <p:nvPicPr>
          <p:cNvPr id="19" name="Image 4" descr="preencoded.png">    </p:cNvPr>
          <p:cNvPicPr>
            <a:picLocks noChangeAspect="1"/>
          </p:cNvPicPr>
          <p:nvPr/>
        </p:nvPicPr>
        <p:blipFill>
          <a:blip r:embed="rId5"/>
          <a:stretch>
            <a:fillRect/>
          </a:stretch>
        </p:blipFill>
        <p:spPr>
          <a:xfrm>
            <a:off x="8686800" y="2011680"/>
            <a:ext cx="457200" cy="457200"/>
          </a:xfrm>
          <a:prstGeom prst="rect">
            <a:avLst/>
          </a:prstGeom>
        </p:spPr>
      </p:pic>
      <p:sp>
        <p:nvSpPr>
          <p:cNvPr id="20" name="Text 13"/>
          <p:cNvSpPr txBox="1"/>
          <p:nvPr/>
        </p:nvSpPr>
        <p:spPr>
          <a:xfrm>
            <a:off x="9555480" y="1874520"/>
            <a:ext cx="1828800" cy="365760"/>
          </a:xfrm>
          <a:prstGeom prst="rect">
            <a:avLst/>
          </a:prstGeom>
          <a:noFill/>
          <a:ln/>
        </p:spPr>
        <p:txBody>
          <a:bodyPr wrap="square" lIns="0" tIns="0" rIns="0" bIns="0" rtlCol="0" anchor="ctr"/>
          <a:lstStyle/>
          <a:p>
            <a:pPr indent="0" marL="0">
              <a:buNone/>
            </a:pPr>
            <a:r>
              <a:rPr lang="en-US" sz="1400" b="1" dirty="0">
                <a:solidFill>
                  <a:srgbClr val="EF5B3F"/>
                </a:solidFill>
              </a:rPr>
              <a:t>STEP 3</a:t>
            </a:r>
            <a:endParaRPr lang="en-US" sz="1400" dirty="0"/>
          </a:p>
        </p:txBody>
      </p:sp>
      <p:sp>
        <p:nvSpPr>
          <p:cNvPr id="21" name="Text 14"/>
          <p:cNvSpPr txBox="1"/>
          <p:nvPr/>
        </p:nvSpPr>
        <p:spPr>
          <a:xfrm>
            <a:off x="9555480" y="2240280"/>
            <a:ext cx="2011680" cy="457200"/>
          </a:xfrm>
          <a:prstGeom prst="rect">
            <a:avLst/>
          </a:prstGeom>
          <a:noFill/>
          <a:ln/>
        </p:spPr>
        <p:txBody>
          <a:bodyPr wrap="square" lIns="0" tIns="0" rIns="0" bIns="0" rtlCol="0" anchor="ctr"/>
          <a:lstStyle/>
          <a:p>
            <a:pPr indent="0" marL="0">
              <a:buNone/>
            </a:pPr>
            <a:r>
              <a:rPr lang="en-US" sz="2000" b="1" dirty="0">
                <a:solidFill>
                  <a:srgbClr val="14453D"/>
                </a:solidFill>
              </a:rPr>
              <a:t>짝으로 검증하기</a:t>
            </a:r>
            <a:endParaRPr lang="en-US" sz="2000" dirty="0"/>
          </a:p>
        </p:txBody>
      </p:sp>
      <p:sp>
        <p:nvSpPr>
          <p:cNvPr id="22" name="Text 15"/>
          <p:cNvSpPr txBox="1"/>
          <p:nvPr/>
        </p:nvSpPr>
        <p:spPr>
          <a:xfrm>
            <a:off x="8458200" y="3017520"/>
            <a:ext cx="2926080" cy="2651760"/>
          </a:xfrm>
          <a:prstGeom prst="rect">
            <a:avLst/>
          </a:prstGeom>
          <a:noFill/>
          <a:ln/>
        </p:spPr>
        <p:txBody>
          <a:bodyPr wrap="square" lIns="0" tIns="0" rIns="0" bIns="0" rtlCol="0" anchor="t"/>
          <a:lstStyle/>
          <a:p>
            <a:pPr indent="0" marL="0">
              <a:spcAft>
                <a:spcPts val="600"/>
              </a:spcAft>
              <a:buNone/>
            </a:pPr>
            <a:r>
              <a:rPr lang="en-US" sz="1700" dirty="0">
                <a:solidFill>
                  <a:srgbClr val="1E2B2A"/>
                </a:solidFill>
              </a:rPr>
              <a:t>(A)와 (B)를 따로 확인</a:t>
            </a:r>
            <a:endParaRPr lang="en-US" sz="1700" dirty="0"/>
          </a:p>
          <a:p>
            <a:pPr indent="0" marL="0">
              <a:spcAft>
                <a:spcPts val="600"/>
              </a:spcAft>
              <a:buNone/>
            </a:pPr>
            <a:r>
              <a:rPr lang="en-US" sz="1700" dirty="0">
                <a:solidFill>
                  <a:srgbClr val="1E2B2A"/>
                </a:solidFill>
              </a:rPr>
              <a:t>→ 두 칸 모두 근거가 있는 짝 고르기</a:t>
            </a:r>
            <a:endParaRPr lang="en-US" sz="17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14453D"/>
                </a:solidFill>
              </a:rPr>
              <a:t>이런 단어가 보이면 멈춰! 신호어 4종</a:t>
            </a:r>
            <a:endParaRPr lang="en-US" sz="3000" dirty="0"/>
          </a:p>
        </p:txBody>
      </p:sp>
      <p:sp>
        <p:nvSpPr>
          <p:cNvPr id="3" name="Shape 1"/>
          <p:cNvSpPr/>
          <p:nvPr/>
        </p:nvSpPr>
        <p:spPr>
          <a:xfrm>
            <a:off x="548640" y="1417320"/>
            <a:ext cx="5440680" cy="2240280"/>
          </a:xfrm>
          <a:prstGeom prst="roundRect">
            <a:avLst>
              <a:gd name="adj" fmla="val 4898"/>
            </a:avLst>
          </a:prstGeom>
          <a:solidFill>
            <a:srgbClr val="FFFFFF"/>
          </a:solidFill>
          <a:ln w="19050">
            <a:solidFill>
              <a:srgbClr val="E6F2ED"/>
            </a:solidFill>
            <a:prstDash val="solid"/>
          </a:ln>
          <a:effectLst>
            <a:outerShdw sx="100000" sy="100000" kx="0" ky="0" algn="bl" rotWithShape="0" blurRad="101600" dist="25400" dir="5400000">
              <a:srgbClr val="1E2B2A">
                <a:alpha val="12000"/>
              </a:srgbClr>
            </a:outerShdw>
          </a:effectLst>
        </p:spPr>
      </p:sp>
      <p:sp>
        <p:nvSpPr>
          <p:cNvPr id="4" name="Shape 2"/>
          <p:cNvSpPr/>
          <p:nvPr/>
        </p:nvSpPr>
        <p:spPr>
          <a:xfrm>
            <a:off x="822960" y="1691640"/>
            <a:ext cx="731520" cy="731520"/>
          </a:xfrm>
          <a:prstGeom prst="ellipse">
            <a:avLst/>
          </a:prstGeom>
          <a:solidFill>
            <a:srgbClr val="1F7A64"/>
          </a:solidFill>
          <a:ln w="12700">
            <a:solidFill>
              <a:srgbClr val="1F7A64"/>
            </a:solidFill>
            <a:prstDash val="solid"/>
          </a:ln>
        </p:spPr>
      </p:sp>
      <p:pic>
        <p:nvPicPr>
          <p:cNvPr id="5" name="Image 0" descr="preencoded.png">    </p:cNvPr>
          <p:cNvPicPr>
            <a:picLocks noChangeAspect="1"/>
          </p:cNvPicPr>
          <p:nvPr/>
        </p:nvPicPr>
        <p:blipFill>
          <a:blip r:embed="rId1"/>
          <a:stretch>
            <a:fillRect/>
          </a:stretch>
        </p:blipFill>
        <p:spPr>
          <a:xfrm>
            <a:off x="1005840" y="1874520"/>
            <a:ext cx="365760" cy="365760"/>
          </a:xfrm>
          <a:prstGeom prst="rect">
            <a:avLst/>
          </a:prstGeom>
        </p:spPr>
      </p:pic>
      <p:sp>
        <p:nvSpPr>
          <p:cNvPr id="6" name="Text 3"/>
          <p:cNvSpPr txBox="1"/>
          <p:nvPr/>
        </p:nvSpPr>
        <p:spPr>
          <a:xfrm>
            <a:off x="1737360" y="1691640"/>
            <a:ext cx="2286000" cy="411480"/>
          </a:xfrm>
          <a:prstGeom prst="rect">
            <a:avLst/>
          </a:prstGeom>
          <a:noFill/>
          <a:ln/>
        </p:spPr>
        <p:txBody>
          <a:bodyPr wrap="square" lIns="0" tIns="0" rIns="0" bIns="0" rtlCol="0" anchor="ctr"/>
          <a:lstStyle/>
          <a:p>
            <a:pPr indent="0" marL="0">
              <a:buNone/>
            </a:pPr>
            <a:r>
              <a:rPr lang="en-US" sz="2200" b="1" dirty="0">
                <a:solidFill>
                  <a:srgbClr val="14453D"/>
                </a:solidFill>
              </a:rPr>
              <a:t>반전</a:t>
            </a:r>
            <a:endParaRPr lang="en-US" sz="2200" dirty="0"/>
          </a:p>
        </p:txBody>
      </p:sp>
      <p:sp>
        <p:nvSpPr>
          <p:cNvPr id="7" name="Text 4"/>
          <p:cNvSpPr/>
          <p:nvPr/>
        </p:nvSpPr>
        <p:spPr>
          <a:xfrm>
            <a:off x="4572000" y="1737360"/>
            <a:ext cx="114300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Ex 93, 99</a:t>
            </a:r>
            <a:endParaRPr lang="en-US" sz="1200" dirty="0"/>
          </a:p>
        </p:txBody>
      </p:sp>
      <p:sp>
        <p:nvSpPr>
          <p:cNvPr id="8" name="Text 5"/>
          <p:cNvSpPr txBox="1"/>
          <p:nvPr/>
        </p:nvSpPr>
        <p:spPr>
          <a:xfrm>
            <a:off x="1737360" y="2148840"/>
            <a:ext cx="4023360" cy="365760"/>
          </a:xfrm>
          <a:prstGeom prst="rect">
            <a:avLst/>
          </a:prstGeom>
          <a:noFill/>
          <a:ln/>
        </p:spPr>
        <p:txBody>
          <a:bodyPr wrap="square" lIns="0" tIns="0" rIns="0" bIns="0" rtlCol="0" anchor="ctr"/>
          <a:lstStyle/>
          <a:p>
            <a:pPr indent="0" marL="0">
              <a:buNone/>
            </a:pPr>
            <a:r>
              <a:rPr lang="en-US" sz="1400" i="1" dirty="0">
                <a:solidFill>
                  <a:srgbClr val="1F7A64"/>
                </a:solidFill>
              </a:rPr>
              <a:t>However · While(~이지만) · But · Rather</a:t>
            </a:r>
            <a:endParaRPr lang="en-US" sz="1400" dirty="0"/>
          </a:p>
        </p:txBody>
      </p:sp>
      <p:sp>
        <p:nvSpPr>
          <p:cNvPr id="9" name="Text 6"/>
          <p:cNvSpPr txBox="1"/>
          <p:nvPr/>
        </p:nvSpPr>
        <p:spPr>
          <a:xfrm>
            <a:off x="1737360" y="2606040"/>
            <a:ext cx="4023360" cy="868680"/>
          </a:xfrm>
          <a:prstGeom prst="rect">
            <a:avLst/>
          </a:prstGeom>
          <a:noFill/>
          <a:ln/>
        </p:spPr>
        <p:txBody>
          <a:bodyPr wrap="square" lIns="0" tIns="0" rIns="0" bIns="0" rtlCol="0" anchor="t"/>
          <a:lstStyle/>
          <a:p>
            <a:pPr indent="0" marL="0">
              <a:buNone/>
            </a:pPr>
            <a:r>
              <a:rPr lang="en-US" sz="1500" dirty="0">
                <a:solidFill>
                  <a:srgbClr val="1E2B2A"/>
                </a:solidFill>
              </a:rPr>
              <a:t>앞 내용과 반대가 나온다</a:t>
            </a:r>
            <a:endParaRPr lang="en-US" sz="1500" dirty="0"/>
          </a:p>
          <a:p>
            <a:pPr indent="0" marL="0">
              <a:buNone/>
            </a:pPr>
            <a:r>
              <a:rPr lang="en-US" sz="1500" dirty="0">
                <a:solidFill>
                  <a:srgbClr val="1E2B2A"/>
                </a:solidFill>
              </a:rPr>
              <a:t>→ 뒤가 진짜 주장</a:t>
            </a:r>
            <a:endParaRPr lang="en-US" sz="1500" dirty="0"/>
          </a:p>
        </p:txBody>
      </p:sp>
      <p:sp>
        <p:nvSpPr>
          <p:cNvPr id="10" name="Shape 7"/>
          <p:cNvSpPr/>
          <p:nvPr/>
        </p:nvSpPr>
        <p:spPr>
          <a:xfrm>
            <a:off x="6172200" y="1417320"/>
            <a:ext cx="5440680" cy="2240280"/>
          </a:xfrm>
          <a:prstGeom prst="roundRect">
            <a:avLst>
              <a:gd name="adj" fmla="val 4898"/>
            </a:avLst>
          </a:prstGeom>
          <a:solidFill>
            <a:srgbClr val="FFFFFF"/>
          </a:solidFill>
          <a:ln w="19050">
            <a:solidFill>
              <a:srgbClr val="E6F2ED"/>
            </a:solidFill>
            <a:prstDash val="solid"/>
          </a:ln>
          <a:effectLst>
            <a:outerShdw sx="100000" sy="100000" kx="0" ky="0" algn="bl" rotWithShape="0" blurRad="101600" dist="25400" dir="5400000">
              <a:srgbClr val="1E2B2A">
                <a:alpha val="12000"/>
              </a:srgbClr>
            </a:outerShdw>
          </a:effectLst>
        </p:spPr>
      </p:sp>
      <p:sp>
        <p:nvSpPr>
          <p:cNvPr id="11" name="Shape 8"/>
          <p:cNvSpPr/>
          <p:nvPr/>
        </p:nvSpPr>
        <p:spPr>
          <a:xfrm>
            <a:off x="6446520" y="1691640"/>
            <a:ext cx="731520" cy="731520"/>
          </a:xfrm>
          <a:prstGeom prst="ellipse">
            <a:avLst/>
          </a:prstGeom>
          <a:solidFill>
            <a:srgbClr val="1F7A64"/>
          </a:solidFill>
          <a:ln w="12700">
            <a:solidFill>
              <a:srgbClr val="1F7A64"/>
            </a:solidFill>
            <a:prstDash val="solid"/>
          </a:ln>
        </p:spPr>
      </p:sp>
      <p:pic>
        <p:nvPicPr>
          <p:cNvPr id="12" name="Image 1" descr="preencoded.png">    </p:cNvPr>
          <p:cNvPicPr>
            <a:picLocks noChangeAspect="1"/>
          </p:cNvPicPr>
          <p:nvPr/>
        </p:nvPicPr>
        <p:blipFill>
          <a:blip r:embed="rId2"/>
          <a:stretch>
            <a:fillRect/>
          </a:stretch>
        </p:blipFill>
        <p:spPr>
          <a:xfrm>
            <a:off x="6629400" y="1874520"/>
            <a:ext cx="365760" cy="365760"/>
          </a:xfrm>
          <a:prstGeom prst="rect">
            <a:avLst/>
          </a:prstGeom>
        </p:spPr>
      </p:pic>
      <p:sp>
        <p:nvSpPr>
          <p:cNvPr id="13" name="Text 9"/>
          <p:cNvSpPr txBox="1"/>
          <p:nvPr/>
        </p:nvSpPr>
        <p:spPr>
          <a:xfrm>
            <a:off x="7360920" y="1691640"/>
            <a:ext cx="2286000" cy="411480"/>
          </a:xfrm>
          <a:prstGeom prst="rect">
            <a:avLst/>
          </a:prstGeom>
          <a:noFill/>
          <a:ln/>
        </p:spPr>
        <p:txBody>
          <a:bodyPr wrap="square" lIns="0" tIns="0" rIns="0" bIns="0" rtlCol="0" anchor="ctr"/>
          <a:lstStyle/>
          <a:p>
            <a:pPr indent="0" marL="0">
              <a:buNone/>
            </a:pPr>
            <a:r>
              <a:rPr lang="en-US" sz="2200" b="1" dirty="0">
                <a:solidFill>
                  <a:srgbClr val="14453D"/>
                </a:solidFill>
              </a:rPr>
              <a:t>결론</a:t>
            </a:r>
            <a:endParaRPr lang="en-US" sz="2200" dirty="0"/>
          </a:p>
        </p:txBody>
      </p:sp>
      <p:sp>
        <p:nvSpPr>
          <p:cNvPr id="14" name="Text 10"/>
          <p:cNvSpPr/>
          <p:nvPr/>
        </p:nvSpPr>
        <p:spPr>
          <a:xfrm>
            <a:off x="10195560" y="1737360"/>
            <a:ext cx="114300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Ex 96, 97</a:t>
            </a:r>
            <a:endParaRPr lang="en-US" sz="1200" dirty="0"/>
          </a:p>
        </p:txBody>
      </p:sp>
      <p:sp>
        <p:nvSpPr>
          <p:cNvPr id="15" name="Text 11"/>
          <p:cNvSpPr txBox="1"/>
          <p:nvPr/>
        </p:nvSpPr>
        <p:spPr>
          <a:xfrm>
            <a:off x="7360920" y="2148840"/>
            <a:ext cx="4023360" cy="365760"/>
          </a:xfrm>
          <a:prstGeom prst="rect">
            <a:avLst/>
          </a:prstGeom>
          <a:noFill/>
          <a:ln/>
        </p:spPr>
        <p:txBody>
          <a:bodyPr wrap="square" lIns="0" tIns="0" rIns="0" bIns="0" rtlCol="0" anchor="ctr"/>
          <a:lstStyle/>
          <a:p>
            <a:pPr indent="0" marL="0">
              <a:buNone/>
            </a:pPr>
            <a:r>
              <a:rPr lang="en-US" sz="1400" i="1" dirty="0">
                <a:solidFill>
                  <a:srgbClr val="1F7A64"/>
                </a:solidFill>
              </a:rPr>
              <a:t>Consequently · This result shows · Therefore</a:t>
            </a:r>
            <a:endParaRPr lang="en-US" sz="1400" dirty="0"/>
          </a:p>
        </p:txBody>
      </p:sp>
      <p:sp>
        <p:nvSpPr>
          <p:cNvPr id="16" name="Text 12"/>
          <p:cNvSpPr txBox="1"/>
          <p:nvPr/>
        </p:nvSpPr>
        <p:spPr>
          <a:xfrm>
            <a:off x="7360920" y="2606040"/>
            <a:ext cx="4023360" cy="868680"/>
          </a:xfrm>
          <a:prstGeom prst="rect">
            <a:avLst/>
          </a:prstGeom>
          <a:noFill/>
          <a:ln/>
        </p:spPr>
        <p:txBody>
          <a:bodyPr wrap="square" lIns="0" tIns="0" rIns="0" bIns="0" rtlCol="0" anchor="t"/>
          <a:lstStyle/>
          <a:p>
            <a:pPr indent="0" marL="0">
              <a:buNone/>
            </a:pPr>
            <a:r>
              <a:rPr lang="en-US" sz="1500" dirty="0">
                <a:solidFill>
                  <a:srgbClr val="1E2B2A"/>
                </a:solidFill>
              </a:rPr>
              <a:t>지금까지 내용을 정리한다</a:t>
            </a:r>
            <a:endParaRPr lang="en-US" sz="1500" dirty="0"/>
          </a:p>
          <a:p>
            <a:pPr indent="0" marL="0">
              <a:buNone/>
            </a:pPr>
            <a:r>
              <a:rPr lang="en-US" sz="1500" dirty="0">
                <a:solidFill>
                  <a:srgbClr val="1E2B2A"/>
                </a:solidFill>
              </a:rPr>
              <a:t>→ 요약문의 원본</a:t>
            </a:r>
            <a:endParaRPr lang="en-US" sz="1500" dirty="0"/>
          </a:p>
        </p:txBody>
      </p:sp>
      <p:sp>
        <p:nvSpPr>
          <p:cNvPr id="17" name="Shape 13"/>
          <p:cNvSpPr/>
          <p:nvPr/>
        </p:nvSpPr>
        <p:spPr>
          <a:xfrm>
            <a:off x="548640" y="3886200"/>
            <a:ext cx="5440680" cy="2240280"/>
          </a:xfrm>
          <a:prstGeom prst="roundRect">
            <a:avLst>
              <a:gd name="adj" fmla="val 4898"/>
            </a:avLst>
          </a:prstGeom>
          <a:solidFill>
            <a:srgbClr val="FFFFFF"/>
          </a:solidFill>
          <a:ln w="19050">
            <a:solidFill>
              <a:srgbClr val="E6F2ED"/>
            </a:solidFill>
            <a:prstDash val="solid"/>
          </a:ln>
          <a:effectLst>
            <a:outerShdw sx="100000" sy="100000" kx="0" ky="0" algn="bl" rotWithShape="0" blurRad="101600" dist="25400" dir="5400000">
              <a:srgbClr val="1E2B2A">
                <a:alpha val="12000"/>
              </a:srgbClr>
            </a:outerShdw>
          </a:effectLst>
        </p:spPr>
      </p:sp>
      <p:sp>
        <p:nvSpPr>
          <p:cNvPr id="18" name="Shape 14"/>
          <p:cNvSpPr/>
          <p:nvPr/>
        </p:nvSpPr>
        <p:spPr>
          <a:xfrm>
            <a:off x="822960" y="4160520"/>
            <a:ext cx="731520" cy="731520"/>
          </a:xfrm>
          <a:prstGeom prst="ellipse">
            <a:avLst/>
          </a:prstGeom>
          <a:solidFill>
            <a:srgbClr val="1F7A64"/>
          </a:solidFill>
          <a:ln w="12700">
            <a:solidFill>
              <a:srgbClr val="1F7A64"/>
            </a:solidFill>
            <a:prstDash val="solid"/>
          </a:ln>
        </p:spPr>
      </p:sp>
      <p:pic>
        <p:nvPicPr>
          <p:cNvPr id="19" name="Image 2" descr="preencoded.png">    </p:cNvPr>
          <p:cNvPicPr>
            <a:picLocks noChangeAspect="1"/>
          </p:cNvPicPr>
          <p:nvPr/>
        </p:nvPicPr>
        <p:blipFill>
          <a:blip r:embed="rId3"/>
          <a:stretch>
            <a:fillRect/>
          </a:stretch>
        </p:blipFill>
        <p:spPr>
          <a:xfrm>
            <a:off x="1005840" y="4343400"/>
            <a:ext cx="365760" cy="365760"/>
          </a:xfrm>
          <a:prstGeom prst="rect">
            <a:avLst/>
          </a:prstGeom>
        </p:spPr>
      </p:pic>
      <p:sp>
        <p:nvSpPr>
          <p:cNvPr id="20" name="Text 15"/>
          <p:cNvSpPr txBox="1"/>
          <p:nvPr/>
        </p:nvSpPr>
        <p:spPr>
          <a:xfrm>
            <a:off x="1737360" y="4160520"/>
            <a:ext cx="2286000" cy="411480"/>
          </a:xfrm>
          <a:prstGeom prst="rect">
            <a:avLst/>
          </a:prstGeom>
          <a:noFill/>
          <a:ln/>
        </p:spPr>
        <p:txBody>
          <a:bodyPr wrap="square" lIns="0" tIns="0" rIns="0" bIns="0" rtlCol="0" anchor="ctr"/>
          <a:lstStyle/>
          <a:p>
            <a:pPr indent="0" marL="0">
              <a:buNone/>
            </a:pPr>
            <a:r>
              <a:rPr lang="en-US" sz="2200" b="1" dirty="0">
                <a:solidFill>
                  <a:srgbClr val="14453D"/>
                </a:solidFill>
              </a:rPr>
              <a:t>예시</a:t>
            </a:r>
            <a:endParaRPr lang="en-US" sz="2200" dirty="0"/>
          </a:p>
        </p:txBody>
      </p:sp>
      <p:sp>
        <p:nvSpPr>
          <p:cNvPr id="21" name="Text 16"/>
          <p:cNvSpPr/>
          <p:nvPr/>
        </p:nvSpPr>
        <p:spPr>
          <a:xfrm>
            <a:off x="4572000" y="4206240"/>
            <a:ext cx="114300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Ex 94, 101</a:t>
            </a:r>
            <a:endParaRPr lang="en-US" sz="1200" dirty="0"/>
          </a:p>
        </p:txBody>
      </p:sp>
      <p:sp>
        <p:nvSpPr>
          <p:cNvPr id="22" name="Text 17"/>
          <p:cNvSpPr txBox="1"/>
          <p:nvPr/>
        </p:nvSpPr>
        <p:spPr>
          <a:xfrm>
            <a:off x="1737360" y="4617720"/>
            <a:ext cx="4023360" cy="365760"/>
          </a:xfrm>
          <a:prstGeom prst="rect">
            <a:avLst/>
          </a:prstGeom>
          <a:noFill/>
          <a:ln/>
        </p:spPr>
        <p:txBody>
          <a:bodyPr wrap="square" lIns="0" tIns="0" rIns="0" bIns="0" rtlCol="0" anchor="ctr"/>
          <a:lstStyle/>
          <a:p>
            <a:pPr indent="0" marL="0">
              <a:buNone/>
            </a:pPr>
            <a:r>
              <a:rPr lang="en-US" sz="1400" i="1" dirty="0">
                <a:solidFill>
                  <a:srgbClr val="1F7A64"/>
                </a:solidFill>
              </a:rPr>
              <a:t>For example · In one experiment · For instance</a:t>
            </a:r>
            <a:endParaRPr lang="en-US" sz="1400" dirty="0"/>
          </a:p>
        </p:txBody>
      </p:sp>
      <p:sp>
        <p:nvSpPr>
          <p:cNvPr id="23" name="Text 18"/>
          <p:cNvSpPr txBox="1"/>
          <p:nvPr/>
        </p:nvSpPr>
        <p:spPr>
          <a:xfrm>
            <a:off x="1737360" y="5074920"/>
            <a:ext cx="4023360" cy="868680"/>
          </a:xfrm>
          <a:prstGeom prst="rect">
            <a:avLst/>
          </a:prstGeom>
          <a:noFill/>
          <a:ln/>
        </p:spPr>
        <p:txBody>
          <a:bodyPr wrap="square" lIns="0" tIns="0" rIns="0" bIns="0" rtlCol="0" anchor="t"/>
          <a:lstStyle/>
          <a:p>
            <a:pPr indent="0" marL="0">
              <a:buNone/>
            </a:pPr>
            <a:r>
              <a:rPr lang="en-US" sz="1500" dirty="0">
                <a:solidFill>
                  <a:srgbClr val="1E2B2A"/>
                </a:solidFill>
              </a:rPr>
              <a:t>실험·예시의 공통점 = 요약문</a:t>
            </a:r>
            <a:endParaRPr lang="en-US" sz="1500" dirty="0"/>
          </a:p>
        </p:txBody>
      </p:sp>
      <p:sp>
        <p:nvSpPr>
          <p:cNvPr id="24" name="Shape 19"/>
          <p:cNvSpPr/>
          <p:nvPr/>
        </p:nvSpPr>
        <p:spPr>
          <a:xfrm>
            <a:off x="6172200" y="3886200"/>
            <a:ext cx="5440680" cy="2240280"/>
          </a:xfrm>
          <a:prstGeom prst="roundRect">
            <a:avLst>
              <a:gd name="adj" fmla="val 4898"/>
            </a:avLst>
          </a:prstGeom>
          <a:solidFill>
            <a:srgbClr val="FFFFFF"/>
          </a:solidFill>
          <a:ln w="19050">
            <a:solidFill>
              <a:srgbClr val="E6F2ED"/>
            </a:solidFill>
            <a:prstDash val="solid"/>
          </a:ln>
          <a:effectLst>
            <a:outerShdw sx="100000" sy="100000" kx="0" ky="0" algn="bl" rotWithShape="0" blurRad="101600" dist="25400" dir="5400000">
              <a:srgbClr val="1E2B2A">
                <a:alpha val="12000"/>
              </a:srgbClr>
            </a:outerShdw>
          </a:effectLst>
        </p:spPr>
      </p:sp>
      <p:sp>
        <p:nvSpPr>
          <p:cNvPr id="25" name="Shape 20"/>
          <p:cNvSpPr/>
          <p:nvPr/>
        </p:nvSpPr>
        <p:spPr>
          <a:xfrm>
            <a:off x="6446520" y="4160520"/>
            <a:ext cx="731520" cy="731520"/>
          </a:xfrm>
          <a:prstGeom prst="ellipse">
            <a:avLst/>
          </a:prstGeom>
          <a:solidFill>
            <a:srgbClr val="1F7A64"/>
          </a:solidFill>
          <a:ln w="12700">
            <a:solidFill>
              <a:srgbClr val="1F7A64"/>
            </a:solidFill>
            <a:prstDash val="solid"/>
          </a:ln>
        </p:spPr>
      </p:sp>
      <p:pic>
        <p:nvPicPr>
          <p:cNvPr id="26" name="Image 3" descr="preencoded.png">    </p:cNvPr>
          <p:cNvPicPr>
            <a:picLocks noChangeAspect="1"/>
          </p:cNvPicPr>
          <p:nvPr/>
        </p:nvPicPr>
        <p:blipFill>
          <a:blip r:embed="rId4"/>
          <a:stretch>
            <a:fillRect/>
          </a:stretch>
        </p:blipFill>
        <p:spPr>
          <a:xfrm>
            <a:off x="6629400" y="4343400"/>
            <a:ext cx="365760" cy="365760"/>
          </a:xfrm>
          <a:prstGeom prst="rect">
            <a:avLst/>
          </a:prstGeom>
        </p:spPr>
      </p:pic>
      <p:sp>
        <p:nvSpPr>
          <p:cNvPr id="27" name="Text 21"/>
          <p:cNvSpPr txBox="1"/>
          <p:nvPr/>
        </p:nvSpPr>
        <p:spPr>
          <a:xfrm>
            <a:off x="7360920" y="4160520"/>
            <a:ext cx="2286000" cy="411480"/>
          </a:xfrm>
          <a:prstGeom prst="rect">
            <a:avLst/>
          </a:prstGeom>
          <a:noFill/>
          <a:ln/>
        </p:spPr>
        <p:txBody>
          <a:bodyPr wrap="square" lIns="0" tIns="0" rIns="0" bIns="0" rtlCol="0" anchor="ctr"/>
          <a:lstStyle/>
          <a:p>
            <a:pPr indent="0" marL="0">
              <a:buNone/>
            </a:pPr>
            <a:r>
              <a:rPr lang="en-US" sz="2200" b="1" dirty="0">
                <a:solidFill>
                  <a:srgbClr val="14453D"/>
                </a:solidFill>
              </a:rPr>
              <a:t>재진술</a:t>
            </a:r>
            <a:endParaRPr lang="en-US" sz="2200" dirty="0"/>
          </a:p>
        </p:txBody>
      </p:sp>
      <p:sp>
        <p:nvSpPr>
          <p:cNvPr id="28" name="Text 22"/>
          <p:cNvSpPr/>
          <p:nvPr/>
        </p:nvSpPr>
        <p:spPr>
          <a:xfrm>
            <a:off x="10195560" y="4206240"/>
            <a:ext cx="114300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Ex 99, 100</a:t>
            </a:r>
            <a:endParaRPr lang="en-US" sz="1200" dirty="0"/>
          </a:p>
        </p:txBody>
      </p:sp>
      <p:sp>
        <p:nvSpPr>
          <p:cNvPr id="29" name="Text 23"/>
          <p:cNvSpPr txBox="1"/>
          <p:nvPr/>
        </p:nvSpPr>
        <p:spPr>
          <a:xfrm>
            <a:off x="7360920" y="4617720"/>
            <a:ext cx="4023360" cy="365760"/>
          </a:xfrm>
          <a:prstGeom prst="rect">
            <a:avLst/>
          </a:prstGeom>
          <a:noFill/>
          <a:ln/>
        </p:spPr>
        <p:txBody>
          <a:bodyPr wrap="square" lIns="0" tIns="0" rIns="0" bIns="0" rtlCol="0" anchor="ctr"/>
          <a:lstStyle/>
          <a:p>
            <a:pPr indent="0" marL="0">
              <a:buNone/>
            </a:pPr>
            <a:r>
              <a:rPr lang="en-US" sz="1400" i="1" dirty="0">
                <a:solidFill>
                  <a:srgbClr val="1F7A64"/>
                </a:solidFill>
              </a:rPr>
              <a:t>In other words · That is · —(대시)</a:t>
            </a:r>
            <a:endParaRPr lang="en-US" sz="1400" dirty="0"/>
          </a:p>
        </p:txBody>
      </p:sp>
      <p:sp>
        <p:nvSpPr>
          <p:cNvPr id="30" name="Text 24"/>
          <p:cNvSpPr txBox="1"/>
          <p:nvPr/>
        </p:nvSpPr>
        <p:spPr>
          <a:xfrm>
            <a:off x="7360920" y="5074920"/>
            <a:ext cx="4023360" cy="868680"/>
          </a:xfrm>
          <a:prstGeom prst="rect">
            <a:avLst/>
          </a:prstGeom>
          <a:noFill/>
          <a:ln/>
        </p:spPr>
        <p:txBody>
          <a:bodyPr wrap="square" lIns="0" tIns="0" rIns="0" bIns="0" rtlCol="0" anchor="t"/>
          <a:lstStyle/>
          <a:p>
            <a:pPr indent="0" marL="0">
              <a:buNone/>
            </a:pPr>
            <a:r>
              <a:rPr lang="en-US" sz="1500" dirty="0">
                <a:solidFill>
                  <a:srgbClr val="1E2B2A"/>
                </a:solidFill>
              </a:rPr>
              <a:t>같은 말을 다르게 한 번 더</a:t>
            </a:r>
            <a:endParaRPr lang="en-US" sz="1500" dirty="0"/>
          </a:p>
          <a:p>
            <a:pPr indent="0" marL="0">
              <a:buNone/>
            </a:pPr>
            <a:r>
              <a:rPr lang="en-US" sz="1500" dirty="0">
                <a:solidFill>
                  <a:srgbClr val="1E2B2A"/>
                </a:solidFill>
              </a:rPr>
              <a:t>→ 정답 단어의 힌트</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ctr"/>
          <a:lstStyle/>
          <a:p>
            <a:pPr algn="l" indent="0" marL="0">
              <a:buNone/>
            </a:pPr>
            <a:r>
              <a:rPr lang="en-US" sz="4400" b="1" dirty="0">
                <a:solidFill>
                  <a:srgbClr val="FFFFFF"/>
                </a:solidFill>
              </a:rPr>
              <a:t>Part 1  ·  Exercise 92–98</a:t>
            </a:r>
            <a:endParaRPr lang="en-US" sz="4400" dirty="0"/>
          </a:p>
        </p:txBody>
      </p:sp>
      <p:sp>
        <p:nvSpPr>
          <p:cNvPr id="3" name="Text 0"/>
          <p:cNvSpPr/>
          <p:nvPr>
            <p:ph idx="101" type="body" hasCustomPrompt="1"/>
          </p:nvPr>
        </p:nvSpPr>
        <p:spPr>
          <a:xfrm>
            <a:off x="731520" y="3566160"/>
            <a:ext cx="10698480" cy="1280160"/>
          </a:xfrm>
          <a:prstGeom prst="rect">
            <a:avLst/>
          </a:prstGeom>
          <a:noFill/>
          <a:ln/>
        </p:spPr>
        <p:txBody>
          <a:bodyPr wrap="square" lIns="0" tIns="0" rIns="0" bIns="0" rtlCol="0" anchor="t"/>
          <a:lstStyle/>
          <a:p>
            <a:pPr algn="l" indent="0" marL="0">
              <a:buNone/>
            </a:pPr>
            <a:r>
              <a:rPr lang="en-US" sz="2000" dirty="0">
                <a:solidFill>
                  <a:srgbClr val="E6F2ED"/>
                </a:solidFill>
              </a:rPr>
              <a:t>몽골 유목민 · 틀 효과 · 사회적 전염 · 자기 성찰 · 동물의 후각 · 문화와 사고방식 · 순서 효과</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92  </a:t>
            </a:r>
            <a:pPr algn="l" indent="0" marL="0">
              <a:buNone/>
            </a:pPr>
            <a:r>
              <a:rPr lang="en-US" sz="3000" b="1" dirty="0">
                <a:solidFill>
                  <a:srgbClr val="14453D"/>
                </a:solidFill>
              </a:rPr>
              <a:t>몽골인의 유목 생활</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Hook</a:t>
            </a:r>
            <a:endParaRPr lang="en-US" sz="1200" dirty="0"/>
          </a:p>
        </p:txBody>
      </p:sp>
      <p:sp>
        <p:nvSpPr>
          <p:cNvPr id="4" name="Shape 2"/>
          <p:cNvSpPr/>
          <p:nvPr/>
        </p:nvSpPr>
        <p:spPr>
          <a:xfrm>
            <a:off x="1280160" y="1737360"/>
            <a:ext cx="9601200" cy="3291840"/>
          </a:xfrm>
          <a:prstGeom prst="roundRect">
            <a:avLst>
              <a:gd name="adj" fmla="val 6944"/>
            </a:avLst>
          </a:prstGeom>
          <a:solidFill>
            <a:srgbClr val="E6F2ED"/>
          </a:solidFill>
          <a:ln w="12700">
            <a:solidFill>
              <a:srgbClr val="E6F2ED"/>
            </a:solidFill>
            <a:prstDash val="solid"/>
          </a:ln>
        </p:spPr>
      </p:sp>
      <p:sp>
        <p:nvSpPr>
          <p:cNvPr id="5" name="Shape 3"/>
          <p:cNvSpPr/>
          <p:nvPr/>
        </p:nvSpPr>
        <p:spPr>
          <a:xfrm>
            <a:off x="1737360" y="2148840"/>
            <a:ext cx="1005840" cy="1005840"/>
          </a:xfrm>
          <a:prstGeom prst="ellipse">
            <a:avLst/>
          </a:prstGeom>
          <a:solidFill>
            <a:srgbClr val="1F7A64"/>
          </a:solidFill>
          <a:ln w="12700">
            <a:solidFill>
              <a:srgbClr val="1F7A64"/>
            </a:solidFill>
            <a:prstDash val="solid"/>
          </a:ln>
        </p:spPr>
      </p:sp>
      <p:pic>
        <p:nvPicPr>
          <p:cNvPr id="6" name="Image 0" descr="preencoded.png">    </p:cNvPr>
          <p:cNvPicPr>
            <a:picLocks noChangeAspect="1"/>
          </p:cNvPicPr>
          <p:nvPr/>
        </p:nvPicPr>
        <p:blipFill>
          <a:blip r:embed="rId1"/>
          <a:stretch>
            <a:fillRect/>
          </a:stretch>
        </p:blipFill>
        <p:spPr>
          <a:xfrm>
            <a:off x="1984248" y="2395728"/>
            <a:ext cx="512064" cy="512064"/>
          </a:xfrm>
          <a:prstGeom prst="rect">
            <a:avLst/>
          </a:prstGeom>
        </p:spPr>
      </p:pic>
      <p:sp>
        <p:nvSpPr>
          <p:cNvPr id="7" name="Text 4"/>
          <p:cNvSpPr txBox="1"/>
          <p:nvPr/>
        </p:nvSpPr>
        <p:spPr>
          <a:xfrm>
            <a:off x="3017520" y="2194560"/>
            <a:ext cx="5486400" cy="457200"/>
          </a:xfrm>
          <a:prstGeom prst="rect">
            <a:avLst/>
          </a:prstGeom>
          <a:noFill/>
          <a:ln/>
        </p:spPr>
        <p:txBody>
          <a:bodyPr wrap="square" lIns="0" tIns="0" rIns="0" bIns="0" rtlCol="0" anchor="ctr"/>
          <a:lstStyle/>
          <a:p>
            <a:pPr indent="0" marL="0">
              <a:buNone/>
            </a:pPr>
            <a:r>
              <a:rPr lang="en-US" sz="1800" b="1" dirty="0">
                <a:solidFill>
                  <a:srgbClr val="1F7A64"/>
                </a:solidFill>
              </a:rPr>
              <a:t>생각해 볼까?</a:t>
            </a:r>
            <a:endParaRPr lang="en-US" sz="1800" dirty="0"/>
          </a:p>
        </p:txBody>
      </p:sp>
      <p:sp>
        <p:nvSpPr>
          <p:cNvPr id="8" name="Text 5"/>
          <p:cNvSpPr txBox="1"/>
          <p:nvPr/>
        </p:nvSpPr>
        <p:spPr>
          <a:xfrm>
            <a:off x="3017520" y="2697480"/>
            <a:ext cx="7498080" cy="2011680"/>
          </a:xfrm>
          <a:prstGeom prst="rect">
            <a:avLst/>
          </a:prstGeom>
          <a:noFill/>
          <a:ln/>
        </p:spPr>
        <p:txBody>
          <a:bodyPr wrap="square" lIns="0" tIns="0" rIns="0" bIns="0" rtlCol="0" anchor="t">
            <a:normAutofit/>
          </a:bodyPr>
          <a:lstStyle/>
          <a:p>
            <a:pPr indent="0" marL="0">
              <a:buNone/>
            </a:pPr>
            <a:r>
              <a:rPr lang="en-US" sz="2800" b="1" dirty="0">
                <a:solidFill>
                  <a:srgbClr val="14453D"/>
                </a:solidFill>
              </a:rPr>
              <a:t>요즘 세상에 아직도 말 타고 유목 생활하는 나라가 있을까?</a:t>
            </a:r>
            <a:endParaRPr lang="en-US" sz="2800" dirty="0"/>
          </a:p>
        </p:txBody>
      </p:sp>
      <p:sp>
        <p:nvSpPr>
          <p:cNvPr id="9" name="Text 6"/>
          <p:cNvSpPr/>
          <p:nvPr/>
        </p:nvSpPr>
        <p:spPr>
          <a:xfrm>
            <a:off x="4251960" y="5349240"/>
            <a:ext cx="3657600" cy="329184"/>
          </a:xfrm>
          <a:prstGeom prst="roundRect">
            <a:avLst>
              <a:gd name="adj" fmla="val 41667"/>
            </a:avLst>
          </a:prstGeom>
          <a:solidFill>
            <a:srgbClr val="EF5B3F"/>
          </a:solidFill>
          <a:ln/>
        </p:spPr>
        <p:txBody>
          <a:bodyPr wrap="square" lIns="0" tIns="0" rIns="0" bIns="0" rtlCol="0" anchor="ctr"/>
          <a:lstStyle/>
          <a:p>
            <a:pPr algn="ctr" indent="0" marL="0">
              <a:buNone/>
            </a:pPr>
            <a:r>
              <a:rPr lang="en-US" sz="1400" b="1" dirty="0">
                <a:solidFill>
                  <a:srgbClr val="FFFFFF"/>
                </a:solidFill>
              </a:rPr>
              <a:t>짝과 30초 이야기 → 2~3명 발표</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92  </a:t>
            </a:r>
            <a:pPr algn="l" indent="0" marL="0">
              <a:buNone/>
            </a:pPr>
            <a:r>
              <a:rPr lang="en-US" sz="2400" b="1" dirty="0">
                <a:solidFill>
                  <a:srgbClr val="14453D"/>
                </a:solidFill>
              </a:rPr>
              <a:t>(A)·(B)에 들어갈 말로 가장 적절한 것은?</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a:t>
            </a:r>
            <a:endParaRPr lang="en-US" sz="1200" dirty="0"/>
          </a:p>
        </p:txBody>
      </p:sp>
      <p:sp>
        <p:nvSpPr>
          <p:cNvPr id="4" name="Shape 2"/>
          <p:cNvSpPr/>
          <p:nvPr/>
        </p:nvSpPr>
        <p:spPr>
          <a:xfrm>
            <a:off x="548640" y="1234440"/>
            <a:ext cx="11064240" cy="5074920"/>
          </a:xfrm>
          <a:prstGeom prst="roundRect">
            <a:avLst>
              <a:gd name="adj" fmla="val 1802"/>
            </a:avLst>
          </a:prstGeom>
          <a:solidFill>
            <a:srgbClr val="FFFFFF"/>
          </a:solidFill>
          <a:ln w="19050">
            <a:solidFill>
              <a:srgbClr val="E6F2ED"/>
            </a:solidFill>
            <a:prstDash val="solid"/>
          </a:ln>
        </p:spPr>
      </p:sp>
      <p:sp>
        <p:nvSpPr>
          <p:cNvPr id="5" name="Text 3"/>
          <p:cNvSpPr txBox="1"/>
          <p:nvPr/>
        </p:nvSpPr>
        <p:spPr>
          <a:xfrm>
            <a:off x="777240" y="1371600"/>
            <a:ext cx="10607040" cy="4846320"/>
          </a:xfrm>
          <a:prstGeom prst="rect">
            <a:avLst/>
          </a:prstGeom>
          <a:noFill/>
          <a:ln/>
        </p:spPr>
        <p:txBody>
          <a:bodyPr wrap="square" lIns="0" tIns="0" rIns="0" bIns="0" rtlCol="0" anchor="t"/>
          <a:lstStyle/>
          <a:p>
            <a:pPr indent="0" marL="0">
              <a:lnSpc>
                <a:spcPct val="115000"/>
              </a:lnSpc>
              <a:buNone/>
            </a:pPr>
            <a:r>
              <a:rPr lang="en-US" sz="1600" dirty="0">
                <a:solidFill>
                  <a:srgbClr val="1E2B2A"/>
                </a:solidFill>
              </a:rPr>
              <a:t>While the majority of the world's population is now found in urban areas, hundreds of thousands of Mongolians continue to preserve (a) </a:t>
            </a:r>
            <a:pPr indent="0" marL="0">
              <a:lnSpc>
                <a:spcPct val="115000"/>
              </a:lnSpc>
              <a:buNone/>
            </a:pPr>
            <a:r>
              <a:rPr lang="en-US" sz="1600" b="1" u="sng" dirty="0">
                <a:solidFill>
                  <a:srgbClr val="1E2B2A"/>
                </a:solidFill>
              </a:rPr>
              <a:t>a way of life</a:t>
            </a:r>
            <a:pPr indent="0" marL="0">
              <a:lnSpc>
                <a:spcPct val="115000"/>
              </a:lnSpc>
              <a:buNone/>
            </a:pPr>
            <a:r>
              <a:rPr lang="en-US" sz="1600" dirty="0">
                <a:solidFill>
                  <a:srgbClr val="1E2B2A"/>
                </a:solidFill>
              </a:rPr>
              <a:t> that goes back at least a thousand years.</a:t>
            </a:r>
            <a:pPr indent="0" marL="0">
              <a:lnSpc>
                <a:spcPct val="115000"/>
              </a:lnSpc>
              <a:buNone/>
            </a:pPr>
            <a:r>
              <a:rPr lang="en-US" sz="1600" dirty="0">
                <a:solidFill>
                  <a:srgbClr val="000000"/>
                </a:solidFill>
              </a:rPr>
              <a:t> </a:t>
            </a:r>
            <a:pPr indent="0" marL="0">
              <a:lnSpc>
                <a:spcPct val="115000"/>
              </a:lnSpc>
              <a:buNone/>
            </a:pPr>
            <a:r>
              <a:rPr lang="en-US" sz="1600" dirty="0">
                <a:solidFill>
                  <a:srgbClr val="1E2B2A"/>
                </a:solidFill>
              </a:rPr>
              <a:t>Mongolians have led a nomadic life across the vast plains that share borders with China and Russia.</a:t>
            </a:r>
            <a:pPr indent="0" marL="0">
              <a:lnSpc>
                <a:spcPct val="115000"/>
              </a:lnSpc>
              <a:buNone/>
            </a:pPr>
            <a:r>
              <a:rPr lang="en-US" sz="1600" dirty="0">
                <a:solidFill>
                  <a:srgbClr val="000000"/>
                </a:solidFill>
              </a:rPr>
              <a:t> </a:t>
            </a:r>
            <a:pPr indent="0" marL="0">
              <a:lnSpc>
                <a:spcPct val="115000"/>
              </a:lnSpc>
              <a:buNone/>
            </a:pPr>
            <a:r>
              <a:rPr lang="en-US" sz="1600" dirty="0">
                <a:solidFill>
                  <a:srgbClr val="1E2B2A"/>
                </a:solidFill>
              </a:rPr>
              <a:t>Just as their ancestors did, they obtain their staple foods, dairy products and meat, from the animals they raise on the plains.</a:t>
            </a:r>
            <a:pPr indent="0" marL="0">
              <a:lnSpc>
                <a:spcPct val="115000"/>
              </a:lnSpc>
              <a:buNone/>
            </a:pPr>
            <a:r>
              <a:rPr lang="en-US" sz="1600" dirty="0">
                <a:solidFill>
                  <a:srgbClr val="000000"/>
                </a:solidFill>
              </a:rPr>
              <a:t> </a:t>
            </a:r>
            <a:pPr indent="0" marL="0">
              <a:lnSpc>
                <a:spcPct val="115000"/>
              </a:lnSpc>
              <a:buNone/>
            </a:pPr>
            <a:r>
              <a:rPr lang="en-US" sz="1600" dirty="0">
                <a:solidFill>
                  <a:srgbClr val="1E2B2A"/>
                </a:solidFill>
              </a:rPr>
              <a:t>Mongolians also continue the tradition of learning to master horse riding, which is an essential skill to guard and manage their herds.</a:t>
            </a:r>
            <a:pPr indent="0" marL="0">
              <a:lnSpc>
                <a:spcPct val="115000"/>
              </a:lnSpc>
              <a:buNone/>
            </a:pPr>
            <a:r>
              <a:rPr lang="en-US" sz="1600" dirty="0">
                <a:solidFill>
                  <a:srgbClr val="000000"/>
                </a:solidFill>
              </a:rPr>
              <a:t> </a:t>
            </a:r>
            <a:pPr indent="0" marL="0">
              <a:lnSpc>
                <a:spcPct val="115000"/>
              </a:lnSpc>
              <a:buNone/>
            </a:pPr>
            <a:r>
              <a:rPr lang="en-US" sz="1600" dirty="0">
                <a:solidFill>
                  <a:srgbClr val="1E2B2A"/>
                </a:solidFill>
              </a:rPr>
              <a:t>Although nowadays some choose to use a (b) </a:t>
            </a:r>
            <a:pPr indent="0" marL="0">
              <a:lnSpc>
                <a:spcPct val="115000"/>
              </a:lnSpc>
              <a:buNone/>
            </a:pPr>
            <a:r>
              <a:rPr lang="en-US" sz="1600" b="1" u="sng" dirty="0">
                <a:solidFill>
                  <a:srgbClr val="1E2B2A"/>
                </a:solidFill>
              </a:rPr>
              <a:t>motorbike</a:t>
            </a:r>
            <a:pPr indent="0" marL="0">
              <a:lnSpc>
                <a:spcPct val="115000"/>
              </a:lnSpc>
              <a:buNone/>
            </a:pPr>
            <a:r>
              <a:rPr lang="en-US" sz="1600" dirty="0">
                <a:solidFill>
                  <a:srgbClr val="1E2B2A"/>
                </a:solidFill>
              </a:rPr>
              <a:t> instead, most Mongolians still regard horse riding, along with the life on the plains, as irreplaceable heritage that makes them who they are.</a:t>
            </a:r>
            <a:endParaRPr lang="en-US" sz="1600" dirty="0"/>
          </a:p>
          <a:p>
            <a:pPr algn="r" indent="0" marL="0">
              <a:lnSpc>
                <a:spcPct val="115000"/>
              </a:lnSpc>
              <a:spcBef>
                <a:spcPts val="200"/>
              </a:spcBef>
              <a:buNone/>
            </a:pPr>
            <a:r>
              <a:rPr lang="en-US" sz="1100" i="1" dirty="0">
                <a:solidFill>
                  <a:srgbClr val="6E7F7C"/>
                </a:solidFill>
              </a:rPr>
              <a:t>*nomadic 유목의  **herd 가축의 떼  ***irreplaceable 대체할 수 없는</a:t>
            </a:r>
            <a:endParaRPr lang="en-US" sz="1600" dirty="0"/>
          </a:p>
          <a:p>
            <a:pPr indent="0" marL="0">
              <a:lnSpc>
                <a:spcPct val="115000"/>
              </a:lnSpc>
              <a:spcBef>
                <a:spcPts val="800"/>
              </a:spcBef>
              <a:buNone/>
            </a:pPr>
            <a:r>
              <a:rPr lang="en-US" sz="1600" b="1" dirty="0">
                <a:solidFill>
                  <a:srgbClr val="1F7A64"/>
                </a:solidFill>
              </a:rPr>
              <a:t>↓  </a:t>
            </a:r>
            <a:pPr indent="0" marL="0">
              <a:lnSpc>
                <a:spcPct val="115000"/>
              </a:lnSpc>
              <a:buNone/>
            </a:pPr>
            <a:r>
              <a:rPr lang="en-US" sz="1600" dirty="0">
                <a:solidFill>
                  <a:srgbClr val="14453D"/>
                </a:solidFill>
              </a:rPr>
              <a:t>Many Mongolians </a:t>
            </a:r>
            <a:pPr indent="0" marL="0">
              <a:lnSpc>
                <a:spcPct val="115000"/>
              </a:lnSpc>
              <a:buNone/>
            </a:pPr>
            <a:r>
              <a:rPr lang="en-US" sz="1600" b="1" dirty="0">
                <a:solidFill>
                  <a:srgbClr val="EF5B3F"/>
                </a:solidFill>
              </a:rPr>
              <a:t>(A)</a:t>
            </a:r>
            <a:pPr indent="0" marL="0">
              <a:lnSpc>
                <a:spcPct val="115000"/>
              </a:lnSpc>
              <a:buNone/>
            </a:pPr>
            <a:r>
              <a:rPr lang="en-US" sz="1600" dirty="0">
                <a:solidFill>
                  <a:srgbClr val="14453D"/>
                </a:solidFill>
              </a:rPr>
              <a:t> their nomadic lifestyle because they believe their old traditions are essential to their cultural </a:t>
            </a:r>
            <a:pPr indent="0" marL="0">
              <a:lnSpc>
                <a:spcPct val="115000"/>
              </a:lnSpc>
              <a:buNone/>
            </a:pPr>
            <a:r>
              <a:rPr lang="en-US" sz="1600" b="1" dirty="0">
                <a:solidFill>
                  <a:srgbClr val="EF5B3F"/>
                </a:solidFill>
              </a:rPr>
              <a:t>(B)</a:t>
            </a:r>
            <a:pPr indent="0" marL="0">
              <a:lnSpc>
                <a:spcPct val="115000"/>
              </a:lnSpc>
              <a:buNone/>
            </a:pPr>
            <a:r>
              <a:rPr lang="en-US" sz="1600" dirty="0">
                <a:solidFill>
                  <a:srgbClr val="14453D"/>
                </a:solidFill>
              </a:rPr>
              <a:t>.</a:t>
            </a:r>
            <a:endParaRPr lang="en-US" sz="1600" dirty="0"/>
          </a:p>
          <a:p>
            <a:pPr indent="0" marL="0">
              <a:lnSpc>
                <a:spcPct val="115000"/>
              </a:lnSpc>
              <a:spcBef>
                <a:spcPts val="1000"/>
              </a:spcBef>
              <a:buNone/>
            </a:pPr>
            <a:r>
              <a:rPr lang="en-US" sz="1600" dirty="0">
                <a:solidFill>
                  <a:srgbClr val="14453D"/>
                </a:solidFill>
              </a:rPr>
              <a:t>①  abandon ----- diversity</a:t>
            </a:r>
            <a:endParaRPr lang="en-US" sz="1600" dirty="0"/>
          </a:p>
          <a:p>
            <a:pPr indent="0" marL="0">
              <a:lnSpc>
                <a:spcPct val="115000"/>
              </a:lnSpc>
              <a:spcBef>
                <a:spcPts val="200"/>
              </a:spcBef>
              <a:buNone/>
            </a:pPr>
            <a:r>
              <a:rPr lang="en-US" sz="1600" dirty="0">
                <a:solidFill>
                  <a:srgbClr val="14453D"/>
                </a:solidFill>
              </a:rPr>
              <a:t>②  maintain ----- diversity</a:t>
            </a:r>
            <a:endParaRPr lang="en-US" sz="1600" dirty="0"/>
          </a:p>
          <a:p>
            <a:pPr indent="0" marL="0">
              <a:lnSpc>
                <a:spcPct val="115000"/>
              </a:lnSpc>
              <a:spcBef>
                <a:spcPts val="200"/>
              </a:spcBef>
              <a:buNone/>
            </a:pPr>
            <a:r>
              <a:rPr lang="en-US" sz="1600" dirty="0">
                <a:solidFill>
                  <a:srgbClr val="14453D"/>
                </a:solidFill>
              </a:rPr>
              <a:t>③  maintain ----- identity</a:t>
            </a:r>
            <a:endParaRPr lang="en-US" sz="1600" dirty="0"/>
          </a:p>
          <a:p>
            <a:pPr indent="0" marL="0">
              <a:lnSpc>
                <a:spcPct val="115000"/>
              </a:lnSpc>
              <a:spcBef>
                <a:spcPts val="200"/>
              </a:spcBef>
              <a:buNone/>
            </a:pPr>
            <a:r>
              <a:rPr lang="en-US" sz="1600" dirty="0">
                <a:solidFill>
                  <a:srgbClr val="14453D"/>
                </a:solidFill>
              </a:rPr>
              <a:t>④  reform ----- identity</a:t>
            </a:r>
            <a:endParaRPr lang="en-US" sz="1600" dirty="0"/>
          </a:p>
          <a:p>
            <a:pPr indent="0" marL="0">
              <a:lnSpc>
                <a:spcPct val="115000"/>
              </a:lnSpc>
              <a:spcBef>
                <a:spcPts val="200"/>
              </a:spcBef>
              <a:buNone/>
            </a:pPr>
            <a:r>
              <a:rPr lang="en-US" sz="1600" dirty="0">
                <a:solidFill>
                  <a:srgbClr val="14453D"/>
                </a:solidFill>
              </a:rPr>
              <a:t>⑤  reform ----- complexity</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92  </a:t>
            </a:r>
            <a:pPr algn="l" indent="0" marL="0">
              <a:buNone/>
            </a:pPr>
            <a:r>
              <a:rPr lang="en-US" sz="3000" b="1" dirty="0">
                <a:solidFill>
                  <a:srgbClr val="14453D"/>
                </a:solidFill>
              </a:rPr>
              <a:t>정답 근거 &amp; 문법 포인트</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근거</a:t>
            </a:r>
            <a:endParaRPr lang="en-US" sz="1200" dirty="0"/>
          </a:p>
        </p:txBody>
      </p:sp>
      <p:sp>
        <p:nvSpPr>
          <p:cNvPr id="4" name="Shape 2"/>
          <p:cNvSpPr/>
          <p:nvPr/>
        </p:nvSpPr>
        <p:spPr>
          <a:xfrm>
            <a:off x="548640" y="1234440"/>
            <a:ext cx="11064240" cy="2907792"/>
          </a:xfrm>
          <a:prstGeom prst="roundRect">
            <a:avLst>
              <a:gd name="adj" fmla="val 3145"/>
            </a:avLst>
          </a:prstGeom>
          <a:solidFill>
            <a:srgbClr val="FFFFFF"/>
          </a:solidFill>
          <a:ln w="19050">
            <a:solidFill>
              <a:srgbClr val="E6F2ED"/>
            </a:solidFill>
            <a:prstDash val="solid"/>
          </a:ln>
        </p:spPr>
      </p:sp>
      <p:sp>
        <p:nvSpPr>
          <p:cNvPr id="5" name="Text 3"/>
          <p:cNvSpPr txBox="1"/>
          <p:nvPr/>
        </p:nvSpPr>
        <p:spPr>
          <a:xfrm>
            <a:off x="777240" y="1371600"/>
            <a:ext cx="10607040" cy="2679192"/>
          </a:xfrm>
          <a:prstGeom prst="rect">
            <a:avLst/>
          </a:prstGeom>
          <a:noFill/>
          <a:ln/>
        </p:spPr>
        <p:txBody>
          <a:bodyPr wrap="square" lIns="0" tIns="0" rIns="0" bIns="0" rtlCol="0" anchor="t">
            <a:normAutofit/>
          </a:bodyPr>
          <a:lstStyle/>
          <a:p>
            <a:pPr indent="0" marL="0">
              <a:lnSpc>
                <a:spcPct val="120000"/>
              </a:lnSpc>
              <a:buNone/>
            </a:pPr>
            <a:r>
              <a:rPr lang="en-US" sz="1300" b="1" dirty="0">
                <a:solidFill>
                  <a:srgbClr val="1F7A64"/>
                </a:solidFill>
              </a:rPr>
              <a:t>(1) </a:t>
            </a:r>
            <a:pPr indent="0" marL="0">
              <a:lnSpc>
                <a:spcPct val="120000"/>
              </a:lnSpc>
              <a:buNone/>
            </a:pPr>
            <a:r>
              <a:rPr lang="en-US" sz="1600" dirty="0">
                <a:solidFill>
                  <a:srgbClr val="1E2B2A"/>
                </a:solidFill>
                <a:highlight>
                  <a:srgbClr val="FFD45C"/>
                </a:highlight>
              </a:rPr>
              <a:t>While the majority of the world's population is now found in </a:t>
            </a:r>
            <a:pPr indent="0" marL="0">
              <a:lnSpc>
                <a:spcPct val="120000"/>
              </a:lnSpc>
              <a:buNone/>
            </a:pPr>
            <a:r>
              <a:rPr lang="en-US" sz="1600" u="dotted" dirty="0">
                <a:solidFill>
                  <a:srgbClr val="1F7A64"/>
                </a:solidFill>
                <a:highlight>
                  <a:srgbClr val="FFD45C"/>
                </a:highlight>
                <a:uFill>
                  <a:solidFill>
                    <a:srgbClr val="1F7A64"/>
                  </a:solidFill>
                </a:uFill>
              </a:rPr>
              <a:t>urban</a:t>
            </a:r>
            <a:pPr indent="0" marL="0">
              <a:lnSpc>
                <a:spcPct val="120000"/>
              </a:lnSpc>
              <a:buNone/>
            </a:pPr>
            <a:r>
              <a:rPr lang="en-US" sz="1600" dirty="0">
                <a:solidFill>
                  <a:srgbClr val="1E2B2A"/>
                </a:solidFill>
                <a:highlight>
                  <a:srgbClr val="FFD45C"/>
                </a:highlight>
              </a:rPr>
              <a:t> areas, hundreds of thousands of Mongolians continue to </a:t>
            </a:r>
            <a:pPr indent="0" marL="0">
              <a:lnSpc>
                <a:spcPct val="120000"/>
              </a:lnSpc>
              <a:buNone/>
            </a:pPr>
            <a:r>
              <a:rPr lang="en-US" sz="1600" u="dotted" dirty="0">
                <a:solidFill>
                  <a:srgbClr val="1F7A64"/>
                </a:solidFill>
                <a:highlight>
                  <a:srgbClr val="FFD45C"/>
                </a:highlight>
                <a:uFill>
                  <a:solidFill>
                    <a:srgbClr val="1F7A64"/>
                  </a:solidFill>
                </a:uFill>
              </a:rPr>
              <a:t>preserve</a:t>
            </a:r>
            <a:pPr indent="0" marL="0">
              <a:lnSpc>
                <a:spcPct val="120000"/>
              </a:lnSpc>
              <a:buNone/>
            </a:pPr>
            <a:r>
              <a:rPr lang="en-US" sz="1600" dirty="0">
                <a:solidFill>
                  <a:srgbClr val="1E2B2A"/>
                </a:solidFill>
                <a:highlight>
                  <a:srgbClr val="FFD45C"/>
                </a:highlight>
              </a:rPr>
              <a:t> (a) </a:t>
            </a:r>
            <a:pPr indent="0" marL="0">
              <a:lnSpc>
                <a:spcPct val="120000"/>
              </a:lnSpc>
              <a:buNone/>
            </a:pPr>
            <a:r>
              <a:rPr lang="en-US" sz="1600" b="1" u="sng" dirty="0">
                <a:solidFill>
                  <a:srgbClr val="1E2B2A"/>
                </a:solidFill>
                <a:highlight>
                  <a:srgbClr val="FFD45C"/>
                </a:highlight>
              </a:rPr>
              <a:t>a way of life</a:t>
            </a:r>
            <a:pPr indent="0" marL="0">
              <a:lnSpc>
                <a:spcPct val="120000"/>
              </a:lnSpc>
              <a:buNone/>
            </a:pPr>
            <a:r>
              <a:rPr lang="en-US" sz="1600" dirty="0">
                <a:solidFill>
                  <a:srgbClr val="1E2B2A"/>
                </a:solidFill>
                <a:highlight>
                  <a:srgbClr val="FFD45C"/>
                </a:highlight>
              </a:rPr>
              <a:t> </a:t>
            </a:r>
            <a:pPr indent="0" marL="0">
              <a:lnSpc>
                <a:spcPct val="120000"/>
              </a:lnSpc>
              <a:buNone/>
            </a:pPr>
            <a:r>
              <a:rPr lang="en-US" sz="1600" b="1" dirty="0">
                <a:solidFill>
                  <a:srgbClr val="14453D"/>
                </a:solidFill>
                <a:highlight>
                  <a:srgbClr val="A9DDF3"/>
                </a:highlight>
              </a:rPr>
              <a:t>that goes back at least a thousand years</a:t>
            </a:r>
            <a:pPr indent="0" marL="0">
              <a:lnSpc>
                <a:spcPct val="120000"/>
              </a:lnSpc>
              <a:buNone/>
            </a:pPr>
            <a:r>
              <a:rPr lang="en-US" sz="1600" dirty="0">
                <a:solidFill>
                  <a:srgbClr val="1E2B2A"/>
                </a:solidFill>
                <a:highlight>
                  <a:srgbClr val="FFD45C"/>
                </a:highlight>
              </a:rPr>
              <a:t>.</a:t>
            </a:r>
            <a:pPr indent="0" marL="0">
              <a:lnSpc>
                <a:spcPct val="120000"/>
              </a:lnSpc>
              <a:buNone/>
            </a:pPr>
            <a:r>
              <a:rPr lang="en-US" sz="1600" dirty="0">
                <a:solidFill>
                  <a:srgbClr val="000000"/>
                </a:solidFill>
              </a:rPr>
              <a:t> </a:t>
            </a:r>
            <a:pPr indent="0" marL="0">
              <a:lnSpc>
                <a:spcPct val="120000"/>
              </a:lnSpc>
              <a:buNone/>
            </a:pPr>
            <a:r>
              <a:rPr lang="en-US" sz="1300" b="1" dirty="0">
                <a:solidFill>
                  <a:srgbClr val="1F7A64"/>
                </a:solidFill>
              </a:rPr>
              <a:t>(2) </a:t>
            </a:r>
            <a:pPr indent="0" marL="0">
              <a:lnSpc>
                <a:spcPct val="120000"/>
              </a:lnSpc>
              <a:buNone/>
            </a:pPr>
            <a:r>
              <a:rPr lang="en-US" sz="1600" dirty="0">
                <a:solidFill>
                  <a:srgbClr val="1E2B2A"/>
                </a:solidFill>
              </a:rPr>
              <a:t>Mongolians have led a nomadic life across the </a:t>
            </a:r>
            <a:pPr indent="0" marL="0">
              <a:lnSpc>
                <a:spcPct val="120000"/>
              </a:lnSpc>
              <a:buNone/>
            </a:pPr>
            <a:r>
              <a:rPr lang="en-US" sz="1600" u="dotted" dirty="0">
                <a:solidFill>
                  <a:srgbClr val="1F7A64"/>
                </a:solidFill>
                <a:uFill>
                  <a:solidFill>
                    <a:srgbClr val="1F7A64"/>
                  </a:solidFill>
                </a:uFill>
              </a:rPr>
              <a:t>vast</a:t>
            </a:r>
            <a:pPr indent="0" marL="0">
              <a:lnSpc>
                <a:spcPct val="120000"/>
              </a:lnSpc>
              <a:buNone/>
            </a:pPr>
            <a:r>
              <a:rPr lang="en-US" sz="1600" dirty="0">
                <a:solidFill>
                  <a:srgbClr val="1E2B2A"/>
                </a:solidFill>
              </a:rPr>
              <a:t> plains that share borders with China and Russia.</a:t>
            </a:r>
            <a:pPr indent="0" marL="0">
              <a:lnSpc>
                <a:spcPct val="120000"/>
              </a:lnSpc>
              <a:buNone/>
            </a:pPr>
            <a:r>
              <a:rPr lang="en-US" sz="1600" dirty="0">
                <a:solidFill>
                  <a:srgbClr val="000000"/>
                </a:solidFill>
              </a:rPr>
              <a:t> </a:t>
            </a:r>
            <a:pPr indent="0" marL="0">
              <a:lnSpc>
                <a:spcPct val="120000"/>
              </a:lnSpc>
              <a:buNone/>
            </a:pPr>
            <a:r>
              <a:rPr lang="en-US" sz="1300" b="1" dirty="0">
                <a:solidFill>
                  <a:srgbClr val="1F7A64"/>
                </a:solidFill>
              </a:rPr>
              <a:t>(3) </a:t>
            </a:r>
            <a:pPr indent="0" marL="0">
              <a:lnSpc>
                <a:spcPct val="120000"/>
              </a:lnSpc>
              <a:buNone/>
            </a:pPr>
            <a:r>
              <a:rPr lang="en-US" sz="1600" b="1" dirty="0">
                <a:solidFill>
                  <a:srgbClr val="14453D"/>
                </a:solidFill>
                <a:highlight>
                  <a:srgbClr val="A9DDF3"/>
                </a:highlight>
              </a:rPr>
              <a:t>Just as their </a:t>
            </a:r>
            <a:pPr indent="0" marL="0">
              <a:lnSpc>
                <a:spcPct val="120000"/>
              </a:lnSpc>
              <a:buNone/>
            </a:pPr>
            <a:r>
              <a:rPr lang="en-US" sz="1600" b="1" u="dotted" dirty="0">
                <a:solidFill>
                  <a:srgbClr val="14453D"/>
                </a:solidFill>
                <a:highlight>
                  <a:srgbClr val="A9DDF3"/>
                </a:highlight>
                <a:uFill>
                  <a:solidFill>
                    <a:srgbClr val="1F7A64"/>
                  </a:solidFill>
                </a:uFill>
              </a:rPr>
              <a:t>ancestors</a:t>
            </a:r>
            <a:pPr indent="0" marL="0">
              <a:lnSpc>
                <a:spcPct val="120000"/>
              </a:lnSpc>
              <a:buNone/>
            </a:pPr>
            <a:r>
              <a:rPr lang="en-US" sz="1600" b="1" dirty="0">
                <a:solidFill>
                  <a:srgbClr val="14453D"/>
                </a:solidFill>
                <a:highlight>
                  <a:srgbClr val="A9DDF3"/>
                </a:highlight>
              </a:rPr>
              <a:t> did</a:t>
            </a:r>
            <a:pPr indent="0" marL="0">
              <a:lnSpc>
                <a:spcPct val="120000"/>
              </a:lnSpc>
              <a:buNone/>
            </a:pPr>
            <a:r>
              <a:rPr lang="en-US" sz="1600" dirty="0">
                <a:solidFill>
                  <a:srgbClr val="1E2B2A"/>
                </a:solidFill>
              </a:rPr>
              <a:t>, they obtain their </a:t>
            </a:r>
            <a:pPr indent="0" marL="0">
              <a:lnSpc>
                <a:spcPct val="120000"/>
              </a:lnSpc>
              <a:buNone/>
            </a:pPr>
            <a:r>
              <a:rPr lang="en-US" sz="1600" u="dotted" dirty="0">
                <a:solidFill>
                  <a:srgbClr val="1F7A64"/>
                </a:solidFill>
                <a:uFill>
                  <a:solidFill>
                    <a:srgbClr val="1F7A64"/>
                  </a:solidFill>
                </a:uFill>
              </a:rPr>
              <a:t>staple</a:t>
            </a:r>
            <a:pPr indent="0" marL="0">
              <a:lnSpc>
                <a:spcPct val="120000"/>
              </a:lnSpc>
              <a:buNone/>
            </a:pPr>
            <a:r>
              <a:rPr lang="en-US" sz="1600" dirty="0">
                <a:solidFill>
                  <a:srgbClr val="1E2B2A"/>
                </a:solidFill>
              </a:rPr>
              <a:t> foods, </a:t>
            </a:r>
            <a:pPr indent="0" marL="0">
              <a:lnSpc>
                <a:spcPct val="120000"/>
              </a:lnSpc>
              <a:buNone/>
            </a:pPr>
            <a:r>
              <a:rPr lang="en-US" sz="1600" u="dotted" dirty="0">
                <a:solidFill>
                  <a:srgbClr val="1F7A64"/>
                </a:solidFill>
                <a:uFill>
                  <a:solidFill>
                    <a:srgbClr val="1F7A64"/>
                  </a:solidFill>
                </a:uFill>
              </a:rPr>
              <a:t>dairy</a:t>
            </a:r>
            <a:pPr indent="0" marL="0">
              <a:lnSpc>
                <a:spcPct val="120000"/>
              </a:lnSpc>
              <a:buNone/>
            </a:pPr>
            <a:r>
              <a:rPr lang="en-US" sz="1600" dirty="0">
                <a:solidFill>
                  <a:srgbClr val="1E2B2A"/>
                </a:solidFill>
              </a:rPr>
              <a:t> products and meat, from the animals they raise on the plains.</a:t>
            </a:r>
            <a:pPr indent="0" marL="0">
              <a:lnSpc>
                <a:spcPct val="120000"/>
              </a:lnSpc>
              <a:buNone/>
            </a:pPr>
            <a:r>
              <a:rPr lang="en-US" sz="1600" dirty="0">
                <a:solidFill>
                  <a:srgbClr val="000000"/>
                </a:solidFill>
              </a:rPr>
              <a:t> </a:t>
            </a:r>
            <a:pPr indent="0" marL="0">
              <a:lnSpc>
                <a:spcPct val="120000"/>
              </a:lnSpc>
              <a:buNone/>
            </a:pPr>
            <a:r>
              <a:rPr lang="en-US" sz="1300" b="1" dirty="0">
                <a:solidFill>
                  <a:srgbClr val="1F7A64"/>
                </a:solidFill>
              </a:rPr>
              <a:t>(4) </a:t>
            </a:r>
            <a:pPr indent="0" marL="0">
              <a:lnSpc>
                <a:spcPct val="120000"/>
              </a:lnSpc>
              <a:buNone/>
            </a:pPr>
            <a:r>
              <a:rPr lang="en-US" sz="1600" dirty="0">
                <a:solidFill>
                  <a:srgbClr val="1E2B2A"/>
                </a:solidFill>
                <a:highlight>
                  <a:srgbClr val="FFD45C"/>
                </a:highlight>
              </a:rPr>
              <a:t>Mongolians also continue the tradition of learning to master horse riding</a:t>
            </a:r>
            <a:pPr indent="0" marL="0">
              <a:lnSpc>
                <a:spcPct val="120000"/>
              </a:lnSpc>
              <a:buNone/>
            </a:pPr>
            <a:r>
              <a:rPr lang="en-US" sz="1600" b="1" dirty="0">
                <a:solidFill>
                  <a:srgbClr val="14453D"/>
                </a:solidFill>
                <a:highlight>
                  <a:srgbClr val="A9DDF3"/>
                </a:highlight>
              </a:rPr>
              <a:t>, which is an essential skill to guard and manage</a:t>
            </a:r>
            <a:pPr indent="0" marL="0">
              <a:lnSpc>
                <a:spcPct val="120000"/>
              </a:lnSpc>
              <a:buNone/>
            </a:pPr>
            <a:r>
              <a:rPr lang="en-US" sz="1600" dirty="0">
                <a:solidFill>
                  <a:srgbClr val="1E2B2A"/>
                </a:solidFill>
                <a:highlight>
                  <a:srgbClr val="FFD45C"/>
                </a:highlight>
              </a:rPr>
              <a:t> their herds.</a:t>
            </a:r>
            <a:pPr indent="0" marL="0">
              <a:lnSpc>
                <a:spcPct val="120000"/>
              </a:lnSpc>
              <a:buNone/>
            </a:pPr>
            <a:r>
              <a:rPr lang="en-US" sz="1600" dirty="0">
                <a:solidFill>
                  <a:srgbClr val="000000"/>
                </a:solidFill>
              </a:rPr>
              <a:t> </a:t>
            </a:r>
            <a:pPr indent="0" marL="0">
              <a:lnSpc>
                <a:spcPct val="120000"/>
              </a:lnSpc>
              <a:buNone/>
            </a:pPr>
            <a:r>
              <a:rPr lang="en-US" sz="1300" b="1" dirty="0">
                <a:solidFill>
                  <a:srgbClr val="1F7A64"/>
                </a:solidFill>
              </a:rPr>
              <a:t>(5) </a:t>
            </a:r>
            <a:pPr indent="0" marL="0">
              <a:lnSpc>
                <a:spcPct val="120000"/>
              </a:lnSpc>
              <a:buNone/>
            </a:pPr>
            <a:r>
              <a:rPr lang="en-US" sz="1600" dirty="0">
                <a:solidFill>
                  <a:srgbClr val="1E2B2A"/>
                </a:solidFill>
                <a:highlight>
                  <a:srgbClr val="FFD45C"/>
                </a:highlight>
              </a:rPr>
              <a:t>Although nowadays some choose to use a (b) </a:t>
            </a:r>
            <a:pPr indent="0" marL="0">
              <a:lnSpc>
                <a:spcPct val="120000"/>
              </a:lnSpc>
              <a:buNone/>
            </a:pPr>
            <a:r>
              <a:rPr lang="en-US" sz="1600" b="1" u="sng" dirty="0">
                <a:solidFill>
                  <a:srgbClr val="1E2B2A"/>
                </a:solidFill>
                <a:highlight>
                  <a:srgbClr val="FFD45C"/>
                </a:highlight>
              </a:rPr>
              <a:t>motorbike</a:t>
            </a:r>
            <a:pPr indent="0" marL="0">
              <a:lnSpc>
                <a:spcPct val="120000"/>
              </a:lnSpc>
              <a:buNone/>
            </a:pPr>
            <a:r>
              <a:rPr lang="en-US" sz="1600" dirty="0">
                <a:solidFill>
                  <a:srgbClr val="1E2B2A"/>
                </a:solidFill>
                <a:highlight>
                  <a:srgbClr val="FFD45C"/>
                </a:highlight>
              </a:rPr>
              <a:t> instead, most Mongolians still </a:t>
            </a:r>
            <a:pPr indent="0" marL="0">
              <a:lnSpc>
                <a:spcPct val="120000"/>
              </a:lnSpc>
              <a:buNone/>
            </a:pPr>
            <a:r>
              <a:rPr lang="en-US" sz="1600" b="1" dirty="0">
                <a:solidFill>
                  <a:srgbClr val="14453D"/>
                </a:solidFill>
                <a:highlight>
                  <a:srgbClr val="A9DDF3"/>
                </a:highlight>
              </a:rPr>
              <a:t>regard horse riding, along with the life on the plains, as</a:t>
            </a:r>
            <a:pPr indent="0" marL="0">
              <a:lnSpc>
                <a:spcPct val="120000"/>
              </a:lnSpc>
              <a:buNone/>
            </a:pPr>
            <a:r>
              <a:rPr lang="en-US" sz="1600" dirty="0">
                <a:solidFill>
                  <a:srgbClr val="1E2B2A"/>
                </a:solidFill>
                <a:highlight>
                  <a:srgbClr val="FFD45C"/>
                </a:highlight>
              </a:rPr>
              <a:t> irreplaceable </a:t>
            </a:r>
            <a:pPr indent="0" marL="0">
              <a:lnSpc>
                <a:spcPct val="120000"/>
              </a:lnSpc>
              <a:buNone/>
            </a:pPr>
            <a:r>
              <a:rPr lang="en-US" sz="1600" u="dotted" dirty="0">
                <a:solidFill>
                  <a:srgbClr val="1F7A64"/>
                </a:solidFill>
                <a:highlight>
                  <a:srgbClr val="FFD45C"/>
                </a:highlight>
                <a:uFill>
                  <a:solidFill>
                    <a:srgbClr val="1F7A64"/>
                  </a:solidFill>
                </a:uFill>
              </a:rPr>
              <a:t>heritage</a:t>
            </a:r>
            <a:pPr indent="0" marL="0">
              <a:lnSpc>
                <a:spcPct val="120000"/>
              </a:lnSpc>
              <a:buNone/>
            </a:pPr>
            <a:r>
              <a:rPr lang="en-US" sz="1600" dirty="0">
                <a:solidFill>
                  <a:srgbClr val="1E2B2A"/>
                </a:solidFill>
                <a:highlight>
                  <a:srgbClr val="FFD45C"/>
                </a:highlight>
              </a:rPr>
              <a:t> that </a:t>
            </a:r>
            <a:pPr indent="0" marL="0">
              <a:lnSpc>
                <a:spcPct val="120000"/>
              </a:lnSpc>
              <a:buNone/>
            </a:pPr>
            <a:r>
              <a:rPr lang="en-US" sz="1600" b="1" dirty="0">
                <a:solidFill>
                  <a:srgbClr val="14453D"/>
                </a:solidFill>
                <a:highlight>
                  <a:srgbClr val="A9DDF3"/>
                </a:highlight>
              </a:rPr>
              <a:t>makes them who they are</a:t>
            </a:r>
            <a:pPr indent="0" marL="0">
              <a:lnSpc>
                <a:spcPct val="120000"/>
              </a:lnSpc>
              <a:buNone/>
            </a:pPr>
            <a:r>
              <a:rPr lang="en-US" sz="1600" dirty="0">
                <a:solidFill>
                  <a:srgbClr val="1E2B2A"/>
                </a:solidFill>
                <a:highlight>
                  <a:srgbClr val="FFD45C"/>
                </a:highlight>
              </a:rPr>
              <a:t>.</a:t>
            </a:r>
            <a:endParaRPr lang="en-US" sz="1300" dirty="0"/>
          </a:p>
        </p:txBody>
      </p:sp>
      <p:sp>
        <p:nvSpPr>
          <p:cNvPr id="6" name="Shape 4"/>
          <p:cNvSpPr/>
          <p:nvPr/>
        </p:nvSpPr>
        <p:spPr>
          <a:xfrm>
            <a:off x="548640" y="4233672"/>
            <a:ext cx="11064240" cy="978408"/>
          </a:xfrm>
          <a:prstGeom prst="roundRect">
            <a:avLst>
              <a:gd name="adj" fmla="val 9346"/>
            </a:avLst>
          </a:prstGeom>
          <a:solidFill>
            <a:srgbClr val="FFF6D6"/>
          </a:solidFill>
          <a:ln w="15875">
            <a:solidFill>
              <a:srgbClr val="FFD45C"/>
            </a:solidFill>
            <a:prstDash val="solid"/>
          </a:ln>
        </p:spPr>
      </p:sp>
      <p:sp>
        <p:nvSpPr>
          <p:cNvPr id="7" name="Text 5"/>
          <p:cNvSpPr txBox="1"/>
          <p:nvPr/>
        </p:nvSpPr>
        <p:spPr>
          <a:xfrm>
            <a:off x="731520" y="4306824"/>
            <a:ext cx="1051560" cy="274320"/>
          </a:xfrm>
          <a:prstGeom prst="rect">
            <a:avLst/>
          </a:prstGeom>
          <a:solidFill>
            <a:srgbClr val="EF5B3F"/>
          </a:solidFill>
          <a:ln/>
        </p:spPr>
        <p:txBody>
          <a:bodyPr wrap="square" lIns="0" tIns="0" rIns="0" bIns="0" rtlCol="0" anchor="ctr"/>
          <a:lstStyle/>
          <a:p>
            <a:pPr algn="ctr" indent="0" marL="0">
              <a:buNone/>
            </a:pPr>
            <a:r>
              <a:rPr lang="en-US" sz="1200" b="1" dirty="0">
                <a:solidFill>
                  <a:srgbClr val="FFFFFF"/>
                </a:solidFill>
              </a:rPr>
              <a:t> 근거 이유 </a:t>
            </a:r>
            <a:endParaRPr lang="en-US" sz="1200" dirty="0"/>
          </a:p>
        </p:txBody>
      </p:sp>
      <p:sp>
        <p:nvSpPr>
          <p:cNvPr id="8" name="Text 6"/>
          <p:cNvSpPr txBox="1"/>
          <p:nvPr/>
        </p:nvSpPr>
        <p:spPr>
          <a:xfrm>
            <a:off x="1920240" y="4279392"/>
            <a:ext cx="9555480" cy="886968"/>
          </a:xfrm>
          <a:prstGeom prst="rect">
            <a:avLst/>
          </a:prstGeom>
          <a:noFill/>
          <a:ln/>
        </p:spPr>
        <p:txBody>
          <a:bodyPr wrap="square" lIns="0" tIns="0" rIns="0" bIns="0" rtlCol="0" anchor="ctr">
            <a:normAutofit/>
          </a:bodyPr>
          <a:lstStyle/>
          <a:p>
            <a:pPr indent="0" marL="0">
              <a:lnSpc>
                <a:spcPct val="105000"/>
              </a:lnSpc>
              <a:buNone/>
            </a:pPr>
            <a:r>
              <a:rPr lang="en-US" sz="1400" b="1" dirty="0">
                <a:solidFill>
                  <a:srgbClr val="EF5B3F"/>
                </a:solidFill>
              </a:rPr>
              <a:t>(1) </a:t>
            </a:r>
            <a:pPr indent="0" marL="0">
              <a:lnSpc>
                <a:spcPct val="105000"/>
              </a:lnSpc>
              <a:buNone/>
            </a:pPr>
            <a:r>
              <a:rPr lang="en-US" sz="1400" dirty="0">
                <a:solidFill>
                  <a:srgbClr val="14453D"/>
                </a:solidFill>
              </a:rPr>
              <a:t>continue to preserve a way of life → (A) maintain(유지하다)</a:t>
            </a:r>
            <a:endParaRPr lang="en-US" sz="1400" dirty="0"/>
          </a:p>
          <a:p>
            <a:pPr indent="0" marL="0">
              <a:lnSpc>
                <a:spcPct val="105000"/>
              </a:lnSpc>
              <a:buNone/>
            </a:pPr>
            <a:r>
              <a:rPr lang="en-US" sz="1400" b="1" dirty="0">
                <a:solidFill>
                  <a:srgbClr val="EF5B3F"/>
                </a:solidFill>
              </a:rPr>
              <a:t>(4) </a:t>
            </a:r>
            <a:pPr indent="0" marL="0">
              <a:lnSpc>
                <a:spcPct val="105000"/>
              </a:lnSpc>
              <a:buNone/>
            </a:pPr>
            <a:r>
              <a:rPr lang="en-US" sz="1400" dirty="0">
                <a:solidFill>
                  <a:srgbClr val="14453D"/>
                </a:solidFill>
              </a:rPr>
              <a:t>continue the tradition(전통을 이어 감) → (A) maintain</a:t>
            </a:r>
            <a:endParaRPr lang="en-US" sz="1400" dirty="0"/>
          </a:p>
          <a:p>
            <a:pPr indent="0" marL="0">
              <a:lnSpc>
                <a:spcPct val="105000"/>
              </a:lnSpc>
              <a:buNone/>
            </a:pPr>
            <a:r>
              <a:rPr lang="en-US" sz="1400" b="1" dirty="0">
                <a:solidFill>
                  <a:srgbClr val="EF5B3F"/>
                </a:solidFill>
              </a:rPr>
              <a:t>(5) </a:t>
            </a:r>
            <a:pPr indent="0" marL="0">
              <a:lnSpc>
                <a:spcPct val="105000"/>
              </a:lnSpc>
              <a:buNone/>
            </a:pPr>
            <a:r>
              <a:rPr lang="en-US" sz="1400" dirty="0">
                <a:solidFill>
                  <a:srgbClr val="14453D"/>
                </a:solidFill>
              </a:rPr>
              <a:t>makes them who they are(그들을 그들답게) → (B) identity(정체성)</a:t>
            </a:r>
            <a:endParaRPr lang="en-US" sz="1400" dirty="0"/>
          </a:p>
        </p:txBody>
      </p:sp>
      <p:sp>
        <p:nvSpPr>
          <p:cNvPr id="9" name="Shape 7"/>
          <p:cNvSpPr/>
          <p:nvPr/>
        </p:nvSpPr>
        <p:spPr>
          <a:xfrm>
            <a:off x="548640" y="5303520"/>
            <a:ext cx="11064240" cy="731520"/>
          </a:xfrm>
          <a:prstGeom prst="roundRect">
            <a:avLst>
              <a:gd name="adj" fmla="val 12500"/>
            </a:avLst>
          </a:prstGeom>
          <a:solidFill>
            <a:srgbClr val="EAF5EF"/>
          </a:solidFill>
          <a:ln w="12700">
            <a:solidFill>
              <a:srgbClr val="CFE6D9"/>
            </a:solidFill>
            <a:prstDash val="solid"/>
          </a:ln>
        </p:spPr>
      </p:sp>
      <p:sp>
        <p:nvSpPr>
          <p:cNvPr id="10" name="Text 8"/>
          <p:cNvSpPr txBox="1"/>
          <p:nvPr/>
        </p:nvSpPr>
        <p:spPr>
          <a:xfrm>
            <a:off x="731520" y="5349240"/>
            <a:ext cx="10698480" cy="640080"/>
          </a:xfrm>
          <a:prstGeom prst="rect">
            <a:avLst/>
          </a:prstGeom>
          <a:noFill/>
          <a:ln/>
        </p:spPr>
        <p:txBody>
          <a:bodyPr wrap="square" lIns="0" tIns="0" rIns="0" bIns="0" rtlCol="0" anchor="ctr">
            <a:normAutofit/>
          </a:bodyPr>
          <a:lstStyle/>
          <a:p>
            <a:pPr indent="0" marL="0">
              <a:lnSpc>
                <a:spcPct val="110000"/>
              </a:lnSpc>
              <a:buNone/>
            </a:pPr>
            <a:r>
              <a:rPr lang="en-US" sz="1400" b="1" dirty="0">
                <a:solidFill>
                  <a:srgbClr val="FFFFFF"/>
                </a:solidFill>
                <a:highlight>
                  <a:srgbClr val="1F7A64"/>
                </a:highlight>
              </a:rPr>
              <a:t> 어휘 </a:t>
            </a:r>
            <a:pPr indent="0" marL="0">
              <a:lnSpc>
                <a:spcPct val="110000"/>
              </a:lnSpc>
              <a:buNone/>
            </a:pPr>
            <a:r>
              <a:rPr lang="en-US" sz="1400" dirty="0">
                <a:solidFill>
                  <a:srgbClr val="000000"/>
                </a:solidFill>
              </a:rPr>
              <a:t>   </a:t>
            </a:r>
            <a:pPr indent="0" marL="0">
              <a:lnSpc>
                <a:spcPct val="110000"/>
              </a:lnSpc>
              <a:buNone/>
            </a:pPr>
            <a:r>
              <a:rPr lang="en-US" sz="1400" b="1" dirty="0">
                <a:solidFill>
                  <a:srgbClr val="1F7A64"/>
                </a:solidFill>
              </a:rPr>
              <a:t>urban </a:t>
            </a:r>
            <a:pPr indent="0" marL="0">
              <a:lnSpc>
                <a:spcPct val="110000"/>
              </a:lnSpc>
              <a:buNone/>
            </a:pPr>
            <a:r>
              <a:rPr lang="en-US" sz="1400" dirty="0">
                <a:solidFill>
                  <a:srgbClr val="1E2B2A"/>
                </a:solidFill>
              </a:rPr>
              <a:t>도시의   ·   </a:t>
            </a:r>
            <a:pPr indent="0" marL="0">
              <a:lnSpc>
                <a:spcPct val="110000"/>
              </a:lnSpc>
              <a:buNone/>
            </a:pPr>
            <a:r>
              <a:rPr lang="en-US" sz="1400" b="1" dirty="0">
                <a:solidFill>
                  <a:srgbClr val="1F7A64"/>
                </a:solidFill>
              </a:rPr>
              <a:t>preserve </a:t>
            </a:r>
            <a:pPr indent="0" marL="0">
              <a:lnSpc>
                <a:spcPct val="110000"/>
              </a:lnSpc>
              <a:buNone/>
            </a:pPr>
            <a:r>
              <a:rPr lang="en-US" sz="1400" dirty="0">
                <a:solidFill>
                  <a:srgbClr val="1E2B2A"/>
                </a:solidFill>
              </a:rPr>
              <a:t>보존하다   ·   </a:t>
            </a:r>
            <a:pPr indent="0" marL="0">
              <a:lnSpc>
                <a:spcPct val="110000"/>
              </a:lnSpc>
              <a:buNone/>
            </a:pPr>
            <a:r>
              <a:rPr lang="en-US" sz="1400" b="1" dirty="0">
                <a:solidFill>
                  <a:srgbClr val="1F7A64"/>
                </a:solidFill>
              </a:rPr>
              <a:t>vast </a:t>
            </a:r>
            <a:pPr indent="0" marL="0">
              <a:lnSpc>
                <a:spcPct val="110000"/>
              </a:lnSpc>
              <a:buNone/>
            </a:pPr>
            <a:r>
              <a:rPr lang="en-US" sz="1400" dirty="0">
                <a:solidFill>
                  <a:srgbClr val="1E2B2A"/>
                </a:solidFill>
              </a:rPr>
              <a:t>광활한   ·   </a:t>
            </a:r>
            <a:pPr indent="0" marL="0">
              <a:lnSpc>
                <a:spcPct val="110000"/>
              </a:lnSpc>
              <a:buNone/>
            </a:pPr>
            <a:r>
              <a:rPr lang="en-US" sz="1400" b="1" dirty="0">
                <a:solidFill>
                  <a:srgbClr val="1F7A64"/>
                </a:solidFill>
              </a:rPr>
              <a:t>ancestors </a:t>
            </a:r>
            <a:pPr indent="0" marL="0">
              <a:lnSpc>
                <a:spcPct val="110000"/>
              </a:lnSpc>
              <a:buNone/>
            </a:pPr>
            <a:r>
              <a:rPr lang="en-US" sz="1400" dirty="0">
                <a:solidFill>
                  <a:srgbClr val="1E2B2A"/>
                </a:solidFill>
              </a:rPr>
              <a:t>조상   ·   </a:t>
            </a:r>
            <a:pPr indent="0" marL="0">
              <a:lnSpc>
                <a:spcPct val="110000"/>
              </a:lnSpc>
              <a:buNone/>
            </a:pPr>
            <a:r>
              <a:rPr lang="en-US" sz="1400" b="1" dirty="0">
                <a:solidFill>
                  <a:srgbClr val="1F7A64"/>
                </a:solidFill>
              </a:rPr>
              <a:t>staple </a:t>
            </a:r>
            <a:pPr indent="0" marL="0">
              <a:lnSpc>
                <a:spcPct val="110000"/>
              </a:lnSpc>
              <a:buNone/>
            </a:pPr>
            <a:r>
              <a:rPr lang="en-US" sz="1400" dirty="0">
                <a:solidFill>
                  <a:srgbClr val="1E2B2A"/>
                </a:solidFill>
              </a:rPr>
              <a:t>주된   ·   </a:t>
            </a:r>
            <a:pPr indent="0" marL="0">
              <a:lnSpc>
                <a:spcPct val="110000"/>
              </a:lnSpc>
              <a:buNone/>
            </a:pPr>
            <a:r>
              <a:rPr lang="en-US" sz="1400" b="1" dirty="0">
                <a:solidFill>
                  <a:srgbClr val="1F7A64"/>
                </a:solidFill>
              </a:rPr>
              <a:t>dairy </a:t>
            </a:r>
            <a:pPr indent="0" marL="0">
              <a:lnSpc>
                <a:spcPct val="110000"/>
              </a:lnSpc>
              <a:buNone/>
            </a:pPr>
            <a:r>
              <a:rPr lang="en-US" sz="1400" dirty="0">
                <a:solidFill>
                  <a:srgbClr val="1E2B2A"/>
                </a:solidFill>
              </a:rPr>
              <a:t>유제품의   ·   </a:t>
            </a:r>
            <a:pPr indent="0" marL="0">
              <a:lnSpc>
                <a:spcPct val="110000"/>
              </a:lnSpc>
              <a:buNone/>
            </a:pPr>
            <a:r>
              <a:rPr lang="en-US" sz="1400" b="1" dirty="0">
                <a:solidFill>
                  <a:srgbClr val="1F7A64"/>
                </a:solidFill>
              </a:rPr>
              <a:t>heritage </a:t>
            </a:r>
            <a:pPr indent="0" marL="0">
              <a:lnSpc>
                <a:spcPct val="110000"/>
              </a:lnSpc>
              <a:buNone/>
            </a:pPr>
            <a:r>
              <a:rPr lang="en-US" sz="1400" dirty="0">
                <a:solidFill>
                  <a:srgbClr val="1E2B2A"/>
                </a:solidFill>
              </a:rPr>
              <a:t>유산</a:t>
            </a:r>
            <a:endParaRPr lang="en-US" sz="1400" dirty="0"/>
          </a:p>
        </p:txBody>
      </p:sp>
      <p:sp>
        <p:nvSpPr>
          <p:cNvPr id="11" name="Text 9"/>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1100" dirty="0">
                <a:solidFill>
                  <a:srgbClr val="FFD45C"/>
                </a:solidFill>
              </a:rPr>
              <a:t>■ </a:t>
            </a:r>
            <a:pPr indent="0" marL="0">
              <a:buNone/>
            </a:pPr>
            <a:r>
              <a:rPr lang="en-US" sz="1100" dirty="0">
                <a:solidFill>
                  <a:srgbClr val="6E7F7C"/>
                </a:solidFill>
              </a:rPr>
              <a:t>형광 = 정답 근거 (이유는 노란 박스)     </a:t>
            </a:r>
            <a:pPr indent="0" marL="0">
              <a:buNone/>
            </a:pPr>
            <a:r>
              <a:rPr lang="en-US" sz="1100" dirty="0">
                <a:solidFill>
                  <a:srgbClr val="A9DDF3"/>
                </a:solidFill>
              </a:rPr>
              <a:t>■ </a:t>
            </a:r>
            <a:pPr indent="0" marL="0">
              <a:buNone/>
            </a:pPr>
            <a:r>
              <a:rPr lang="en-US" sz="1100" dirty="0">
                <a:solidFill>
                  <a:srgbClr val="6E7F7C"/>
                </a:solidFill>
              </a:rPr>
              <a:t>파란 형광 = 문법·내신 포인트     </a:t>
            </a:r>
            <a:pPr indent="0" marL="0">
              <a:buNone/>
            </a:pPr>
            <a:r>
              <a:rPr lang="en-US" sz="1100" b="1" dirty="0">
                <a:solidFill>
                  <a:srgbClr val="1F7A64"/>
                </a:solidFill>
              </a:rPr>
              <a:t>초록 점선 단어 </a:t>
            </a:r>
            <a:pPr indent="0" marL="0">
              <a:buNone/>
            </a:pPr>
            <a:r>
              <a:rPr lang="en-US" sz="1100" dirty="0">
                <a:solidFill>
                  <a:srgbClr val="6E7F7C"/>
                </a:solidFill>
              </a:rPr>
              <a:t>= 하단 어휘     </a:t>
            </a:r>
            <a:pPr indent="0" marL="0">
              <a:buNone/>
            </a:pPr>
            <a:r>
              <a:rPr lang="en-US" sz="1100" b="1" dirty="0">
                <a:solidFill>
                  <a:srgbClr val="1F7A64"/>
                </a:solidFill>
              </a:rPr>
              <a:t>(1) (2) (3) </a:t>
            </a:r>
            <a:pPr indent="0" marL="0">
              <a:buNone/>
            </a:pPr>
            <a:r>
              <a:rPr lang="en-US" sz="1100" dirty="0">
                <a:solidFill>
                  <a:srgbClr val="6E7F7C"/>
                </a:solidFill>
              </a:rPr>
              <a:t>= 문장 번호</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92  </a:t>
            </a:r>
            <a:pPr algn="l" indent="0" marL="0">
              <a:buNone/>
            </a:pPr>
            <a:r>
              <a:rPr lang="en-US" sz="3000" b="1" dirty="0">
                <a:solidFill>
                  <a:srgbClr val="14453D"/>
                </a:solidFill>
              </a:rPr>
              <a:t>몽골인의 유목 생활</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흐름 잡기</a:t>
            </a:r>
            <a:endParaRPr lang="en-US" sz="1200" dirty="0"/>
          </a:p>
        </p:txBody>
      </p:sp>
      <p:sp>
        <p:nvSpPr>
          <p:cNvPr id="4" name="Shape 2"/>
          <p:cNvSpPr/>
          <p:nvPr/>
        </p:nvSpPr>
        <p:spPr>
          <a:xfrm>
            <a:off x="548640" y="1325880"/>
            <a:ext cx="5212080" cy="2423160"/>
          </a:xfrm>
          <a:prstGeom prst="roundRect">
            <a:avLst>
              <a:gd name="adj" fmla="val 4528"/>
            </a:avLst>
          </a:prstGeom>
          <a:solidFill>
            <a:srgbClr val="E6F2ED"/>
          </a:solidFill>
          <a:ln w="12700">
            <a:solidFill>
              <a:srgbClr val="E6F2ED"/>
            </a:solidFill>
            <a:prstDash val="solid"/>
          </a:ln>
        </p:spPr>
      </p:sp>
      <p:sp>
        <p:nvSpPr>
          <p:cNvPr id="5" name="Text 3"/>
          <p:cNvSpPr txBox="1"/>
          <p:nvPr/>
        </p:nvSpPr>
        <p:spPr>
          <a:xfrm>
            <a:off x="822960" y="1463040"/>
            <a:ext cx="4663440" cy="320040"/>
          </a:xfrm>
          <a:prstGeom prst="rect">
            <a:avLst/>
          </a:prstGeom>
          <a:noFill/>
          <a:ln/>
        </p:spPr>
        <p:txBody>
          <a:bodyPr wrap="square" lIns="0" tIns="0" rIns="0" bIns="0" rtlCol="0" anchor="ctr"/>
          <a:lstStyle/>
          <a:p>
            <a:pPr indent="0" marL="0">
              <a:buNone/>
            </a:pPr>
            <a:r>
              <a:rPr lang="en-US" sz="1300" b="1" dirty="0">
                <a:solidFill>
                  <a:srgbClr val="1F7A64"/>
                </a:solidFill>
              </a:rPr>
              <a:t>STEP 1 · 요약문 먼저</a:t>
            </a:r>
            <a:endParaRPr lang="en-US" sz="1300" dirty="0"/>
          </a:p>
        </p:txBody>
      </p:sp>
      <p:sp>
        <p:nvSpPr>
          <p:cNvPr id="6" name="Text 4"/>
          <p:cNvSpPr txBox="1"/>
          <p:nvPr/>
        </p:nvSpPr>
        <p:spPr>
          <a:xfrm>
            <a:off x="822960" y="1828800"/>
            <a:ext cx="4663440" cy="868680"/>
          </a:xfrm>
          <a:prstGeom prst="rect">
            <a:avLst/>
          </a:prstGeom>
          <a:noFill/>
          <a:ln/>
        </p:spPr>
        <p:txBody>
          <a:bodyPr wrap="square" lIns="0" tIns="0" rIns="0" bIns="0" rtlCol="0" anchor="t">
            <a:normAutofit/>
          </a:bodyPr>
          <a:lstStyle/>
          <a:p>
            <a:pPr indent="0" marL="0">
              <a:buNone/>
            </a:pPr>
            <a:r>
              <a:rPr lang="en-US" sz="1300" b="1" i="1" dirty="0">
                <a:solidFill>
                  <a:srgbClr val="14453D"/>
                </a:solidFill>
              </a:rPr>
              <a:t>Many Mongolians (A) their nomadic lifestyle because they believe their old traditions are essential to their cultural (B).</a:t>
            </a:r>
            <a:endParaRPr lang="en-US" sz="1300" dirty="0"/>
          </a:p>
        </p:txBody>
      </p:sp>
      <p:sp>
        <p:nvSpPr>
          <p:cNvPr id="7" name="Text 5"/>
          <p:cNvSpPr txBox="1"/>
          <p:nvPr/>
        </p:nvSpPr>
        <p:spPr>
          <a:xfrm>
            <a:off x="822960" y="2715768"/>
            <a:ext cx="4663440" cy="457200"/>
          </a:xfrm>
          <a:prstGeom prst="rect">
            <a:avLst/>
          </a:prstGeom>
          <a:noFill/>
          <a:ln/>
        </p:spPr>
        <p:txBody>
          <a:bodyPr wrap="square" lIns="0" tIns="0" rIns="0" bIns="0" rtlCol="0" anchor="t">
            <a:normAutofit/>
          </a:bodyPr>
          <a:lstStyle/>
          <a:p>
            <a:pPr indent="0" marL="0">
              <a:buNone/>
            </a:pPr>
            <a:r>
              <a:rPr lang="en-US" sz="1100" dirty="0">
                <a:solidFill>
                  <a:srgbClr val="1E2B2A"/>
                </a:solidFill>
              </a:rPr>
              <a:t>많은 몽골인들은 자신들의 오랜 전통이 문화적 (B)에 필수적이라고 믿기 때문에 유목 생활 방식을 (A)한다.</a:t>
            </a:r>
            <a:endParaRPr lang="en-US" sz="1100" dirty="0"/>
          </a:p>
        </p:txBody>
      </p:sp>
      <p:sp>
        <p:nvSpPr>
          <p:cNvPr id="8" name="Text 6"/>
          <p:cNvSpPr txBox="1"/>
          <p:nvPr/>
        </p:nvSpPr>
        <p:spPr>
          <a:xfrm>
            <a:off x="822960" y="3200400"/>
            <a:ext cx="4663440" cy="411480"/>
          </a:xfrm>
          <a:prstGeom prst="rect">
            <a:avLst/>
          </a:prstGeom>
          <a:noFill/>
          <a:ln/>
        </p:spPr>
        <p:txBody>
          <a:bodyPr wrap="square" lIns="0" tIns="0" rIns="0" bIns="0" rtlCol="0" anchor="ctr"/>
          <a:lstStyle/>
          <a:p>
            <a:pPr indent="0" marL="0">
              <a:buNone/>
            </a:pPr>
            <a:r>
              <a:rPr lang="en-US" sz="1500" b="1" dirty="0">
                <a:solidFill>
                  <a:srgbClr val="EF5B3F"/>
                </a:solidFill>
              </a:rPr>
              <a:t>찾을 것  </a:t>
            </a:r>
            <a:pPr indent="0" marL="0">
              <a:buNone/>
            </a:pPr>
            <a:r>
              <a:rPr lang="en-US" sz="1500" b="1" dirty="0">
                <a:solidFill>
                  <a:srgbClr val="14453D"/>
                </a:solidFill>
              </a:rPr>
              <a:t>(A) 생활 방식을 어떻게? / (B) 전통은 무엇에 필수적?</a:t>
            </a:r>
            <a:endParaRPr lang="en-US" sz="1500" dirty="0"/>
          </a:p>
        </p:txBody>
      </p:sp>
      <p:sp>
        <p:nvSpPr>
          <p:cNvPr id="9" name="Shape 7"/>
          <p:cNvSpPr/>
          <p:nvPr/>
        </p:nvSpPr>
        <p:spPr>
          <a:xfrm>
            <a:off x="548640" y="3931920"/>
            <a:ext cx="5212080" cy="2331720"/>
          </a:xfrm>
          <a:prstGeom prst="roundRect">
            <a:avLst>
              <a:gd name="adj" fmla="val 4706"/>
            </a:avLst>
          </a:prstGeom>
          <a:solidFill>
            <a:srgbClr val="FFFFFF"/>
          </a:solidFill>
          <a:ln w="19050">
            <a:solidFill>
              <a:srgbClr val="EF5B3F"/>
            </a:solidFill>
            <a:prstDash val="solid"/>
          </a:ln>
        </p:spPr>
      </p:sp>
      <p:pic>
        <p:nvPicPr>
          <p:cNvPr id="10" name="Image 0" descr="preencoded.png">    </p:cNvPr>
          <p:cNvPicPr>
            <a:picLocks noChangeAspect="1"/>
          </p:cNvPicPr>
          <p:nvPr/>
        </p:nvPicPr>
        <p:blipFill>
          <a:blip r:embed="rId1"/>
          <a:stretch>
            <a:fillRect/>
          </a:stretch>
        </p:blipFill>
        <p:spPr>
          <a:xfrm>
            <a:off x="822960" y="4096512"/>
            <a:ext cx="274320" cy="274320"/>
          </a:xfrm>
          <a:prstGeom prst="rect">
            <a:avLst/>
          </a:prstGeom>
        </p:spPr>
      </p:pic>
      <p:sp>
        <p:nvSpPr>
          <p:cNvPr id="11" name="Text 8"/>
          <p:cNvSpPr txBox="1"/>
          <p:nvPr/>
        </p:nvSpPr>
        <p:spPr>
          <a:xfrm>
            <a:off x="1188720" y="4069080"/>
            <a:ext cx="4114800" cy="320040"/>
          </a:xfrm>
          <a:prstGeom prst="rect">
            <a:avLst/>
          </a:prstGeom>
          <a:noFill/>
          <a:ln/>
        </p:spPr>
        <p:txBody>
          <a:bodyPr wrap="square" lIns="0" tIns="0" rIns="0" bIns="0" rtlCol="0" anchor="ctr"/>
          <a:lstStyle/>
          <a:p>
            <a:pPr indent="0" marL="0">
              <a:buNone/>
            </a:pPr>
            <a:r>
              <a:rPr lang="en-US" sz="1300" b="1" dirty="0">
                <a:solidFill>
                  <a:srgbClr val="EF5B3F"/>
                </a:solidFill>
              </a:rPr>
              <a:t>STEP 2 · 결정적 단서</a:t>
            </a:r>
            <a:endParaRPr lang="en-US" sz="1300" dirty="0"/>
          </a:p>
        </p:txBody>
      </p:sp>
      <p:sp>
        <p:nvSpPr>
          <p:cNvPr id="12" name="Text 9"/>
          <p:cNvSpPr txBox="1"/>
          <p:nvPr/>
        </p:nvSpPr>
        <p:spPr>
          <a:xfrm>
            <a:off x="822960" y="4480560"/>
            <a:ext cx="4663440" cy="1005840"/>
          </a:xfrm>
          <a:prstGeom prst="rect">
            <a:avLst/>
          </a:prstGeom>
          <a:noFill/>
          <a:ln/>
        </p:spPr>
        <p:txBody>
          <a:bodyPr wrap="square" lIns="0" tIns="0" rIns="0" bIns="0" rtlCol="0" anchor="t"/>
          <a:lstStyle/>
          <a:p>
            <a:pPr indent="0" marL="0">
              <a:buNone/>
            </a:pPr>
            <a:r>
              <a:rPr lang="en-US" sz="1400" i="1" dirty="0">
                <a:solidFill>
                  <a:srgbClr val="14453D"/>
                </a:solidFill>
              </a:rPr>
              <a:t>…regard horse riding … as irreplaceable heritage that makes them who they are.</a:t>
            </a:r>
            <a:endParaRPr lang="en-US" sz="1400" dirty="0"/>
          </a:p>
        </p:txBody>
      </p:sp>
      <p:sp>
        <p:nvSpPr>
          <p:cNvPr id="13" name="Text 10"/>
          <p:cNvSpPr txBox="1"/>
          <p:nvPr/>
        </p:nvSpPr>
        <p:spPr>
          <a:xfrm>
            <a:off x="822960" y="5486400"/>
            <a:ext cx="4663440" cy="685800"/>
          </a:xfrm>
          <a:prstGeom prst="rect">
            <a:avLst/>
          </a:prstGeom>
          <a:noFill/>
          <a:ln/>
        </p:spPr>
        <p:txBody>
          <a:bodyPr wrap="square" lIns="0" tIns="0" rIns="0" bIns="0" rtlCol="0" anchor="t"/>
          <a:lstStyle/>
          <a:p>
            <a:pPr indent="0" marL="0">
              <a:buNone/>
            </a:pPr>
            <a:r>
              <a:rPr lang="en-US" sz="1300" dirty="0">
                <a:solidFill>
                  <a:srgbClr val="6E7F7C"/>
                </a:solidFill>
              </a:rPr>
              <a:t>승마를 자신들을 자신들답게 만드는 대체할 수 없는 유산으로 여긴다 → (B) identity</a:t>
            </a:r>
            <a:endParaRPr lang="en-US" sz="1300" dirty="0"/>
          </a:p>
        </p:txBody>
      </p:sp>
      <p:sp>
        <p:nvSpPr>
          <p:cNvPr id="14" name="Text 11"/>
          <p:cNvSpPr txBox="1"/>
          <p:nvPr/>
        </p:nvSpPr>
        <p:spPr>
          <a:xfrm>
            <a:off x="6217920" y="1325880"/>
            <a:ext cx="2743200" cy="320040"/>
          </a:xfrm>
          <a:prstGeom prst="rect">
            <a:avLst/>
          </a:prstGeom>
          <a:noFill/>
          <a:ln/>
        </p:spPr>
        <p:txBody>
          <a:bodyPr wrap="square" lIns="0" tIns="0" rIns="0" bIns="0" rtlCol="0" anchor="ctr"/>
          <a:lstStyle/>
          <a:p>
            <a:pPr indent="0" marL="0">
              <a:buNone/>
            </a:pPr>
            <a:r>
              <a:rPr lang="en-US" sz="1300" b="1" dirty="0">
                <a:solidFill>
                  <a:srgbClr val="1F7A64"/>
                </a:solidFill>
              </a:rPr>
              <a:t>글의 흐름</a:t>
            </a:r>
            <a:endParaRPr lang="en-US" sz="1300" dirty="0"/>
          </a:p>
        </p:txBody>
      </p:sp>
      <p:sp>
        <p:nvSpPr>
          <p:cNvPr id="15" name="Shape 12"/>
          <p:cNvSpPr/>
          <p:nvPr/>
        </p:nvSpPr>
        <p:spPr>
          <a:xfrm>
            <a:off x="6537960" y="2057400"/>
            <a:ext cx="0" cy="3511296"/>
          </a:xfrm>
          <a:prstGeom prst="line">
            <a:avLst/>
          </a:prstGeom>
          <a:noFill/>
          <a:ln w="38100">
            <a:solidFill>
              <a:srgbClr val="E6F2ED"/>
            </a:solidFill>
            <a:prstDash val="solid"/>
          </a:ln>
        </p:spPr>
      </p:sp>
      <p:sp>
        <p:nvSpPr>
          <p:cNvPr id="16" name="Text 13"/>
          <p:cNvSpPr/>
          <p:nvPr/>
        </p:nvSpPr>
        <p:spPr>
          <a:xfrm>
            <a:off x="6263640" y="1783080"/>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7" name="Text 14"/>
          <p:cNvSpPr txBox="1"/>
          <p:nvPr/>
        </p:nvSpPr>
        <p:spPr>
          <a:xfrm>
            <a:off x="7040880" y="1783080"/>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도입</a:t>
            </a:r>
            <a:endParaRPr lang="en-US" sz="1400" dirty="0"/>
          </a:p>
        </p:txBody>
      </p:sp>
      <p:sp>
        <p:nvSpPr>
          <p:cNvPr id="18" name="Text 15"/>
          <p:cNvSpPr txBox="1"/>
          <p:nvPr/>
        </p:nvSpPr>
        <p:spPr>
          <a:xfrm>
            <a:off x="7040880" y="2121408"/>
            <a:ext cx="4572000" cy="667512"/>
          </a:xfrm>
          <a:prstGeom prst="rect">
            <a:avLst/>
          </a:prstGeom>
          <a:noFill/>
          <a:ln/>
        </p:spPr>
        <p:txBody>
          <a:bodyPr wrap="square" lIns="0" tIns="0" rIns="0" bIns="0" rtlCol="0" anchor="t"/>
          <a:lstStyle/>
          <a:p>
            <a:pPr indent="0" marL="0">
              <a:buNone/>
            </a:pPr>
            <a:r>
              <a:rPr lang="en-US" sz="1400" dirty="0">
                <a:solidFill>
                  <a:srgbClr val="1E2B2A"/>
                </a:solidFill>
              </a:rPr>
              <a:t>도시화된 세상에서도 몽골인들은 천 년 된 생활 방식을 '보존'한다</a:t>
            </a:r>
            <a:endParaRPr lang="en-US" sz="1400" dirty="0"/>
          </a:p>
        </p:txBody>
      </p:sp>
      <p:sp>
        <p:nvSpPr>
          <p:cNvPr id="19" name="Text 16"/>
          <p:cNvSpPr/>
          <p:nvPr/>
        </p:nvSpPr>
        <p:spPr>
          <a:xfrm>
            <a:off x="6263640" y="2953512"/>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20" name="Text 17"/>
          <p:cNvSpPr txBox="1"/>
          <p:nvPr/>
        </p:nvSpPr>
        <p:spPr>
          <a:xfrm>
            <a:off x="7040880" y="2953512"/>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근거 ①</a:t>
            </a:r>
            <a:endParaRPr lang="en-US" sz="1400" dirty="0"/>
          </a:p>
        </p:txBody>
      </p:sp>
      <p:sp>
        <p:nvSpPr>
          <p:cNvPr id="21" name="Text 18"/>
          <p:cNvSpPr txBox="1"/>
          <p:nvPr/>
        </p:nvSpPr>
        <p:spPr>
          <a:xfrm>
            <a:off x="7040880" y="3291840"/>
            <a:ext cx="4572000" cy="667512"/>
          </a:xfrm>
          <a:prstGeom prst="rect">
            <a:avLst/>
          </a:prstGeom>
          <a:noFill/>
          <a:ln/>
        </p:spPr>
        <p:txBody>
          <a:bodyPr wrap="square" lIns="0" tIns="0" rIns="0" bIns="0" rtlCol="0" anchor="t"/>
          <a:lstStyle/>
          <a:p>
            <a:pPr indent="0" marL="0">
              <a:buNone/>
            </a:pPr>
            <a:r>
              <a:rPr lang="en-US" sz="1400" dirty="0">
                <a:solidFill>
                  <a:srgbClr val="1E2B2A"/>
                </a:solidFill>
              </a:rPr>
              <a:t>평야에서 유목 생활 · 기르는 동물에서 유제품·고기를 얻음</a:t>
            </a:r>
            <a:endParaRPr lang="en-US" sz="1400" dirty="0"/>
          </a:p>
        </p:txBody>
      </p:sp>
      <p:sp>
        <p:nvSpPr>
          <p:cNvPr id="22" name="Text 19"/>
          <p:cNvSpPr/>
          <p:nvPr/>
        </p:nvSpPr>
        <p:spPr>
          <a:xfrm>
            <a:off x="6263640" y="4123944"/>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3" name="Text 20"/>
          <p:cNvSpPr txBox="1"/>
          <p:nvPr/>
        </p:nvSpPr>
        <p:spPr>
          <a:xfrm>
            <a:off x="7040880" y="4123944"/>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근거 ②</a:t>
            </a:r>
            <a:endParaRPr lang="en-US" sz="1400" dirty="0"/>
          </a:p>
        </p:txBody>
      </p:sp>
      <p:sp>
        <p:nvSpPr>
          <p:cNvPr id="24" name="Text 21"/>
          <p:cNvSpPr txBox="1"/>
          <p:nvPr/>
        </p:nvSpPr>
        <p:spPr>
          <a:xfrm>
            <a:off x="7040880" y="4462272"/>
            <a:ext cx="4572000" cy="667512"/>
          </a:xfrm>
          <a:prstGeom prst="rect">
            <a:avLst/>
          </a:prstGeom>
          <a:noFill/>
          <a:ln/>
        </p:spPr>
        <p:txBody>
          <a:bodyPr wrap="square" lIns="0" tIns="0" rIns="0" bIns="0" rtlCol="0" anchor="t"/>
          <a:lstStyle/>
          <a:p>
            <a:pPr indent="0" marL="0">
              <a:buNone/>
            </a:pPr>
            <a:r>
              <a:rPr lang="en-US" sz="1400" dirty="0">
                <a:solidFill>
                  <a:srgbClr val="1E2B2A"/>
                </a:solidFill>
              </a:rPr>
              <a:t>가축 관리에 필수인 승마 전통을 '계속' 이어 감</a:t>
            </a:r>
            <a:endParaRPr lang="en-US" sz="1400" dirty="0"/>
          </a:p>
        </p:txBody>
      </p:sp>
      <p:sp>
        <p:nvSpPr>
          <p:cNvPr id="25" name="Text 22"/>
          <p:cNvSpPr/>
          <p:nvPr/>
        </p:nvSpPr>
        <p:spPr>
          <a:xfrm>
            <a:off x="6263640" y="5294376"/>
            <a:ext cx="548640" cy="548640"/>
          </a:xfrm>
          <a:prstGeom prst="ellipse">
            <a:avLst/>
          </a:prstGeom>
          <a:solidFill>
            <a:srgbClr val="EF5B3F"/>
          </a:solid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6" name="Text 23"/>
          <p:cNvSpPr txBox="1"/>
          <p:nvPr/>
        </p:nvSpPr>
        <p:spPr>
          <a:xfrm>
            <a:off x="7040880" y="5294376"/>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결론</a:t>
            </a:r>
            <a:endParaRPr lang="en-US" sz="1400" dirty="0"/>
          </a:p>
        </p:txBody>
      </p:sp>
      <p:sp>
        <p:nvSpPr>
          <p:cNvPr id="27" name="Text 24"/>
          <p:cNvSpPr txBox="1"/>
          <p:nvPr/>
        </p:nvSpPr>
        <p:spPr>
          <a:xfrm>
            <a:off x="7040880" y="5632704"/>
            <a:ext cx="4572000" cy="667512"/>
          </a:xfrm>
          <a:prstGeom prst="rect">
            <a:avLst/>
          </a:prstGeom>
          <a:noFill/>
          <a:ln/>
        </p:spPr>
        <p:txBody>
          <a:bodyPr wrap="square" lIns="0" tIns="0" rIns="0" bIns="0" rtlCol="0" anchor="t"/>
          <a:lstStyle/>
          <a:p>
            <a:pPr indent="0" marL="0">
              <a:buNone/>
            </a:pPr>
            <a:r>
              <a:rPr lang="en-US" sz="1400" dirty="0">
                <a:solidFill>
                  <a:srgbClr val="1E2B2A"/>
                </a:solidFill>
              </a:rPr>
              <a:t>승마 + 평야의 삶 = '자신들을 자신들답게 만드는' 유산 → 정체성</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92  </a:t>
            </a:r>
            <a:pPr algn="l" indent="0" marL="0">
              <a:buNone/>
            </a:pPr>
            <a:r>
              <a:rPr lang="en-US" sz="3000" b="1" dirty="0">
                <a:solidFill>
                  <a:srgbClr val="14453D"/>
                </a:solidFill>
              </a:rPr>
              <a:t>정답 &amp; 해설</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정답</a:t>
            </a:r>
            <a:endParaRPr lang="en-US" sz="1200" dirty="0"/>
          </a:p>
        </p:txBody>
      </p:sp>
      <p:sp>
        <p:nvSpPr>
          <p:cNvPr id="4" name="Shape 2"/>
          <p:cNvSpPr/>
          <p:nvPr/>
        </p:nvSpPr>
        <p:spPr>
          <a:xfrm>
            <a:off x="548640" y="1325880"/>
            <a:ext cx="3749040" cy="4983480"/>
          </a:xfrm>
          <a:prstGeom prst="roundRect">
            <a:avLst>
              <a:gd name="adj" fmla="val 3659"/>
            </a:avLst>
          </a:prstGeom>
          <a:solidFill>
            <a:srgbClr val="14453D"/>
          </a:solidFill>
          <a:ln w="12700">
            <a:solidFill>
              <a:srgbClr val="14453D"/>
            </a:solidFill>
            <a:prstDash val="solid"/>
          </a:ln>
        </p:spPr>
      </p:sp>
      <p:sp>
        <p:nvSpPr>
          <p:cNvPr id="5" name="Text 3"/>
          <p:cNvSpPr txBox="1"/>
          <p:nvPr/>
        </p:nvSpPr>
        <p:spPr>
          <a:xfrm>
            <a:off x="868680" y="1554480"/>
            <a:ext cx="3108960" cy="365760"/>
          </a:xfrm>
          <a:prstGeom prst="rect">
            <a:avLst/>
          </a:prstGeom>
          <a:noFill/>
          <a:ln/>
        </p:spPr>
        <p:txBody>
          <a:bodyPr wrap="square" lIns="0" tIns="0" rIns="0" bIns="0" rtlCol="0" anchor="ctr"/>
          <a:lstStyle/>
          <a:p>
            <a:pPr indent="0" marL="0">
              <a:buNone/>
            </a:pPr>
            <a:r>
              <a:rPr lang="en-US" sz="1600" b="1" dirty="0">
                <a:solidFill>
                  <a:srgbClr val="FFD45C"/>
                </a:solidFill>
              </a:rPr>
              <a:t>정답</a:t>
            </a:r>
            <a:endParaRPr lang="en-US" sz="1600" dirty="0"/>
          </a:p>
        </p:txBody>
      </p:sp>
      <p:sp>
        <p:nvSpPr>
          <p:cNvPr id="6" name="Text 4"/>
          <p:cNvSpPr txBox="1"/>
          <p:nvPr/>
        </p:nvSpPr>
        <p:spPr>
          <a:xfrm>
            <a:off x="868680" y="1920240"/>
            <a:ext cx="3108960" cy="1188720"/>
          </a:xfrm>
          <a:prstGeom prst="rect">
            <a:avLst/>
          </a:prstGeom>
          <a:noFill/>
          <a:ln/>
        </p:spPr>
        <p:txBody>
          <a:bodyPr wrap="square" lIns="0" tIns="0" rIns="0" bIns="0" rtlCol="0" anchor="ctr"/>
          <a:lstStyle/>
          <a:p>
            <a:pPr indent="0" marL="0">
              <a:buNone/>
            </a:pPr>
            <a:r>
              <a:rPr lang="en-US" sz="7200" b="1" dirty="0">
                <a:solidFill>
                  <a:srgbClr val="FFFFFF"/>
                </a:solidFill>
              </a:rPr>
              <a:t>③</a:t>
            </a:r>
            <a:endParaRPr lang="en-US" sz="7200" dirty="0"/>
          </a:p>
        </p:txBody>
      </p:sp>
      <p:sp>
        <p:nvSpPr>
          <p:cNvPr id="7" name="Text 5"/>
          <p:cNvSpPr txBox="1"/>
          <p:nvPr/>
        </p:nvSpPr>
        <p:spPr>
          <a:xfrm>
            <a:off x="868680" y="3337560"/>
            <a:ext cx="3154680" cy="1280160"/>
          </a:xfrm>
          <a:prstGeom prst="rect">
            <a:avLst/>
          </a:prstGeom>
          <a:noFill/>
          <a:ln/>
        </p:spPr>
        <p:txBody>
          <a:bodyPr wrap="square" lIns="0" tIns="0" rIns="0" bIns="0" rtlCol="0" anchor="t"/>
          <a:lstStyle/>
          <a:p>
            <a:pPr indent="0" marL="0">
              <a:buNone/>
            </a:pPr>
            <a:r>
              <a:rPr lang="en-US" sz="1700" b="1" i="1" dirty="0">
                <a:solidFill>
                  <a:srgbClr val="FFFFFF"/>
                </a:solidFill>
              </a:rPr>
              <a:t>maintain ----- identity</a:t>
            </a:r>
            <a:endParaRPr lang="en-US" sz="1700" dirty="0"/>
          </a:p>
        </p:txBody>
      </p:sp>
      <p:sp>
        <p:nvSpPr>
          <p:cNvPr id="8" name="Text 6"/>
          <p:cNvSpPr txBox="1"/>
          <p:nvPr/>
        </p:nvSpPr>
        <p:spPr>
          <a:xfrm>
            <a:off x="868680" y="4663440"/>
            <a:ext cx="3154680" cy="1463040"/>
          </a:xfrm>
          <a:prstGeom prst="rect">
            <a:avLst/>
          </a:prstGeom>
          <a:noFill/>
          <a:ln/>
        </p:spPr>
        <p:txBody>
          <a:bodyPr wrap="square" lIns="0" tIns="0" rIns="0" bIns="0" rtlCol="0" anchor="t"/>
          <a:lstStyle/>
          <a:p>
            <a:pPr indent="0" marL="0">
              <a:buNone/>
            </a:pPr>
            <a:r>
              <a:rPr lang="en-US" sz="1400" dirty="0">
                <a:solidFill>
                  <a:srgbClr val="E6F2ED"/>
                </a:solidFill>
              </a:rPr>
              <a:t>유지하다 = preserve·continue / 정체성 = who they are</a:t>
            </a:r>
            <a:endParaRPr lang="en-US" sz="1400" dirty="0"/>
          </a:p>
        </p:txBody>
      </p:sp>
      <p:sp>
        <p:nvSpPr>
          <p:cNvPr id="9" name="Shape 7"/>
          <p:cNvSpPr/>
          <p:nvPr/>
        </p:nvSpPr>
        <p:spPr>
          <a:xfrm>
            <a:off x="4572000" y="1325880"/>
            <a:ext cx="7040880" cy="905256"/>
          </a:xfrm>
          <a:prstGeom prst="roundRect">
            <a:avLst>
              <a:gd name="adj" fmla="val 10101"/>
            </a:avLst>
          </a:prstGeom>
          <a:solidFill>
            <a:srgbClr val="FFFFFF"/>
          </a:solidFill>
          <a:ln w="12700">
            <a:solidFill>
              <a:srgbClr val="E6F2ED"/>
            </a:solidFill>
            <a:prstDash val="solid"/>
          </a:ln>
        </p:spPr>
      </p:sp>
      <p:sp>
        <p:nvSpPr>
          <p:cNvPr id="10" name="Text 8"/>
          <p:cNvSpPr txBox="1"/>
          <p:nvPr/>
        </p:nvSpPr>
        <p:spPr>
          <a:xfrm>
            <a:off x="4754880" y="1435608"/>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①</a:t>
            </a:r>
            <a:endParaRPr lang="en-US" sz="2000" dirty="0"/>
          </a:p>
        </p:txBody>
      </p:sp>
      <p:sp>
        <p:nvSpPr>
          <p:cNvPr id="11" name="Text 9"/>
          <p:cNvSpPr txBox="1"/>
          <p:nvPr/>
        </p:nvSpPr>
        <p:spPr>
          <a:xfrm>
            <a:off x="5257800" y="1399032"/>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abandon ----- diversity</a:t>
            </a:r>
            <a:endParaRPr lang="en-US" sz="1500" dirty="0"/>
          </a:p>
        </p:txBody>
      </p:sp>
      <p:sp>
        <p:nvSpPr>
          <p:cNvPr id="12" name="Text 10"/>
          <p:cNvSpPr txBox="1"/>
          <p:nvPr/>
        </p:nvSpPr>
        <p:spPr>
          <a:xfrm>
            <a:off x="5257800" y="1801368"/>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버리다 ✘ / 다양성 ✘ → 글은 '보존한다'</a:t>
            </a:r>
            <a:endParaRPr lang="en-US" sz="1300" dirty="0"/>
          </a:p>
        </p:txBody>
      </p:sp>
      <p:sp>
        <p:nvSpPr>
          <p:cNvPr id="13" name="Shape 11"/>
          <p:cNvSpPr/>
          <p:nvPr/>
        </p:nvSpPr>
        <p:spPr>
          <a:xfrm>
            <a:off x="4572000" y="2340864"/>
            <a:ext cx="7040880" cy="905256"/>
          </a:xfrm>
          <a:prstGeom prst="roundRect">
            <a:avLst>
              <a:gd name="adj" fmla="val 10101"/>
            </a:avLst>
          </a:prstGeom>
          <a:solidFill>
            <a:srgbClr val="FFFFFF"/>
          </a:solidFill>
          <a:ln w="12700">
            <a:solidFill>
              <a:srgbClr val="E6F2ED"/>
            </a:solidFill>
            <a:prstDash val="solid"/>
          </a:ln>
        </p:spPr>
      </p:sp>
      <p:sp>
        <p:nvSpPr>
          <p:cNvPr id="14" name="Text 12"/>
          <p:cNvSpPr txBox="1"/>
          <p:nvPr/>
        </p:nvSpPr>
        <p:spPr>
          <a:xfrm>
            <a:off x="4754880" y="2450592"/>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②</a:t>
            </a:r>
            <a:endParaRPr lang="en-US" sz="2000" dirty="0"/>
          </a:p>
        </p:txBody>
      </p:sp>
      <p:sp>
        <p:nvSpPr>
          <p:cNvPr id="15" name="Text 13"/>
          <p:cNvSpPr txBox="1"/>
          <p:nvPr/>
        </p:nvSpPr>
        <p:spPr>
          <a:xfrm>
            <a:off x="5257800" y="2414016"/>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maintain ----- diversity</a:t>
            </a:r>
            <a:endParaRPr lang="en-US" sz="1500" dirty="0"/>
          </a:p>
        </p:txBody>
      </p:sp>
      <p:sp>
        <p:nvSpPr>
          <p:cNvPr id="16" name="Text 14"/>
          <p:cNvSpPr txBox="1"/>
          <p:nvPr/>
        </p:nvSpPr>
        <p:spPr>
          <a:xfrm>
            <a:off x="5257800" y="2816352"/>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유지하다 ✔ / 다양성 ✘ → 다양성 이야기 없음</a:t>
            </a:r>
            <a:endParaRPr lang="en-US" sz="1300" dirty="0"/>
          </a:p>
        </p:txBody>
      </p:sp>
      <p:sp>
        <p:nvSpPr>
          <p:cNvPr id="17" name="Shape 15"/>
          <p:cNvSpPr/>
          <p:nvPr/>
        </p:nvSpPr>
        <p:spPr>
          <a:xfrm>
            <a:off x="4572000" y="3355848"/>
            <a:ext cx="7040880" cy="905256"/>
          </a:xfrm>
          <a:prstGeom prst="roundRect">
            <a:avLst>
              <a:gd name="adj" fmla="val 10101"/>
            </a:avLst>
          </a:prstGeom>
          <a:solidFill>
            <a:srgbClr val="F7E9E4"/>
          </a:solidFill>
          <a:ln w="25400">
            <a:solidFill>
              <a:srgbClr val="EF5B3F"/>
            </a:solidFill>
            <a:prstDash val="solid"/>
          </a:ln>
        </p:spPr>
      </p:sp>
      <p:sp>
        <p:nvSpPr>
          <p:cNvPr id="18" name="Text 16"/>
          <p:cNvSpPr txBox="1"/>
          <p:nvPr/>
        </p:nvSpPr>
        <p:spPr>
          <a:xfrm>
            <a:off x="4754880" y="3465576"/>
            <a:ext cx="411480" cy="411480"/>
          </a:xfrm>
          <a:prstGeom prst="rect">
            <a:avLst/>
          </a:prstGeom>
          <a:noFill/>
          <a:ln/>
        </p:spPr>
        <p:txBody>
          <a:bodyPr wrap="square" lIns="0" tIns="0" rIns="0" bIns="0" rtlCol="0" anchor="ctr"/>
          <a:lstStyle/>
          <a:p>
            <a:pPr indent="0" marL="0">
              <a:buNone/>
            </a:pPr>
            <a:r>
              <a:rPr lang="en-US" sz="2000" b="1" dirty="0">
                <a:solidFill>
                  <a:srgbClr val="EF5B3F"/>
                </a:solidFill>
              </a:rPr>
              <a:t>③</a:t>
            </a:r>
            <a:endParaRPr lang="en-US" sz="2000" dirty="0"/>
          </a:p>
        </p:txBody>
      </p:sp>
      <p:sp>
        <p:nvSpPr>
          <p:cNvPr id="19" name="Text 17"/>
          <p:cNvSpPr txBox="1"/>
          <p:nvPr/>
        </p:nvSpPr>
        <p:spPr>
          <a:xfrm>
            <a:off x="5257800" y="3429000"/>
            <a:ext cx="6172200" cy="411480"/>
          </a:xfrm>
          <a:prstGeom prst="rect">
            <a:avLst/>
          </a:prstGeom>
          <a:noFill/>
          <a:ln/>
        </p:spPr>
        <p:txBody>
          <a:bodyPr wrap="square" lIns="0" tIns="0" rIns="0" bIns="0" rtlCol="0" anchor="ctr">
            <a:normAutofit/>
          </a:bodyPr>
          <a:lstStyle/>
          <a:p>
            <a:pPr indent="0" marL="0">
              <a:buNone/>
            </a:pPr>
            <a:r>
              <a:rPr lang="en-US" sz="1500" b="1" dirty="0">
                <a:solidFill>
                  <a:srgbClr val="14453D"/>
                </a:solidFill>
              </a:rPr>
              <a:t>maintain ----- identity</a:t>
            </a:r>
            <a:endParaRPr lang="en-US" sz="1500" dirty="0"/>
          </a:p>
        </p:txBody>
      </p:sp>
      <p:sp>
        <p:nvSpPr>
          <p:cNvPr id="20" name="Text 18"/>
          <p:cNvSpPr txBox="1"/>
          <p:nvPr/>
        </p:nvSpPr>
        <p:spPr>
          <a:xfrm>
            <a:off x="5257800" y="3831336"/>
            <a:ext cx="6172200" cy="365760"/>
          </a:xfrm>
          <a:prstGeom prst="rect">
            <a:avLst/>
          </a:prstGeom>
          <a:noFill/>
          <a:ln/>
        </p:spPr>
        <p:txBody>
          <a:bodyPr wrap="square" lIns="0" tIns="0" rIns="0" bIns="0" rtlCol="0" anchor="ctr">
            <a:normAutofit/>
          </a:bodyPr>
          <a:lstStyle/>
          <a:p>
            <a:pPr indent="0" marL="0">
              <a:buNone/>
            </a:pPr>
            <a:r>
              <a:rPr lang="en-US" sz="1300" dirty="0">
                <a:solidFill>
                  <a:srgbClr val="EF5B3F"/>
                </a:solidFill>
              </a:rPr>
              <a:t>✔ 유지하다 = preserve·continue / 정체성 = who they are</a:t>
            </a:r>
            <a:endParaRPr lang="en-US" sz="1300" dirty="0"/>
          </a:p>
        </p:txBody>
      </p:sp>
      <p:sp>
        <p:nvSpPr>
          <p:cNvPr id="21" name="Shape 19"/>
          <p:cNvSpPr/>
          <p:nvPr/>
        </p:nvSpPr>
        <p:spPr>
          <a:xfrm>
            <a:off x="4572000" y="4370832"/>
            <a:ext cx="7040880" cy="905256"/>
          </a:xfrm>
          <a:prstGeom prst="roundRect">
            <a:avLst>
              <a:gd name="adj" fmla="val 10101"/>
            </a:avLst>
          </a:prstGeom>
          <a:solidFill>
            <a:srgbClr val="FFFFFF"/>
          </a:solidFill>
          <a:ln w="12700">
            <a:solidFill>
              <a:srgbClr val="E6F2ED"/>
            </a:solidFill>
            <a:prstDash val="solid"/>
          </a:ln>
        </p:spPr>
      </p:sp>
      <p:sp>
        <p:nvSpPr>
          <p:cNvPr id="22" name="Text 20"/>
          <p:cNvSpPr txBox="1"/>
          <p:nvPr/>
        </p:nvSpPr>
        <p:spPr>
          <a:xfrm>
            <a:off x="4754880" y="4480560"/>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④</a:t>
            </a:r>
            <a:endParaRPr lang="en-US" sz="2000" dirty="0"/>
          </a:p>
        </p:txBody>
      </p:sp>
      <p:sp>
        <p:nvSpPr>
          <p:cNvPr id="23" name="Text 21"/>
          <p:cNvSpPr txBox="1"/>
          <p:nvPr/>
        </p:nvSpPr>
        <p:spPr>
          <a:xfrm>
            <a:off x="5257800" y="4443984"/>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reform ----- identity</a:t>
            </a:r>
            <a:endParaRPr lang="en-US" sz="1500" dirty="0"/>
          </a:p>
        </p:txBody>
      </p:sp>
      <p:sp>
        <p:nvSpPr>
          <p:cNvPr id="24" name="Text 22"/>
          <p:cNvSpPr txBox="1"/>
          <p:nvPr/>
        </p:nvSpPr>
        <p:spPr>
          <a:xfrm>
            <a:off x="5257800" y="4846320"/>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개혁하다 ✘ / 정체성 ✔ → 전통을 바꾸지 않음</a:t>
            </a:r>
            <a:endParaRPr lang="en-US" sz="1300" dirty="0"/>
          </a:p>
        </p:txBody>
      </p:sp>
      <p:sp>
        <p:nvSpPr>
          <p:cNvPr id="25" name="Shape 23"/>
          <p:cNvSpPr/>
          <p:nvPr/>
        </p:nvSpPr>
        <p:spPr>
          <a:xfrm>
            <a:off x="4572000" y="5385816"/>
            <a:ext cx="7040880" cy="905256"/>
          </a:xfrm>
          <a:prstGeom prst="roundRect">
            <a:avLst>
              <a:gd name="adj" fmla="val 10101"/>
            </a:avLst>
          </a:prstGeom>
          <a:solidFill>
            <a:srgbClr val="FFFFFF"/>
          </a:solidFill>
          <a:ln w="12700">
            <a:solidFill>
              <a:srgbClr val="E6F2ED"/>
            </a:solidFill>
            <a:prstDash val="solid"/>
          </a:ln>
        </p:spPr>
      </p:sp>
      <p:sp>
        <p:nvSpPr>
          <p:cNvPr id="26" name="Text 24"/>
          <p:cNvSpPr txBox="1"/>
          <p:nvPr/>
        </p:nvSpPr>
        <p:spPr>
          <a:xfrm>
            <a:off x="4754880" y="5495544"/>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⑤</a:t>
            </a:r>
            <a:endParaRPr lang="en-US" sz="2000" dirty="0"/>
          </a:p>
        </p:txBody>
      </p:sp>
      <p:sp>
        <p:nvSpPr>
          <p:cNvPr id="27" name="Text 25"/>
          <p:cNvSpPr txBox="1"/>
          <p:nvPr/>
        </p:nvSpPr>
        <p:spPr>
          <a:xfrm>
            <a:off x="5257800" y="5458968"/>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reform ----- complexity</a:t>
            </a:r>
            <a:endParaRPr lang="en-US" sz="1500" dirty="0"/>
          </a:p>
        </p:txBody>
      </p:sp>
      <p:sp>
        <p:nvSpPr>
          <p:cNvPr id="28" name="Text 26"/>
          <p:cNvSpPr txBox="1"/>
          <p:nvPr/>
        </p:nvSpPr>
        <p:spPr>
          <a:xfrm>
            <a:off x="5257800" y="5861304"/>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개혁하다 ✘ / 복잡성 ✘</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92  </a:t>
            </a:r>
            <a:pPr algn="l" indent="0" marL="0">
              <a:buNone/>
            </a:pPr>
            <a:r>
              <a:rPr lang="en-US" sz="3000" b="1" dirty="0">
                <a:solidFill>
                  <a:srgbClr val="14453D"/>
                </a:solidFill>
              </a:rPr>
              <a:t>내신 어법 체크: 알맞은 것은?</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어법</a:t>
            </a:r>
            <a:endParaRPr lang="en-US" sz="1200" dirty="0"/>
          </a:p>
        </p:txBody>
      </p:sp>
      <p:sp>
        <p:nvSpPr>
          <p:cNvPr id="4" name="Shape 2"/>
          <p:cNvSpPr/>
          <p:nvPr/>
        </p:nvSpPr>
        <p:spPr>
          <a:xfrm>
            <a:off x="548640" y="1325880"/>
            <a:ext cx="11064240" cy="1143000"/>
          </a:xfrm>
          <a:prstGeom prst="roundRect">
            <a:avLst>
              <a:gd name="adj" fmla="val 8000"/>
            </a:avLst>
          </a:prstGeom>
          <a:solidFill>
            <a:srgbClr val="F2F8FB"/>
          </a:solidFill>
          <a:ln w="12700">
            <a:solidFill>
              <a:srgbClr val="D3E5EE"/>
            </a:solidFill>
            <a:prstDash val="solid"/>
          </a:ln>
        </p:spPr>
      </p:sp>
      <p:sp>
        <p:nvSpPr>
          <p:cNvPr id="5" name="Text 3"/>
          <p:cNvSpPr/>
          <p:nvPr/>
        </p:nvSpPr>
        <p:spPr>
          <a:xfrm>
            <a:off x="777240" y="162306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1554480" y="132588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…a way of life that </a:t>
            </a:r>
            <a:pPr indent="0" marL="0">
              <a:buNone/>
            </a:pPr>
            <a:r>
              <a:rPr lang="en-US" sz="1900" b="1" dirty="0">
                <a:solidFill>
                  <a:srgbClr val="EF5B3F"/>
                </a:solidFill>
              </a:rPr>
              <a:t>[go / goes]</a:t>
            </a:r>
            <a:pPr indent="0" marL="0">
              <a:buNone/>
            </a:pPr>
            <a:r>
              <a:rPr lang="en-US" sz="1900" dirty="0">
                <a:solidFill>
                  <a:srgbClr val="1E2B2A"/>
                </a:solidFill>
              </a:rPr>
              <a:t> back at least a thousand years.</a:t>
            </a:r>
            <a:endParaRPr lang="en-US" sz="1900" dirty="0"/>
          </a:p>
        </p:txBody>
      </p:sp>
      <p:sp>
        <p:nvSpPr>
          <p:cNvPr id="7" name="Shape 5"/>
          <p:cNvSpPr/>
          <p:nvPr/>
        </p:nvSpPr>
        <p:spPr>
          <a:xfrm>
            <a:off x="548640" y="2606040"/>
            <a:ext cx="11064240" cy="1143000"/>
          </a:xfrm>
          <a:prstGeom prst="roundRect">
            <a:avLst>
              <a:gd name="adj" fmla="val 8000"/>
            </a:avLst>
          </a:prstGeom>
          <a:solidFill>
            <a:srgbClr val="FFFFFF"/>
          </a:solidFill>
          <a:ln w="12700">
            <a:solidFill>
              <a:srgbClr val="D3E5EE"/>
            </a:solidFill>
            <a:prstDash val="solid"/>
          </a:ln>
        </p:spPr>
      </p:sp>
      <p:sp>
        <p:nvSpPr>
          <p:cNvPr id="8" name="Text 6"/>
          <p:cNvSpPr/>
          <p:nvPr/>
        </p:nvSpPr>
        <p:spPr>
          <a:xfrm>
            <a:off x="777240" y="290322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9" name="Text 7"/>
          <p:cNvSpPr txBox="1"/>
          <p:nvPr/>
        </p:nvSpPr>
        <p:spPr>
          <a:xfrm>
            <a:off x="1554480" y="260604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…horse riding, </a:t>
            </a:r>
            <a:pPr indent="0" marL="0">
              <a:buNone/>
            </a:pPr>
            <a:r>
              <a:rPr lang="en-US" sz="1900" b="1" dirty="0">
                <a:solidFill>
                  <a:srgbClr val="EF5B3F"/>
                </a:solidFill>
              </a:rPr>
              <a:t>[which / that]</a:t>
            </a:r>
            <a:pPr indent="0" marL="0">
              <a:buNone/>
            </a:pPr>
            <a:r>
              <a:rPr lang="en-US" sz="1900" dirty="0">
                <a:solidFill>
                  <a:srgbClr val="1E2B2A"/>
                </a:solidFill>
              </a:rPr>
              <a:t> is an essential skill to guard and manage their herds.</a:t>
            </a:r>
            <a:endParaRPr lang="en-US" sz="1900" dirty="0"/>
          </a:p>
        </p:txBody>
      </p:sp>
      <p:sp>
        <p:nvSpPr>
          <p:cNvPr id="10" name="Shape 8"/>
          <p:cNvSpPr/>
          <p:nvPr/>
        </p:nvSpPr>
        <p:spPr>
          <a:xfrm>
            <a:off x="548640" y="3886200"/>
            <a:ext cx="11064240" cy="1143000"/>
          </a:xfrm>
          <a:prstGeom prst="roundRect">
            <a:avLst>
              <a:gd name="adj" fmla="val 8000"/>
            </a:avLst>
          </a:prstGeom>
          <a:solidFill>
            <a:srgbClr val="F2F8FB"/>
          </a:solidFill>
          <a:ln w="12700">
            <a:solidFill>
              <a:srgbClr val="D3E5EE"/>
            </a:solidFill>
            <a:prstDash val="solid"/>
          </a:ln>
        </p:spPr>
      </p:sp>
      <p:sp>
        <p:nvSpPr>
          <p:cNvPr id="11" name="Text 9"/>
          <p:cNvSpPr/>
          <p:nvPr/>
        </p:nvSpPr>
        <p:spPr>
          <a:xfrm>
            <a:off x="777240" y="418338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2" name="Text 10"/>
          <p:cNvSpPr txBox="1"/>
          <p:nvPr/>
        </p:nvSpPr>
        <p:spPr>
          <a:xfrm>
            <a:off x="1554480" y="388620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…most Mongolians still regard horse riding </a:t>
            </a:r>
            <a:pPr indent="0" marL="0">
              <a:buNone/>
            </a:pPr>
            <a:r>
              <a:rPr lang="en-US" sz="1900" b="1" dirty="0">
                <a:solidFill>
                  <a:srgbClr val="EF5B3F"/>
                </a:solidFill>
              </a:rPr>
              <a:t>[as / to]</a:t>
            </a:r>
            <a:pPr indent="0" marL="0">
              <a:buNone/>
            </a:pPr>
            <a:r>
              <a:rPr lang="en-US" sz="1900" dirty="0">
                <a:solidFill>
                  <a:srgbClr val="1E2B2A"/>
                </a:solidFill>
              </a:rPr>
              <a:t> irreplaceable heritage.</a:t>
            </a:r>
            <a:endParaRPr lang="en-US" sz="19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93  </a:t>
            </a:r>
            <a:pPr algn="l" indent="0" marL="0">
              <a:buNone/>
            </a:pPr>
            <a:r>
              <a:rPr lang="en-US" sz="3000" b="1" dirty="0">
                <a:solidFill>
                  <a:srgbClr val="14453D"/>
                </a:solidFill>
              </a:rPr>
              <a:t>틀 효과(framing effect)</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Hook</a:t>
            </a:r>
            <a:endParaRPr lang="en-US" sz="1200" dirty="0"/>
          </a:p>
        </p:txBody>
      </p:sp>
      <p:sp>
        <p:nvSpPr>
          <p:cNvPr id="4" name="Shape 2"/>
          <p:cNvSpPr/>
          <p:nvPr/>
        </p:nvSpPr>
        <p:spPr>
          <a:xfrm>
            <a:off x="1280160" y="1737360"/>
            <a:ext cx="9601200" cy="3291840"/>
          </a:xfrm>
          <a:prstGeom prst="roundRect">
            <a:avLst>
              <a:gd name="adj" fmla="val 6944"/>
            </a:avLst>
          </a:prstGeom>
          <a:solidFill>
            <a:srgbClr val="E6F2ED"/>
          </a:solidFill>
          <a:ln w="12700">
            <a:solidFill>
              <a:srgbClr val="E6F2ED"/>
            </a:solidFill>
            <a:prstDash val="solid"/>
          </a:ln>
        </p:spPr>
      </p:sp>
      <p:sp>
        <p:nvSpPr>
          <p:cNvPr id="5" name="Shape 3"/>
          <p:cNvSpPr/>
          <p:nvPr/>
        </p:nvSpPr>
        <p:spPr>
          <a:xfrm>
            <a:off x="1737360" y="2148840"/>
            <a:ext cx="1005840" cy="1005840"/>
          </a:xfrm>
          <a:prstGeom prst="ellipse">
            <a:avLst/>
          </a:prstGeom>
          <a:solidFill>
            <a:srgbClr val="1F7A64"/>
          </a:solidFill>
          <a:ln w="12700">
            <a:solidFill>
              <a:srgbClr val="1F7A64"/>
            </a:solidFill>
            <a:prstDash val="solid"/>
          </a:ln>
        </p:spPr>
      </p:sp>
      <p:pic>
        <p:nvPicPr>
          <p:cNvPr id="6" name="Image 0" descr="preencoded.png">    </p:cNvPr>
          <p:cNvPicPr>
            <a:picLocks noChangeAspect="1"/>
          </p:cNvPicPr>
          <p:nvPr/>
        </p:nvPicPr>
        <p:blipFill>
          <a:blip r:embed="rId1"/>
          <a:stretch>
            <a:fillRect/>
          </a:stretch>
        </p:blipFill>
        <p:spPr>
          <a:xfrm>
            <a:off x="1984248" y="2395728"/>
            <a:ext cx="512064" cy="512064"/>
          </a:xfrm>
          <a:prstGeom prst="rect">
            <a:avLst/>
          </a:prstGeom>
        </p:spPr>
      </p:pic>
      <p:sp>
        <p:nvSpPr>
          <p:cNvPr id="7" name="Text 4"/>
          <p:cNvSpPr txBox="1"/>
          <p:nvPr/>
        </p:nvSpPr>
        <p:spPr>
          <a:xfrm>
            <a:off x="3017520" y="2194560"/>
            <a:ext cx="5486400" cy="457200"/>
          </a:xfrm>
          <a:prstGeom prst="rect">
            <a:avLst/>
          </a:prstGeom>
          <a:noFill/>
          <a:ln/>
        </p:spPr>
        <p:txBody>
          <a:bodyPr wrap="square" lIns="0" tIns="0" rIns="0" bIns="0" rtlCol="0" anchor="ctr"/>
          <a:lstStyle/>
          <a:p>
            <a:pPr indent="0" marL="0">
              <a:buNone/>
            </a:pPr>
            <a:r>
              <a:rPr lang="en-US" sz="1800" b="1" dirty="0">
                <a:solidFill>
                  <a:srgbClr val="1F7A64"/>
                </a:solidFill>
              </a:rPr>
              <a:t>생각해 볼까?</a:t>
            </a:r>
            <a:endParaRPr lang="en-US" sz="1800" dirty="0"/>
          </a:p>
        </p:txBody>
      </p:sp>
      <p:sp>
        <p:nvSpPr>
          <p:cNvPr id="8" name="Text 5"/>
          <p:cNvSpPr txBox="1"/>
          <p:nvPr/>
        </p:nvSpPr>
        <p:spPr>
          <a:xfrm>
            <a:off x="3017520" y="2697480"/>
            <a:ext cx="7498080" cy="2011680"/>
          </a:xfrm>
          <a:prstGeom prst="rect">
            <a:avLst/>
          </a:prstGeom>
          <a:noFill/>
          <a:ln/>
        </p:spPr>
        <p:txBody>
          <a:bodyPr wrap="square" lIns="0" tIns="0" rIns="0" bIns="0" rtlCol="0" anchor="t">
            <a:normAutofit/>
          </a:bodyPr>
          <a:lstStyle/>
          <a:p>
            <a:pPr indent="0" marL="0">
              <a:buNone/>
            </a:pPr>
            <a:r>
              <a:rPr lang="en-US" sz="2800" b="1" dirty="0">
                <a:solidFill>
                  <a:srgbClr val="14453D"/>
                </a:solidFill>
              </a:rPr>
              <a:t>'30달러를 잃는다' vs '20달러를 간직한다', 둘 중 뭐가 더 기분 나빠?</a:t>
            </a:r>
            <a:endParaRPr lang="en-US" sz="2800" dirty="0"/>
          </a:p>
        </p:txBody>
      </p:sp>
      <p:sp>
        <p:nvSpPr>
          <p:cNvPr id="9" name="Text 6"/>
          <p:cNvSpPr/>
          <p:nvPr/>
        </p:nvSpPr>
        <p:spPr>
          <a:xfrm>
            <a:off x="4251960" y="5349240"/>
            <a:ext cx="3657600" cy="329184"/>
          </a:xfrm>
          <a:prstGeom prst="roundRect">
            <a:avLst>
              <a:gd name="adj" fmla="val 41667"/>
            </a:avLst>
          </a:prstGeom>
          <a:solidFill>
            <a:srgbClr val="EF5B3F"/>
          </a:solidFill>
          <a:ln/>
        </p:spPr>
        <p:txBody>
          <a:bodyPr wrap="square" lIns="0" tIns="0" rIns="0" bIns="0" rtlCol="0" anchor="ctr"/>
          <a:lstStyle/>
          <a:p>
            <a:pPr algn="ctr" indent="0" marL="0">
              <a:buNone/>
            </a:pPr>
            <a:r>
              <a:rPr lang="en-US" sz="1400" b="1" dirty="0">
                <a:solidFill>
                  <a:srgbClr val="FFFFFF"/>
                </a:solidFill>
              </a:rPr>
              <a:t>짝과 30초 이야기 → 2~3명 발표</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93  </a:t>
            </a:r>
            <a:pPr algn="l" indent="0" marL="0">
              <a:buNone/>
            </a:pPr>
            <a:r>
              <a:rPr lang="en-US" sz="2400" b="1" dirty="0">
                <a:solidFill>
                  <a:srgbClr val="14453D"/>
                </a:solidFill>
              </a:rPr>
              <a:t>(A)·(B)에 들어갈 말로 가장 적절한 것은?</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a:t>
            </a:r>
            <a:endParaRPr lang="en-US" sz="1200" dirty="0"/>
          </a:p>
        </p:txBody>
      </p:sp>
      <p:sp>
        <p:nvSpPr>
          <p:cNvPr id="4" name="Shape 2"/>
          <p:cNvSpPr/>
          <p:nvPr/>
        </p:nvSpPr>
        <p:spPr>
          <a:xfrm>
            <a:off x="548640" y="1234440"/>
            <a:ext cx="11064240" cy="5074920"/>
          </a:xfrm>
          <a:prstGeom prst="roundRect">
            <a:avLst>
              <a:gd name="adj" fmla="val 1802"/>
            </a:avLst>
          </a:prstGeom>
          <a:solidFill>
            <a:srgbClr val="FFFFFF"/>
          </a:solidFill>
          <a:ln w="19050">
            <a:solidFill>
              <a:srgbClr val="E6F2ED"/>
            </a:solidFill>
            <a:prstDash val="solid"/>
          </a:ln>
        </p:spPr>
      </p:sp>
      <p:sp>
        <p:nvSpPr>
          <p:cNvPr id="5" name="Text 3"/>
          <p:cNvSpPr txBox="1"/>
          <p:nvPr/>
        </p:nvSpPr>
        <p:spPr>
          <a:xfrm>
            <a:off x="777240" y="1371600"/>
            <a:ext cx="10607040" cy="4846320"/>
          </a:xfrm>
          <a:prstGeom prst="rect">
            <a:avLst/>
          </a:prstGeom>
          <a:noFill/>
          <a:ln/>
        </p:spPr>
        <p:txBody>
          <a:bodyPr wrap="square" lIns="0" tIns="0" rIns="0" bIns="0" rtlCol="0" anchor="t"/>
          <a:lstStyle/>
          <a:p>
            <a:pPr indent="0" marL="0">
              <a:lnSpc>
                <a:spcPct val="115000"/>
              </a:lnSpc>
              <a:buNone/>
            </a:pPr>
            <a:r>
              <a:rPr lang="en-US" sz="1500" dirty="0">
                <a:solidFill>
                  <a:srgbClr val="1E2B2A"/>
                </a:solidFill>
              </a:rPr>
              <a:t>In 2006, Benedetto De Martino conducted a famous psychology experiment.</a:t>
            </a:r>
            <a:pPr indent="0" marL="0">
              <a:lnSpc>
                <a:spcPct val="115000"/>
              </a:lnSpc>
              <a:buNone/>
            </a:pPr>
            <a:r>
              <a:rPr lang="en-US" sz="1500" dirty="0">
                <a:solidFill>
                  <a:srgbClr val="000000"/>
                </a:solidFill>
              </a:rPr>
              <a:t> </a:t>
            </a:r>
            <a:pPr indent="0" marL="0">
              <a:lnSpc>
                <a:spcPct val="115000"/>
              </a:lnSpc>
              <a:buNone/>
            </a:pPr>
            <a:r>
              <a:rPr lang="en-US" sz="1500" dirty="0">
                <a:solidFill>
                  <a:srgbClr val="1E2B2A"/>
                </a:solidFill>
              </a:rPr>
              <a:t>The participants were each given $50 and separated into two groups—group A and B.</a:t>
            </a:r>
            <a:pPr indent="0" marL="0">
              <a:lnSpc>
                <a:spcPct val="115000"/>
              </a:lnSpc>
              <a:buNone/>
            </a:pPr>
            <a:r>
              <a:rPr lang="en-US" sz="1500" dirty="0">
                <a:solidFill>
                  <a:srgbClr val="000000"/>
                </a:solidFill>
              </a:rPr>
              <a:t> </a:t>
            </a:r>
            <a:pPr indent="0" marL="0">
              <a:lnSpc>
                <a:spcPct val="115000"/>
              </a:lnSpc>
              <a:buNone/>
            </a:pPr>
            <a:r>
              <a:rPr lang="en-US" sz="1500" dirty="0">
                <a:solidFill>
                  <a:srgbClr val="1E2B2A"/>
                </a:solidFill>
              </a:rPr>
              <a:t>Group A was given two (a) </a:t>
            </a:r>
            <a:pPr indent="0" marL="0">
              <a:lnSpc>
                <a:spcPct val="115000"/>
              </a:lnSpc>
              <a:buNone/>
            </a:pPr>
            <a:r>
              <a:rPr lang="en-US" sz="1500" b="1" u="sng" dirty="0">
                <a:solidFill>
                  <a:srgbClr val="1E2B2A"/>
                </a:solidFill>
              </a:rPr>
              <a:t>options</a:t>
            </a:r>
            <a:pPr indent="0" marL="0">
              <a:lnSpc>
                <a:spcPct val="115000"/>
              </a:lnSpc>
              <a:buNone/>
            </a:pPr>
            <a:r>
              <a:rPr lang="en-US" sz="1500" dirty="0">
                <a:solidFill>
                  <a:srgbClr val="1E2B2A"/>
                </a:solidFill>
              </a:rPr>
              <a:t>, “You can either gamble with that money or lose $30 of it.”</a:t>
            </a:r>
            <a:pPr indent="0" marL="0">
              <a:lnSpc>
                <a:spcPct val="115000"/>
              </a:lnSpc>
              <a:buNone/>
            </a:pPr>
            <a:r>
              <a:rPr lang="en-US" sz="1500" dirty="0">
                <a:solidFill>
                  <a:srgbClr val="000000"/>
                </a:solidFill>
              </a:rPr>
              <a:t> </a:t>
            </a:r>
            <a:pPr indent="0" marL="0">
              <a:lnSpc>
                <a:spcPct val="115000"/>
              </a:lnSpc>
              <a:buNone/>
            </a:pPr>
            <a:r>
              <a:rPr lang="en-US" sz="1500" dirty="0">
                <a:solidFill>
                  <a:srgbClr val="1E2B2A"/>
                </a:solidFill>
              </a:rPr>
              <a:t>Group B was also given two options: “You can either gamble with that money or keep $20 of it.”</a:t>
            </a:r>
            <a:pPr indent="0" marL="0">
              <a:lnSpc>
                <a:spcPct val="115000"/>
              </a:lnSpc>
              <a:buNone/>
            </a:pPr>
            <a:r>
              <a:rPr lang="en-US" sz="1500" dirty="0">
                <a:solidFill>
                  <a:srgbClr val="000000"/>
                </a:solidFill>
              </a:rPr>
              <a:t> </a:t>
            </a:r>
            <a:pPr indent="0" marL="0">
              <a:lnSpc>
                <a:spcPct val="115000"/>
              </a:lnSpc>
              <a:buNone/>
            </a:pPr>
            <a:r>
              <a:rPr lang="en-US" sz="1500" dirty="0">
                <a:solidFill>
                  <a:srgbClr val="1E2B2A"/>
                </a:solidFill>
              </a:rPr>
              <a:t>Having heard these options, 61.9% of participants in group A chose to gamble, while only 42.9% of participants in group B chose to gamble.</a:t>
            </a:r>
            <a:pPr indent="0" marL="0">
              <a:lnSpc>
                <a:spcPct val="115000"/>
              </a:lnSpc>
              <a:buNone/>
            </a:pPr>
            <a:r>
              <a:rPr lang="en-US" sz="1500" dirty="0">
                <a:solidFill>
                  <a:srgbClr val="000000"/>
                </a:solidFill>
              </a:rPr>
              <a:t> </a:t>
            </a:r>
            <a:pPr indent="0" marL="0">
              <a:lnSpc>
                <a:spcPct val="115000"/>
              </a:lnSpc>
              <a:buNone/>
            </a:pPr>
            <a:r>
              <a:rPr lang="en-US" sz="1500" dirty="0">
                <a:solidFill>
                  <a:srgbClr val="1E2B2A"/>
                </a:solidFill>
              </a:rPr>
              <a:t>As you may have noticed, the two groups were given options that actually led to an identical outcome.</a:t>
            </a:r>
            <a:pPr indent="0" marL="0">
              <a:lnSpc>
                <a:spcPct val="115000"/>
              </a:lnSpc>
              <a:buNone/>
            </a:pPr>
            <a:r>
              <a:rPr lang="en-US" sz="1500" dirty="0">
                <a:solidFill>
                  <a:srgbClr val="000000"/>
                </a:solidFill>
              </a:rPr>
              <a:t> </a:t>
            </a:r>
            <a:pPr indent="0" marL="0">
              <a:lnSpc>
                <a:spcPct val="115000"/>
              </a:lnSpc>
              <a:buNone/>
            </a:pPr>
            <a:r>
              <a:rPr lang="en-US" sz="1500" dirty="0">
                <a:solidFill>
                  <a:srgbClr val="1E2B2A"/>
                </a:solidFill>
              </a:rPr>
              <a:t>However, because the choices were framed using two different terms, ‘lose’ versus ‘keep’, the participants came to different decisions.</a:t>
            </a:r>
            <a:pPr indent="0" marL="0">
              <a:lnSpc>
                <a:spcPct val="115000"/>
              </a:lnSpc>
              <a:buNone/>
            </a:pPr>
            <a:r>
              <a:rPr lang="en-US" sz="1500" dirty="0">
                <a:solidFill>
                  <a:srgbClr val="000000"/>
                </a:solidFill>
              </a:rPr>
              <a:t> </a:t>
            </a:r>
            <a:pPr indent="0" marL="0">
              <a:lnSpc>
                <a:spcPct val="115000"/>
              </a:lnSpc>
              <a:buNone/>
            </a:pPr>
            <a:r>
              <a:rPr lang="en-US" sz="1500" dirty="0">
                <a:solidFill>
                  <a:srgbClr val="1E2B2A"/>
                </a:solidFill>
              </a:rPr>
              <a:t>(b) </a:t>
            </a:r>
            <a:pPr indent="0" marL="0">
              <a:lnSpc>
                <a:spcPct val="115000"/>
              </a:lnSpc>
              <a:buNone/>
            </a:pPr>
            <a:r>
              <a:rPr lang="en-US" sz="1500" b="1" u="sng" dirty="0">
                <a:solidFill>
                  <a:srgbClr val="1E2B2A"/>
                </a:solidFill>
              </a:rPr>
              <a:t>This</a:t>
            </a:r>
            <a:pPr indent="0" marL="0">
              <a:lnSpc>
                <a:spcPct val="115000"/>
              </a:lnSpc>
              <a:buNone/>
            </a:pPr>
            <a:r>
              <a:rPr lang="en-US" sz="1500" dirty="0">
                <a:solidFill>
                  <a:srgbClr val="1E2B2A"/>
                </a:solidFill>
              </a:rPr>
              <a:t> is called the “framing effect”.</a:t>
            </a:r>
            <a:pPr indent="0" marL="0">
              <a:lnSpc>
                <a:spcPct val="115000"/>
              </a:lnSpc>
              <a:buNone/>
            </a:pPr>
            <a:r>
              <a:rPr lang="en-US" sz="1500" dirty="0">
                <a:solidFill>
                  <a:srgbClr val="000000"/>
                </a:solidFill>
              </a:rPr>
              <a:t> </a:t>
            </a:r>
            <a:pPr indent="0" marL="0">
              <a:lnSpc>
                <a:spcPct val="115000"/>
              </a:lnSpc>
              <a:buNone/>
            </a:pPr>
            <a:r>
              <a:rPr lang="en-US" sz="1500" dirty="0">
                <a:solidFill>
                  <a:srgbClr val="1E2B2A"/>
                </a:solidFill>
              </a:rPr>
              <a:t>Using words that make people think of a negative outcome will yield different behavioral results than using words that make them think of a positive outcome.</a:t>
            </a:r>
            <a:endParaRPr lang="en-US" sz="1500" dirty="0"/>
          </a:p>
          <a:p>
            <a:pPr algn="r" indent="0" marL="0">
              <a:lnSpc>
                <a:spcPct val="115000"/>
              </a:lnSpc>
              <a:spcBef>
                <a:spcPts val="200"/>
              </a:spcBef>
              <a:buNone/>
            </a:pPr>
            <a:r>
              <a:rPr lang="en-US" sz="1100" i="1" dirty="0">
                <a:solidFill>
                  <a:srgbClr val="6E7F7C"/>
                </a:solidFill>
              </a:rPr>
              <a:t>*frame (특정한 방식으로) 표현하다</a:t>
            </a:r>
            <a:endParaRPr lang="en-US" sz="1500" dirty="0"/>
          </a:p>
          <a:p>
            <a:pPr indent="0" marL="0">
              <a:lnSpc>
                <a:spcPct val="115000"/>
              </a:lnSpc>
              <a:spcBef>
                <a:spcPts val="800"/>
              </a:spcBef>
              <a:buNone/>
            </a:pPr>
            <a:r>
              <a:rPr lang="en-US" sz="1500" b="1" dirty="0">
                <a:solidFill>
                  <a:srgbClr val="1F7A64"/>
                </a:solidFill>
              </a:rPr>
              <a:t>↓  </a:t>
            </a:r>
            <a:pPr indent="0" marL="0">
              <a:lnSpc>
                <a:spcPct val="115000"/>
              </a:lnSpc>
              <a:buNone/>
            </a:pPr>
            <a:r>
              <a:rPr lang="en-US" sz="1500" dirty="0">
                <a:solidFill>
                  <a:srgbClr val="14453D"/>
                </a:solidFill>
              </a:rPr>
              <a:t>When people face a </a:t>
            </a:r>
            <a:pPr indent="0" marL="0">
              <a:lnSpc>
                <a:spcPct val="115000"/>
              </a:lnSpc>
              <a:buNone/>
            </a:pPr>
            <a:r>
              <a:rPr lang="en-US" sz="1500" b="1" dirty="0">
                <a:solidFill>
                  <a:srgbClr val="EF5B3F"/>
                </a:solidFill>
              </a:rPr>
              <a:t>(A)</a:t>
            </a:r>
            <a:pPr indent="0" marL="0">
              <a:lnSpc>
                <a:spcPct val="115000"/>
              </a:lnSpc>
              <a:buNone/>
            </a:pPr>
            <a:r>
              <a:rPr lang="en-US" sz="1500" dirty="0">
                <a:solidFill>
                  <a:srgbClr val="14453D"/>
                </a:solidFill>
              </a:rPr>
              <a:t> situation, they are not likely to choose an option that makes them expect a possible </a:t>
            </a:r>
            <a:pPr indent="0" marL="0">
              <a:lnSpc>
                <a:spcPct val="115000"/>
              </a:lnSpc>
              <a:buNone/>
            </a:pPr>
            <a:r>
              <a:rPr lang="en-US" sz="1500" b="1" dirty="0">
                <a:solidFill>
                  <a:srgbClr val="EF5B3F"/>
                </a:solidFill>
              </a:rPr>
              <a:t>(B)</a:t>
            </a:r>
            <a:pPr indent="0" marL="0">
              <a:lnSpc>
                <a:spcPct val="115000"/>
              </a:lnSpc>
              <a:buNone/>
            </a:pPr>
            <a:r>
              <a:rPr lang="en-US" sz="1500" dirty="0">
                <a:solidFill>
                  <a:srgbClr val="14453D"/>
                </a:solidFill>
              </a:rPr>
              <a:t>.</a:t>
            </a:r>
            <a:endParaRPr lang="en-US" sz="1500" dirty="0"/>
          </a:p>
          <a:p>
            <a:pPr indent="0" marL="0">
              <a:lnSpc>
                <a:spcPct val="115000"/>
              </a:lnSpc>
              <a:spcBef>
                <a:spcPts val="1000"/>
              </a:spcBef>
              <a:buNone/>
            </a:pPr>
            <a:r>
              <a:rPr lang="en-US" sz="1500" dirty="0">
                <a:solidFill>
                  <a:srgbClr val="14453D"/>
                </a:solidFill>
              </a:rPr>
              <a:t>①  profit-sharing ----- trade</a:t>
            </a:r>
            <a:endParaRPr lang="en-US" sz="1500" dirty="0"/>
          </a:p>
          <a:p>
            <a:pPr indent="0" marL="0">
              <a:lnSpc>
                <a:spcPct val="115000"/>
              </a:lnSpc>
              <a:spcBef>
                <a:spcPts val="200"/>
              </a:spcBef>
              <a:buNone/>
            </a:pPr>
            <a:r>
              <a:rPr lang="en-US" sz="1500" dirty="0">
                <a:solidFill>
                  <a:srgbClr val="14453D"/>
                </a:solidFill>
              </a:rPr>
              <a:t>②  life-threatening ----- profit</a:t>
            </a:r>
            <a:endParaRPr lang="en-US" sz="1500" dirty="0"/>
          </a:p>
          <a:p>
            <a:pPr indent="0" marL="0">
              <a:lnSpc>
                <a:spcPct val="115000"/>
              </a:lnSpc>
              <a:spcBef>
                <a:spcPts val="200"/>
              </a:spcBef>
              <a:buNone/>
            </a:pPr>
            <a:r>
              <a:rPr lang="en-US" sz="1500" dirty="0">
                <a:solidFill>
                  <a:srgbClr val="14453D"/>
                </a:solidFill>
              </a:rPr>
              <a:t>③  life-threatening ----- loss</a:t>
            </a:r>
            <a:endParaRPr lang="en-US" sz="1500" dirty="0"/>
          </a:p>
          <a:p>
            <a:pPr indent="0" marL="0">
              <a:lnSpc>
                <a:spcPct val="115000"/>
              </a:lnSpc>
              <a:spcBef>
                <a:spcPts val="200"/>
              </a:spcBef>
              <a:buNone/>
            </a:pPr>
            <a:r>
              <a:rPr lang="en-US" sz="1500" dirty="0">
                <a:solidFill>
                  <a:srgbClr val="14453D"/>
                </a:solidFill>
              </a:rPr>
              <a:t>④  decision-making ----- profit</a:t>
            </a:r>
            <a:endParaRPr lang="en-US" sz="1500" dirty="0"/>
          </a:p>
          <a:p>
            <a:pPr indent="0" marL="0">
              <a:lnSpc>
                <a:spcPct val="115000"/>
              </a:lnSpc>
              <a:spcBef>
                <a:spcPts val="200"/>
              </a:spcBef>
              <a:buNone/>
            </a:pPr>
            <a:r>
              <a:rPr lang="en-US" sz="1500" dirty="0">
                <a:solidFill>
                  <a:srgbClr val="14453D"/>
                </a:solidFill>
              </a:rPr>
              <a:t>⑤  decision-making ----- loss</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93  </a:t>
            </a:r>
            <a:pPr algn="l" indent="0" marL="0">
              <a:buNone/>
            </a:pPr>
            <a:r>
              <a:rPr lang="en-US" sz="3000" b="1" dirty="0">
                <a:solidFill>
                  <a:srgbClr val="14453D"/>
                </a:solidFill>
              </a:rPr>
              <a:t>정답 근거 &amp; 문법 포인트</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근거</a:t>
            </a:r>
            <a:endParaRPr lang="en-US" sz="1200" dirty="0"/>
          </a:p>
        </p:txBody>
      </p:sp>
      <p:sp>
        <p:nvSpPr>
          <p:cNvPr id="4" name="Shape 2"/>
          <p:cNvSpPr/>
          <p:nvPr/>
        </p:nvSpPr>
        <p:spPr>
          <a:xfrm>
            <a:off x="548640" y="1234440"/>
            <a:ext cx="11064240" cy="2907792"/>
          </a:xfrm>
          <a:prstGeom prst="roundRect">
            <a:avLst>
              <a:gd name="adj" fmla="val 3145"/>
            </a:avLst>
          </a:prstGeom>
          <a:solidFill>
            <a:srgbClr val="FFFFFF"/>
          </a:solidFill>
          <a:ln w="19050">
            <a:solidFill>
              <a:srgbClr val="E6F2ED"/>
            </a:solidFill>
            <a:prstDash val="solid"/>
          </a:ln>
        </p:spPr>
      </p:sp>
      <p:sp>
        <p:nvSpPr>
          <p:cNvPr id="5" name="Text 3"/>
          <p:cNvSpPr txBox="1"/>
          <p:nvPr/>
        </p:nvSpPr>
        <p:spPr>
          <a:xfrm>
            <a:off x="777240" y="1371600"/>
            <a:ext cx="10607040" cy="2679192"/>
          </a:xfrm>
          <a:prstGeom prst="rect">
            <a:avLst/>
          </a:prstGeom>
          <a:noFill/>
          <a:ln/>
        </p:spPr>
        <p:txBody>
          <a:bodyPr wrap="square" lIns="0" tIns="0" rIns="0" bIns="0" rtlCol="0" anchor="t">
            <a:normAutofit/>
          </a:bodyPr>
          <a:lstStyle/>
          <a:p>
            <a:pPr indent="0" marL="0">
              <a:lnSpc>
                <a:spcPct val="120000"/>
              </a:lnSpc>
              <a:buNone/>
            </a:pPr>
            <a:r>
              <a:rPr lang="en-US" sz="1200" b="1" dirty="0">
                <a:solidFill>
                  <a:srgbClr val="1F7A64"/>
                </a:solidFill>
              </a:rPr>
              <a:t>(1) </a:t>
            </a:r>
            <a:pPr indent="0" marL="0">
              <a:lnSpc>
                <a:spcPct val="120000"/>
              </a:lnSpc>
              <a:buNone/>
            </a:pPr>
            <a:r>
              <a:rPr lang="en-US" sz="1500" dirty="0">
                <a:solidFill>
                  <a:srgbClr val="1E2B2A"/>
                </a:solidFill>
              </a:rPr>
              <a:t>In 2006, Benedetto De Martino </a:t>
            </a:r>
            <a:pPr indent="0" marL="0">
              <a:lnSpc>
                <a:spcPct val="120000"/>
              </a:lnSpc>
              <a:buNone/>
            </a:pPr>
            <a:r>
              <a:rPr lang="en-US" sz="1500" u="dotted" dirty="0">
                <a:solidFill>
                  <a:srgbClr val="1F7A64"/>
                </a:solidFill>
                <a:uFill>
                  <a:solidFill>
                    <a:srgbClr val="1F7A64"/>
                  </a:solidFill>
                </a:uFill>
              </a:rPr>
              <a:t>conducted</a:t>
            </a:r>
            <a:pPr indent="0" marL="0">
              <a:lnSpc>
                <a:spcPct val="120000"/>
              </a:lnSpc>
              <a:buNone/>
            </a:pPr>
            <a:r>
              <a:rPr lang="en-US" sz="1500" dirty="0">
                <a:solidFill>
                  <a:srgbClr val="1E2B2A"/>
                </a:solidFill>
              </a:rPr>
              <a:t> a famous psychology experiment.</a:t>
            </a:r>
            <a:pPr indent="0" marL="0">
              <a:lnSpc>
                <a:spcPct val="120000"/>
              </a:lnSpc>
              <a:buNone/>
            </a:pPr>
            <a:r>
              <a:rPr lang="en-US" sz="1500" dirty="0">
                <a:solidFill>
                  <a:srgbClr val="000000"/>
                </a:solidFill>
              </a:rPr>
              <a:t> </a:t>
            </a:r>
            <a:pPr indent="0" marL="0">
              <a:lnSpc>
                <a:spcPct val="120000"/>
              </a:lnSpc>
              <a:buNone/>
            </a:pPr>
            <a:r>
              <a:rPr lang="en-US" sz="1200" b="1" dirty="0">
                <a:solidFill>
                  <a:srgbClr val="1F7A64"/>
                </a:solidFill>
              </a:rPr>
              <a:t>(2) </a:t>
            </a:r>
            <a:pPr indent="0" marL="0">
              <a:lnSpc>
                <a:spcPct val="120000"/>
              </a:lnSpc>
              <a:buNone/>
            </a:pPr>
            <a:r>
              <a:rPr lang="en-US" sz="1500" dirty="0">
                <a:solidFill>
                  <a:srgbClr val="1E2B2A"/>
                </a:solidFill>
              </a:rPr>
              <a:t>The </a:t>
            </a:r>
            <a:pPr indent="0" marL="0">
              <a:lnSpc>
                <a:spcPct val="120000"/>
              </a:lnSpc>
              <a:buNone/>
            </a:pPr>
            <a:r>
              <a:rPr lang="en-US" sz="1500" u="dotted" dirty="0">
                <a:solidFill>
                  <a:srgbClr val="1F7A64"/>
                </a:solidFill>
                <a:uFill>
                  <a:solidFill>
                    <a:srgbClr val="1F7A64"/>
                  </a:solidFill>
                </a:uFill>
              </a:rPr>
              <a:t>participants</a:t>
            </a:r>
            <a:pPr indent="0" marL="0">
              <a:lnSpc>
                <a:spcPct val="120000"/>
              </a:lnSpc>
              <a:buNone/>
            </a:pPr>
            <a:r>
              <a:rPr lang="en-US" sz="1500" dirty="0">
                <a:solidFill>
                  <a:srgbClr val="1E2B2A"/>
                </a:solidFill>
              </a:rPr>
              <a:t> </a:t>
            </a:r>
            <a:pPr indent="0" marL="0">
              <a:lnSpc>
                <a:spcPct val="120000"/>
              </a:lnSpc>
              <a:buNone/>
            </a:pPr>
            <a:r>
              <a:rPr lang="en-US" sz="1500" b="1" dirty="0">
                <a:solidFill>
                  <a:srgbClr val="14453D"/>
                </a:solidFill>
                <a:highlight>
                  <a:srgbClr val="A9DDF3"/>
                </a:highlight>
              </a:rPr>
              <a:t>were each given $50 and separated into</a:t>
            </a:r>
            <a:pPr indent="0" marL="0">
              <a:lnSpc>
                <a:spcPct val="120000"/>
              </a:lnSpc>
              <a:buNone/>
            </a:pPr>
            <a:r>
              <a:rPr lang="en-US" sz="1500" dirty="0">
                <a:solidFill>
                  <a:srgbClr val="1E2B2A"/>
                </a:solidFill>
              </a:rPr>
              <a:t> two groups—group A and B.</a:t>
            </a:r>
            <a:pPr indent="0" marL="0">
              <a:lnSpc>
                <a:spcPct val="120000"/>
              </a:lnSpc>
              <a:buNone/>
            </a:pPr>
            <a:r>
              <a:rPr lang="en-US" sz="1500" dirty="0">
                <a:solidFill>
                  <a:srgbClr val="000000"/>
                </a:solidFill>
              </a:rPr>
              <a:t> </a:t>
            </a:r>
            <a:pPr indent="0" marL="0">
              <a:lnSpc>
                <a:spcPct val="120000"/>
              </a:lnSpc>
              <a:buNone/>
            </a:pPr>
            <a:r>
              <a:rPr lang="en-US" sz="1200" b="1" dirty="0">
                <a:solidFill>
                  <a:srgbClr val="1F7A64"/>
                </a:solidFill>
              </a:rPr>
              <a:t>(3) </a:t>
            </a:r>
            <a:pPr indent="0" marL="0">
              <a:lnSpc>
                <a:spcPct val="120000"/>
              </a:lnSpc>
              <a:buNone/>
            </a:pPr>
            <a:r>
              <a:rPr lang="en-US" sz="1500" dirty="0">
                <a:solidFill>
                  <a:srgbClr val="1E2B2A"/>
                </a:solidFill>
              </a:rPr>
              <a:t>Group A was given two (a) </a:t>
            </a:r>
            <a:pPr indent="0" marL="0">
              <a:lnSpc>
                <a:spcPct val="120000"/>
              </a:lnSpc>
              <a:buNone/>
            </a:pPr>
            <a:r>
              <a:rPr lang="en-US" sz="1500" b="1" u="sng" dirty="0">
                <a:solidFill>
                  <a:srgbClr val="1E2B2A"/>
                </a:solidFill>
              </a:rPr>
              <a:t>options</a:t>
            </a:r>
            <a:pPr indent="0" marL="0">
              <a:lnSpc>
                <a:spcPct val="120000"/>
              </a:lnSpc>
              <a:buNone/>
            </a:pPr>
            <a:r>
              <a:rPr lang="en-US" sz="1500" dirty="0">
                <a:solidFill>
                  <a:srgbClr val="1E2B2A"/>
                </a:solidFill>
              </a:rPr>
              <a:t>, “You can either </a:t>
            </a:r>
            <a:pPr indent="0" marL="0">
              <a:lnSpc>
                <a:spcPct val="120000"/>
              </a:lnSpc>
              <a:buNone/>
            </a:pPr>
            <a:r>
              <a:rPr lang="en-US" sz="1500" u="dotted" dirty="0">
                <a:solidFill>
                  <a:srgbClr val="1F7A64"/>
                </a:solidFill>
                <a:uFill>
                  <a:solidFill>
                    <a:srgbClr val="1F7A64"/>
                  </a:solidFill>
                </a:uFill>
              </a:rPr>
              <a:t>gamble</a:t>
            </a:r>
            <a:pPr indent="0" marL="0">
              <a:lnSpc>
                <a:spcPct val="120000"/>
              </a:lnSpc>
              <a:buNone/>
            </a:pPr>
            <a:r>
              <a:rPr lang="en-US" sz="1500" dirty="0">
                <a:solidFill>
                  <a:srgbClr val="1E2B2A"/>
                </a:solidFill>
              </a:rPr>
              <a:t> with that money or lose $30 of it.”</a:t>
            </a:r>
            <a:pPr indent="0" marL="0">
              <a:lnSpc>
                <a:spcPct val="120000"/>
              </a:lnSpc>
              <a:buNone/>
            </a:pPr>
            <a:r>
              <a:rPr lang="en-US" sz="1500" dirty="0">
                <a:solidFill>
                  <a:srgbClr val="000000"/>
                </a:solidFill>
              </a:rPr>
              <a:t> </a:t>
            </a:r>
            <a:pPr indent="0" marL="0">
              <a:lnSpc>
                <a:spcPct val="120000"/>
              </a:lnSpc>
              <a:buNone/>
            </a:pPr>
            <a:r>
              <a:rPr lang="en-US" sz="1200" b="1" dirty="0">
                <a:solidFill>
                  <a:srgbClr val="1F7A64"/>
                </a:solidFill>
              </a:rPr>
              <a:t>(4) </a:t>
            </a:r>
            <a:pPr indent="0" marL="0">
              <a:lnSpc>
                <a:spcPct val="120000"/>
              </a:lnSpc>
              <a:buNone/>
            </a:pPr>
            <a:r>
              <a:rPr lang="en-US" sz="1500" dirty="0">
                <a:solidFill>
                  <a:srgbClr val="1E2B2A"/>
                </a:solidFill>
              </a:rPr>
              <a:t>Group B was also given two options: “You can either gamble with that money or keep $20 of it.”</a:t>
            </a:r>
            <a:pPr indent="0" marL="0">
              <a:lnSpc>
                <a:spcPct val="120000"/>
              </a:lnSpc>
              <a:buNone/>
            </a:pPr>
            <a:r>
              <a:rPr lang="en-US" sz="1500" dirty="0">
                <a:solidFill>
                  <a:srgbClr val="000000"/>
                </a:solidFill>
              </a:rPr>
              <a:t> </a:t>
            </a:r>
            <a:pPr indent="0" marL="0">
              <a:lnSpc>
                <a:spcPct val="120000"/>
              </a:lnSpc>
              <a:buNone/>
            </a:pPr>
            <a:r>
              <a:rPr lang="en-US" sz="1200" b="1" dirty="0">
                <a:solidFill>
                  <a:srgbClr val="1F7A64"/>
                </a:solidFill>
              </a:rPr>
              <a:t>(5) </a:t>
            </a:r>
            <a:pPr indent="0" marL="0">
              <a:lnSpc>
                <a:spcPct val="120000"/>
              </a:lnSpc>
              <a:buNone/>
            </a:pPr>
            <a:r>
              <a:rPr lang="en-US" sz="1500" b="1" dirty="0">
                <a:solidFill>
                  <a:srgbClr val="14453D"/>
                </a:solidFill>
                <a:highlight>
                  <a:srgbClr val="A9DDF3"/>
                </a:highlight>
              </a:rPr>
              <a:t>Having heard these options</a:t>
            </a:r>
            <a:pPr indent="0" marL="0">
              <a:lnSpc>
                <a:spcPct val="120000"/>
              </a:lnSpc>
              <a:buNone/>
            </a:pPr>
            <a:r>
              <a:rPr lang="en-US" sz="1500" dirty="0">
                <a:solidFill>
                  <a:srgbClr val="1E2B2A"/>
                </a:solidFill>
                <a:highlight>
                  <a:srgbClr val="FFD45C"/>
                </a:highlight>
              </a:rPr>
              <a:t>, 61.9% of participants in group A chose to gamble, while only 42.9% of participants in group B chose to gamble.</a:t>
            </a:r>
            <a:pPr indent="0" marL="0">
              <a:lnSpc>
                <a:spcPct val="120000"/>
              </a:lnSpc>
              <a:buNone/>
            </a:pPr>
            <a:r>
              <a:rPr lang="en-US" sz="1500" dirty="0">
                <a:solidFill>
                  <a:srgbClr val="000000"/>
                </a:solidFill>
              </a:rPr>
              <a:t> </a:t>
            </a:r>
            <a:pPr indent="0" marL="0">
              <a:lnSpc>
                <a:spcPct val="120000"/>
              </a:lnSpc>
              <a:buNone/>
            </a:pPr>
            <a:r>
              <a:rPr lang="en-US" sz="1200" b="1" dirty="0">
                <a:solidFill>
                  <a:srgbClr val="1F7A64"/>
                </a:solidFill>
              </a:rPr>
              <a:t>(6) </a:t>
            </a:r>
            <a:pPr indent="0" marL="0">
              <a:lnSpc>
                <a:spcPct val="120000"/>
              </a:lnSpc>
              <a:buNone/>
            </a:pPr>
            <a:r>
              <a:rPr lang="en-US" sz="1500" dirty="0">
                <a:solidFill>
                  <a:srgbClr val="1E2B2A"/>
                </a:solidFill>
              </a:rPr>
              <a:t>As you may have noticed, the two groups were given </a:t>
            </a:r>
            <a:pPr indent="0" marL="0">
              <a:lnSpc>
                <a:spcPct val="120000"/>
              </a:lnSpc>
              <a:buNone/>
            </a:pPr>
            <a:r>
              <a:rPr lang="en-US" sz="1500" b="1" dirty="0">
                <a:solidFill>
                  <a:srgbClr val="14453D"/>
                </a:solidFill>
                <a:highlight>
                  <a:srgbClr val="A9DDF3"/>
                </a:highlight>
              </a:rPr>
              <a:t>options that actually led to an </a:t>
            </a:r>
            <a:pPr indent="0" marL="0">
              <a:lnSpc>
                <a:spcPct val="120000"/>
              </a:lnSpc>
              <a:buNone/>
            </a:pPr>
            <a:r>
              <a:rPr lang="en-US" sz="1500" b="1" u="dotted" dirty="0">
                <a:solidFill>
                  <a:srgbClr val="14453D"/>
                </a:solidFill>
                <a:highlight>
                  <a:srgbClr val="A9DDF3"/>
                </a:highlight>
                <a:uFill>
                  <a:solidFill>
                    <a:srgbClr val="1F7A64"/>
                  </a:solidFill>
                </a:uFill>
              </a:rPr>
              <a:t>identical</a:t>
            </a:r>
            <a:pPr indent="0" marL="0">
              <a:lnSpc>
                <a:spcPct val="120000"/>
              </a:lnSpc>
              <a:buNone/>
            </a:pPr>
            <a:r>
              <a:rPr lang="en-US" sz="1500" b="1" dirty="0">
                <a:solidFill>
                  <a:srgbClr val="14453D"/>
                </a:solidFill>
                <a:highlight>
                  <a:srgbClr val="A9DDF3"/>
                </a:highlight>
              </a:rPr>
              <a:t> </a:t>
            </a:r>
            <a:pPr indent="0" marL="0">
              <a:lnSpc>
                <a:spcPct val="120000"/>
              </a:lnSpc>
              <a:buNone/>
            </a:pPr>
            <a:r>
              <a:rPr lang="en-US" sz="1500" b="1" u="dotted" dirty="0">
                <a:solidFill>
                  <a:srgbClr val="14453D"/>
                </a:solidFill>
                <a:highlight>
                  <a:srgbClr val="A9DDF3"/>
                </a:highlight>
                <a:uFill>
                  <a:solidFill>
                    <a:srgbClr val="1F7A64"/>
                  </a:solidFill>
                </a:uFill>
              </a:rPr>
              <a:t>outcome</a:t>
            </a:r>
            <a:pPr indent="0" marL="0">
              <a:lnSpc>
                <a:spcPct val="120000"/>
              </a:lnSpc>
              <a:buNone/>
            </a:pPr>
            <a:r>
              <a:rPr lang="en-US" sz="1500" dirty="0">
                <a:solidFill>
                  <a:srgbClr val="1E2B2A"/>
                </a:solidFill>
              </a:rPr>
              <a:t>.</a:t>
            </a:r>
            <a:pPr indent="0" marL="0">
              <a:lnSpc>
                <a:spcPct val="120000"/>
              </a:lnSpc>
              <a:buNone/>
            </a:pPr>
            <a:r>
              <a:rPr lang="en-US" sz="1500" dirty="0">
                <a:solidFill>
                  <a:srgbClr val="000000"/>
                </a:solidFill>
              </a:rPr>
              <a:t> </a:t>
            </a:r>
            <a:pPr indent="0" marL="0">
              <a:lnSpc>
                <a:spcPct val="120000"/>
              </a:lnSpc>
              <a:buNone/>
            </a:pPr>
            <a:r>
              <a:rPr lang="en-US" sz="1200" b="1" dirty="0">
                <a:solidFill>
                  <a:srgbClr val="1F7A64"/>
                </a:solidFill>
              </a:rPr>
              <a:t>(7) </a:t>
            </a:r>
            <a:pPr indent="0" marL="0">
              <a:lnSpc>
                <a:spcPct val="120000"/>
              </a:lnSpc>
              <a:buNone/>
            </a:pPr>
            <a:r>
              <a:rPr lang="en-US" sz="1500" dirty="0">
                <a:solidFill>
                  <a:srgbClr val="1E2B2A"/>
                </a:solidFill>
                <a:highlight>
                  <a:srgbClr val="FFD45C"/>
                </a:highlight>
              </a:rPr>
              <a:t>However, because the choices were framed using two different terms, ‘lose’ versus ‘keep’, the participants came to different decisions.</a:t>
            </a:r>
            <a:pPr indent="0" marL="0">
              <a:lnSpc>
                <a:spcPct val="120000"/>
              </a:lnSpc>
              <a:buNone/>
            </a:pPr>
            <a:r>
              <a:rPr lang="en-US" sz="1500" dirty="0">
                <a:solidFill>
                  <a:srgbClr val="000000"/>
                </a:solidFill>
              </a:rPr>
              <a:t> </a:t>
            </a:r>
            <a:pPr indent="0" marL="0">
              <a:lnSpc>
                <a:spcPct val="120000"/>
              </a:lnSpc>
              <a:buNone/>
            </a:pPr>
            <a:r>
              <a:rPr lang="en-US" sz="1200" b="1" dirty="0">
                <a:solidFill>
                  <a:srgbClr val="1F7A64"/>
                </a:solidFill>
              </a:rPr>
              <a:t>(8) </a:t>
            </a:r>
            <a:pPr indent="0" marL="0">
              <a:lnSpc>
                <a:spcPct val="120000"/>
              </a:lnSpc>
              <a:buNone/>
            </a:pPr>
            <a:r>
              <a:rPr lang="en-US" sz="1500" dirty="0">
                <a:solidFill>
                  <a:srgbClr val="1E2B2A"/>
                </a:solidFill>
              </a:rPr>
              <a:t>(b) </a:t>
            </a:r>
            <a:pPr indent="0" marL="0">
              <a:lnSpc>
                <a:spcPct val="120000"/>
              </a:lnSpc>
              <a:buNone/>
            </a:pPr>
            <a:r>
              <a:rPr lang="en-US" sz="1500" b="1" u="sng" dirty="0">
                <a:solidFill>
                  <a:srgbClr val="1E2B2A"/>
                </a:solidFill>
              </a:rPr>
              <a:t>This</a:t>
            </a:r>
            <a:pPr indent="0" marL="0">
              <a:lnSpc>
                <a:spcPct val="120000"/>
              </a:lnSpc>
              <a:buNone/>
            </a:pPr>
            <a:r>
              <a:rPr lang="en-US" sz="1500" dirty="0">
                <a:solidFill>
                  <a:srgbClr val="1E2B2A"/>
                </a:solidFill>
              </a:rPr>
              <a:t> is called the “framing effect”.</a:t>
            </a:r>
            <a:pPr indent="0" marL="0">
              <a:lnSpc>
                <a:spcPct val="120000"/>
              </a:lnSpc>
              <a:buNone/>
            </a:pPr>
            <a:r>
              <a:rPr lang="en-US" sz="1500" dirty="0">
                <a:solidFill>
                  <a:srgbClr val="000000"/>
                </a:solidFill>
              </a:rPr>
              <a:t> </a:t>
            </a:r>
            <a:pPr indent="0" marL="0">
              <a:lnSpc>
                <a:spcPct val="120000"/>
              </a:lnSpc>
              <a:buNone/>
            </a:pPr>
            <a:r>
              <a:rPr lang="en-US" sz="1200" b="1" dirty="0">
                <a:solidFill>
                  <a:srgbClr val="1F7A64"/>
                </a:solidFill>
              </a:rPr>
              <a:t>(9) </a:t>
            </a:r>
            <a:pPr indent="0" marL="0">
              <a:lnSpc>
                <a:spcPct val="120000"/>
              </a:lnSpc>
              <a:buNone/>
            </a:pPr>
            <a:r>
              <a:rPr lang="en-US" sz="1500" b="1" dirty="0">
                <a:solidFill>
                  <a:srgbClr val="14453D"/>
                </a:solidFill>
                <a:highlight>
                  <a:srgbClr val="A9DDF3"/>
                </a:highlight>
              </a:rPr>
              <a:t>Using words that make people think of a negative outcome will </a:t>
            </a:r>
            <a:pPr indent="0" marL="0">
              <a:lnSpc>
                <a:spcPct val="120000"/>
              </a:lnSpc>
              <a:buNone/>
            </a:pPr>
            <a:r>
              <a:rPr lang="en-US" sz="1500" b="1" u="dotted" dirty="0">
                <a:solidFill>
                  <a:srgbClr val="14453D"/>
                </a:solidFill>
                <a:highlight>
                  <a:srgbClr val="A9DDF3"/>
                </a:highlight>
                <a:uFill>
                  <a:solidFill>
                    <a:srgbClr val="1F7A64"/>
                  </a:solidFill>
                </a:uFill>
              </a:rPr>
              <a:t>yield</a:t>
            </a:r>
            <a:pPr indent="0" marL="0">
              <a:lnSpc>
                <a:spcPct val="120000"/>
              </a:lnSpc>
              <a:buNone/>
            </a:pPr>
            <a:r>
              <a:rPr lang="en-US" sz="1500" dirty="0">
                <a:solidFill>
                  <a:srgbClr val="1E2B2A"/>
                </a:solidFill>
                <a:highlight>
                  <a:srgbClr val="FFD45C"/>
                </a:highlight>
              </a:rPr>
              <a:t> different </a:t>
            </a:r>
            <a:pPr indent="0" marL="0">
              <a:lnSpc>
                <a:spcPct val="120000"/>
              </a:lnSpc>
              <a:buNone/>
            </a:pPr>
            <a:r>
              <a:rPr lang="en-US" sz="1500" u="dotted" dirty="0">
                <a:solidFill>
                  <a:srgbClr val="1F7A64"/>
                </a:solidFill>
                <a:highlight>
                  <a:srgbClr val="FFD45C"/>
                </a:highlight>
                <a:uFill>
                  <a:solidFill>
                    <a:srgbClr val="1F7A64"/>
                  </a:solidFill>
                </a:uFill>
              </a:rPr>
              <a:t>behavioral</a:t>
            </a:r>
            <a:pPr indent="0" marL="0">
              <a:lnSpc>
                <a:spcPct val="120000"/>
              </a:lnSpc>
              <a:buNone/>
            </a:pPr>
            <a:r>
              <a:rPr lang="en-US" sz="1500" dirty="0">
                <a:solidFill>
                  <a:srgbClr val="1E2B2A"/>
                </a:solidFill>
                <a:highlight>
                  <a:srgbClr val="FFD45C"/>
                </a:highlight>
              </a:rPr>
              <a:t> results than using words that make them think of a positive outcome.</a:t>
            </a:r>
            <a:endParaRPr lang="en-US" sz="1200" dirty="0"/>
          </a:p>
        </p:txBody>
      </p:sp>
      <p:sp>
        <p:nvSpPr>
          <p:cNvPr id="6" name="Shape 4"/>
          <p:cNvSpPr/>
          <p:nvPr/>
        </p:nvSpPr>
        <p:spPr>
          <a:xfrm>
            <a:off x="548640" y="4233672"/>
            <a:ext cx="11064240" cy="978408"/>
          </a:xfrm>
          <a:prstGeom prst="roundRect">
            <a:avLst>
              <a:gd name="adj" fmla="val 9346"/>
            </a:avLst>
          </a:prstGeom>
          <a:solidFill>
            <a:srgbClr val="FFF6D6"/>
          </a:solidFill>
          <a:ln w="15875">
            <a:solidFill>
              <a:srgbClr val="FFD45C"/>
            </a:solidFill>
            <a:prstDash val="solid"/>
          </a:ln>
        </p:spPr>
      </p:sp>
      <p:sp>
        <p:nvSpPr>
          <p:cNvPr id="7" name="Text 5"/>
          <p:cNvSpPr txBox="1"/>
          <p:nvPr/>
        </p:nvSpPr>
        <p:spPr>
          <a:xfrm>
            <a:off x="731520" y="4306824"/>
            <a:ext cx="1051560" cy="274320"/>
          </a:xfrm>
          <a:prstGeom prst="rect">
            <a:avLst/>
          </a:prstGeom>
          <a:solidFill>
            <a:srgbClr val="EF5B3F"/>
          </a:solidFill>
          <a:ln/>
        </p:spPr>
        <p:txBody>
          <a:bodyPr wrap="square" lIns="0" tIns="0" rIns="0" bIns="0" rtlCol="0" anchor="ctr"/>
          <a:lstStyle/>
          <a:p>
            <a:pPr algn="ctr" indent="0" marL="0">
              <a:buNone/>
            </a:pPr>
            <a:r>
              <a:rPr lang="en-US" sz="1200" b="1" dirty="0">
                <a:solidFill>
                  <a:srgbClr val="FFFFFF"/>
                </a:solidFill>
              </a:rPr>
              <a:t> 근거 이유 </a:t>
            </a:r>
            <a:endParaRPr lang="en-US" sz="1200" dirty="0"/>
          </a:p>
        </p:txBody>
      </p:sp>
      <p:sp>
        <p:nvSpPr>
          <p:cNvPr id="8" name="Text 6"/>
          <p:cNvSpPr txBox="1"/>
          <p:nvPr/>
        </p:nvSpPr>
        <p:spPr>
          <a:xfrm>
            <a:off x="1920240" y="4279392"/>
            <a:ext cx="9555480" cy="886968"/>
          </a:xfrm>
          <a:prstGeom prst="rect">
            <a:avLst/>
          </a:prstGeom>
          <a:noFill/>
          <a:ln/>
        </p:spPr>
        <p:txBody>
          <a:bodyPr wrap="square" lIns="0" tIns="0" rIns="0" bIns="0" rtlCol="0" anchor="ctr">
            <a:normAutofit/>
          </a:bodyPr>
          <a:lstStyle/>
          <a:p>
            <a:pPr indent="0" marL="0">
              <a:lnSpc>
                <a:spcPct val="105000"/>
              </a:lnSpc>
              <a:buNone/>
            </a:pPr>
            <a:r>
              <a:rPr lang="en-US" sz="1400" b="1" dirty="0">
                <a:solidFill>
                  <a:srgbClr val="EF5B3F"/>
                </a:solidFill>
              </a:rPr>
              <a:t>(5) </a:t>
            </a:r>
            <a:pPr indent="0" marL="0">
              <a:lnSpc>
                <a:spcPct val="105000"/>
              </a:lnSpc>
              <a:buNone/>
            </a:pPr>
            <a:r>
              <a:rPr lang="en-US" sz="1400" dirty="0">
                <a:solidFill>
                  <a:srgbClr val="14453D"/>
                </a:solidFill>
              </a:rPr>
              <a:t>'잃는다'를 들은 A 그룹이 도박을 더 많이 선택 → 손실(loss)을 피하려 함</a:t>
            </a:r>
            <a:endParaRPr lang="en-US" sz="1400" dirty="0"/>
          </a:p>
          <a:p>
            <a:pPr indent="0" marL="0">
              <a:lnSpc>
                <a:spcPct val="105000"/>
              </a:lnSpc>
              <a:buNone/>
            </a:pPr>
            <a:r>
              <a:rPr lang="en-US" sz="1400" b="1" dirty="0">
                <a:solidFill>
                  <a:srgbClr val="EF5B3F"/>
                </a:solidFill>
              </a:rPr>
              <a:t>(7) </a:t>
            </a:r>
            <a:pPr indent="0" marL="0">
              <a:lnSpc>
                <a:spcPct val="105000"/>
              </a:lnSpc>
              <a:buNone/>
            </a:pPr>
            <a:r>
              <a:rPr lang="en-US" sz="1400" dirty="0">
                <a:solidFill>
                  <a:srgbClr val="14453D"/>
                </a:solidFill>
              </a:rPr>
              <a:t>'lose' vs 'keep' 표현 차이로 다른 결정 → (A) decision-making 상황</a:t>
            </a:r>
            <a:endParaRPr lang="en-US" sz="1400" dirty="0"/>
          </a:p>
          <a:p>
            <a:pPr indent="0" marL="0">
              <a:lnSpc>
                <a:spcPct val="105000"/>
              </a:lnSpc>
              <a:buNone/>
            </a:pPr>
            <a:r>
              <a:rPr lang="en-US" sz="1400" b="1" dirty="0">
                <a:solidFill>
                  <a:srgbClr val="EF5B3F"/>
                </a:solidFill>
              </a:rPr>
              <a:t>(9) </a:t>
            </a:r>
            <a:pPr indent="0" marL="0">
              <a:lnSpc>
                <a:spcPct val="105000"/>
              </a:lnSpc>
              <a:buNone/>
            </a:pPr>
            <a:r>
              <a:rPr lang="en-US" sz="1400" dirty="0">
                <a:solidFill>
                  <a:srgbClr val="14453D"/>
                </a:solidFill>
              </a:rPr>
              <a:t>부정적 결과를 떠올리게 하는 말 → (B) loss를 예상하는 선택은 피함</a:t>
            </a:r>
            <a:endParaRPr lang="en-US" sz="1400" dirty="0"/>
          </a:p>
        </p:txBody>
      </p:sp>
      <p:sp>
        <p:nvSpPr>
          <p:cNvPr id="9" name="Shape 7"/>
          <p:cNvSpPr/>
          <p:nvPr/>
        </p:nvSpPr>
        <p:spPr>
          <a:xfrm>
            <a:off x="548640" y="5303520"/>
            <a:ext cx="11064240" cy="731520"/>
          </a:xfrm>
          <a:prstGeom prst="roundRect">
            <a:avLst>
              <a:gd name="adj" fmla="val 12500"/>
            </a:avLst>
          </a:prstGeom>
          <a:solidFill>
            <a:srgbClr val="EAF5EF"/>
          </a:solidFill>
          <a:ln w="12700">
            <a:solidFill>
              <a:srgbClr val="CFE6D9"/>
            </a:solidFill>
            <a:prstDash val="solid"/>
          </a:ln>
        </p:spPr>
      </p:sp>
      <p:sp>
        <p:nvSpPr>
          <p:cNvPr id="10" name="Text 8"/>
          <p:cNvSpPr txBox="1"/>
          <p:nvPr/>
        </p:nvSpPr>
        <p:spPr>
          <a:xfrm>
            <a:off x="731520" y="5349240"/>
            <a:ext cx="10698480" cy="640080"/>
          </a:xfrm>
          <a:prstGeom prst="rect">
            <a:avLst/>
          </a:prstGeom>
          <a:noFill/>
          <a:ln/>
        </p:spPr>
        <p:txBody>
          <a:bodyPr wrap="square" lIns="0" tIns="0" rIns="0" bIns="0" rtlCol="0" anchor="ctr">
            <a:normAutofit/>
          </a:bodyPr>
          <a:lstStyle/>
          <a:p>
            <a:pPr indent="0" marL="0">
              <a:lnSpc>
                <a:spcPct val="110000"/>
              </a:lnSpc>
              <a:buNone/>
            </a:pPr>
            <a:r>
              <a:rPr lang="en-US" sz="1400" b="1" dirty="0">
                <a:solidFill>
                  <a:srgbClr val="FFFFFF"/>
                </a:solidFill>
                <a:highlight>
                  <a:srgbClr val="1F7A64"/>
                </a:highlight>
              </a:rPr>
              <a:t> 어휘 </a:t>
            </a:r>
            <a:pPr indent="0" marL="0">
              <a:lnSpc>
                <a:spcPct val="110000"/>
              </a:lnSpc>
              <a:buNone/>
            </a:pPr>
            <a:r>
              <a:rPr lang="en-US" sz="1400" dirty="0">
                <a:solidFill>
                  <a:srgbClr val="000000"/>
                </a:solidFill>
              </a:rPr>
              <a:t>   </a:t>
            </a:r>
            <a:pPr indent="0" marL="0">
              <a:lnSpc>
                <a:spcPct val="110000"/>
              </a:lnSpc>
              <a:buNone/>
            </a:pPr>
            <a:r>
              <a:rPr lang="en-US" sz="1400" b="1" dirty="0">
                <a:solidFill>
                  <a:srgbClr val="1F7A64"/>
                </a:solidFill>
              </a:rPr>
              <a:t>conducted </a:t>
            </a:r>
            <a:pPr indent="0" marL="0">
              <a:lnSpc>
                <a:spcPct val="110000"/>
              </a:lnSpc>
              <a:buNone/>
            </a:pPr>
            <a:r>
              <a:rPr lang="en-US" sz="1400" dirty="0">
                <a:solidFill>
                  <a:srgbClr val="1E2B2A"/>
                </a:solidFill>
              </a:rPr>
              <a:t>실시했다   ·   </a:t>
            </a:r>
            <a:pPr indent="0" marL="0">
              <a:lnSpc>
                <a:spcPct val="110000"/>
              </a:lnSpc>
              <a:buNone/>
            </a:pPr>
            <a:r>
              <a:rPr lang="en-US" sz="1400" b="1" dirty="0">
                <a:solidFill>
                  <a:srgbClr val="1F7A64"/>
                </a:solidFill>
              </a:rPr>
              <a:t>participants </a:t>
            </a:r>
            <a:pPr indent="0" marL="0">
              <a:lnSpc>
                <a:spcPct val="110000"/>
              </a:lnSpc>
              <a:buNone/>
            </a:pPr>
            <a:r>
              <a:rPr lang="en-US" sz="1400" dirty="0">
                <a:solidFill>
                  <a:srgbClr val="1E2B2A"/>
                </a:solidFill>
              </a:rPr>
              <a:t>참가자들   ·   </a:t>
            </a:r>
            <a:pPr indent="0" marL="0">
              <a:lnSpc>
                <a:spcPct val="110000"/>
              </a:lnSpc>
              <a:buNone/>
            </a:pPr>
            <a:r>
              <a:rPr lang="en-US" sz="1400" b="1" dirty="0">
                <a:solidFill>
                  <a:srgbClr val="1F7A64"/>
                </a:solidFill>
              </a:rPr>
              <a:t>gamble </a:t>
            </a:r>
            <a:pPr indent="0" marL="0">
              <a:lnSpc>
                <a:spcPct val="110000"/>
              </a:lnSpc>
              <a:buNone/>
            </a:pPr>
            <a:r>
              <a:rPr lang="en-US" sz="1400" dirty="0">
                <a:solidFill>
                  <a:srgbClr val="1E2B2A"/>
                </a:solidFill>
              </a:rPr>
              <a:t>도박하다   ·   </a:t>
            </a:r>
            <a:pPr indent="0" marL="0">
              <a:lnSpc>
                <a:spcPct val="110000"/>
              </a:lnSpc>
              <a:buNone/>
            </a:pPr>
            <a:r>
              <a:rPr lang="en-US" sz="1400" b="1" dirty="0">
                <a:solidFill>
                  <a:srgbClr val="1F7A64"/>
                </a:solidFill>
              </a:rPr>
              <a:t>identical </a:t>
            </a:r>
            <a:pPr indent="0" marL="0">
              <a:lnSpc>
                <a:spcPct val="110000"/>
              </a:lnSpc>
              <a:buNone/>
            </a:pPr>
            <a:r>
              <a:rPr lang="en-US" sz="1400" dirty="0">
                <a:solidFill>
                  <a:srgbClr val="1E2B2A"/>
                </a:solidFill>
              </a:rPr>
              <a:t>동일한   ·   </a:t>
            </a:r>
            <a:pPr indent="0" marL="0">
              <a:lnSpc>
                <a:spcPct val="110000"/>
              </a:lnSpc>
              <a:buNone/>
            </a:pPr>
            <a:r>
              <a:rPr lang="en-US" sz="1400" b="1" dirty="0">
                <a:solidFill>
                  <a:srgbClr val="1F7A64"/>
                </a:solidFill>
              </a:rPr>
              <a:t>outcome </a:t>
            </a:r>
            <a:pPr indent="0" marL="0">
              <a:lnSpc>
                <a:spcPct val="110000"/>
              </a:lnSpc>
              <a:buNone/>
            </a:pPr>
            <a:r>
              <a:rPr lang="en-US" sz="1400" dirty="0">
                <a:solidFill>
                  <a:srgbClr val="1E2B2A"/>
                </a:solidFill>
              </a:rPr>
              <a:t>결과   ·   </a:t>
            </a:r>
            <a:pPr indent="0" marL="0">
              <a:lnSpc>
                <a:spcPct val="110000"/>
              </a:lnSpc>
              <a:buNone/>
            </a:pPr>
            <a:r>
              <a:rPr lang="en-US" sz="1400" b="1" dirty="0">
                <a:solidFill>
                  <a:srgbClr val="1F7A64"/>
                </a:solidFill>
              </a:rPr>
              <a:t>yield </a:t>
            </a:r>
            <a:pPr indent="0" marL="0">
              <a:lnSpc>
                <a:spcPct val="110000"/>
              </a:lnSpc>
              <a:buNone/>
            </a:pPr>
            <a:r>
              <a:rPr lang="en-US" sz="1400" dirty="0">
                <a:solidFill>
                  <a:srgbClr val="1E2B2A"/>
                </a:solidFill>
              </a:rPr>
              <a:t>낳다   ·   </a:t>
            </a:r>
            <a:pPr indent="0" marL="0">
              <a:lnSpc>
                <a:spcPct val="110000"/>
              </a:lnSpc>
              <a:buNone/>
            </a:pPr>
            <a:r>
              <a:rPr lang="en-US" sz="1400" b="1" dirty="0">
                <a:solidFill>
                  <a:srgbClr val="1F7A64"/>
                </a:solidFill>
              </a:rPr>
              <a:t>behavioral </a:t>
            </a:r>
            <a:pPr indent="0" marL="0">
              <a:lnSpc>
                <a:spcPct val="110000"/>
              </a:lnSpc>
              <a:buNone/>
            </a:pPr>
            <a:r>
              <a:rPr lang="en-US" sz="1400" dirty="0">
                <a:solidFill>
                  <a:srgbClr val="1E2B2A"/>
                </a:solidFill>
              </a:rPr>
              <a:t>행동의</a:t>
            </a:r>
            <a:endParaRPr lang="en-US" sz="1400" dirty="0"/>
          </a:p>
        </p:txBody>
      </p:sp>
      <p:sp>
        <p:nvSpPr>
          <p:cNvPr id="11" name="Text 9"/>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1100" dirty="0">
                <a:solidFill>
                  <a:srgbClr val="FFD45C"/>
                </a:solidFill>
              </a:rPr>
              <a:t>■ </a:t>
            </a:r>
            <a:pPr indent="0" marL="0">
              <a:buNone/>
            </a:pPr>
            <a:r>
              <a:rPr lang="en-US" sz="1100" dirty="0">
                <a:solidFill>
                  <a:srgbClr val="6E7F7C"/>
                </a:solidFill>
              </a:rPr>
              <a:t>형광 = 정답 근거 (이유는 노란 박스)     </a:t>
            </a:r>
            <a:pPr indent="0" marL="0">
              <a:buNone/>
            </a:pPr>
            <a:r>
              <a:rPr lang="en-US" sz="1100" dirty="0">
                <a:solidFill>
                  <a:srgbClr val="A9DDF3"/>
                </a:solidFill>
              </a:rPr>
              <a:t>■ </a:t>
            </a:r>
            <a:pPr indent="0" marL="0">
              <a:buNone/>
            </a:pPr>
            <a:r>
              <a:rPr lang="en-US" sz="1100" dirty="0">
                <a:solidFill>
                  <a:srgbClr val="6E7F7C"/>
                </a:solidFill>
              </a:rPr>
              <a:t>파란 형광 = 문법·내신 포인트     </a:t>
            </a:r>
            <a:pPr indent="0" marL="0">
              <a:buNone/>
            </a:pPr>
            <a:r>
              <a:rPr lang="en-US" sz="1100" b="1" dirty="0">
                <a:solidFill>
                  <a:srgbClr val="1F7A64"/>
                </a:solidFill>
              </a:rPr>
              <a:t>초록 점선 단어 </a:t>
            </a:r>
            <a:pPr indent="0" marL="0">
              <a:buNone/>
            </a:pPr>
            <a:r>
              <a:rPr lang="en-US" sz="1100" dirty="0">
                <a:solidFill>
                  <a:srgbClr val="6E7F7C"/>
                </a:solidFill>
              </a:rPr>
              <a:t>= 하단 어휘     </a:t>
            </a:r>
            <a:pPr indent="0" marL="0">
              <a:buNone/>
            </a:pPr>
            <a:r>
              <a:rPr lang="en-US" sz="1100" b="1" dirty="0">
                <a:solidFill>
                  <a:srgbClr val="1F7A64"/>
                </a:solidFill>
              </a:rPr>
              <a:t>(1) (2) (3) </a:t>
            </a:r>
            <a:pPr indent="0" marL="0">
              <a:buNone/>
            </a:pPr>
            <a:r>
              <a:rPr lang="en-US" sz="1100" dirty="0">
                <a:solidFill>
                  <a:srgbClr val="6E7F7C"/>
                </a:solidFill>
              </a:rPr>
              <a:t>= 문장 번호</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93  </a:t>
            </a:r>
            <a:pPr algn="l" indent="0" marL="0">
              <a:buNone/>
            </a:pPr>
            <a:r>
              <a:rPr lang="en-US" sz="3000" b="1" dirty="0">
                <a:solidFill>
                  <a:srgbClr val="14453D"/>
                </a:solidFill>
              </a:rPr>
              <a:t>틀 효과(framing effect)</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흐름 잡기</a:t>
            </a:r>
            <a:endParaRPr lang="en-US" sz="1200" dirty="0"/>
          </a:p>
        </p:txBody>
      </p:sp>
      <p:sp>
        <p:nvSpPr>
          <p:cNvPr id="4" name="Shape 2"/>
          <p:cNvSpPr/>
          <p:nvPr/>
        </p:nvSpPr>
        <p:spPr>
          <a:xfrm>
            <a:off x="548640" y="1325880"/>
            <a:ext cx="5212080" cy="2423160"/>
          </a:xfrm>
          <a:prstGeom prst="roundRect">
            <a:avLst>
              <a:gd name="adj" fmla="val 4528"/>
            </a:avLst>
          </a:prstGeom>
          <a:solidFill>
            <a:srgbClr val="E6F2ED"/>
          </a:solidFill>
          <a:ln w="12700">
            <a:solidFill>
              <a:srgbClr val="E6F2ED"/>
            </a:solidFill>
            <a:prstDash val="solid"/>
          </a:ln>
        </p:spPr>
      </p:sp>
      <p:sp>
        <p:nvSpPr>
          <p:cNvPr id="5" name="Text 3"/>
          <p:cNvSpPr txBox="1"/>
          <p:nvPr/>
        </p:nvSpPr>
        <p:spPr>
          <a:xfrm>
            <a:off x="822960" y="1463040"/>
            <a:ext cx="4663440" cy="320040"/>
          </a:xfrm>
          <a:prstGeom prst="rect">
            <a:avLst/>
          </a:prstGeom>
          <a:noFill/>
          <a:ln/>
        </p:spPr>
        <p:txBody>
          <a:bodyPr wrap="square" lIns="0" tIns="0" rIns="0" bIns="0" rtlCol="0" anchor="ctr"/>
          <a:lstStyle/>
          <a:p>
            <a:pPr indent="0" marL="0">
              <a:buNone/>
            </a:pPr>
            <a:r>
              <a:rPr lang="en-US" sz="1300" b="1" dirty="0">
                <a:solidFill>
                  <a:srgbClr val="1F7A64"/>
                </a:solidFill>
              </a:rPr>
              <a:t>STEP 1 · 요약문 먼저</a:t>
            </a:r>
            <a:endParaRPr lang="en-US" sz="1300" dirty="0"/>
          </a:p>
        </p:txBody>
      </p:sp>
      <p:sp>
        <p:nvSpPr>
          <p:cNvPr id="6" name="Text 4"/>
          <p:cNvSpPr txBox="1"/>
          <p:nvPr/>
        </p:nvSpPr>
        <p:spPr>
          <a:xfrm>
            <a:off x="822960" y="1828800"/>
            <a:ext cx="4663440" cy="868680"/>
          </a:xfrm>
          <a:prstGeom prst="rect">
            <a:avLst/>
          </a:prstGeom>
          <a:noFill/>
          <a:ln/>
        </p:spPr>
        <p:txBody>
          <a:bodyPr wrap="square" lIns="0" tIns="0" rIns="0" bIns="0" rtlCol="0" anchor="t">
            <a:normAutofit/>
          </a:bodyPr>
          <a:lstStyle/>
          <a:p>
            <a:pPr indent="0" marL="0">
              <a:buNone/>
            </a:pPr>
            <a:r>
              <a:rPr lang="en-US" sz="1300" b="1" i="1" dirty="0">
                <a:solidFill>
                  <a:srgbClr val="14453D"/>
                </a:solidFill>
              </a:rPr>
              <a:t>When people face a (A) situation, they are not likely to choose an option that makes them expect a possible (B).</a:t>
            </a:r>
            <a:endParaRPr lang="en-US" sz="1300" dirty="0"/>
          </a:p>
        </p:txBody>
      </p:sp>
      <p:sp>
        <p:nvSpPr>
          <p:cNvPr id="7" name="Text 5"/>
          <p:cNvSpPr txBox="1"/>
          <p:nvPr/>
        </p:nvSpPr>
        <p:spPr>
          <a:xfrm>
            <a:off x="822960" y="2715768"/>
            <a:ext cx="4663440" cy="457200"/>
          </a:xfrm>
          <a:prstGeom prst="rect">
            <a:avLst/>
          </a:prstGeom>
          <a:noFill/>
          <a:ln/>
        </p:spPr>
        <p:txBody>
          <a:bodyPr wrap="square" lIns="0" tIns="0" rIns="0" bIns="0" rtlCol="0" anchor="t">
            <a:normAutofit/>
          </a:bodyPr>
          <a:lstStyle/>
          <a:p>
            <a:pPr indent="0" marL="0">
              <a:buNone/>
            </a:pPr>
            <a:r>
              <a:rPr lang="en-US" sz="1100" dirty="0">
                <a:solidFill>
                  <a:srgbClr val="1E2B2A"/>
                </a:solidFill>
              </a:rPr>
              <a:t>사람들은 (A) 상황에 직면하면, 가능한 (B)를 예상하게 만드는 선택지를 고르지 않을 가능성이 크다.</a:t>
            </a:r>
            <a:endParaRPr lang="en-US" sz="1100" dirty="0"/>
          </a:p>
        </p:txBody>
      </p:sp>
      <p:sp>
        <p:nvSpPr>
          <p:cNvPr id="8" name="Text 6"/>
          <p:cNvSpPr txBox="1"/>
          <p:nvPr/>
        </p:nvSpPr>
        <p:spPr>
          <a:xfrm>
            <a:off x="822960" y="3200400"/>
            <a:ext cx="4663440" cy="411480"/>
          </a:xfrm>
          <a:prstGeom prst="rect">
            <a:avLst/>
          </a:prstGeom>
          <a:noFill/>
          <a:ln/>
        </p:spPr>
        <p:txBody>
          <a:bodyPr wrap="square" lIns="0" tIns="0" rIns="0" bIns="0" rtlCol="0" anchor="ctr"/>
          <a:lstStyle/>
          <a:p>
            <a:pPr indent="0" marL="0">
              <a:buNone/>
            </a:pPr>
            <a:r>
              <a:rPr lang="en-US" sz="1500" b="1" dirty="0">
                <a:solidFill>
                  <a:srgbClr val="EF5B3F"/>
                </a:solidFill>
              </a:rPr>
              <a:t>찾을 것  </a:t>
            </a:r>
            <a:pPr indent="0" marL="0">
              <a:buNone/>
            </a:pPr>
            <a:r>
              <a:rPr lang="en-US" sz="1500" b="1" dirty="0">
                <a:solidFill>
                  <a:srgbClr val="14453D"/>
                </a:solidFill>
              </a:rPr>
              <a:t>(A) 어떤 상황? / (B) 무엇을 예상하게 하는 선택지를 피하나?</a:t>
            </a:r>
            <a:endParaRPr lang="en-US" sz="1500" dirty="0"/>
          </a:p>
        </p:txBody>
      </p:sp>
      <p:sp>
        <p:nvSpPr>
          <p:cNvPr id="9" name="Shape 7"/>
          <p:cNvSpPr/>
          <p:nvPr/>
        </p:nvSpPr>
        <p:spPr>
          <a:xfrm>
            <a:off x="548640" y="3931920"/>
            <a:ext cx="5212080" cy="2331720"/>
          </a:xfrm>
          <a:prstGeom prst="roundRect">
            <a:avLst>
              <a:gd name="adj" fmla="val 4706"/>
            </a:avLst>
          </a:prstGeom>
          <a:solidFill>
            <a:srgbClr val="FFFFFF"/>
          </a:solidFill>
          <a:ln w="19050">
            <a:solidFill>
              <a:srgbClr val="EF5B3F"/>
            </a:solidFill>
            <a:prstDash val="solid"/>
          </a:ln>
        </p:spPr>
      </p:sp>
      <p:pic>
        <p:nvPicPr>
          <p:cNvPr id="10" name="Image 0" descr="preencoded.png">    </p:cNvPr>
          <p:cNvPicPr>
            <a:picLocks noChangeAspect="1"/>
          </p:cNvPicPr>
          <p:nvPr/>
        </p:nvPicPr>
        <p:blipFill>
          <a:blip r:embed="rId1"/>
          <a:stretch>
            <a:fillRect/>
          </a:stretch>
        </p:blipFill>
        <p:spPr>
          <a:xfrm>
            <a:off x="822960" y="4096512"/>
            <a:ext cx="274320" cy="274320"/>
          </a:xfrm>
          <a:prstGeom prst="rect">
            <a:avLst/>
          </a:prstGeom>
        </p:spPr>
      </p:pic>
      <p:sp>
        <p:nvSpPr>
          <p:cNvPr id="11" name="Text 8"/>
          <p:cNvSpPr txBox="1"/>
          <p:nvPr/>
        </p:nvSpPr>
        <p:spPr>
          <a:xfrm>
            <a:off x="1188720" y="4069080"/>
            <a:ext cx="4114800" cy="320040"/>
          </a:xfrm>
          <a:prstGeom prst="rect">
            <a:avLst/>
          </a:prstGeom>
          <a:noFill/>
          <a:ln/>
        </p:spPr>
        <p:txBody>
          <a:bodyPr wrap="square" lIns="0" tIns="0" rIns="0" bIns="0" rtlCol="0" anchor="ctr"/>
          <a:lstStyle/>
          <a:p>
            <a:pPr indent="0" marL="0">
              <a:buNone/>
            </a:pPr>
            <a:r>
              <a:rPr lang="en-US" sz="1300" b="1" dirty="0">
                <a:solidFill>
                  <a:srgbClr val="EF5B3F"/>
                </a:solidFill>
              </a:rPr>
              <a:t>STEP 2 · 결정적 단서</a:t>
            </a:r>
            <a:endParaRPr lang="en-US" sz="1300" dirty="0"/>
          </a:p>
        </p:txBody>
      </p:sp>
      <p:sp>
        <p:nvSpPr>
          <p:cNvPr id="12" name="Text 9"/>
          <p:cNvSpPr txBox="1"/>
          <p:nvPr/>
        </p:nvSpPr>
        <p:spPr>
          <a:xfrm>
            <a:off x="822960" y="4480560"/>
            <a:ext cx="4663440" cy="1005840"/>
          </a:xfrm>
          <a:prstGeom prst="rect">
            <a:avLst/>
          </a:prstGeom>
          <a:noFill/>
          <a:ln/>
        </p:spPr>
        <p:txBody>
          <a:bodyPr wrap="square" lIns="0" tIns="0" rIns="0" bIns="0" rtlCol="0" anchor="t"/>
          <a:lstStyle/>
          <a:p>
            <a:pPr indent="0" marL="0">
              <a:buNone/>
            </a:pPr>
            <a:r>
              <a:rPr lang="en-US" sz="1400" i="1" dirty="0">
                <a:solidFill>
                  <a:srgbClr val="14453D"/>
                </a:solidFill>
              </a:rPr>
              <a:t>…because the choices were framed using two different terms, ‘lose’ versus ‘keep’, the participants came to different decisions.</a:t>
            </a:r>
            <a:endParaRPr lang="en-US" sz="1400" dirty="0"/>
          </a:p>
        </p:txBody>
      </p:sp>
      <p:sp>
        <p:nvSpPr>
          <p:cNvPr id="13" name="Text 10"/>
          <p:cNvSpPr txBox="1"/>
          <p:nvPr/>
        </p:nvSpPr>
        <p:spPr>
          <a:xfrm>
            <a:off x="822960" y="5486400"/>
            <a:ext cx="4663440" cy="685800"/>
          </a:xfrm>
          <a:prstGeom prst="rect">
            <a:avLst/>
          </a:prstGeom>
          <a:noFill/>
          <a:ln/>
        </p:spPr>
        <p:txBody>
          <a:bodyPr wrap="square" lIns="0" tIns="0" rIns="0" bIns="0" rtlCol="0" anchor="t"/>
          <a:lstStyle/>
          <a:p>
            <a:pPr indent="0" marL="0">
              <a:buNone/>
            </a:pPr>
            <a:r>
              <a:rPr lang="en-US" sz="1300" dirty="0">
                <a:solidFill>
                  <a:srgbClr val="6E7F7C"/>
                </a:solidFill>
              </a:rPr>
              <a:t>선택지가 '잃다'와 '간직하다'로 다르게 표현되어 다른 결정을 내렸다</a:t>
            </a:r>
            <a:endParaRPr lang="en-US" sz="1300" dirty="0"/>
          </a:p>
        </p:txBody>
      </p:sp>
      <p:sp>
        <p:nvSpPr>
          <p:cNvPr id="14" name="Text 11"/>
          <p:cNvSpPr txBox="1"/>
          <p:nvPr/>
        </p:nvSpPr>
        <p:spPr>
          <a:xfrm>
            <a:off x="6217920" y="1325880"/>
            <a:ext cx="2743200" cy="320040"/>
          </a:xfrm>
          <a:prstGeom prst="rect">
            <a:avLst/>
          </a:prstGeom>
          <a:noFill/>
          <a:ln/>
        </p:spPr>
        <p:txBody>
          <a:bodyPr wrap="square" lIns="0" tIns="0" rIns="0" bIns="0" rtlCol="0" anchor="ctr"/>
          <a:lstStyle/>
          <a:p>
            <a:pPr indent="0" marL="0">
              <a:buNone/>
            </a:pPr>
            <a:r>
              <a:rPr lang="en-US" sz="1300" b="1" dirty="0">
                <a:solidFill>
                  <a:srgbClr val="1F7A64"/>
                </a:solidFill>
              </a:rPr>
              <a:t>글의 흐름</a:t>
            </a:r>
            <a:endParaRPr lang="en-US" sz="1300" dirty="0"/>
          </a:p>
        </p:txBody>
      </p:sp>
      <p:sp>
        <p:nvSpPr>
          <p:cNvPr id="15" name="Shape 12"/>
          <p:cNvSpPr/>
          <p:nvPr/>
        </p:nvSpPr>
        <p:spPr>
          <a:xfrm>
            <a:off x="6537960" y="2057400"/>
            <a:ext cx="0" cy="3511296"/>
          </a:xfrm>
          <a:prstGeom prst="line">
            <a:avLst/>
          </a:prstGeom>
          <a:noFill/>
          <a:ln w="38100">
            <a:solidFill>
              <a:srgbClr val="E6F2ED"/>
            </a:solidFill>
            <a:prstDash val="solid"/>
          </a:ln>
        </p:spPr>
      </p:sp>
      <p:sp>
        <p:nvSpPr>
          <p:cNvPr id="16" name="Text 13"/>
          <p:cNvSpPr/>
          <p:nvPr/>
        </p:nvSpPr>
        <p:spPr>
          <a:xfrm>
            <a:off x="6263640" y="1783080"/>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7" name="Text 14"/>
          <p:cNvSpPr txBox="1"/>
          <p:nvPr/>
        </p:nvSpPr>
        <p:spPr>
          <a:xfrm>
            <a:off x="7040880" y="1783080"/>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실험</a:t>
            </a:r>
            <a:endParaRPr lang="en-US" sz="1400" dirty="0"/>
          </a:p>
        </p:txBody>
      </p:sp>
      <p:sp>
        <p:nvSpPr>
          <p:cNvPr id="18" name="Text 15"/>
          <p:cNvSpPr txBox="1"/>
          <p:nvPr/>
        </p:nvSpPr>
        <p:spPr>
          <a:xfrm>
            <a:off x="7040880" y="2121408"/>
            <a:ext cx="4572000" cy="667512"/>
          </a:xfrm>
          <a:prstGeom prst="rect">
            <a:avLst/>
          </a:prstGeom>
          <a:noFill/>
          <a:ln/>
        </p:spPr>
        <p:txBody>
          <a:bodyPr wrap="square" lIns="0" tIns="0" rIns="0" bIns="0" rtlCol="0" anchor="t"/>
          <a:lstStyle/>
          <a:p>
            <a:pPr indent="0" marL="0">
              <a:buNone/>
            </a:pPr>
            <a:r>
              <a:rPr lang="en-US" sz="1400" dirty="0">
                <a:solidFill>
                  <a:srgbClr val="1E2B2A"/>
                </a:solidFill>
              </a:rPr>
              <a:t>50달러를 받은 두 그룹에게 '도박 vs 확정' 선택지 제시</a:t>
            </a:r>
            <a:endParaRPr lang="en-US" sz="1400" dirty="0"/>
          </a:p>
        </p:txBody>
      </p:sp>
      <p:sp>
        <p:nvSpPr>
          <p:cNvPr id="19" name="Text 16"/>
          <p:cNvSpPr/>
          <p:nvPr/>
        </p:nvSpPr>
        <p:spPr>
          <a:xfrm>
            <a:off x="6263640" y="2953512"/>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20" name="Text 17"/>
          <p:cNvSpPr txBox="1"/>
          <p:nvPr/>
        </p:nvSpPr>
        <p:spPr>
          <a:xfrm>
            <a:off x="7040880" y="2953512"/>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조건</a:t>
            </a:r>
            <a:endParaRPr lang="en-US" sz="1400" dirty="0"/>
          </a:p>
        </p:txBody>
      </p:sp>
      <p:sp>
        <p:nvSpPr>
          <p:cNvPr id="21" name="Text 18"/>
          <p:cNvSpPr txBox="1"/>
          <p:nvPr/>
        </p:nvSpPr>
        <p:spPr>
          <a:xfrm>
            <a:off x="7040880" y="3291840"/>
            <a:ext cx="4572000" cy="667512"/>
          </a:xfrm>
          <a:prstGeom prst="rect">
            <a:avLst/>
          </a:prstGeom>
          <a:noFill/>
          <a:ln/>
        </p:spPr>
        <p:txBody>
          <a:bodyPr wrap="square" lIns="0" tIns="0" rIns="0" bIns="0" rtlCol="0" anchor="t"/>
          <a:lstStyle/>
          <a:p>
            <a:pPr indent="0" marL="0">
              <a:buNone/>
            </a:pPr>
            <a:r>
              <a:rPr lang="en-US" sz="1400" dirty="0">
                <a:solidFill>
                  <a:srgbClr val="1E2B2A"/>
                </a:solidFill>
              </a:rPr>
              <a:t>A: '30달러를 잃는다' / B: '20달러를 간직한다' — 실제 결과는 같음</a:t>
            </a:r>
            <a:endParaRPr lang="en-US" sz="1400" dirty="0"/>
          </a:p>
        </p:txBody>
      </p:sp>
      <p:sp>
        <p:nvSpPr>
          <p:cNvPr id="22" name="Text 19"/>
          <p:cNvSpPr/>
          <p:nvPr/>
        </p:nvSpPr>
        <p:spPr>
          <a:xfrm>
            <a:off x="6263640" y="4123944"/>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3" name="Text 20"/>
          <p:cNvSpPr txBox="1"/>
          <p:nvPr/>
        </p:nvSpPr>
        <p:spPr>
          <a:xfrm>
            <a:off x="7040880" y="4123944"/>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결과</a:t>
            </a:r>
            <a:endParaRPr lang="en-US" sz="1400" dirty="0"/>
          </a:p>
        </p:txBody>
      </p:sp>
      <p:sp>
        <p:nvSpPr>
          <p:cNvPr id="24" name="Text 21"/>
          <p:cNvSpPr txBox="1"/>
          <p:nvPr/>
        </p:nvSpPr>
        <p:spPr>
          <a:xfrm>
            <a:off x="7040880" y="4462272"/>
            <a:ext cx="4572000" cy="667512"/>
          </a:xfrm>
          <a:prstGeom prst="rect">
            <a:avLst/>
          </a:prstGeom>
          <a:noFill/>
          <a:ln/>
        </p:spPr>
        <p:txBody>
          <a:bodyPr wrap="square" lIns="0" tIns="0" rIns="0" bIns="0" rtlCol="0" anchor="t"/>
          <a:lstStyle/>
          <a:p>
            <a:pPr indent="0" marL="0">
              <a:buNone/>
            </a:pPr>
            <a:r>
              <a:rPr lang="en-US" sz="1400" dirty="0">
                <a:solidFill>
                  <a:srgbClr val="1E2B2A"/>
                </a:solidFill>
              </a:rPr>
              <a:t>'잃는다'를 들은 A 그룹이 도박을 훨씬 많이 선택 (61.9% vs 42.9%)</a:t>
            </a:r>
            <a:endParaRPr lang="en-US" sz="1400" dirty="0"/>
          </a:p>
        </p:txBody>
      </p:sp>
      <p:sp>
        <p:nvSpPr>
          <p:cNvPr id="25" name="Text 22"/>
          <p:cNvSpPr/>
          <p:nvPr/>
        </p:nvSpPr>
        <p:spPr>
          <a:xfrm>
            <a:off x="6263640" y="5294376"/>
            <a:ext cx="548640" cy="548640"/>
          </a:xfrm>
          <a:prstGeom prst="ellipse">
            <a:avLst/>
          </a:prstGeom>
          <a:solidFill>
            <a:srgbClr val="EF5B3F"/>
          </a:solid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6" name="Text 23"/>
          <p:cNvSpPr txBox="1"/>
          <p:nvPr/>
        </p:nvSpPr>
        <p:spPr>
          <a:xfrm>
            <a:off x="7040880" y="5294376"/>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결론</a:t>
            </a:r>
            <a:endParaRPr lang="en-US" sz="1400" dirty="0"/>
          </a:p>
        </p:txBody>
      </p:sp>
      <p:sp>
        <p:nvSpPr>
          <p:cNvPr id="27" name="Text 24"/>
          <p:cNvSpPr txBox="1"/>
          <p:nvPr/>
        </p:nvSpPr>
        <p:spPr>
          <a:xfrm>
            <a:off x="7040880" y="5632704"/>
            <a:ext cx="4572000" cy="667512"/>
          </a:xfrm>
          <a:prstGeom prst="rect">
            <a:avLst/>
          </a:prstGeom>
          <a:noFill/>
          <a:ln/>
        </p:spPr>
        <p:txBody>
          <a:bodyPr wrap="square" lIns="0" tIns="0" rIns="0" bIns="0" rtlCol="0" anchor="t"/>
          <a:lstStyle/>
          <a:p>
            <a:pPr indent="0" marL="0">
              <a:buNone/>
            </a:pPr>
            <a:r>
              <a:rPr lang="en-US" sz="1400" dirty="0">
                <a:solidFill>
                  <a:srgbClr val="1E2B2A"/>
                </a:solidFill>
              </a:rPr>
              <a:t>틀 효과: 손실(loss)을 떠올리게 하는 선택지는 피한다</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93  </a:t>
            </a:r>
            <a:pPr algn="l" indent="0" marL="0">
              <a:buNone/>
            </a:pPr>
            <a:r>
              <a:rPr lang="en-US" sz="3000" b="1" dirty="0">
                <a:solidFill>
                  <a:srgbClr val="14453D"/>
                </a:solidFill>
              </a:rPr>
              <a:t>정답 &amp; 해설</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정답</a:t>
            </a:r>
            <a:endParaRPr lang="en-US" sz="1200" dirty="0"/>
          </a:p>
        </p:txBody>
      </p:sp>
      <p:sp>
        <p:nvSpPr>
          <p:cNvPr id="4" name="Shape 2"/>
          <p:cNvSpPr/>
          <p:nvPr/>
        </p:nvSpPr>
        <p:spPr>
          <a:xfrm>
            <a:off x="548640" y="1325880"/>
            <a:ext cx="3749040" cy="4983480"/>
          </a:xfrm>
          <a:prstGeom prst="roundRect">
            <a:avLst>
              <a:gd name="adj" fmla="val 3659"/>
            </a:avLst>
          </a:prstGeom>
          <a:solidFill>
            <a:srgbClr val="14453D"/>
          </a:solidFill>
          <a:ln w="12700">
            <a:solidFill>
              <a:srgbClr val="14453D"/>
            </a:solidFill>
            <a:prstDash val="solid"/>
          </a:ln>
        </p:spPr>
      </p:sp>
      <p:sp>
        <p:nvSpPr>
          <p:cNvPr id="5" name="Text 3"/>
          <p:cNvSpPr txBox="1"/>
          <p:nvPr/>
        </p:nvSpPr>
        <p:spPr>
          <a:xfrm>
            <a:off x="868680" y="1554480"/>
            <a:ext cx="3108960" cy="365760"/>
          </a:xfrm>
          <a:prstGeom prst="rect">
            <a:avLst/>
          </a:prstGeom>
          <a:noFill/>
          <a:ln/>
        </p:spPr>
        <p:txBody>
          <a:bodyPr wrap="square" lIns="0" tIns="0" rIns="0" bIns="0" rtlCol="0" anchor="ctr"/>
          <a:lstStyle/>
          <a:p>
            <a:pPr indent="0" marL="0">
              <a:buNone/>
            </a:pPr>
            <a:r>
              <a:rPr lang="en-US" sz="1600" b="1" dirty="0">
                <a:solidFill>
                  <a:srgbClr val="FFD45C"/>
                </a:solidFill>
              </a:rPr>
              <a:t>정답</a:t>
            </a:r>
            <a:endParaRPr lang="en-US" sz="1600" dirty="0"/>
          </a:p>
        </p:txBody>
      </p:sp>
      <p:sp>
        <p:nvSpPr>
          <p:cNvPr id="6" name="Text 4"/>
          <p:cNvSpPr txBox="1"/>
          <p:nvPr/>
        </p:nvSpPr>
        <p:spPr>
          <a:xfrm>
            <a:off x="868680" y="1920240"/>
            <a:ext cx="3108960" cy="1188720"/>
          </a:xfrm>
          <a:prstGeom prst="rect">
            <a:avLst/>
          </a:prstGeom>
          <a:noFill/>
          <a:ln/>
        </p:spPr>
        <p:txBody>
          <a:bodyPr wrap="square" lIns="0" tIns="0" rIns="0" bIns="0" rtlCol="0" anchor="ctr"/>
          <a:lstStyle/>
          <a:p>
            <a:pPr indent="0" marL="0">
              <a:buNone/>
            </a:pPr>
            <a:r>
              <a:rPr lang="en-US" sz="7200" b="1" dirty="0">
                <a:solidFill>
                  <a:srgbClr val="FFFFFF"/>
                </a:solidFill>
              </a:rPr>
              <a:t>⑤</a:t>
            </a:r>
            <a:endParaRPr lang="en-US" sz="7200" dirty="0"/>
          </a:p>
        </p:txBody>
      </p:sp>
      <p:sp>
        <p:nvSpPr>
          <p:cNvPr id="7" name="Text 5"/>
          <p:cNvSpPr txBox="1"/>
          <p:nvPr/>
        </p:nvSpPr>
        <p:spPr>
          <a:xfrm>
            <a:off x="868680" y="3337560"/>
            <a:ext cx="3154680" cy="1280160"/>
          </a:xfrm>
          <a:prstGeom prst="rect">
            <a:avLst/>
          </a:prstGeom>
          <a:noFill/>
          <a:ln/>
        </p:spPr>
        <p:txBody>
          <a:bodyPr wrap="square" lIns="0" tIns="0" rIns="0" bIns="0" rtlCol="0" anchor="t"/>
          <a:lstStyle/>
          <a:p>
            <a:pPr indent="0" marL="0">
              <a:buNone/>
            </a:pPr>
            <a:r>
              <a:rPr lang="en-US" sz="1700" b="1" i="1" dirty="0">
                <a:solidFill>
                  <a:srgbClr val="FFFFFF"/>
                </a:solidFill>
              </a:rPr>
              <a:t>decision-making ----- loss</a:t>
            </a:r>
            <a:endParaRPr lang="en-US" sz="1700" dirty="0"/>
          </a:p>
        </p:txBody>
      </p:sp>
      <p:sp>
        <p:nvSpPr>
          <p:cNvPr id="8" name="Text 6"/>
          <p:cNvSpPr txBox="1"/>
          <p:nvPr/>
        </p:nvSpPr>
        <p:spPr>
          <a:xfrm>
            <a:off x="868680" y="4663440"/>
            <a:ext cx="3154680" cy="1463040"/>
          </a:xfrm>
          <a:prstGeom prst="rect">
            <a:avLst/>
          </a:prstGeom>
          <a:noFill/>
          <a:ln/>
        </p:spPr>
        <p:txBody>
          <a:bodyPr wrap="square" lIns="0" tIns="0" rIns="0" bIns="0" rtlCol="0" anchor="t"/>
          <a:lstStyle/>
          <a:p>
            <a:pPr indent="0" marL="0">
              <a:buNone/>
            </a:pPr>
            <a:r>
              <a:rPr lang="en-US" sz="1400" dirty="0">
                <a:solidFill>
                  <a:srgbClr val="E6F2ED"/>
                </a:solidFill>
              </a:rPr>
              <a:t>의사 결정 상황 / 손실(lose)을 예상 → 피함</a:t>
            </a:r>
            <a:endParaRPr lang="en-US" sz="1400" dirty="0"/>
          </a:p>
        </p:txBody>
      </p:sp>
      <p:sp>
        <p:nvSpPr>
          <p:cNvPr id="9" name="Shape 7"/>
          <p:cNvSpPr/>
          <p:nvPr/>
        </p:nvSpPr>
        <p:spPr>
          <a:xfrm>
            <a:off x="4572000" y="1325880"/>
            <a:ext cx="7040880" cy="905256"/>
          </a:xfrm>
          <a:prstGeom prst="roundRect">
            <a:avLst>
              <a:gd name="adj" fmla="val 10101"/>
            </a:avLst>
          </a:prstGeom>
          <a:solidFill>
            <a:srgbClr val="FFFFFF"/>
          </a:solidFill>
          <a:ln w="12700">
            <a:solidFill>
              <a:srgbClr val="E6F2ED"/>
            </a:solidFill>
            <a:prstDash val="solid"/>
          </a:ln>
        </p:spPr>
      </p:sp>
      <p:sp>
        <p:nvSpPr>
          <p:cNvPr id="10" name="Text 8"/>
          <p:cNvSpPr txBox="1"/>
          <p:nvPr/>
        </p:nvSpPr>
        <p:spPr>
          <a:xfrm>
            <a:off x="4754880" y="1435608"/>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①</a:t>
            </a:r>
            <a:endParaRPr lang="en-US" sz="2000" dirty="0"/>
          </a:p>
        </p:txBody>
      </p:sp>
      <p:sp>
        <p:nvSpPr>
          <p:cNvPr id="11" name="Text 9"/>
          <p:cNvSpPr txBox="1"/>
          <p:nvPr/>
        </p:nvSpPr>
        <p:spPr>
          <a:xfrm>
            <a:off x="5257800" y="1399032"/>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profit-sharing ----- trade</a:t>
            </a:r>
            <a:endParaRPr lang="en-US" sz="1500" dirty="0"/>
          </a:p>
        </p:txBody>
      </p:sp>
      <p:sp>
        <p:nvSpPr>
          <p:cNvPr id="12" name="Text 10"/>
          <p:cNvSpPr txBox="1"/>
          <p:nvPr/>
        </p:nvSpPr>
        <p:spPr>
          <a:xfrm>
            <a:off x="5257800" y="1801368"/>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이익 공유 ✘ / 거래 ✘ → 글에 없음</a:t>
            </a:r>
            <a:endParaRPr lang="en-US" sz="1300" dirty="0"/>
          </a:p>
        </p:txBody>
      </p:sp>
      <p:sp>
        <p:nvSpPr>
          <p:cNvPr id="13" name="Shape 11"/>
          <p:cNvSpPr/>
          <p:nvPr/>
        </p:nvSpPr>
        <p:spPr>
          <a:xfrm>
            <a:off x="4572000" y="2340864"/>
            <a:ext cx="7040880" cy="905256"/>
          </a:xfrm>
          <a:prstGeom prst="roundRect">
            <a:avLst>
              <a:gd name="adj" fmla="val 10101"/>
            </a:avLst>
          </a:prstGeom>
          <a:solidFill>
            <a:srgbClr val="FFFFFF"/>
          </a:solidFill>
          <a:ln w="12700">
            <a:solidFill>
              <a:srgbClr val="E6F2ED"/>
            </a:solidFill>
            <a:prstDash val="solid"/>
          </a:ln>
        </p:spPr>
      </p:sp>
      <p:sp>
        <p:nvSpPr>
          <p:cNvPr id="14" name="Text 12"/>
          <p:cNvSpPr txBox="1"/>
          <p:nvPr/>
        </p:nvSpPr>
        <p:spPr>
          <a:xfrm>
            <a:off x="4754880" y="2450592"/>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②</a:t>
            </a:r>
            <a:endParaRPr lang="en-US" sz="2000" dirty="0"/>
          </a:p>
        </p:txBody>
      </p:sp>
      <p:sp>
        <p:nvSpPr>
          <p:cNvPr id="15" name="Text 13"/>
          <p:cNvSpPr txBox="1"/>
          <p:nvPr/>
        </p:nvSpPr>
        <p:spPr>
          <a:xfrm>
            <a:off x="5257800" y="2414016"/>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life-threatening ----- profit</a:t>
            </a:r>
            <a:endParaRPr lang="en-US" sz="1500" dirty="0"/>
          </a:p>
        </p:txBody>
      </p:sp>
      <p:sp>
        <p:nvSpPr>
          <p:cNvPr id="16" name="Text 14"/>
          <p:cNvSpPr txBox="1"/>
          <p:nvPr/>
        </p:nvSpPr>
        <p:spPr>
          <a:xfrm>
            <a:off x="5257800" y="2816352"/>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생명 위협 ✘ / 이익 ✘ → 이익이 아니라 손실을 피함</a:t>
            </a:r>
            <a:endParaRPr lang="en-US" sz="1300" dirty="0"/>
          </a:p>
        </p:txBody>
      </p:sp>
      <p:sp>
        <p:nvSpPr>
          <p:cNvPr id="17" name="Shape 15"/>
          <p:cNvSpPr/>
          <p:nvPr/>
        </p:nvSpPr>
        <p:spPr>
          <a:xfrm>
            <a:off x="4572000" y="3355848"/>
            <a:ext cx="7040880" cy="905256"/>
          </a:xfrm>
          <a:prstGeom prst="roundRect">
            <a:avLst>
              <a:gd name="adj" fmla="val 10101"/>
            </a:avLst>
          </a:prstGeom>
          <a:solidFill>
            <a:srgbClr val="FFFFFF"/>
          </a:solidFill>
          <a:ln w="12700">
            <a:solidFill>
              <a:srgbClr val="E6F2ED"/>
            </a:solidFill>
            <a:prstDash val="solid"/>
          </a:ln>
        </p:spPr>
      </p:sp>
      <p:sp>
        <p:nvSpPr>
          <p:cNvPr id="18" name="Text 16"/>
          <p:cNvSpPr txBox="1"/>
          <p:nvPr/>
        </p:nvSpPr>
        <p:spPr>
          <a:xfrm>
            <a:off x="4754880" y="3465576"/>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③</a:t>
            </a:r>
            <a:endParaRPr lang="en-US" sz="2000" dirty="0"/>
          </a:p>
        </p:txBody>
      </p:sp>
      <p:sp>
        <p:nvSpPr>
          <p:cNvPr id="19" name="Text 17"/>
          <p:cNvSpPr txBox="1"/>
          <p:nvPr/>
        </p:nvSpPr>
        <p:spPr>
          <a:xfrm>
            <a:off x="5257800" y="3429000"/>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life-threatening ----- loss</a:t>
            </a:r>
            <a:endParaRPr lang="en-US" sz="1500" dirty="0"/>
          </a:p>
        </p:txBody>
      </p:sp>
      <p:sp>
        <p:nvSpPr>
          <p:cNvPr id="20" name="Text 18"/>
          <p:cNvSpPr txBox="1"/>
          <p:nvPr/>
        </p:nvSpPr>
        <p:spPr>
          <a:xfrm>
            <a:off x="5257800" y="3831336"/>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생명 위협 ✘ / 손실 ✔</a:t>
            </a:r>
            <a:endParaRPr lang="en-US" sz="1300" dirty="0"/>
          </a:p>
        </p:txBody>
      </p:sp>
      <p:sp>
        <p:nvSpPr>
          <p:cNvPr id="21" name="Shape 19"/>
          <p:cNvSpPr/>
          <p:nvPr/>
        </p:nvSpPr>
        <p:spPr>
          <a:xfrm>
            <a:off x="4572000" y="4370832"/>
            <a:ext cx="7040880" cy="905256"/>
          </a:xfrm>
          <a:prstGeom prst="roundRect">
            <a:avLst>
              <a:gd name="adj" fmla="val 10101"/>
            </a:avLst>
          </a:prstGeom>
          <a:solidFill>
            <a:srgbClr val="FFFFFF"/>
          </a:solidFill>
          <a:ln w="12700">
            <a:solidFill>
              <a:srgbClr val="E6F2ED"/>
            </a:solidFill>
            <a:prstDash val="solid"/>
          </a:ln>
        </p:spPr>
      </p:sp>
      <p:sp>
        <p:nvSpPr>
          <p:cNvPr id="22" name="Text 20"/>
          <p:cNvSpPr txBox="1"/>
          <p:nvPr/>
        </p:nvSpPr>
        <p:spPr>
          <a:xfrm>
            <a:off x="4754880" y="4480560"/>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④</a:t>
            </a:r>
            <a:endParaRPr lang="en-US" sz="2000" dirty="0"/>
          </a:p>
        </p:txBody>
      </p:sp>
      <p:sp>
        <p:nvSpPr>
          <p:cNvPr id="23" name="Text 21"/>
          <p:cNvSpPr txBox="1"/>
          <p:nvPr/>
        </p:nvSpPr>
        <p:spPr>
          <a:xfrm>
            <a:off x="5257800" y="4443984"/>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decision-making ----- profit</a:t>
            </a:r>
            <a:endParaRPr lang="en-US" sz="1500" dirty="0"/>
          </a:p>
        </p:txBody>
      </p:sp>
      <p:sp>
        <p:nvSpPr>
          <p:cNvPr id="24" name="Text 22"/>
          <p:cNvSpPr txBox="1"/>
          <p:nvPr/>
        </p:nvSpPr>
        <p:spPr>
          <a:xfrm>
            <a:off x="5257800" y="4846320"/>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의사 결정 ✔ / 이익 ✘ → 이익은 오히려 선호</a:t>
            </a:r>
            <a:endParaRPr lang="en-US" sz="1300" dirty="0"/>
          </a:p>
        </p:txBody>
      </p:sp>
      <p:sp>
        <p:nvSpPr>
          <p:cNvPr id="25" name="Shape 23"/>
          <p:cNvSpPr/>
          <p:nvPr/>
        </p:nvSpPr>
        <p:spPr>
          <a:xfrm>
            <a:off x="4572000" y="5385816"/>
            <a:ext cx="7040880" cy="905256"/>
          </a:xfrm>
          <a:prstGeom prst="roundRect">
            <a:avLst>
              <a:gd name="adj" fmla="val 10101"/>
            </a:avLst>
          </a:prstGeom>
          <a:solidFill>
            <a:srgbClr val="F7E9E4"/>
          </a:solidFill>
          <a:ln w="25400">
            <a:solidFill>
              <a:srgbClr val="EF5B3F"/>
            </a:solidFill>
            <a:prstDash val="solid"/>
          </a:ln>
        </p:spPr>
      </p:sp>
      <p:sp>
        <p:nvSpPr>
          <p:cNvPr id="26" name="Text 24"/>
          <p:cNvSpPr txBox="1"/>
          <p:nvPr/>
        </p:nvSpPr>
        <p:spPr>
          <a:xfrm>
            <a:off x="4754880" y="5495544"/>
            <a:ext cx="411480" cy="411480"/>
          </a:xfrm>
          <a:prstGeom prst="rect">
            <a:avLst/>
          </a:prstGeom>
          <a:noFill/>
          <a:ln/>
        </p:spPr>
        <p:txBody>
          <a:bodyPr wrap="square" lIns="0" tIns="0" rIns="0" bIns="0" rtlCol="0" anchor="ctr"/>
          <a:lstStyle/>
          <a:p>
            <a:pPr indent="0" marL="0">
              <a:buNone/>
            </a:pPr>
            <a:r>
              <a:rPr lang="en-US" sz="2000" b="1" dirty="0">
                <a:solidFill>
                  <a:srgbClr val="EF5B3F"/>
                </a:solidFill>
              </a:rPr>
              <a:t>⑤</a:t>
            </a:r>
            <a:endParaRPr lang="en-US" sz="2000" dirty="0"/>
          </a:p>
        </p:txBody>
      </p:sp>
      <p:sp>
        <p:nvSpPr>
          <p:cNvPr id="27" name="Text 25"/>
          <p:cNvSpPr txBox="1"/>
          <p:nvPr/>
        </p:nvSpPr>
        <p:spPr>
          <a:xfrm>
            <a:off x="5257800" y="5458968"/>
            <a:ext cx="6172200" cy="411480"/>
          </a:xfrm>
          <a:prstGeom prst="rect">
            <a:avLst/>
          </a:prstGeom>
          <a:noFill/>
          <a:ln/>
        </p:spPr>
        <p:txBody>
          <a:bodyPr wrap="square" lIns="0" tIns="0" rIns="0" bIns="0" rtlCol="0" anchor="ctr">
            <a:normAutofit/>
          </a:bodyPr>
          <a:lstStyle/>
          <a:p>
            <a:pPr indent="0" marL="0">
              <a:buNone/>
            </a:pPr>
            <a:r>
              <a:rPr lang="en-US" sz="1500" b="1" dirty="0">
                <a:solidFill>
                  <a:srgbClr val="14453D"/>
                </a:solidFill>
              </a:rPr>
              <a:t>decision-making ----- loss</a:t>
            </a:r>
            <a:endParaRPr lang="en-US" sz="1500" dirty="0"/>
          </a:p>
        </p:txBody>
      </p:sp>
      <p:sp>
        <p:nvSpPr>
          <p:cNvPr id="28" name="Text 26"/>
          <p:cNvSpPr txBox="1"/>
          <p:nvPr/>
        </p:nvSpPr>
        <p:spPr>
          <a:xfrm>
            <a:off x="5257800" y="5861304"/>
            <a:ext cx="6172200" cy="365760"/>
          </a:xfrm>
          <a:prstGeom prst="rect">
            <a:avLst/>
          </a:prstGeom>
          <a:noFill/>
          <a:ln/>
        </p:spPr>
        <p:txBody>
          <a:bodyPr wrap="square" lIns="0" tIns="0" rIns="0" bIns="0" rtlCol="0" anchor="ctr">
            <a:normAutofit/>
          </a:bodyPr>
          <a:lstStyle/>
          <a:p>
            <a:pPr indent="0" marL="0">
              <a:buNone/>
            </a:pPr>
            <a:r>
              <a:rPr lang="en-US" sz="1300" dirty="0">
                <a:solidFill>
                  <a:srgbClr val="EF5B3F"/>
                </a:solidFill>
              </a:rPr>
              <a:t>✔ 의사 결정 상황 / 손실(lose)을 예상 → 피함</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93  </a:t>
            </a:r>
            <a:pPr algn="l" indent="0" marL="0">
              <a:buNone/>
            </a:pPr>
            <a:r>
              <a:rPr lang="en-US" sz="3000" b="1" dirty="0">
                <a:solidFill>
                  <a:srgbClr val="14453D"/>
                </a:solidFill>
              </a:rPr>
              <a:t>내신 어법 체크: 알맞은 것은?</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어법</a:t>
            </a:r>
            <a:endParaRPr lang="en-US" sz="1200" dirty="0"/>
          </a:p>
        </p:txBody>
      </p:sp>
      <p:sp>
        <p:nvSpPr>
          <p:cNvPr id="4" name="Shape 2"/>
          <p:cNvSpPr/>
          <p:nvPr/>
        </p:nvSpPr>
        <p:spPr>
          <a:xfrm>
            <a:off x="548640" y="1325880"/>
            <a:ext cx="11064240" cy="1143000"/>
          </a:xfrm>
          <a:prstGeom prst="roundRect">
            <a:avLst>
              <a:gd name="adj" fmla="val 8000"/>
            </a:avLst>
          </a:prstGeom>
          <a:solidFill>
            <a:srgbClr val="F2F8FB"/>
          </a:solidFill>
          <a:ln w="12700">
            <a:solidFill>
              <a:srgbClr val="D3E5EE"/>
            </a:solidFill>
            <a:prstDash val="solid"/>
          </a:ln>
        </p:spPr>
      </p:sp>
      <p:sp>
        <p:nvSpPr>
          <p:cNvPr id="5" name="Text 3"/>
          <p:cNvSpPr/>
          <p:nvPr/>
        </p:nvSpPr>
        <p:spPr>
          <a:xfrm>
            <a:off x="777240" y="162306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1554480" y="1325880"/>
            <a:ext cx="9875520" cy="1143000"/>
          </a:xfrm>
          <a:prstGeom prst="rect">
            <a:avLst/>
          </a:prstGeom>
          <a:noFill/>
          <a:ln/>
        </p:spPr>
        <p:txBody>
          <a:bodyPr wrap="square" lIns="0" tIns="0" rIns="0" bIns="0" rtlCol="0" anchor="ctr">
            <a:normAutofit/>
          </a:bodyPr>
          <a:lstStyle/>
          <a:p>
            <a:pPr indent="0" marL="0">
              <a:buNone/>
            </a:pPr>
            <a:r>
              <a:rPr lang="en-US" sz="1900" b="1" dirty="0">
                <a:solidFill>
                  <a:srgbClr val="EF5B3F"/>
                </a:solidFill>
              </a:rPr>
              <a:t>[Having heard / Heard]</a:t>
            </a:r>
            <a:pPr indent="0" marL="0">
              <a:buNone/>
            </a:pPr>
            <a:r>
              <a:rPr lang="en-US" sz="1900" dirty="0">
                <a:solidFill>
                  <a:srgbClr val="1E2B2A"/>
                </a:solidFill>
              </a:rPr>
              <a:t> these options, 61.9% of participants in group A chose to gamble.</a:t>
            </a:r>
            <a:endParaRPr lang="en-US" sz="1900" dirty="0"/>
          </a:p>
        </p:txBody>
      </p:sp>
      <p:sp>
        <p:nvSpPr>
          <p:cNvPr id="7" name="Shape 5"/>
          <p:cNvSpPr/>
          <p:nvPr/>
        </p:nvSpPr>
        <p:spPr>
          <a:xfrm>
            <a:off x="548640" y="2606040"/>
            <a:ext cx="11064240" cy="1143000"/>
          </a:xfrm>
          <a:prstGeom prst="roundRect">
            <a:avLst>
              <a:gd name="adj" fmla="val 8000"/>
            </a:avLst>
          </a:prstGeom>
          <a:solidFill>
            <a:srgbClr val="FFFFFF"/>
          </a:solidFill>
          <a:ln w="12700">
            <a:solidFill>
              <a:srgbClr val="D3E5EE"/>
            </a:solidFill>
            <a:prstDash val="solid"/>
          </a:ln>
        </p:spPr>
      </p:sp>
      <p:sp>
        <p:nvSpPr>
          <p:cNvPr id="8" name="Text 6"/>
          <p:cNvSpPr/>
          <p:nvPr/>
        </p:nvSpPr>
        <p:spPr>
          <a:xfrm>
            <a:off x="777240" y="290322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9" name="Text 7"/>
          <p:cNvSpPr txBox="1"/>
          <p:nvPr/>
        </p:nvSpPr>
        <p:spPr>
          <a:xfrm>
            <a:off x="1554480" y="260604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…options that actually </a:t>
            </a:r>
            <a:pPr indent="0" marL="0">
              <a:buNone/>
            </a:pPr>
            <a:r>
              <a:rPr lang="en-US" sz="1900" b="1" dirty="0">
                <a:solidFill>
                  <a:srgbClr val="EF5B3F"/>
                </a:solidFill>
              </a:rPr>
              <a:t>[led / leading]</a:t>
            </a:r>
            <a:pPr indent="0" marL="0">
              <a:buNone/>
            </a:pPr>
            <a:r>
              <a:rPr lang="en-US" sz="1900" dirty="0">
                <a:solidFill>
                  <a:srgbClr val="1E2B2A"/>
                </a:solidFill>
              </a:rPr>
              <a:t> to an identical outcome.</a:t>
            </a:r>
            <a:endParaRPr lang="en-US" sz="1900" dirty="0"/>
          </a:p>
        </p:txBody>
      </p:sp>
      <p:sp>
        <p:nvSpPr>
          <p:cNvPr id="10" name="Shape 8"/>
          <p:cNvSpPr/>
          <p:nvPr/>
        </p:nvSpPr>
        <p:spPr>
          <a:xfrm>
            <a:off x="548640" y="3886200"/>
            <a:ext cx="11064240" cy="1143000"/>
          </a:xfrm>
          <a:prstGeom prst="roundRect">
            <a:avLst>
              <a:gd name="adj" fmla="val 8000"/>
            </a:avLst>
          </a:prstGeom>
          <a:solidFill>
            <a:srgbClr val="F2F8FB"/>
          </a:solidFill>
          <a:ln w="12700">
            <a:solidFill>
              <a:srgbClr val="D3E5EE"/>
            </a:solidFill>
            <a:prstDash val="solid"/>
          </a:ln>
        </p:spPr>
      </p:sp>
      <p:sp>
        <p:nvSpPr>
          <p:cNvPr id="11" name="Text 9"/>
          <p:cNvSpPr/>
          <p:nvPr/>
        </p:nvSpPr>
        <p:spPr>
          <a:xfrm>
            <a:off x="777240" y="418338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2" name="Text 10"/>
          <p:cNvSpPr txBox="1"/>
          <p:nvPr/>
        </p:nvSpPr>
        <p:spPr>
          <a:xfrm>
            <a:off x="1554480" y="388620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Using words that make people </a:t>
            </a:r>
            <a:pPr indent="0" marL="0">
              <a:buNone/>
            </a:pPr>
            <a:r>
              <a:rPr lang="en-US" sz="1900" b="1" dirty="0">
                <a:solidFill>
                  <a:srgbClr val="EF5B3F"/>
                </a:solidFill>
              </a:rPr>
              <a:t>[think / to think]</a:t>
            </a:r>
            <a:pPr indent="0" marL="0">
              <a:buNone/>
            </a:pPr>
            <a:r>
              <a:rPr lang="en-US" sz="1900" dirty="0">
                <a:solidFill>
                  <a:srgbClr val="1E2B2A"/>
                </a:solidFill>
              </a:rPr>
              <a:t> of a negative outcome…</a:t>
            </a:r>
            <a:endParaRPr lang="en-US" sz="19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94  </a:t>
            </a:r>
            <a:pPr algn="l" indent="0" marL="0">
              <a:buNone/>
            </a:pPr>
            <a:r>
              <a:rPr lang="en-US" sz="3000" b="1" dirty="0">
                <a:solidFill>
                  <a:srgbClr val="14453D"/>
                </a:solidFill>
              </a:rPr>
              <a:t>사회적 전염</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Hook</a:t>
            </a:r>
            <a:endParaRPr lang="en-US" sz="1200" dirty="0"/>
          </a:p>
        </p:txBody>
      </p:sp>
      <p:sp>
        <p:nvSpPr>
          <p:cNvPr id="4" name="Shape 2"/>
          <p:cNvSpPr/>
          <p:nvPr/>
        </p:nvSpPr>
        <p:spPr>
          <a:xfrm>
            <a:off x="1280160" y="1737360"/>
            <a:ext cx="9601200" cy="3291840"/>
          </a:xfrm>
          <a:prstGeom prst="roundRect">
            <a:avLst>
              <a:gd name="adj" fmla="val 6944"/>
            </a:avLst>
          </a:prstGeom>
          <a:solidFill>
            <a:srgbClr val="E6F2ED"/>
          </a:solidFill>
          <a:ln w="12700">
            <a:solidFill>
              <a:srgbClr val="E6F2ED"/>
            </a:solidFill>
            <a:prstDash val="solid"/>
          </a:ln>
        </p:spPr>
      </p:sp>
      <p:sp>
        <p:nvSpPr>
          <p:cNvPr id="5" name="Shape 3"/>
          <p:cNvSpPr/>
          <p:nvPr/>
        </p:nvSpPr>
        <p:spPr>
          <a:xfrm>
            <a:off x="1737360" y="2148840"/>
            <a:ext cx="1005840" cy="1005840"/>
          </a:xfrm>
          <a:prstGeom prst="ellipse">
            <a:avLst/>
          </a:prstGeom>
          <a:solidFill>
            <a:srgbClr val="1F7A64"/>
          </a:solidFill>
          <a:ln w="12700">
            <a:solidFill>
              <a:srgbClr val="1F7A64"/>
            </a:solidFill>
            <a:prstDash val="solid"/>
          </a:ln>
        </p:spPr>
      </p:sp>
      <p:pic>
        <p:nvPicPr>
          <p:cNvPr id="6" name="Image 0" descr="preencoded.png">    </p:cNvPr>
          <p:cNvPicPr>
            <a:picLocks noChangeAspect="1"/>
          </p:cNvPicPr>
          <p:nvPr/>
        </p:nvPicPr>
        <p:blipFill>
          <a:blip r:embed="rId1"/>
          <a:stretch>
            <a:fillRect/>
          </a:stretch>
        </p:blipFill>
        <p:spPr>
          <a:xfrm>
            <a:off x="1984248" y="2395728"/>
            <a:ext cx="512064" cy="512064"/>
          </a:xfrm>
          <a:prstGeom prst="rect">
            <a:avLst/>
          </a:prstGeom>
        </p:spPr>
      </p:pic>
      <p:sp>
        <p:nvSpPr>
          <p:cNvPr id="7" name="Text 4"/>
          <p:cNvSpPr txBox="1"/>
          <p:nvPr/>
        </p:nvSpPr>
        <p:spPr>
          <a:xfrm>
            <a:off x="3017520" y="2194560"/>
            <a:ext cx="5486400" cy="457200"/>
          </a:xfrm>
          <a:prstGeom prst="rect">
            <a:avLst/>
          </a:prstGeom>
          <a:noFill/>
          <a:ln/>
        </p:spPr>
        <p:txBody>
          <a:bodyPr wrap="square" lIns="0" tIns="0" rIns="0" bIns="0" rtlCol="0" anchor="ctr"/>
          <a:lstStyle/>
          <a:p>
            <a:pPr indent="0" marL="0">
              <a:buNone/>
            </a:pPr>
            <a:r>
              <a:rPr lang="en-US" sz="1800" b="1" dirty="0">
                <a:solidFill>
                  <a:srgbClr val="1F7A64"/>
                </a:solidFill>
              </a:rPr>
              <a:t>생각해 볼까?</a:t>
            </a:r>
            <a:endParaRPr lang="en-US" sz="1800" dirty="0"/>
          </a:p>
        </p:txBody>
      </p:sp>
      <p:sp>
        <p:nvSpPr>
          <p:cNvPr id="8" name="Text 5"/>
          <p:cNvSpPr txBox="1"/>
          <p:nvPr/>
        </p:nvSpPr>
        <p:spPr>
          <a:xfrm>
            <a:off x="3017520" y="2697480"/>
            <a:ext cx="7498080" cy="2011680"/>
          </a:xfrm>
          <a:prstGeom prst="rect">
            <a:avLst/>
          </a:prstGeom>
          <a:noFill/>
          <a:ln/>
        </p:spPr>
        <p:txBody>
          <a:bodyPr wrap="square" lIns="0" tIns="0" rIns="0" bIns="0" rtlCol="0" anchor="t">
            <a:normAutofit/>
          </a:bodyPr>
          <a:lstStyle/>
          <a:p>
            <a:pPr indent="0" marL="0">
              <a:buNone/>
            </a:pPr>
            <a:r>
              <a:rPr lang="en-US" sz="2800" b="1" dirty="0">
                <a:solidFill>
                  <a:srgbClr val="14453D"/>
                </a:solidFill>
              </a:rPr>
              <a:t>친구가 다이어트 시작하면 나도 하고 싶어진 적 있어?</a:t>
            </a:r>
            <a:endParaRPr lang="en-US" sz="2800" dirty="0"/>
          </a:p>
        </p:txBody>
      </p:sp>
      <p:sp>
        <p:nvSpPr>
          <p:cNvPr id="9" name="Text 6"/>
          <p:cNvSpPr/>
          <p:nvPr/>
        </p:nvSpPr>
        <p:spPr>
          <a:xfrm>
            <a:off x="4251960" y="5349240"/>
            <a:ext cx="3657600" cy="329184"/>
          </a:xfrm>
          <a:prstGeom prst="roundRect">
            <a:avLst>
              <a:gd name="adj" fmla="val 41667"/>
            </a:avLst>
          </a:prstGeom>
          <a:solidFill>
            <a:srgbClr val="EF5B3F"/>
          </a:solidFill>
          <a:ln/>
        </p:spPr>
        <p:txBody>
          <a:bodyPr wrap="square" lIns="0" tIns="0" rIns="0" bIns="0" rtlCol="0" anchor="ctr"/>
          <a:lstStyle/>
          <a:p>
            <a:pPr algn="ctr" indent="0" marL="0">
              <a:buNone/>
            </a:pPr>
            <a:r>
              <a:rPr lang="en-US" sz="1400" b="1" dirty="0">
                <a:solidFill>
                  <a:srgbClr val="FFFFFF"/>
                </a:solidFill>
              </a:rPr>
              <a:t>짝과 30초 이야기 → 2~3명 발표</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94  </a:t>
            </a:r>
            <a:pPr algn="l" indent="0" marL="0">
              <a:buNone/>
            </a:pPr>
            <a:r>
              <a:rPr lang="en-US" sz="2400" b="1" dirty="0">
                <a:solidFill>
                  <a:srgbClr val="14453D"/>
                </a:solidFill>
              </a:rPr>
              <a:t>(A)·(B)에 들어갈 말로 가장 적절한 것은?</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a:t>
            </a:r>
            <a:endParaRPr lang="en-US" sz="1200" dirty="0"/>
          </a:p>
        </p:txBody>
      </p:sp>
      <p:sp>
        <p:nvSpPr>
          <p:cNvPr id="4" name="Shape 2"/>
          <p:cNvSpPr/>
          <p:nvPr/>
        </p:nvSpPr>
        <p:spPr>
          <a:xfrm>
            <a:off x="548640" y="1234440"/>
            <a:ext cx="11064240" cy="5074920"/>
          </a:xfrm>
          <a:prstGeom prst="roundRect">
            <a:avLst>
              <a:gd name="adj" fmla="val 1802"/>
            </a:avLst>
          </a:prstGeom>
          <a:solidFill>
            <a:srgbClr val="FFFFFF"/>
          </a:solidFill>
          <a:ln w="19050">
            <a:solidFill>
              <a:srgbClr val="E6F2ED"/>
            </a:solidFill>
            <a:prstDash val="solid"/>
          </a:ln>
        </p:spPr>
      </p:sp>
      <p:sp>
        <p:nvSpPr>
          <p:cNvPr id="5" name="Text 3"/>
          <p:cNvSpPr txBox="1"/>
          <p:nvPr/>
        </p:nvSpPr>
        <p:spPr>
          <a:xfrm>
            <a:off x="777240" y="1371600"/>
            <a:ext cx="10607040" cy="4846320"/>
          </a:xfrm>
          <a:prstGeom prst="rect">
            <a:avLst/>
          </a:prstGeom>
          <a:noFill/>
          <a:ln/>
        </p:spPr>
        <p:txBody>
          <a:bodyPr wrap="square" lIns="0" tIns="0" rIns="0" bIns="0" rtlCol="0" anchor="t"/>
          <a:lstStyle/>
          <a:p>
            <a:pPr indent="0" marL="0">
              <a:lnSpc>
                <a:spcPct val="115000"/>
              </a:lnSpc>
              <a:buNone/>
            </a:pPr>
            <a:r>
              <a:rPr lang="en-US" sz="1500" dirty="0">
                <a:solidFill>
                  <a:srgbClr val="1E2B2A"/>
                </a:solidFill>
              </a:rPr>
              <a:t>While studying obesity in human networks, Nicholas Christakis and his colleagues at Harvard University made an important discovery: if you have obese friends, there is a greater chance that you will become obese yourself.</a:t>
            </a:r>
            <a:pPr indent="0" marL="0">
              <a:lnSpc>
                <a:spcPct val="115000"/>
              </a:lnSpc>
              <a:buNone/>
            </a:pPr>
            <a:r>
              <a:rPr lang="en-US" sz="1500" dirty="0">
                <a:solidFill>
                  <a:srgbClr val="000000"/>
                </a:solidFill>
              </a:rPr>
              <a:t> </a:t>
            </a:r>
            <a:pPr indent="0" marL="0">
              <a:lnSpc>
                <a:spcPct val="115000"/>
              </a:lnSpc>
              <a:buNone/>
            </a:pPr>
            <a:r>
              <a:rPr lang="en-US" sz="1500" dirty="0">
                <a:solidFill>
                  <a:srgbClr val="1E2B2A"/>
                </a:solidFill>
              </a:rPr>
              <a:t>Similarly, if you have fit and healthy friends, you are more likely to be fit and healthy.</a:t>
            </a:r>
            <a:pPr indent="0" marL="0">
              <a:lnSpc>
                <a:spcPct val="115000"/>
              </a:lnSpc>
              <a:buNone/>
            </a:pPr>
            <a:r>
              <a:rPr lang="en-US" sz="1500" dirty="0">
                <a:solidFill>
                  <a:srgbClr val="000000"/>
                </a:solidFill>
              </a:rPr>
              <a:t> </a:t>
            </a:r>
            <a:pPr indent="0" marL="0">
              <a:lnSpc>
                <a:spcPct val="115000"/>
              </a:lnSpc>
              <a:buNone/>
            </a:pPr>
            <a:r>
              <a:rPr lang="en-US" sz="1500" dirty="0">
                <a:solidFill>
                  <a:srgbClr val="1E2B2A"/>
                </a:solidFill>
              </a:rPr>
              <a:t>This happens because we tend to copy the behavior of those around us.</a:t>
            </a:r>
            <a:pPr indent="0" marL="0">
              <a:lnSpc>
                <a:spcPct val="115000"/>
              </a:lnSpc>
              <a:buNone/>
            </a:pPr>
            <a:r>
              <a:rPr lang="en-US" sz="1500" dirty="0">
                <a:solidFill>
                  <a:srgbClr val="000000"/>
                </a:solidFill>
              </a:rPr>
              <a:t> </a:t>
            </a:r>
            <a:pPr indent="0" marL="0">
              <a:lnSpc>
                <a:spcPct val="115000"/>
              </a:lnSpc>
              <a:buNone/>
            </a:pPr>
            <a:r>
              <a:rPr lang="en-US" sz="1500" dirty="0">
                <a:solidFill>
                  <a:srgbClr val="1E2B2A"/>
                </a:solidFill>
              </a:rPr>
              <a:t>For example, if your friends invite you to restaurants that serve fatty foods, you will become more inclined to eat fatty food.</a:t>
            </a:r>
            <a:pPr indent="0" marL="0">
              <a:lnSpc>
                <a:spcPct val="115000"/>
              </a:lnSpc>
              <a:buNone/>
            </a:pPr>
            <a:r>
              <a:rPr lang="en-US" sz="1500" dirty="0">
                <a:solidFill>
                  <a:srgbClr val="000000"/>
                </a:solidFill>
              </a:rPr>
              <a:t> </a:t>
            </a:r>
            <a:pPr indent="0" marL="0">
              <a:lnSpc>
                <a:spcPct val="115000"/>
              </a:lnSpc>
              <a:buNone/>
            </a:pPr>
            <a:r>
              <a:rPr lang="en-US" sz="1500" dirty="0">
                <a:solidFill>
                  <a:srgbClr val="1E2B2A"/>
                </a:solidFill>
              </a:rPr>
              <a:t>On the other hand, you may start jogging on your own after you have run beside your friend a few times.</a:t>
            </a:r>
            <a:pPr indent="0" marL="0">
              <a:lnSpc>
                <a:spcPct val="115000"/>
              </a:lnSpc>
              <a:buNone/>
            </a:pPr>
            <a:r>
              <a:rPr lang="en-US" sz="1500" dirty="0">
                <a:solidFill>
                  <a:srgbClr val="000000"/>
                </a:solidFill>
              </a:rPr>
              <a:t> </a:t>
            </a:r>
            <a:pPr indent="0" marL="0">
              <a:lnSpc>
                <a:spcPct val="115000"/>
              </a:lnSpc>
              <a:buNone/>
            </a:pPr>
            <a:r>
              <a:rPr lang="en-US" sz="1500" dirty="0">
                <a:solidFill>
                  <a:srgbClr val="1E2B2A"/>
                </a:solidFill>
              </a:rPr>
              <a:t>Nicholas calls this transfer of behavior “social contagion."</a:t>
            </a:r>
            <a:pPr indent="0" marL="0">
              <a:lnSpc>
                <a:spcPct val="115000"/>
              </a:lnSpc>
              <a:buNone/>
            </a:pPr>
            <a:r>
              <a:rPr lang="en-US" sz="1500" dirty="0">
                <a:solidFill>
                  <a:srgbClr val="000000"/>
                </a:solidFill>
              </a:rPr>
              <a:t> </a:t>
            </a:r>
            <a:pPr indent="0" marL="0">
              <a:lnSpc>
                <a:spcPct val="115000"/>
              </a:lnSpc>
              <a:buNone/>
            </a:pPr>
            <a:r>
              <a:rPr lang="en-US" sz="1500" dirty="0">
                <a:solidFill>
                  <a:srgbClr val="1E2B2A"/>
                </a:solidFill>
              </a:rPr>
              <a:t>Many cases of such social contagion happen in subtle ways in our daily lives through social networks: the spread of smoking, the spread of diet, even the spread of happiness.</a:t>
            </a:r>
            <a:pPr indent="0" marL="0">
              <a:lnSpc>
                <a:spcPct val="115000"/>
              </a:lnSpc>
              <a:buNone/>
            </a:pPr>
            <a:r>
              <a:rPr lang="en-US" sz="1500" dirty="0">
                <a:solidFill>
                  <a:srgbClr val="000000"/>
                </a:solidFill>
              </a:rPr>
              <a:t> </a:t>
            </a:r>
            <a:pPr indent="0" marL="0">
              <a:lnSpc>
                <a:spcPct val="115000"/>
              </a:lnSpc>
              <a:buNone/>
            </a:pPr>
            <a:r>
              <a:rPr lang="en-US" sz="1500" dirty="0">
                <a:solidFill>
                  <a:srgbClr val="1E2B2A"/>
                </a:solidFill>
              </a:rPr>
              <a:t>We barely notice this interesting hidden principle, but it can actually determine many of our life choices.</a:t>
            </a:r>
            <a:endParaRPr lang="en-US" sz="1500" dirty="0"/>
          </a:p>
          <a:p>
            <a:pPr algn="r" indent="0" marL="0">
              <a:lnSpc>
                <a:spcPct val="115000"/>
              </a:lnSpc>
              <a:spcBef>
                <a:spcPts val="200"/>
              </a:spcBef>
              <a:buNone/>
            </a:pPr>
            <a:r>
              <a:rPr lang="en-US" sz="1100" i="1" dirty="0">
                <a:solidFill>
                  <a:srgbClr val="6E7F7C"/>
                </a:solidFill>
              </a:rPr>
              <a:t>*contagion 전염, 확산</a:t>
            </a:r>
            <a:endParaRPr lang="en-US" sz="1500" dirty="0"/>
          </a:p>
          <a:p>
            <a:pPr indent="0" marL="0">
              <a:lnSpc>
                <a:spcPct val="115000"/>
              </a:lnSpc>
              <a:spcBef>
                <a:spcPts val="800"/>
              </a:spcBef>
              <a:buNone/>
            </a:pPr>
            <a:r>
              <a:rPr lang="en-US" sz="1500" b="1" dirty="0">
                <a:solidFill>
                  <a:srgbClr val="1F7A64"/>
                </a:solidFill>
              </a:rPr>
              <a:t>↓  </a:t>
            </a:r>
            <a:pPr indent="0" marL="0">
              <a:lnSpc>
                <a:spcPct val="115000"/>
              </a:lnSpc>
              <a:buNone/>
            </a:pPr>
            <a:r>
              <a:rPr lang="en-US" sz="1500" dirty="0">
                <a:solidFill>
                  <a:srgbClr val="14453D"/>
                </a:solidFill>
              </a:rPr>
              <a:t>The social contagion theory illustrates how one person’s action </a:t>
            </a:r>
            <a:pPr indent="0" marL="0">
              <a:lnSpc>
                <a:spcPct val="115000"/>
              </a:lnSpc>
              <a:buNone/>
            </a:pPr>
            <a:r>
              <a:rPr lang="en-US" sz="1500" b="1" dirty="0">
                <a:solidFill>
                  <a:srgbClr val="EF5B3F"/>
                </a:solidFill>
              </a:rPr>
              <a:t>(A)</a:t>
            </a:r>
            <a:pPr indent="0" marL="0">
              <a:lnSpc>
                <a:spcPct val="115000"/>
              </a:lnSpc>
              <a:buNone/>
            </a:pPr>
            <a:r>
              <a:rPr lang="en-US" sz="1500" dirty="0">
                <a:solidFill>
                  <a:srgbClr val="14453D"/>
                </a:solidFill>
              </a:rPr>
              <a:t> another’s desire to perform the same action through social </a:t>
            </a:r>
            <a:pPr indent="0" marL="0">
              <a:lnSpc>
                <a:spcPct val="115000"/>
              </a:lnSpc>
              <a:buNone/>
            </a:pPr>
            <a:r>
              <a:rPr lang="en-US" sz="1500" b="1" dirty="0">
                <a:solidFill>
                  <a:srgbClr val="EF5B3F"/>
                </a:solidFill>
              </a:rPr>
              <a:t>(B)</a:t>
            </a:r>
            <a:pPr indent="0" marL="0">
              <a:lnSpc>
                <a:spcPct val="115000"/>
              </a:lnSpc>
              <a:buNone/>
            </a:pPr>
            <a:r>
              <a:rPr lang="en-US" sz="1500" dirty="0">
                <a:solidFill>
                  <a:srgbClr val="14453D"/>
                </a:solidFill>
              </a:rPr>
              <a:t>.</a:t>
            </a:r>
            <a:endParaRPr lang="en-US" sz="1500" dirty="0"/>
          </a:p>
          <a:p>
            <a:pPr indent="0" marL="0">
              <a:lnSpc>
                <a:spcPct val="115000"/>
              </a:lnSpc>
              <a:spcBef>
                <a:spcPts val="1000"/>
              </a:spcBef>
              <a:buNone/>
            </a:pPr>
            <a:r>
              <a:rPr lang="en-US" sz="1500" dirty="0">
                <a:solidFill>
                  <a:srgbClr val="14453D"/>
                </a:solidFill>
              </a:rPr>
              <a:t>①  triggers ----- contacts</a:t>
            </a:r>
            <a:endParaRPr lang="en-US" sz="1500" dirty="0"/>
          </a:p>
          <a:p>
            <a:pPr indent="0" marL="0">
              <a:lnSpc>
                <a:spcPct val="115000"/>
              </a:lnSpc>
              <a:spcBef>
                <a:spcPts val="200"/>
              </a:spcBef>
              <a:buNone/>
            </a:pPr>
            <a:r>
              <a:rPr lang="en-US" sz="1500" dirty="0">
                <a:solidFill>
                  <a:srgbClr val="14453D"/>
                </a:solidFill>
              </a:rPr>
              <a:t>②  reflects ----- contacts</a:t>
            </a:r>
            <a:endParaRPr lang="en-US" sz="1500" dirty="0"/>
          </a:p>
          <a:p>
            <a:pPr indent="0" marL="0">
              <a:lnSpc>
                <a:spcPct val="115000"/>
              </a:lnSpc>
              <a:spcBef>
                <a:spcPts val="200"/>
              </a:spcBef>
              <a:buNone/>
            </a:pPr>
            <a:r>
              <a:rPr lang="en-US" sz="1500" dirty="0">
                <a:solidFill>
                  <a:srgbClr val="14453D"/>
                </a:solidFill>
              </a:rPr>
              <a:t>③  triggers ----- structures</a:t>
            </a:r>
            <a:endParaRPr lang="en-US" sz="1500" dirty="0"/>
          </a:p>
          <a:p>
            <a:pPr indent="0" marL="0">
              <a:lnSpc>
                <a:spcPct val="115000"/>
              </a:lnSpc>
              <a:spcBef>
                <a:spcPts val="200"/>
              </a:spcBef>
              <a:buNone/>
            </a:pPr>
            <a:r>
              <a:rPr lang="en-US" sz="1500" dirty="0">
                <a:solidFill>
                  <a:srgbClr val="14453D"/>
                </a:solidFill>
              </a:rPr>
              <a:t>④  approves ----- structures</a:t>
            </a:r>
            <a:endParaRPr lang="en-US" sz="1500" dirty="0"/>
          </a:p>
          <a:p>
            <a:pPr indent="0" marL="0">
              <a:lnSpc>
                <a:spcPct val="115000"/>
              </a:lnSpc>
              <a:spcBef>
                <a:spcPts val="200"/>
              </a:spcBef>
              <a:buNone/>
            </a:pPr>
            <a:r>
              <a:rPr lang="en-US" sz="1500" dirty="0">
                <a:solidFill>
                  <a:srgbClr val="14453D"/>
                </a:solidFill>
              </a:rPr>
              <a:t>⑤  approves ----- pressure</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94  </a:t>
            </a:r>
            <a:pPr algn="l" indent="0" marL="0">
              <a:buNone/>
            </a:pPr>
            <a:r>
              <a:rPr lang="en-US" sz="3000" b="1" dirty="0">
                <a:solidFill>
                  <a:srgbClr val="14453D"/>
                </a:solidFill>
              </a:rPr>
              <a:t>정답 근거 &amp; 문법 포인트</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근거</a:t>
            </a:r>
            <a:endParaRPr lang="en-US" sz="1200" dirty="0"/>
          </a:p>
        </p:txBody>
      </p:sp>
      <p:sp>
        <p:nvSpPr>
          <p:cNvPr id="4" name="Shape 2"/>
          <p:cNvSpPr/>
          <p:nvPr/>
        </p:nvSpPr>
        <p:spPr>
          <a:xfrm>
            <a:off x="548640" y="1234440"/>
            <a:ext cx="11064240" cy="2907792"/>
          </a:xfrm>
          <a:prstGeom prst="roundRect">
            <a:avLst>
              <a:gd name="adj" fmla="val 3145"/>
            </a:avLst>
          </a:prstGeom>
          <a:solidFill>
            <a:srgbClr val="FFFFFF"/>
          </a:solidFill>
          <a:ln w="19050">
            <a:solidFill>
              <a:srgbClr val="E6F2ED"/>
            </a:solidFill>
            <a:prstDash val="solid"/>
          </a:ln>
        </p:spPr>
      </p:sp>
      <p:sp>
        <p:nvSpPr>
          <p:cNvPr id="5" name="Text 3"/>
          <p:cNvSpPr txBox="1"/>
          <p:nvPr/>
        </p:nvSpPr>
        <p:spPr>
          <a:xfrm>
            <a:off x="777240" y="1371600"/>
            <a:ext cx="10607040" cy="2679192"/>
          </a:xfrm>
          <a:prstGeom prst="rect">
            <a:avLst/>
          </a:prstGeom>
          <a:noFill/>
          <a:ln/>
        </p:spPr>
        <p:txBody>
          <a:bodyPr wrap="square" lIns="0" tIns="0" rIns="0" bIns="0" rtlCol="0" anchor="t">
            <a:normAutofit/>
          </a:bodyPr>
          <a:lstStyle/>
          <a:p>
            <a:pPr indent="0" marL="0">
              <a:lnSpc>
                <a:spcPct val="120000"/>
              </a:lnSpc>
              <a:buNone/>
            </a:pPr>
            <a:r>
              <a:rPr lang="en-US" sz="1100" b="1" dirty="0">
                <a:solidFill>
                  <a:srgbClr val="1F7A64"/>
                </a:solidFill>
              </a:rPr>
              <a:t>(1) </a:t>
            </a:r>
            <a:pPr indent="0" marL="0">
              <a:lnSpc>
                <a:spcPct val="120000"/>
              </a:lnSpc>
              <a:buNone/>
            </a:pPr>
            <a:r>
              <a:rPr lang="en-US" sz="1400" b="1" dirty="0">
                <a:solidFill>
                  <a:srgbClr val="14453D"/>
                </a:solidFill>
                <a:highlight>
                  <a:srgbClr val="A9DDF3"/>
                </a:highlight>
              </a:rPr>
              <a:t>While studying </a:t>
            </a:r>
            <a:pPr indent="0" marL="0">
              <a:lnSpc>
                <a:spcPct val="120000"/>
              </a:lnSpc>
              <a:buNone/>
            </a:pPr>
            <a:r>
              <a:rPr lang="en-US" sz="1400" b="1" u="dotted" dirty="0">
                <a:solidFill>
                  <a:srgbClr val="14453D"/>
                </a:solidFill>
                <a:highlight>
                  <a:srgbClr val="A9DDF3"/>
                </a:highlight>
                <a:uFill>
                  <a:solidFill>
                    <a:srgbClr val="1F7A64"/>
                  </a:solidFill>
                </a:uFill>
              </a:rPr>
              <a:t>obesity</a:t>
            </a:r>
            <a:pPr indent="0" marL="0">
              <a:lnSpc>
                <a:spcPct val="120000"/>
              </a:lnSpc>
              <a:buNone/>
            </a:pPr>
            <a:r>
              <a:rPr lang="en-US" sz="1400" dirty="0">
                <a:solidFill>
                  <a:srgbClr val="1E2B2A"/>
                </a:solidFill>
              </a:rPr>
              <a:t> in human networks, Nicholas Christakis and his </a:t>
            </a:r>
            <a:pPr indent="0" marL="0">
              <a:lnSpc>
                <a:spcPct val="120000"/>
              </a:lnSpc>
              <a:buNone/>
            </a:pPr>
            <a:r>
              <a:rPr lang="en-US" sz="1400" u="dotted" dirty="0">
                <a:solidFill>
                  <a:srgbClr val="1F7A64"/>
                </a:solidFill>
                <a:uFill>
                  <a:solidFill>
                    <a:srgbClr val="1F7A64"/>
                  </a:solidFill>
                </a:uFill>
              </a:rPr>
              <a:t>colleagues</a:t>
            </a:r>
            <a:pPr indent="0" marL="0">
              <a:lnSpc>
                <a:spcPct val="120000"/>
              </a:lnSpc>
              <a:buNone/>
            </a:pPr>
            <a:r>
              <a:rPr lang="en-US" sz="1400" dirty="0">
                <a:solidFill>
                  <a:srgbClr val="1E2B2A"/>
                </a:solidFill>
              </a:rPr>
              <a:t> at Harvard University made an important discovery: if you have obese friends, there is </a:t>
            </a:r>
            <a:pPr indent="0" marL="0">
              <a:lnSpc>
                <a:spcPct val="120000"/>
              </a:lnSpc>
              <a:buNone/>
            </a:pPr>
            <a:r>
              <a:rPr lang="en-US" sz="1400" b="1" dirty="0">
                <a:solidFill>
                  <a:srgbClr val="14453D"/>
                </a:solidFill>
                <a:highlight>
                  <a:srgbClr val="A9DDF3"/>
                </a:highlight>
              </a:rPr>
              <a:t>a greater chance that you will become obese yourself</a:t>
            </a:r>
            <a:pPr indent="0" marL="0">
              <a:lnSpc>
                <a:spcPct val="120000"/>
              </a:lnSpc>
              <a:buNone/>
            </a:pPr>
            <a:r>
              <a:rPr lang="en-US" sz="1400" dirty="0">
                <a:solidFill>
                  <a:srgbClr val="1E2B2A"/>
                </a:solidFill>
              </a:rPr>
              <a:t>.</a:t>
            </a:r>
            <a:pPr indent="0" marL="0">
              <a:lnSpc>
                <a:spcPct val="120000"/>
              </a:lnSpc>
              <a:buNone/>
            </a:pPr>
            <a:r>
              <a:rPr lang="en-US" sz="1400" dirty="0">
                <a:solidFill>
                  <a:srgbClr val="000000"/>
                </a:solidFill>
              </a:rPr>
              <a:t> </a:t>
            </a:r>
            <a:pPr indent="0" marL="0">
              <a:lnSpc>
                <a:spcPct val="120000"/>
              </a:lnSpc>
              <a:buNone/>
            </a:pPr>
            <a:r>
              <a:rPr lang="en-US" sz="1100" b="1" dirty="0">
                <a:solidFill>
                  <a:srgbClr val="1F7A64"/>
                </a:solidFill>
              </a:rPr>
              <a:t>(2) </a:t>
            </a:r>
            <a:pPr indent="0" marL="0">
              <a:lnSpc>
                <a:spcPct val="120000"/>
              </a:lnSpc>
              <a:buNone/>
            </a:pPr>
            <a:r>
              <a:rPr lang="en-US" sz="1400" dirty="0">
                <a:solidFill>
                  <a:srgbClr val="1E2B2A"/>
                </a:solidFill>
              </a:rPr>
              <a:t>Similarly, if you have fit and healthy friends, you are more likely to be fit and healthy.</a:t>
            </a:r>
            <a:pPr indent="0" marL="0">
              <a:lnSpc>
                <a:spcPct val="120000"/>
              </a:lnSpc>
              <a:buNone/>
            </a:pPr>
            <a:r>
              <a:rPr lang="en-US" sz="1400" dirty="0">
                <a:solidFill>
                  <a:srgbClr val="000000"/>
                </a:solidFill>
              </a:rPr>
              <a:t> </a:t>
            </a:r>
            <a:pPr indent="0" marL="0">
              <a:lnSpc>
                <a:spcPct val="120000"/>
              </a:lnSpc>
              <a:buNone/>
            </a:pPr>
            <a:r>
              <a:rPr lang="en-US" sz="1100" b="1" dirty="0">
                <a:solidFill>
                  <a:srgbClr val="1F7A64"/>
                </a:solidFill>
              </a:rPr>
              <a:t>(3) </a:t>
            </a:r>
            <a:pPr indent="0" marL="0">
              <a:lnSpc>
                <a:spcPct val="120000"/>
              </a:lnSpc>
              <a:buNone/>
            </a:pPr>
            <a:r>
              <a:rPr lang="en-US" sz="1400" dirty="0">
                <a:solidFill>
                  <a:srgbClr val="1E2B2A"/>
                </a:solidFill>
                <a:highlight>
                  <a:srgbClr val="FFD45C"/>
                </a:highlight>
              </a:rPr>
              <a:t>This happens because we tend to copy the behavior of those around us.</a:t>
            </a:r>
            <a:pPr indent="0" marL="0">
              <a:lnSpc>
                <a:spcPct val="120000"/>
              </a:lnSpc>
              <a:buNone/>
            </a:pPr>
            <a:r>
              <a:rPr lang="en-US" sz="1400" dirty="0">
                <a:solidFill>
                  <a:srgbClr val="000000"/>
                </a:solidFill>
              </a:rPr>
              <a:t> </a:t>
            </a:r>
            <a:pPr indent="0" marL="0">
              <a:lnSpc>
                <a:spcPct val="120000"/>
              </a:lnSpc>
              <a:buNone/>
            </a:pPr>
            <a:r>
              <a:rPr lang="en-US" sz="1100" b="1" dirty="0">
                <a:solidFill>
                  <a:srgbClr val="1F7A64"/>
                </a:solidFill>
              </a:rPr>
              <a:t>(4) </a:t>
            </a:r>
            <a:pPr indent="0" marL="0">
              <a:lnSpc>
                <a:spcPct val="120000"/>
              </a:lnSpc>
              <a:buNone/>
            </a:pPr>
            <a:r>
              <a:rPr lang="en-US" sz="1400" dirty="0">
                <a:solidFill>
                  <a:srgbClr val="1E2B2A"/>
                </a:solidFill>
              </a:rPr>
              <a:t>For example, if your friends invite you to restaurants that serve fatty foods, you will </a:t>
            </a:r>
            <a:pPr indent="0" marL="0">
              <a:lnSpc>
                <a:spcPct val="120000"/>
              </a:lnSpc>
              <a:buNone/>
            </a:pPr>
            <a:r>
              <a:rPr lang="en-US" sz="1400" b="1" dirty="0">
                <a:solidFill>
                  <a:srgbClr val="14453D"/>
                </a:solidFill>
                <a:highlight>
                  <a:srgbClr val="A9DDF3"/>
                </a:highlight>
              </a:rPr>
              <a:t>become more </a:t>
            </a:r>
            <a:pPr indent="0" marL="0">
              <a:lnSpc>
                <a:spcPct val="120000"/>
              </a:lnSpc>
              <a:buNone/>
            </a:pPr>
            <a:r>
              <a:rPr lang="en-US" sz="1400" b="1" u="dotted" dirty="0">
                <a:solidFill>
                  <a:srgbClr val="14453D"/>
                </a:solidFill>
                <a:highlight>
                  <a:srgbClr val="A9DDF3"/>
                </a:highlight>
                <a:uFill>
                  <a:solidFill>
                    <a:srgbClr val="1F7A64"/>
                  </a:solidFill>
                </a:uFill>
              </a:rPr>
              <a:t>inclined</a:t>
            </a:r>
            <a:pPr indent="0" marL="0">
              <a:lnSpc>
                <a:spcPct val="120000"/>
              </a:lnSpc>
              <a:buNone/>
            </a:pPr>
            <a:r>
              <a:rPr lang="en-US" sz="1400" b="1" dirty="0">
                <a:solidFill>
                  <a:srgbClr val="14453D"/>
                </a:solidFill>
                <a:highlight>
                  <a:srgbClr val="A9DDF3"/>
                </a:highlight>
              </a:rPr>
              <a:t> to eat</a:t>
            </a:r>
            <a:pPr indent="0" marL="0">
              <a:lnSpc>
                <a:spcPct val="120000"/>
              </a:lnSpc>
              <a:buNone/>
            </a:pPr>
            <a:r>
              <a:rPr lang="en-US" sz="1400" dirty="0">
                <a:solidFill>
                  <a:srgbClr val="1E2B2A"/>
                </a:solidFill>
              </a:rPr>
              <a:t> fatty food.</a:t>
            </a:r>
            <a:pPr indent="0" marL="0">
              <a:lnSpc>
                <a:spcPct val="120000"/>
              </a:lnSpc>
              <a:buNone/>
            </a:pPr>
            <a:r>
              <a:rPr lang="en-US" sz="1400" dirty="0">
                <a:solidFill>
                  <a:srgbClr val="000000"/>
                </a:solidFill>
              </a:rPr>
              <a:t> </a:t>
            </a:r>
            <a:pPr indent="0" marL="0">
              <a:lnSpc>
                <a:spcPct val="120000"/>
              </a:lnSpc>
              <a:buNone/>
            </a:pPr>
            <a:r>
              <a:rPr lang="en-US" sz="1100" b="1" dirty="0">
                <a:solidFill>
                  <a:srgbClr val="1F7A64"/>
                </a:solidFill>
              </a:rPr>
              <a:t>(5) </a:t>
            </a:r>
            <a:pPr indent="0" marL="0">
              <a:lnSpc>
                <a:spcPct val="120000"/>
              </a:lnSpc>
              <a:buNone/>
            </a:pPr>
            <a:r>
              <a:rPr lang="en-US" sz="1400" dirty="0">
                <a:solidFill>
                  <a:srgbClr val="1E2B2A"/>
                </a:solidFill>
              </a:rPr>
              <a:t>On the other hand, you may start jogging on your own after you have run beside your friend a few times.</a:t>
            </a:r>
            <a:pPr indent="0" marL="0">
              <a:lnSpc>
                <a:spcPct val="120000"/>
              </a:lnSpc>
              <a:buNone/>
            </a:pPr>
            <a:r>
              <a:rPr lang="en-US" sz="1400" dirty="0">
                <a:solidFill>
                  <a:srgbClr val="000000"/>
                </a:solidFill>
              </a:rPr>
              <a:t> </a:t>
            </a:r>
            <a:pPr indent="0" marL="0">
              <a:lnSpc>
                <a:spcPct val="120000"/>
              </a:lnSpc>
              <a:buNone/>
            </a:pPr>
            <a:r>
              <a:rPr lang="en-US" sz="1100" b="1" dirty="0">
                <a:solidFill>
                  <a:srgbClr val="1F7A64"/>
                </a:solidFill>
              </a:rPr>
              <a:t>(6) </a:t>
            </a:r>
            <a:pPr indent="0" marL="0">
              <a:lnSpc>
                <a:spcPct val="120000"/>
              </a:lnSpc>
              <a:buNone/>
            </a:pPr>
            <a:r>
              <a:rPr lang="en-US" sz="1400" dirty="0">
                <a:solidFill>
                  <a:srgbClr val="1E2B2A"/>
                </a:solidFill>
                <a:highlight>
                  <a:srgbClr val="FFD45C"/>
                </a:highlight>
              </a:rPr>
              <a:t>Nicholas calls this </a:t>
            </a:r>
            <a:pPr indent="0" marL="0">
              <a:lnSpc>
                <a:spcPct val="120000"/>
              </a:lnSpc>
              <a:buNone/>
            </a:pPr>
            <a:r>
              <a:rPr lang="en-US" sz="1400" u="dotted" dirty="0">
                <a:solidFill>
                  <a:srgbClr val="1F7A64"/>
                </a:solidFill>
                <a:highlight>
                  <a:srgbClr val="FFD45C"/>
                </a:highlight>
                <a:uFill>
                  <a:solidFill>
                    <a:srgbClr val="1F7A64"/>
                  </a:solidFill>
                </a:uFill>
              </a:rPr>
              <a:t>transfer</a:t>
            </a:r>
            <a:pPr indent="0" marL="0">
              <a:lnSpc>
                <a:spcPct val="120000"/>
              </a:lnSpc>
              <a:buNone/>
            </a:pPr>
            <a:r>
              <a:rPr lang="en-US" sz="1400" dirty="0">
                <a:solidFill>
                  <a:srgbClr val="1E2B2A"/>
                </a:solidFill>
                <a:highlight>
                  <a:srgbClr val="FFD45C"/>
                </a:highlight>
              </a:rPr>
              <a:t> of behavior “social contagion."</a:t>
            </a:r>
            <a:pPr indent="0" marL="0">
              <a:lnSpc>
                <a:spcPct val="120000"/>
              </a:lnSpc>
              <a:buNone/>
            </a:pPr>
            <a:r>
              <a:rPr lang="en-US" sz="1400" dirty="0">
                <a:solidFill>
                  <a:srgbClr val="000000"/>
                </a:solidFill>
              </a:rPr>
              <a:t> </a:t>
            </a:r>
            <a:pPr indent="0" marL="0">
              <a:lnSpc>
                <a:spcPct val="120000"/>
              </a:lnSpc>
              <a:buNone/>
            </a:pPr>
            <a:r>
              <a:rPr lang="en-US" sz="1100" b="1" dirty="0">
                <a:solidFill>
                  <a:srgbClr val="1F7A64"/>
                </a:solidFill>
              </a:rPr>
              <a:t>(7) </a:t>
            </a:r>
            <a:pPr indent="0" marL="0">
              <a:lnSpc>
                <a:spcPct val="120000"/>
              </a:lnSpc>
              <a:buNone/>
            </a:pPr>
            <a:r>
              <a:rPr lang="en-US" sz="1400" b="1" dirty="0">
                <a:solidFill>
                  <a:srgbClr val="14453D"/>
                </a:solidFill>
                <a:highlight>
                  <a:srgbClr val="A9DDF3"/>
                </a:highlight>
              </a:rPr>
              <a:t>Many cases of such social contagion happen</a:t>
            </a:r>
            <a:pPr indent="0" marL="0">
              <a:lnSpc>
                <a:spcPct val="120000"/>
              </a:lnSpc>
              <a:buNone/>
            </a:pPr>
            <a:r>
              <a:rPr lang="en-US" sz="1400" dirty="0">
                <a:solidFill>
                  <a:srgbClr val="1E2B2A"/>
                </a:solidFill>
                <a:highlight>
                  <a:srgbClr val="FFD45C"/>
                </a:highlight>
              </a:rPr>
              <a:t> in </a:t>
            </a:r>
            <a:pPr indent="0" marL="0">
              <a:lnSpc>
                <a:spcPct val="120000"/>
              </a:lnSpc>
              <a:buNone/>
            </a:pPr>
            <a:r>
              <a:rPr lang="en-US" sz="1400" u="dotted" dirty="0">
                <a:solidFill>
                  <a:srgbClr val="1F7A64"/>
                </a:solidFill>
                <a:highlight>
                  <a:srgbClr val="FFD45C"/>
                </a:highlight>
                <a:uFill>
                  <a:solidFill>
                    <a:srgbClr val="1F7A64"/>
                  </a:solidFill>
                </a:uFill>
              </a:rPr>
              <a:t>subtle</a:t>
            </a:r>
            <a:pPr indent="0" marL="0">
              <a:lnSpc>
                <a:spcPct val="120000"/>
              </a:lnSpc>
              <a:buNone/>
            </a:pPr>
            <a:r>
              <a:rPr lang="en-US" sz="1400" dirty="0">
                <a:solidFill>
                  <a:srgbClr val="1E2B2A"/>
                </a:solidFill>
                <a:highlight>
                  <a:srgbClr val="FFD45C"/>
                </a:highlight>
              </a:rPr>
              <a:t> ways in our daily lives through social networks: the spread of smoking, the spread of diet, even the spread of happiness.</a:t>
            </a:r>
            <a:pPr indent="0" marL="0">
              <a:lnSpc>
                <a:spcPct val="120000"/>
              </a:lnSpc>
              <a:buNone/>
            </a:pPr>
            <a:r>
              <a:rPr lang="en-US" sz="1400" dirty="0">
                <a:solidFill>
                  <a:srgbClr val="000000"/>
                </a:solidFill>
              </a:rPr>
              <a:t> </a:t>
            </a:r>
            <a:pPr indent="0" marL="0">
              <a:lnSpc>
                <a:spcPct val="120000"/>
              </a:lnSpc>
              <a:buNone/>
            </a:pPr>
            <a:r>
              <a:rPr lang="en-US" sz="1100" b="1" dirty="0">
                <a:solidFill>
                  <a:srgbClr val="1F7A64"/>
                </a:solidFill>
              </a:rPr>
              <a:t>(8) </a:t>
            </a:r>
            <a:pPr indent="0" marL="0">
              <a:lnSpc>
                <a:spcPct val="120000"/>
              </a:lnSpc>
              <a:buNone/>
            </a:pPr>
            <a:r>
              <a:rPr lang="en-US" sz="1400" b="1" dirty="0">
                <a:solidFill>
                  <a:srgbClr val="14453D"/>
                </a:solidFill>
                <a:highlight>
                  <a:srgbClr val="A9DDF3"/>
                </a:highlight>
              </a:rPr>
              <a:t>We </a:t>
            </a:r>
            <a:pPr indent="0" marL="0">
              <a:lnSpc>
                <a:spcPct val="120000"/>
              </a:lnSpc>
              <a:buNone/>
            </a:pPr>
            <a:r>
              <a:rPr lang="en-US" sz="1400" b="1" u="dotted" dirty="0">
                <a:solidFill>
                  <a:srgbClr val="14453D"/>
                </a:solidFill>
                <a:highlight>
                  <a:srgbClr val="A9DDF3"/>
                </a:highlight>
                <a:uFill>
                  <a:solidFill>
                    <a:srgbClr val="1F7A64"/>
                  </a:solidFill>
                </a:uFill>
              </a:rPr>
              <a:t>barely</a:t>
            </a:r>
            <a:pPr indent="0" marL="0">
              <a:lnSpc>
                <a:spcPct val="120000"/>
              </a:lnSpc>
              <a:buNone/>
            </a:pPr>
            <a:r>
              <a:rPr lang="en-US" sz="1400" b="1" dirty="0">
                <a:solidFill>
                  <a:srgbClr val="14453D"/>
                </a:solidFill>
                <a:highlight>
                  <a:srgbClr val="A9DDF3"/>
                </a:highlight>
              </a:rPr>
              <a:t> notice</a:t>
            </a:r>
            <a:pPr indent="0" marL="0">
              <a:lnSpc>
                <a:spcPct val="120000"/>
              </a:lnSpc>
              <a:buNone/>
            </a:pPr>
            <a:r>
              <a:rPr lang="en-US" sz="1400" dirty="0">
                <a:solidFill>
                  <a:srgbClr val="1E2B2A"/>
                </a:solidFill>
              </a:rPr>
              <a:t> this interesting hidden principle, but it can actually </a:t>
            </a:r>
            <a:pPr indent="0" marL="0">
              <a:lnSpc>
                <a:spcPct val="120000"/>
              </a:lnSpc>
              <a:buNone/>
            </a:pPr>
            <a:r>
              <a:rPr lang="en-US" sz="1400" u="dotted" dirty="0">
                <a:solidFill>
                  <a:srgbClr val="1F7A64"/>
                </a:solidFill>
                <a:uFill>
                  <a:solidFill>
                    <a:srgbClr val="1F7A64"/>
                  </a:solidFill>
                </a:uFill>
              </a:rPr>
              <a:t>determine</a:t>
            </a:r>
            <a:pPr indent="0" marL="0">
              <a:lnSpc>
                <a:spcPct val="120000"/>
              </a:lnSpc>
              <a:buNone/>
            </a:pPr>
            <a:r>
              <a:rPr lang="en-US" sz="1400" dirty="0">
                <a:solidFill>
                  <a:srgbClr val="1E2B2A"/>
                </a:solidFill>
              </a:rPr>
              <a:t> many of our life choices.</a:t>
            </a:r>
            <a:endParaRPr lang="en-US" sz="1100" dirty="0"/>
          </a:p>
        </p:txBody>
      </p:sp>
      <p:sp>
        <p:nvSpPr>
          <p:cNvPr id="6" name="Shape 4"/>
          <p:cNvSpPr/>
          <p:nvPr/>
        </p:nvSpPr>
        <p:spPr>
          <a:xfrm>
            <a:off x="548640" y="4233672"/>
            <a:ext cx="11064240" cy="978408"/>
          </a:xfrm>
          <a:prstGeom prst="roundRect">
            <a:avLst>
              <a:gd name="adj" fmla="val 9346"/>
            </a:avLst>
          </a:prstGeom>
          <a:solidFill>
            <a:srgbClr val="FFF6D6"/>
          </a:solidFill>
          <a:ln w="15875">
            <a:solidFill>
              <a:srgbClr val="FFD45C"/>
            </a:solidFill>
            <a:prstDash val="solid"/>
          </a:ln>
        </p:spPr>
      </p:sp>
      <p:sp>
        <p:nvSpPr>
          <p:cNvPr id="7" name="Text 5"/>
          <p:cNvSpPr txBox="1"/>
          <p:nvPr/>
        </p:nvSpPr>
        <p:spPr>
          <a:xfrm>
            <a:off x="731520" y="4306824"/>
            <a:ext cx="1051560" cy="274320"/>
          </a:xfrm>
          <a:prstGeom prst="rect">
            <a:avLst/>
          </a:prstGeom>
          <a:solidFill>
            <a:srgbClr val="EF5B3F"/>
          </a:solidFill>
          <a:ln/>
        </p:spPr>
        <p:txBody>
          <a:bodyPr wrap="square" lIns="0" tIns="0" rIns="0" bIns="0" rtlCol="0" anchor="ctr"/>
          <a:lstStyle/>
          <a:p>
            <a:pPr algn="ctr" indent="0" marL="0">
              <a:buNone/>
            </a:pPr>
            <a:r>
              <a:rPr lang="en-US" sz="1200" b="1" dirty="0">
                <a:solidFill>
                  <a:srgbClr val="FFFFFF"/>
                </a:solidFill>
              </a:rPr>
              <a:t> 근거 이유 </a:t>
            </a:r>
            <a:endParaRPr lang="en-US" sz="1200" dirty="0"/>
          </a:p>
        </p:txBody>
      </p:sp>
      <p:sp>
        <p:nvSpPr>
          <p:cNvPr id="8" name="Text 6"/>
          <p:cNvSpPr txBox="1"/>
          <p:nvPr/>
        </p:nvSpPr>
        <p:spPr>
          <a:xfrm>
            <a:off x="1920240" y="4279392"/>
            <a:ext cx="9555480" cy="886968"/>
          </a:xfrm>
          <a:prstGeom prst="rect">
            <a:avLst/>
          </a:prstGeom>
          <a:noFill/>
          <a:ln/>
        </p:spPr>
        <p:txBody>
          <a:bodyPr wrap="square" lIns="0" tIns="0" rIns="0" bIns="0" rtlCol="0" anchor="ctr">
            <a:normAutofit/>
          </a:bodyPr>
          <a:lstStyle/>
          <a:p>
            <a:pPr indent="0" marL="0">
              <a:lnSpc>
                <a:spcPct val="105000"/>
              </a:lnSpc>
              <a:buNone/>
            </a:pPr>
            <a:r>
              <a:rPr lang="en-US" sz="1400" b="1" dirty="0">
                <a:solidFill>
                  <a:srgbClr val="EF5B3F"/>
                </a:solidFill>
              </a:rPr>
              <a:t>(3) </a:t>
            </a:r>
            <a:pPr indent="0" marL="0">
              <a:lnSpc>
                <a:spcPct val="105000"/>
              </a:lnSpc>
              <a:buNone/>
            </a:pPr>
            <a:r>
              <a:rPr lang="en-US" sz="1400" dirty="0">
                <a:solidFill>
                  <a:srgbClr val="14453D"/>
                </a:solidFill>
              </a:rPr>
              <a:t>주변 사람의 행동을 따라 함 → 한 사람의 행동이 욕구를 (A) triggers</a:t>
            </a:r>
            <a:endParaRPr lang="en-US" sz="1400" dirty="0"/>
          </a:p>
          <a:p>
            <a:pPr indent="0" marL="0">
              <a:lnSpc>
                <a:spcPct val="105000"/>
              </a:lnSpc>
              <a:buNone/>
            </a:pPr>
            <a:r>
              <a:rPr lang="en-US" sz="1400" b="1" dirty="0">
                <a:solidFill>
                  <a:srgbClr val="EF5B3F"/>
                </a:solidFill>
              </a:rPr>
              <a:t>(6) </a:t>
            </a:r>
            <a:pPr indent="0" marL="0">
              <a:lnSpc>
                <a:spcPct val="105000"/>
              </a:lnSpc>
              <a:buNone/>
            </a:pPr>
            <a:r>
              <a:rPr lang="en-US" sz="1400" dirty="0">
                <a:solidFill>
                  <a:srgbClr val="14453D"/>
                </a:solidFill>
              </a:rPr>
              <a:t>행동의 전이 = social contagion (사회적 전염)</a:t>
            </a:r>
            <a:endParaRPr lang="en-US" sz="1400" dirty="0"/>
          </a:p>
          <a:p>
            <a:pPr indent="0" marL="0">
              <a:lnSpc>
                <a:spcPct val="105000"/>
              </a:lnSpc>
              <a:buNone/>
            </a:pPr>
            <a:r>
              <a:rPr lang="en-US" sz="1400" b="1" dirty="0">
                <a:solidFill>
                  <a:srgbClr val="EF5B3F"/>
                </a:solidFill>
              </a:rPr>
              <a:t>(7) </a:t>
            </a:r>
            <a:pPr indent="0" marL="0">
              <a:lnSpc>
                <a:spcPct val="105000"/>
              </a:lnSpc>
              <a:buNone/>
            </a:pPr>
            <a:r>
              <a:rPr lang="en-US" sz="1400" dirty="0">
                <a:solidFill>
                  <a:srgbClr val="14453D"/>
                </a:solidFill>
              </a:rPr>
              <a:t>through social networks(관계망을 통해) → (B) contacts</a:t>
            </a:r>
            <a:endParaRPr lang="en-US" sz="1400" dirty="0"/>
          </a:p>
        </p:txBody>
      </p:sp>
      <p:sp>
        <p:nvSpPr>
          <p:cNvPr id="9" name="Shape 7"/>
          <p:cNvSpPr/>
          <p:nvPr/>
        </p:nvSpPr>
        <p:spPr>
          <a:xfrm>
            <a:off x="548640" y="5303520"/>
            <a:ext cx="11064240" cy="731520"/>
          </a:xfrm>
          <a:prstGeom prst="roundRect">
            <a:avLst>
              <a:gd name="adj" fmla="val 12500"/>
            </a:avLst>
          </a:prstGeom>
          <a:solidFill>
            <a:srgbClr val="EAF5EF"/>
          </a:solidFill>
          <a:ln w="12700">
            <a:solidFill>
              <a:srgbClr val="CFE6D9"/>
            </a:solidFill>
            <a:prstDash val="solid"/>
          </a:ln>
        </p:spPr>
      </p:sp>
      <p:sp>
        <p:nvSpPr>
          <p:cNvPr id="10" name="Text 8"/>
          <p:cNvSpPr txBox="1"/>
          <p:nvPr/>
        </p:nvSpPr>
        <p:spPr>
          <a:xfrm>
            <a:off x="731520" y="5349240"/>
            <a:ext cx="10698480" cy="640080"/>
          </a:xfrm>
          <a:prstGeom prst="rect">
            <a:avLst/>
          </a:prstGeom>
          <a:noFill/>
          <a:ln/>
        </p:spPr>
        <p:txBody>
          <a:bodyPr wrap="square" lIns="0" tIns="0" rIns="0" bIns="0" rtlCol="0" anchor="ctr">
            <a:normAutofit/>
          </a:bodyPr>
          <a:lstStyle/>
          <a:p>
            <a:pPr indent="0" marL="0">
              <a:lnSpc>
                <a:spcPct val="110000"/>
              </a:lnSpc>
              <a:buNone/>
            </a:pPr>
            <a:r>
              <a:rPr lang="en-US" sz="1400" b="1" dirty="0">
                <a:solidFill>
                  <a:srgbClr val="FFFFFF"/>
                </a:solidFill>
                <a:highlight>
                  <a:srgbClr val="1F7A64"/>
                </a:highlight>
              </a:rPr>
              <a:t> 어휘 </a:t>
            </a:r>
            <a:pPr indent="0" marL="0">
              <a:lnSpc>
                <a:spcPct val="110000"/>
              </a:lnSpc>
              <a:buNone/>
            </a:pPr>
            <a:r>
              <a:rPr lang="en-US" sz="1400" dirty="0">
                <a:solidFill>
                  <a:srgbClr val="000000"/>
                </a:solidFill>
              </a:rPr>
              <a:t>   </a:t>
            </a:r>
            <a:pPr indent="0" marL="0">
              <a:lnSpc>
                <a:spcPct val="110000"/>
              </a:lnSpc>
              <a:buNone/>
            </a:pPr>
            <a:r>
              <a:rPr lang="en-US" sz="1400" b="1" dirty="0">
                <a:solidFill>
                  <a:srgbClr val="1F7A64"/>
                </a:solidFill>
              </a:rPr>
              <a:t>obesity </a:t>
            </a:r>
            <a:pPr indent="0" marL="0">
              <a:lnSpc>
                <a:spcPct val="110000"/>
              </a:lnSpc>
              <a:buNone/>
            </a:pPr>
            <a:r>
              <a:rPr lang="en-US" sz="1400" dirty="0">
                <a:solidFill>
                  <a:srgbClr val="1E2B2A"/>
                </a:solidFill>
              </a:rPr>
              <a:t>비만   ·   </a:t>
            </a:r>
            <a:pPr indent="0" marL="0">
              <a:lnSpc>
                <a:spcPct val="110000"/>
              </a:lnSpc>
              <a:buNone/>
            </a:pPr>
            <a:r>
              <a:rPr lang="en-US" sz="1400" b="1" dirty="0">
                <a:solidFill>
                  <a:srgbClr val="1F7A64"/>
                </a:solidFill>
              </a:rPr>
              <a:t>colleagues </a:t>
            </a:r>
            <a:pPr indent="0" marL="0">
              <a:lnSpc>
                <a:spcPct val="110000"/>
              </a:lnSpc>
              <a:buNone/>
            </a:pPr>
            <a:r>
              <a:rPr lang="en-US" sz="1400" dirty="0">
                <a:solidFill>
                  <a:srgbClr val="1E2B2A"/>
                </a:solidFill>
              </a:rPr>
              <a:t>동료들   ·   </a:t>
            </a:r>
            <a:pPr indent="0" marL="0">
              <a:lnSpc>
                <a:spcPct val="110000"/>
              </a:lnSpc>
              <a:buNone/>
            </a:pPr>
            <a:r>
              <a:rPr lang="en-US" sz="1400" b="1" dirty="0">
                <a:solidFill>
                  <a:srgbClr val="1F7A64"/>
                </a:solidFill>
              </a:rPr>
              <a:t>inclined </a:t>
            </a:r>
            <a:pPr indent="0" marL="0">
              <a:lnSpc>
                <a:spcPct val="110000"/>
              </a:lnSpc>
              <a:buNone/>
            </a:pPr>
            <a:r>
              <a:rPr lang="en-US" sz="1400" dirty="0">
                <a:solidFill>
                  <a:srgbClr val="1E2B2A"/>
                </a:solidFill>
              </a:rPr>
              <a:t>~하고 싶은   ·   </a:t>
            </a:r>
            <a:pPr indent="0" marL="0">
              <a:lnSpc>
                <a:spcPct val="110000"/>
              </a:lnSpc>
              <a:buNone/>
            </a:pPr>
            <a:r>
              <a:rPr lang="en-US" sz="1400" b="1" dirty="0">
                <a:solidFill>
                  <a:srgbClr val="1F7A64"/>
                </a:solidFill>
              </a:rPr>
              <a:t>transfer </a:t>
            </a:r>
            <a:pPr indent="0" marL="0">
              <a:lnSpc>
                <a:spcPct val="110000"/>
              </a:lnSpc>
              <a:buNone/>
            </a:pPr>
            <a:r>
              <a:rPr lang="en-US" sz="1400" dirty="0">
                <a:solidFill>
                  <a:srgbClr val="1E2B2A"/>
                </a:solidFill>
              </a:rPr>
              <a:t>전이   ·   </a:t>
            </a:r>
            <a:pPr indent="0" marL="0">
              <a:lnSpc>
                <a:spcPct val="110000"/>
              </a:lnSpc>
              <a:buNone/>
            </a:pPr>
            <a:r>
              <a:rPr lang="en-US" sz="1400" b="1" dirty="0">
                <a:solidFill>
                  <a:srgbClr val="1F7A64"/>
                </a:solidFill>
              </a:rPr>
              <a:t>subtle </a:t>
            </a:r>
            <a:pPr indent="0" marL="0">
              <a:lnSpc>
                <a:spcPct val="110000"/>
              </a:lnSpc>
              <a:buNone/>
            </a:pPr>
            <a:r>
              <a:rPr lang="en-US" sz="1400" dirty="0">
                <a:solidFill>
                  <a:srgbClr val="1E2B2A"/>
                </a:solidFill>
              </a:rPr>
              <a:t>미묘한   ·   </a:t>
            </a:r>
            <a:pPr indent="0" marL="0">
              <a:lnSpc>
                <a:spcPct val="110000"/>
              </a:lnSpc>
              <a:buNone/>
            </a:pPr>
            <a:r>
              <a:rPr lang="en-US" sz="1400" b="1" dirty="0">
                <a:solidFill>
                  <a:srgbClr val="1F7A64"/>
                </a:solidFill>
              </a:rPr>
              <a:t>barely </a:t>
            </a:r>
            <a:pPr indent="0" marL="0">
              <a:lnSpc>
                <a:spcPct val="110000"/>
              </a:lnSpc>
              <a:buNone/>
            </a:pPr>
            <a:r>
              <a:rPr lang="en-US" sz="1400" dirty="0">
                <a:solidFill>
                  <a:srgbClr val="1E2B2A"/>
                </a:solidFill>
              </a:rPr>
              <a:t>거의 ~않다   ·   </a:t>
            </a:r>
            <a:pPr indent="0" marL="0">
              <a:lnSpc>
                <a:spcPct val="110000"/>
              </a:lnSpc>
              <a:buNone/>
            </a:pPr>
            <a:r>
              <a:rPr lang="en-US" sz="1400" b="1" dirty="0">
                <a:solidFill>
                  <a:srgbClr val="1F7A64"/>
                </a:solidFill>
              </a:rPr>
              <a:t>determine </a:t>
            </a:r>
            <a:pPr indent="0" marL="0">
              <a:lnSpc>
                <a:spcPct val="110000"/>
              </a:lnSpc>
              <a:buNone/>
            </a:pPr>
            <a:r>
              <a:rPr lang="en-US" sz="1400" dirty="0">
                <a:solidFill>
                  <a:srgbClr val="1E2B2A"/>
                </a:solidFill>
              </a:rPr>
              <a:t>결정하다</a:t>
            </a:r>
            <a:endParaRPr lang="en-US" sz="1400" dirty="0"/>
          </a:p>
        </p:txBody>
      </p:sp>
      <p:sp>
        <p:nvSpPr>
          <p:cNvPr id="11" name="Text 9"/>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1100" dirty="0">
                <a:solidFill>
                  <a:srgbClr val="FFD45C"/>
                </a:solidFill>
              </a:rPr>
              <a:t>■ </a:t>
            </a:r>
            <a:pPr indent="0" marL="0">
              <a:buNone/>
            </a:pPr>
            <a:r>
              <a:rPr lang="en-US" sz="1100" dirty="0">
                <a:solidFill>
                  <a:srgbClr val="6E7F7C"/>
                </a:solidFill>
              </a:rPr>
              <a:t>형광 = 정답 근거 (이유는 노란 박스)     </a:t>
            </a:r>
            <a:pPr indent="0" marL="0">
              <a:buNone/>
            </a:pPr>
            <a:r>
              <a:rPr lang="en-US" sz="1100" dirty="0">
                <a:solidFill>
                  <a:srgbClr val="A9DDF3"/>
                </a:solidFill>
              </a:rPr>
              <a:t>■ </a:t>
            </a:r>
            <a:pPr indent="0" marL="0">
              <a:buNone/>
            </a:pPr>
            <a:r>
              <a:rPr lang="en-US" sz="1100" dirty="0">
                <a:solidFill>
                  <a:srgbClr val="6E7F7C"/>
                </a:solidFill>
              </a:rPr>
              <a:t>파란 형광 = 문법·내신 포인트     </a:t>
            </a:r>
            <a:pPr indent="0" marL="0">
              <a:buNone/>
            </a:pPr>
            <a:r>
              <a:rPr lang="en-US" sz="1100" b="1" dirty="0">
                <a:solidFill>
                  <a:srgbClr val="1F7A64"/>
                </a:solidFill>
              </a:rPr>
              <a:t>초록 점선 단어 </a:t>
            </a:r>
            <a:pPr indent="0" marL="0">
              <a:buNone/>
            </a:pPr>
            <a:r>
              <a:rPr lang="en-US" sz="1100" dirty="0">
                <a:solidFill>
                  <a:srgbClr val="6E7F7C"/>
                </a:solidFill>
              </a:rPr>
              <a:t>= 하단 어휘     </a:t>
            </a:r>
            <a:pPr indent="0" marL="0">
              <a:buNone/>
            </a:pPr>
            <a:r>
              <a:rPr lang="en-US" sz="1100" b="1" dirty="0">
                <a:solidFill>
                  <a:srgbClr val="1F7A64"/>
                </a:solidFill>
              </a:rPr>
              <a:t>(1) (2) (3) </a:t>
            </a:r>
            <a:pPr indent="0" marL="0">
              <a:buNone/>
            </a:pPr>
            <a:r>
              <a:rPr lang="en-US" sz="1100" dirty="0">
                <a:solidFill>
                  <a:srgbClr val="6E7F7C"/>
                </a:solidFill>
              </a:rPr>
              <a:t>= 문장 번호</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94  </a:t>
            </a:r>
            <a:pPr algn="l" indent="0" marL="0">
              <a:buNone/>
            </a:pPr>
            <a:r>
              <a:rPr lang="en-US" sz="3000" b="1" dirty="0">
                <a:solidFill>
                  <a:srgbClr val="14453D"/>
                </a:solidFill>
              </a:rPr>
              <a:t>사회적 전염</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흐름 잡기</a:t>
            </a:r>
            <a:endParaRPr lang="en-US" sz="1200" dirty="0"/>
          </a:p>
        </p:txBody>
      </p:sp>
      <p:sp>
        <p:nvSpPr>
          <p:cNvPr id="4" name="Shape 2"/>
          <p:cNvSpPr/>
          <p:nvPr/>
        </p:nvSpPr>
        <p:spPr>
          <a:xfrm>
            <a:off x="548640" y="1325880"/>
            <a:ext cx="5212080" cy="2423160"/>
          </a:xfrm>
          <a:prstGeom prst="roundRect">
            <a:avLst>
              <a:gd name="adj" fmla="val 4528"/>
            </a:avLst>
          </a:prstGeom>
          <a:solidFill>
            <a:srgbClr val="E6F2ED"/>
          </a:solidFill>
          <a:ln w="12700">
            <a:solidFill>
              <a:srgbClr val="E6F2ED"/>
            </a:solidFill>
            <a:prstDash val="solid"/>
          </a:ln>
        </p:spPr>
      </p:sp>
      <p:sp>
        <p:nvSpPr>
          <p:cNvPr id="5" name="Text 3"/>
          <p:cNvSpPr txBox="1"/>
          <p:nvPr/>
        </p:nvSpPr>
        <p:spPr>
          <a:xfrm>
            <a:off x="822960" y="1463040"/>
            <a:ext cx="4663440" cy="320040"/>
          </a:xfrm>
          <a:prstGeom prst="rect">
            <a:avLst/>
          </a:prstGeom>
          <a:noFill/>
          <a:ln/>
        </p:spPr>
        <p:txBody>
          <a:bodyPr wrap="square" lIns="0" tIns="0" rIns="0" bIns="0" rtlCol="0" anchor="ctr"/>
          <a:lstStyle/>
          <a:p>
            <a:pPr indent="0" marL="0">
              <a:buNone/>
            </a:pPr>
            <a:r>
              <a:rPr lang="en-US" sz="1300" b="1" dirty="0">
                <a:solidFill>
                  <a:srgbClr val="1F7A64"/>
                </a:solidFill>
              </a:rPr>
              <a:t>STEP 1 · 요약문 먼저</a:t>
            </a:r>
            <a:endParaRPr lang="en-US" sz="1300" dirty="0"/>
          </a:p>
        </p:txBody>
      </p:sp>
      <p:sp>
        <p:nvSpPr>
          <p:cNvPr id="6" name="Text 4"/>
          <p:cNvSpPr txBox="1"/>
          <p:nvPr/>
        </p:nvSpPr>
        <p:spPr>
          <a:xfrm>
            <a:off x="822960" y="1828800"/>
            <a:ext cx="4663440" cy="868680"/>
          </a:xfrm>
          <a:prstGeom prst="rect">
            <a:avLst/>
          </a:prstGeom>
          <a:noFill/>
          <a:ln/>
        </p:spPr>
        <p:txBody>
          <a:bodyPr wrap="square" lIns="0" tIns="0" rIns="0" bIns="0" rtlCol="0" anchor="t">
            <a:normAutofit/>
          </a:bodyPr>
          <a:lstStyle/>
          <a:p>
            <a:pPr indent="0" marL="0">
              <a:buNone/>
            </a:pPr>
            <a:r>
              <a:rPr lang="en-US" sz="1300" b="1" i="1" dirty="0">
                <a:solidFill>
                  <a:srgbClr val="14453D"/>
                </a:solidFill>
              </a:rPr>
              <a:t>The social contagion theory illustrates how one person’s action (A) another’s desire to perform the same action through social (B).</a:t>
            </a:r>
            <a:endParaRPr lang="en-US" sz="1300" dirty="0"/>
          </a:p>
        </p:txBody>
      </p:sp>
      <p:sp>
        <p:nvSpPr>
          <p:cNvPr id="7" name="Text 5"/>
          <p:cNvSpPr txBox="1"/>
          <p:nvPr/>
        </p:nvSpPr>
        <p:spPr>
          <a:xfrm>
            <a:off x="822960" y="2715768"/>
            <a:ext cx="4663440" cy="457200"/>
          </a:xfrm>
          <a:prstGeom prst="rect">
            <a:avLst/>
          </a:prstGeom>
          <a:noFill/>
          <a:ln/>
        </p:spPr>
        <p:txBody>
          <a:bodyPr wrap="square" lIns="0" tIns="0" rIns="0" bIns="0" rtlCol="0" anchor="t">
            <a:normAutofit/>
          </a:bodyPr>
          <a:lstStyle/>
          <a:p>
            <a:pPr indent="0" marL="0">
              <a:buNone/>
            </a:pPr>
            <a:r>
              <a:rPr lang="en-US" sz="1100" dirty="0">
                <a:solidFill>
                  <a:srgbClr val="1E2B2A"/>
                </a:solidFill>
              </a:rPr>
              <a:t>사회적 전염 이론은 한 사람의 행동이 사회적 (B)을 통해 다른 사람의 같은 행동을 하려는 욕구를 어떻게 (A)하는지 보여 준다.</a:t>
            </a:r>
            <a:endParaRPr lang="en-US" sz="1100" dirty="0"/>
          </a:p>
        </p:txBody>
      </p:sp>
      <p:sp>
        <p:nvSpPr>
          <p:cNvPr id="8" name="Text 6"/>
          <p:cNvSpPr txBox="1"/>
          <p:nvPr/>
        </p:nvSpPr>
        <p:spPr>
          <a:xfrm>
            <a:off x="822960" y="3200400"/>
            <a:ext cx="4663440" cy="411480"/>
          </a:xfrm>
          <a:prstGeom prst="rect">
            <a:avLst/>
          </a:prstGeom>
          <a:noFill/>
          <a:ln/>
        </p:spPr>
        <p:txBody>
          <a:bodyPr wrap="square" lIns="0" tIns="0" rIns="0" bIns="0" rtlCol="0" anchor="ctr"/>
          <a:lstStyle/>
          <a:p>
            <a:pPr indent="0" marL="0">
              <a:buNone/>
            </a:pPr>
            <a:r>
              <a:rPr lang="en-US" sz="1500" b="1" dirty="0">
                <a:solidFill>
                  <a:srgbClr val="EF5B3F"/>
                </a:solidFill>
              </a:rPr>
              <a:t>찾을 것  </a:t>
            </a:r>
            <a:pPr indent="0" marL="0">
              <a:buNone/>
            </a:pPr>
            <a:r>
              <a:rPr lang="en-US" sz="1500" b="1" dirty="0">
                <a:solidFill>
                  <a:srgbClr val="14453D"/>
                </a:solidFill>
              </a:rPr>
              <a:t>(A) 행동이 욕구를 어떻게 하나? / (B) 무엇을 통해?</a:t>
            </a:r>
            <a:endParaRPr lang="en-US" sz="1500" dirty="0"/>
          </a:p>
        </p:txBody>
      </p:sp>
      <p:sp>
        <p:nvSpPr>
          <p:cNvPr id="9" name="Shape 7"/>
          <p:cNvSpPr/>
          <p:nvPr/>
        </p:nvSpPr>
        <p:spPr>
          <a:xfrm>
            <a:off x="548640" y="3931920"/>
            <a:ext cx="5212080" cy="2331720"/>
          </a:xfrm>
          <a:prstGeom prst="roundRect">
            <a:avLst>
              <a:gd name="adj" fmla="val 4706"/>
            </a:avLst>
          </a:prstGeom>
          <a:solidFill>
            <a:srgbClr val="FFFFFF"/>
          </a:solidFill>
          <a:ln w="19050">
            <a:solidFill>
              <a:srgbClr val="EF5B3F"/>
            </a:solidFill>
            <a:prstDash val="solid"/>
          </a:ln>
        </p:spPr>
      </p:sp>
      <p:pic>
        <p:nvPicPr>
          <p:cNvPr id="10" name="Image 0" descr="preencoded.png">    </p:cNvPr>
          <p:cNvPicPr>
            <a:picLocks noChangeAspect="1"/>
          </p:cNvPicPr>
          <p:nvPr/>
        </p:nvPicPr>
        <p:blipFill>
          <a:blip r:embed="rId1"/>
          <a:stretch>
            <a:fillRect/>
          </a:stretch>
        </p:blipFill>
        <p:spPr>
          <a:xfrm>
            <a:off x="822960" y="4096512"/>
            <a:ext cx="274320" cy="274320"/>
          </a:xfrm>
          <a:prstGeom prst="rect">
            <a:avLst/>
          </a:prstGeom>
        </p:spPr>
      </p:pic>
      <p:sp>
        <p:nvSpPr>
          <p:cNvPr id="11" name="Text 8"/>
          <p:cNvSpPr txBox="1"/>
          <p:nvPr/>
        </p:nvSpPr>
        <p:spPr>
          <a:xfrm>
            <a:off x="1188720" y="4069080"/>
            <a:ext cx="4114800" cy="320040"/>
          </a:xfrm>
          <a:prstGeom prst="rect">
            <a:avLst/>
          </a:prstGeom>
          <a:noFill/>
          <a:ln/>
        </p:spPr>
        <p:txBody>
          <a:bodyPr wrap="square" lIns="0" tIns="0" rIns="0" bIns="0" rtlCol="0" anchor="ctr"/>
          <a:lstStyle/>
          <a:p>
            <a:pPr indent="0" marL="0">
              <a:buNone/>
            </a:pPr>
            <a:r>
              <a:rPr lang="en-US" sz="1300" b="1" dirty="0">
                <a:solidFill>
                  <a:srgbClr val="EF5B3F"/>
                </a:solidFill>
              </a:rPr>
              <a:t>STEP 2 · 결정적 단서</a:t>
            </a:r>
            <a:endParaRPr lang="en-US" sz="1300" dirty="0"/>
          </a:p>
        </p:txBody>
      </p:sp>
      <p:sp>
        <p:nvSpPr>
          <p:cNvPr id="12" name="Text 9"/>
          <p:cNvSpPr txBox="1"/>
          <p:nvPr/>
        </p:nvSpPr>
        <p:spPr>
          <a:xfrm>
            <a:off x="822960" y="4480560"/>
            <a:ext cx="4663440" cy="1005840"/>
          </a:xfrm>
          <a:prstGeom prst="rect">
            <a:avLst/>
          </a:prstGeom>
          <a:noFill/>
          <a:ln/>
        </p:spPr>
        <p:txBody>
          <a:bodyPr wrap="square" lIns="0" tIns="0" rIns="0" bIns="0" rtlCol="0" anchor="t"/>
          <a:lstStyle/>
          <a:p>
            <a:pPr indent="0" marL="0">
              <a:buNone/>
            </a:pPr>
            <a:r>
              <a:rPr lang="en-US" sz="1400" i="1" dirty="0">
                <a:solidFill>
                  <a:srgbClr val="14453D"/>
                </a:solidFill>
              </a:rPr>
              <a:t>This happens because we tend to copy the behavior of those around us.</a:t>
            </a:r>
            <a:endParaRPr lang="en-US" sz="1400" dirty="0"/>
          </a:p>
        </p:txBody>
      </p:sp>
      <p:sp>
        <p:nvSpPr>
          <p:cNvPr id="13" name="Text 10"/>
          <p:cNvSpPr txBox="1"/>
          <p:nvPr/>
        </p:nvSpPr>
        <p:spPr>
          <a:xfrm>
            <a:off x="822960" y="5486400"/>
            <a:ext cx="4663440" cy="685800"/>
          </a:xfrm>
          <a:prstGeom prst="rect">
            <a:avLst/>
          </a:prstGeom>
          <a:noFill/>
          <a:ln/>
        </p:spPr>
        <p:txBody>
          <a:bodyPr wrap="square" lIns="0" tIns="0" rIns="0" bIns="0" rtlCol="0" anchor="t"/>
          <a:lstStyle/>
          <a:p>
            <a:pPr indent="0" marL="0">
              <a:buNone/>
            </a:pPr>
            <a:r>
              <a:rPr lang="en-US" sz="1300" dirty="0">
                <a:solidFill>
                  <a:srgbClr val="6E7F7C"/>
                </a:solidFill>
              </a:rPr>
              <a:t>이것은 우리가 주변 사람들의 행동을 따라 하는 경향이 있기 때문이다</a:t>
            </a:r>
            <a:endParaRPr lang="en-US" sz="1300" dirty="0"/>
          </a:p>
        </p:txBody>
      </p:sp>
      <p:sp>
        <p:nvSpPr>
          <p:cNvPr id="14" name="Text 11"/>
          <p:cNvSpPr txBox="1"/>
          <p:nvPr/>
        </p:nvSpPr>
        <p:spPr>
          <a:xfrm>
            <a:off x="6217920" y="1325880"/>
            <a:ext cx="2743200" cy="320040"/>
          </a:xfrm>
          <a:prstGeom prst="rect">
            <a:avLst/>
          </a:prstGeom>
          <a:noFill/>
          <a:ln/>
        </p:spPr>
        <p:txBody>
          <a:bodyPr wrap="square" lIns="0" tIns="0" rIns="0" bIns="0" rtlCol="0" anchor="ctr"/>
          <a:lstStyle/>
          <a:p>
            <a:pPr indent="0" marL="0">
              <a:buNone/>
            </a:pPr>
            <a:r>
              <a:rPr lang="en-US" sz="1300" b="1" dirty="0">
                <a:solidFill>
                  <a:srgbClr val="1F7A64"/>
                </a:solidFill>
              </a:rPr>
              <a:t>글의 흐름</a:t>
            </a:r>
            <a:endParaRPr lang="en-US" sz="1300" dirty="0"/>
          </a:p>
        </p:txBody>
      </p:sp>
      <p:sp>
        <p:nvSpPr>
          <p:cNvPr id="15" name="Shape 12"/>
          <p:cNvSpPr/>
          <p:nvPr/>
        </p:nvSpPr>
        <p:spPr>
          <a:xfrm>
            <a:off x="6537960" y="2057400"/>
            <a:ext cx="0" cy="3511296"/>
          </a:xfrm>
          <a:prstGeom prst="line">
            <a:avLst/>
          </a:prstGeom>
          <a:noFill/>
          <a:ln w="38100">
            <a:solidFill>
              <a:srgbClr val="E6F2ED"/>
            </a:solidFill>
            <a:prstDash val="solid"/>
          </a:ln>
        </p:spPr>
      </p:sp>
      <p:sp>
        <p:nvSpPr>
          <p:cNvPr id="16" name="Text 13"/>
          <p:cNvSpPr/>
          <p:nvPr/>
        </p:nvSpPr>
        <p:spPr>
          <a:xfrm>
            <a:off x="6263640" y="1783080"/>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7" name="Text 14"/>
          <p:cNvSpPr txBox="1"/>
          <p:nvPr/>
        </p:nvSpPr>
        <p:spPr>
          <a:xfrm>
            <a:off x="7040880" y="1783080"/>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발견</a:t>
            </a:r>
            <a:endParaRPr lang="en-US" sz="1400" dirty="0"/>
          </a:p>
        </p:txBody>
      </p:sp>
      <p:sp>
        <p:nvSpPr>
          <p:cNvPr id="18" name="Text 15"/>
          <p:cNvSpPr txBox="1"/>
          <p:nvPr/>
        </p:nvSpPr>
        <p:spPr>
          <a:xfrm>
            <a:off x="7040880" y="2121408"/>
            <a:ext cx="4572000" cy="667512"/>
          </a:xfrm>
          <a:prstGeom prst="rect">
            <a:avLst/>
          </a:prstGeom>
          <a:noFill/>
          <a:ln/>
        </p:spPr>
        <p:txBody>
          <a:bodyPr wrap="square" lIns="0" tIns="0" rIns="0" bIns="0" rtlCol="0" anchor="t"/>
          <a:lstStyle/>
          <a:p>
            <a:pPr indent="0" marL="0">
              <a:buNone/>
            </a:pPr>
            <a:r>
              <a:rPr lang="en-US" sz="1400" dirty="0">
                <a:solidFill>
                  <a:srgbClr val="1E2B2A"/>
                </a:solidFill>
              </a:rPr>
              <a:t>비만인 친구가 있으면 나도 비만, 건강한 친구가 있으면 나도 건강</a:t>
            </a:r>
            <a:endParaRPr lang="en-US" sz="1400" dirty="0"/>
          </a:p>
        </p:txBody>
      </p:sp>
      <p:sp>
        <p:nvSpPr>
          <p:cNvPr id="19" name="Text 16"/>
          <p:cNvSpPr/>
          <p:nvPr/>
        </p:nvSpPr>
        <p:spPr>
          <a:xfrm>
            <a:off x="6263640" y="2953512"/>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20" name="Text 17"/>
          <p:cNvSpPr txBox="1"/>
          <p:nvPr/>
        </p:nvSpPr>
        <p:spPr>
          <a:xfrm>
            <a:off x="7040880" y="2953512"/>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이유</a:t>
            </a:r>
            <a:endParaRPr lang="en-US" sz="1400" dirty="0"/>
          </a:p>
        </p:txBody>
      </p:sp>
      <p:sp>
        <p:nvSpPr>
          <p:cNvPr id="21" name="Text 18"/>
          <p:cNvSpPr txBox="1"/>
          <p:nvPr/>
        </p:nvSpPr>
        <p:spPr>
          <a:xfrm>
            <a:off x="7040880" y="3291840"/>
            <a:ext cx="4572000" cy="667512"/>
          </a:xfrm>
          <a:prstGeom prst="rect">
            <a:avLst/>
          </a:prstGeom>
          <a:noFill/>
          <a:ln/>
        </p:spPr>
        <p:txBody>
          <a:bodyPr wrap="square" lIns="0" tIns="0" rIns="0" bIns="0" rtlCol="0" anchor="t"/>
          <a:lstStyle/>
          <a:p>
            <a:pPr indent="0" marL="0">
              <a:buNone/>
            </a:pPr>
            <a:r>
              <a:rPr lang="en-US" sz="1400" dirty="0">
                <a:solidFill>
                  <a:srgbClr val="1E2B2A"/>
                </a:solidFill>
              </a:rPr>
              <a:t>우리는 주변 사람들의 행동을 따라 한다</a:t>
            </a:r>
            <a:endParaRPr lang="en-US" sz="1400" dirty="0"/>
          </a:p>
        </p:txBody>
      </p:sp>
      <p:sp>
        <p:nvSpPr>
          <p:cNvPr id="22" name="Text 19"/>
          <p:cNvSpPr/>
          <p:nvPr/>
        </p:nvSpPr>
        <p:spPr>
          <a:xfrm>
            <a:off x="6263640" y="4123944"/>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3" name="Text 20"/>
          <p:cNvSpPr txBox="1"/>
          <p:nvPr/>
        </p:nvSpPr>
        <p:spPr>
          <a:xfrm>
            <a:off x="7040880" y="4123944"/>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예시</a:t>
            </a:r>
            <a:endParaRPr lang="en-US" sz="1400" dirty="0"/>
          </a:p>
        </p:txBody>
      </p:sp>
      <p:sp>
        <p:nvSpPr>
          <p:cNvPr id="24" name="Text 21"/>
          <p:cNvSpPr txBox="1"/>
          <p:nvPr/>
        </p:nvSpPr>
        <p:spPr>
          <a:xfrm>
            <a:off x="7040880" y="4462272"/>
            <a:ext cx="4572000" cy="667512"/>
          </a:xfrm>
          <a:prstGeom prst="rect">
            <a:avLst/>
          </a:prstGeom>
          <a:noFill/>
          <a:ln/>
        </p:spPr>
        <p:txBody>
          <a:bodyPr wrap="square" lIns="0" tIns="0" rIns="0" bIns="0" rtlCol="0" anchor="t"/>
          <a:lstStyle/>
          <a:p>
            <a:pPr indent="0" marL="0">
              <a:buNone/>
            </a:pPr>
            <a:r>
              <a:rPr lang="en-US" sz="1400" dirty="0">
                <a:solidFill>
                  <a:srgbClr val="1E2B2A"/>
                </a:solidFill>
              </a:rPr>
              <a:t>친구 따라 기름진 음식 / 친구 따라 조깅 시작</a:t>
            </a:r>
            <a:endParaRPr lang="en-US" sz="1400" dirty="0"/>
          </a:p>
        </p:txBody>
      </p:sp>
      <p:sp>
        <p:nvSpPr>
          <p:cNvPr id="25" name="Text 22"/>
          <p:cNvSpPr/>
          <p:nvPr/>
        </p:nvSpPr>
        <p:spPr>
          <a:xfrm>
            <a:off x="6263640" y="5294376"/>
            <a:ext cx="548640" cy="548640"/>
          </a:xfrm>
          <a:prstGeom prst="ellipse">
            <a:avLst/>
          </a:prstGeom>
          <a:solidFill>
            <a:srgbClr val="EF5B3F"/>
          </a:solid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6" name="Text 23"/>
          <p:cNvSpPr txBox="1"/>
          <p:nvPr/>
        </p:nvSpPr>
        <p:spPr>
          <a:xfrm>
            <a:off x="7040880" y="5294376"/>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결론</a:t>
            </a:r>
            <a:endParaRPr lang="en-US" sz="1400" dirty="0"/>
          </a:p>
        </p:txBody>
      </p:sp>
      <p:sp>
        <p:nvSpPr>
          <p:cNvPr id="27" name="Text 24"/>
          <p:cNvSpPr txBox="1"/>
          <p:nvPr/>
        </p:nvSpPr>
        <p:spPr>
          <a:xfrm>
            <a:off x="7040880" y="5632704"/>
            <a:ext cx="4572000" cy="667512"/>
          </a:xfrm>
          <a:prstGeom prst="rect">
            <a:avLst/>
          </a:prstGeom>
          <a:noFill/>
          <a:ln/>
        </p:spPr>
        <p:txBody>
          <a:bodyPr wrap="square" lIns="0" tIns="0" rIns="0" bIns="0" rtlCol="0" anchor="t"/>
          <a:lstStyle/>
          <a:p>
            <a:pPr indent="0" marL="0">
              <a:buNone/>
            </a:pPr>
            <a:r>
              <a:rPr lang="en-US" sz="1400" dirty="0">
                <a:solidFill>
                  <a:srgbClr val="1E2B2A"/>
                </a:solidFill>
              </a:rPr>
              <a:t>사회적 전염: 행동이 사회적 관계망(contacts)을 통해 퍼진다</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94  </a:t>
            </a:r>
            <a:pPr algn="l" indent="0" marL="0">
              <a:buNone/>
            </a:pPr>
            <a:r>
              <a:rPr lang="en-US" sz="3000" b="1" dirty="0">
                <a:solidFill>
                  <a:srgbClr val="14453D"/>
                </a:solidFill>
              </a:rPr>
              <a:t>정답 &amp; 해설</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정답</a:t>
            </a:r>
            <a:endParaRPr lang="en-US" sz="1200" dirty="0"/>
          </a:p>
        </p:txBody>
      </p:sp>
      <p:sp>
        <p:nvSpPr>
          <p:cNvPr id="4" name="Shape 2"/>
          <p:cNvSpPr/>
          <p:nvPr/>
        </p:nvSpPr>
        <p:spPr>
          <a:xfrm>
            <a:off x="548640" y="1325880"/>
            <a:ext cx="3749040" cy="4983480"/>
          </a:xfrm>
          <a:prstGeom prst="roundRect">
            <a:avLst>
              <a:gd name="adj" fmla="val 3659"/>
            </a:avLst>
          </a:prstGeom>
          <a:solidFill>
            <a:srgbClr val="14453D"/>
          </a:solidFill>
          <a:ln w="12700">
            <a:solidFill>
              <a:srgbClr val="14453D"/>
            </a:solidFill>
            <a:prstDash val="solid"/>
          </a:ln>
        </p:spPr>
      </p:sp>
      <p:sp>
        <p:nvSpPr>
          <p:cNvPr id="5" name="Text 3"/>
          <p:cNvSpPr txBox="1"/>
          <p:nvPr/>
        </p:nvSpPr>
        <p:spPr>
          <a:xfrm>
            <a:off x="868680" y="1554480"/>
            <a:ext cx="3108960" cy="365760"/>
          </a:xfrm>
          <a:prstGeom prst="rect">
            <a:avLst/>
          </a:prstGeom>
          <a:noFill/>
          <a:ln/>
        </p:spPr>
        <p:txBody>
          <a:bodyPr wrap="square" lIns="0" tIns="0" rIns="0" bIns="0" rtlCol="0" anchor="ctr"/>
          <a:lstStyle/>
          <a:p>
            <a:pPr indent="0" marL="0">
              <a:buNone/>
            </a:pPr>
            <a:r>
              <a:rPr lang="en-US" sz="1600" b="1" dirty="0">
                <a:solidFill>
                  <a:srgbClr val="FFD45C"/>
                </a:solidFill>
              </a:rPr>
              <a:t>정답</a:t>
            </a:r>
            <a:endParaRPr lang="en-US" sz="1600" dirty="0"/>
          </a:p>
        </p:txBody>
      </p:sp>
      <p:sp>
        <p:nvSpPr>
          <p:cNvPr id="6" name="Text 4"/>
          <p:cNvSpPr txBox="1"/>
          <p:nvPr/>
        </p:nvSpPr>
        <p:spPr>
          <a:xfrm>
            <a:off x="868680" y="1920240"/>
            <a:ext cx="3108960" cy="1188720"/>
          </a:xfrm>
          <a:prstGeom prst="rect">
            <a:avLst/>
          </a:prstGeom>
          <a:noFill/>
          <a:ln/>
        </p:spPr>
        <p:txBody>
          <a:bodyPr wrap="square" lIns="0" tIns="0" rIns="0" bIns="0" rtlCol="0" anchor="ctr"/>
          <a:lstStyle/>
          <a:p>
            <a:pPr indent="0" marL="0">
              <a:buNone/>
            </a:pPr>
            <a:r>
              <a:rPr lang="en-US" sz="7200" b="1" dirty="0">
                <a:solidFill>
                  <a:srgbClr val="FFFFFF"/>
                </a:solidFill>
              </a:rPr>
              <a:t>①</a:t>
            </a:r>
            <a:endParaRPr lang="en-US" sz="7200" dirty="0"/>
          </a:p>
        </p:txBody>
      </p:sp>
      <p:sp>
        <p:nvSpPr>
          <p:cNvPr id="7" name="Text 5"/>
          <p:cNvSpPr txBox="1"/>
          <p:nvPr/>
        </p:nvSpPr>
        <p:spPr>
          <a:xfrm>
            <a:off x="868680" y="3337560"/>
            <a:ext cx="3154680" cy="1280160"/>
          </a:xfrm>
          <a:prstGeom prst="rect">
            <a:avLst/>
          </a:prstGeom>
          <a:noFill/>
          <a:ln/>
        </p:spPr>
        <p:txBody>
          <a:bodyPr wrap="square" lIns="0" tIns="0" rIns="0" bIns="0" rtlCol="0" anchor="t"/>
          <a:lstStyle/>
          <a:p>
            <a:pPr indent="0" marL="0">
              <a:buNone/>
            </a:pPr>
            <a:r>
              <a:rPr lang="en-US" sz="1700" b="1" i="1" dirty="0">
                <a:solidFill>
                  <a:srgbClr val="FFFFFF"/>
                </a:solidFill>
              </a:rPr>
              <a:t>triggers ----- contacts</a:t>
            </a:r>
            <a:endParaRPr lang="en-US" sz="1700" dirty="0"/>
          </a:p>
        </p:txBody>
      </p:sp>
      <p:sp>
        <p:nvSpPr>
          <p:cNvPr id="8" name="Text 6"/>
          <p:cNvSpPr txBox="1"/>
          <p:nvPr/>
        </p:nvSpPr>
        <p:spPr>
          <a:xfrm>
            <a:off x="868680" y="4663440"/>
            <a:ext cx="3154680" cy="1463040"/>
          </a:xfrm>
          <a:prstGeom prst="rect">
            <a:avLst/>
          </a:prstGeom>
          <a:noFill/>
          <a:ln/>
        </p:spPr>
        <p:txBody>
          <a:bodyPr wrap="square" lIns="0" tIns="0" rIns="0" bIns="0" rtlCol="0" anchor="t"/>
          <a:lstStyle/>
          <a:p>
            <a:pPr indent="0" marL="0">
              <a:buNone/>
            </a:pPr>
            <a:r>
              <a:rPr lang="en-US" sz="1400" dirty="0">
                <a:solidFill>
                  <a:srgbClr val="E6F2ED"/>
                </a:solidFill>
              </a:rPr>
              <a:t>유발하다 = 따라 하게 만들다 / 접촉 = friends·networks</a:t>
            </a:r>
            <a:endParaRPr lang="en-US" sz="1400" dirty="0"/>
          </a:p>
        </p:txBody>
      </p:sp>
      <p:sp>
        <p:nvSpPr>
          <p:cNvPr id="9" name="Shape 7"/>
          <p:cNvSpPr/>
          <p:nvPr/>
        </p:nvSpPr>
        <p:spPr>
          <a:xfrm>
            <a:off x="4572000" y="1325880"/>
            <a:ext cx="7040880" cy="905256"/>
          </a:xfrm>
          <a:prstGeom prst="roundRect">
            <a:avLst>
              <a:gd name="adj" fmla="val 10101"/>
            </a:avLst>
          </a:prstGeom>
          <a:solidFill>
            <a:srgbClr val="F7E9E4"/>
          </a:solidFill>
          <a:ln w="25400">
            <a:solidFill>
              <a:srgbClr val="EF5B3F"/>
            </a:solidFill>
            <a:prstDash val="solid"/>
          </a:ln>
        </p:spPr>
      </p:sp>
      <p:sp>
        <p:nvSpPr>
          <p:cNvPr id="10" name="Text 8"/>
          <p:cNvSpPr txBox="1"/>
          <p:nvPr/>
        </p:nvSpPr>
        <p:spPr>
          <a:xfrm>
            <a:off x="4754880" y="1435608"/>
            <a:ext cx="411480" cy="411480"/>
          </a:xfrm>
          <a:prstGeom prst="rect">
            <a:avLst/>
          </a:prstGeom>
          <a:noFill/>
          <a:ln/>
        </p:spPr>
        <p:txBody>
          <a:bodyPr wrap="square" lIns="0" tIns="0" rIns="0" bIns="0" rtlCol="0" anchor="ctr"/>
          <a:lstStyle/>
          <a:p>
            <a:pPr indent="0" marL="0">
              <a:buNone/>
            </a:pPr>
            <a:r>
              <a:rPr lang="en-US" sz="2000" b="1" dirty="0">
                <a:solidFill>
                  <a:srgbClr val="EF5B3F"/>
                </a:solidFill>
              </a:rPr>
              <a:t>①</a:t>
            </a:r>
            <a:endParaRPr lang="en-US" sz="2000" dirty="0"/>
          </a:p>
        </p:txBody>
      </p:sp>
      <p:sp>
        <p:nvSpPr>
          <p:cNvPr id="11" name="Text 9"/>
          <p:cNvSpPr txBox="1"/>
          <p:nvPr/>
        </p:nvSpPr>
        <p:spPr>
          <a:xfrm>
            <a:off x="5257800" y="1399032"/>
            <a:ext cx="6172200" cy="411480"/>
          </a:xfrm>
          <a:prstGeom prst="rect">
            <a:avLst/>
          </a:prstGeom>
          <a:noFill/>
          <a:ln/>
        </p:spPr>
        <p:txBody>
          <a:bodyPr wrap="square" lIns="0" tIns="0" rIns="0" bIns="0" rtlCol="0" anchor="ctr">
            <a:normAutofit/>
          </a:bodyPr>
          <a:lstStyle/>
          <a:p>
            <a:pPr indent="0" marL="0">
              <a:buNone/>
            </a:pPr>
            <a:r>
              <a:rPr lang="en-US" sz="1500" b="1" dirty="0">
                <a:solidFill>
                  <a:srgbClr val="14453D"/>
                </a:solidFill>
              </a:rPr>
              <a:t>triggers ----- contacts</a:t>
            </a:r>
            <a:endParaRPr lang="en-US" sz="1500" dirty="0"/>
          </a:p>
        </p:txBody>
      </p:sp>
      <p:sp>
        <p:nvSpPr>
          <p:cNvPr id="12" name="Text 10"/>
          <p:cNvSpPr txBox="1"/>
          <p:nvPr/>
        </p:nvSpPr>
        <p:spPr>
          <a:xfrm>
            <a:off x="5257800" y="1801368"/>
            <a:ext cx="6172200" cy="365760"/>
          </a:xfrm>
          <a:prstGeom prst="rect">
            <a:avLst/>
          </a:prstGeom>
          <a:noFill/>
          <a:ln/>
        </p:spPr>
        <p:txBody>
          <a:bodyPr wrap="square" lIns="0" tIns="0" rIns="0" bIns="0" rtlCol="0" anchor="ctr">
            <a:normAutofit/>
          </a:bodyPr>
          <a:lstStyle/>
          <a:p>
            <a:pPr indent="0" marL="0">
              <a:buNone/>
            </a:pPr>
            <a:r>
              <a:rPr lang="en-US" sz="1300" dirty="0">
                <a:solidFill>
                  <a:srgbClr val="EF5B3F"/>
                </a:solidFill>
              </a:rPr>
              <a:t>✔ 유발하다 = 따라 하게 만들다 / 접촉 = friends·networks</a:t>
            </a:r>
            <a:endParaRPr lang="en-US" sz="1300" dirty="0"/>
          </a:p>
        </p:txBody>
      </p:sp>
      <p:sp>
        <p:nvSpPr>
          <p:cNvPr id="13" name="Shape 11"/>
          <p:cNvSpPr/>
          <p:nvPr/>
        </p:nvSpPr>
        <p:spPr>
          <a:xfrm>
            <a:off x="4572000" y="2340864"/>
            <a:ext cx="7040880" cy="905256"/>
          </a:xfrm>
          <a:prstGeom prst="roundRect">
            <a:avLst>
              <a:gd name="adj" fmla="val 10101"/>
            </a:avLst>
          </a:prstGeom>
          <a:solidFill>
            <a:srgbClr val="FFFFFF"/>
          </a:solidFill>
          <a:ln w="12700">
            <a:solidFill>
              <a:srgbClr val="E6F2ED"/>
            </a:solidFill>
            <a:prstDash val="solid"/>
          </a:ln>
        </p:spPr>
      </p:sp>
      <p:sp>
        <p:nvSpPr>
          <p:cNvPr id="14" name="Text 12"/>
          <p:cNvSpPr txBox="1"/>
          <p:nvPr/>
        </p:nvSpPr>
        <p:spPr>
          <a:xfrm>
            <a:off x="4754880" y="2450592"/>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②</a:t>
            </a:r>
            <a:endParaRPr lang="en-US" sz="2000" dirty="0"/>
          </a:p>
        </p:txBody>
      </p:sp>
      <p:sp>
        <p:nvSpPr>
          <p:cNvPr id="15" name="Text 13"/>
          <p:cNvSpPr txBox="1"/>
          <p:nvPr/>
        </p:nvSpPr>
        <p:spPr>
          <a:xfrm>
            <a:off x="5257800" y="2414016"/>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reflects ----- contacts</a:t>
            </a:r>
            <a:endParaRPr lang="en-US" sz="1500" dirty="0"/>
          </a:p>
        </p:txBody>
      </p:sp>
      <p:sp>
        <p:nvSpPr>
          <p:cNvPr id="16" name="Text 14"/>
          <p:cNvSpPr txBox="1"/>
          <p:nvPr/>
        </p:nvSpPr>
        <p:spPr>
          <a:xfrm>
            <a:off x="5257800" y="2816352"/>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반영하다 ✘ / 접촉 ✔</a:t>
            </a:r>
            <a:endParaRPr lang="en-US" sz="1300" dirty="0"/>
          </a:p>
        </p:txBody>
      </p:sp>
      <p:sp>
        <p:nvSpPr>
          <p:cNvPr id="17" name="Shape 15"/>
          <p:cNvSpPr/>
          <p:nvPr/>
        </p:nvSpPr>
        <p:spPr>
          <a:xfrm>
            <a:off x="4572000" y="3355848"/>
            <a:ext cx="7040880" cy="905256"/>
          </a:xfrm>
          <a:prstGeom prst="roundRect">
            <a:avLst>
              <a:gd name="adj" fmla="val 10101"/>
            </a:avLst>
          </a:prstGeom>
          <a:solidFill>
            <a:srgbClr val="FFFFFF"/>
          </a:solidFill>
          <a:ln w="12700">
            <a:solidFill>
              <a:srgbClr val="E6F2ED"/>
            </a:solidFill>
            <a:prstDash val="solid"/>
          </a:ln>
        </p:spPr>
      </p:sp>
      <p:sp>
        <p:nvSpPr>
          <p:cNvPr id="18" name="Text 16"/>
          <p:cNvSpPr txBox="1"/>
          <p:nvPr/>
        </p:nvSpPr>
        <p:spPr>
          <a:xfrm>
            <a:off x="4754880" y="3465576"/>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③</a:t>
            </a:r>
            <a:endParaRPr lang="en-US" sz="2000" dirty="0"/>
          </a:p>
        </p:txBody>
      </p:sp>
      <p:sp>
        <p:nvSpPr>
          <p:cNvPr id="19" name="Text 17"/>
          <p:cNvSpPr txBox="1"/>
          <p:nvPr/>
        </p:nvSpPr>
        <p:spPr>
          <a:xfrm>
            <a:off x="5257800" y="3429000"/>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triggers ----- structures</a:t>
            </a:r>
            <a:endParaRPr lang="en-US" sz="1500" dirty="0"/>
          </a:p>
        </p:txBody>
      </p:sp>
      <p:sp>
        <p:nvSpPr>
          <p:cNvPr id="20" name="Text 18"/>
          <p:cNvSpPr txBox="1"/>
          <p:nvPr/>
        </p:nvSpPr>
        <p:spPr>
          <a:xfrm>
            <a:off x="5257800" y="3831336"/>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유발하다 ✔ / 구조 ✘ → 사회 구조 이야기 아님</a:t>
            </a:r>
            <a:endParaRPr lang="en-US" sz="1300" dirty="0"/>
          </a:p>
        </p:txBody>
      </p:sp>
      <p:sp>
        <p:nvSpPr>
          <p:cNvPr id="21" name="Shape 19"/>
          <p:cNvSpPr/>
          <p:nvPr/>
        </p:nvSpPr>
        <p:spPr>
          <a:xfrm>
            <a:off x="4572000" y="4370832"/>
            <a:ext cx="7040880" cy="905256"/>
          </a:xfrm>
          <a:prstGeom prst="roundRect">
            <a:avLst>
              <a:gd name="adj" fmla="val 10101"/>
            </a:avLst>
          </a:prstGeom>
          <a:solidFill>
            <a:srgbClr val="FFFFFF"/>
          </a:solidFill>
          <a:ln w="12700">
            <a:solidFill>
              <a:srgbClr val="E6F2ED"/>
            </a:solidFill>
            <a:prstDash val="solid"/>
          </a:ln>
        </p:spPr>
      </p:sp>
      <p:sp>
        <p:nvSpPr>
          <p:cNvPr id="22" name="Text 20"/>
          <p:cNvSpPr txBox="1"/>
          <p:nvPr/>
        </p:nvSpPr>
        <p:spPr>
          <a:xfrm>
            <a:off x="4754880" y="4480560"/>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④</a:t>
            </a:r>
            <a:endParaRPr lang="en-US" sz="2000" dirty="0"/>
          </a:p>
        </p:txBody>
      </p:sp>
      <p:sp>
        <p:nvSpPr>
          <p:cNvPr id="23" name="Text 21"/>
          <p:cNvSpPr txBox="1"/>
          <p:nvPr/>
        </p:nvSpPr>
        <p:spPr>
          <a:xfrm>
            <a:off x="5257800" y="4443984"/>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approves ----- structures</a:t>
            </a:r>
            <a:endParaRPr lang="en-US" sz="1500" dirty="0"/>
          </a:p>
        </p:txBody>
      </p:sp>
      <p:sp>
        <p:nvSpPr>
          <p:cNvPr id="24" name="Text 22"/>
          <p:cNvSpPr txBox="1"/>
          <p:nvPr/>
        </p:nvSpPr>
        <p:spPr>
          <a:xfrm>
            <a:off x="5257800" y="4846320"/>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승인하다 ✘ / 구조 ✘</a:t>
            </a:r>
            <a:endParaRPr lang="en-US" sz="1300" dirty="0"/>
          </a:p>
        </p:txBody>
      </p:sp>
      <p:sp>
        <p:nvSpPr>
          <p:cNvPr id="25" name="Shape 23"/>
          <p:cNvSpPr/>
          <p:nvPr/>
        </p:nvSpPr>
        <p:spPr>
          <a:xfrm>
            <a:off x="4572000" y="5385816"/>
            <a:ext cx="7040880" cy="905256"/>
          </a:xfrm>
          <a:prstGeom prst="roundRect">
            <a:avLst>
              <a:gd name="adj" fmla="val 10101"/>
            </a:avLst>
          </a:prstGeom>
          <a:solidFill>
            <a:srgbClr val="FFFFFF"/>
          </a:solidFill>
          <a:ln w="12700">
            <a:solidFill>
              <a:srgbClr val="E6F2ED"/>
            </a:solidFill>
            <a:prstDash val="solid"/>
          </a:ln>
        </p:spPr>
      </p:sp>
      <p:sp>
        <p:nvSpPr>
          <p:cNvPr id="26" name="Text 24"/>
          <p:cNvSpPr txBox="1"/>
          <p:nvPr/>
        </p:nvSpPr>
        <p:spPr>
          <a:xfrm>
            <a:off x="4754880" y="5495544"/>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⑤</a:t>
            </a:r>
            <a:endParaRPr lang="en-US" sz="2000" dirty="0"/>
          </a:p>
        </p:txBody>
      </p:sp>
      <p:sp>
        <p:nvSpPr>
          <p:cNvPr id="27" name="Text 25"/>
          <p:cNvSpPr txBox="1"/>
          <p:nvPr/>
        </p:nvSpPr>
        <p:spPr>
          <a:xfrm>
            <a:off x="5257800" y="5458968"/>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approves ----- pressure</a:t>
            </a:r>
            <a:endParaRPr lang="en-US" sz="1500" dirty="0"/>
          </a:p>
        </p:txBody>
      </p:sp>
      <p:sp>
        <p:nvSpPr>
          <p:cNvPr id="28" name="Text 26"/>
          <p:cNvSpPr txBox="1"/>
          <p:nvPr/>
        </p:nvSpPr>
        <p:spPr>
          <a:xfrm>
            <a:off x="5257800" y="5861304"/>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승인하다 ✘ / 압력 ✘ → '사회적 압력' 연상 함정</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94  </a:t>
            </a:r>
            <a:pPr algn="l" indent="0" marL="0">
              <a:buNone/>
            </a:pPr>
            <a:r>
              <a:rPr lang="en-US" sz="3000" b="1" dirty="0">
                <a:solidFill>
                  <a:srgbClr val="14453D"/>
                </a:solidFill>
              </a:rPr>
              <a:t>내신 어법 체크: 알맞은 것은?</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어법</a:t>
            </a:r>
            <a:endParaRPr lang="en-US" sz="1200" dirty="0"/>
          </a:p>
        </p:txBody>
      </p:sp>
      <p:sp>
        <p:nvSpPr>
          <p:cNvPr id="4" name="Shape 2"/>
          <p:cNvSpPr/>
          <p:nvPr/>
        </p:nvSpPr>
        <p:spPr>
          <a:xfrm>
            <a:off x="548640" y="1325880"/>
            <a:ext cx="11064240" cy="1143000"/>
          </a:xfrm>
          <a:prstGeom prst="roundRect">
            <a:avLst>
              <a:gd name="adj" fmla="val 8000"/>
            </a:avLst>
          </a:prstGeom>
          <a:solidFill>
            <a:srgbClr val="F2F8FB"/>
          </a:solidFill>
          <a:ln w="12700">
            <a:solidFill>
              <a:srgbClr val="D3E5EE"/>
            </a:solidFill>
            <a:prstDash val="solid"/>
          </a:ln>
        </p:spPr>
      </p:sp>
      <p:sp>
        <p:nvSpPr>
          <p:cNvPr id="5" name="Text 3"/>
          <p:cNvSpPr/>
          <p:nvPr/>
        </p:nvSpPr>
        <p:spPr>
          <a:xfrm>
            <a:off x="777240" y="162306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1554480" y="132588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Many cases of such social contagion </a:t>
            </a:r>
            <a:pPr indent="0" marL="0">
              <a:buNone/>
            </a:pPr>
            <a:r>
              <a:rPr lang="en-US" sz="1900" b="1" dirty="0">
                <a:solidFill>
                  <a:srgbClr val="EF5B3F"/>
                </a:solidFill>
              </a:rPr>
              <a:t>[happen / happens]</a:t>
            </a:r>
            <a:pPr indent="0" marL="0">
              <a:buNone/>
            </a:pPr>
            <a:r>
              <a:rPr lang="en-US" sz="1900" dirty="0">
                <a:solidFill>
                  <a:srgbClr val="1E2B2A"/>
                </a:solidFill>
              </a:rPr>
              <a:t> in subtle ways.</a:t>
            </a:r>
            <a:endParaRPr lang="en-US" sz="1900" dirty="0"/>
          </a:p>
        </p:txBody>
      </p:sp>
      <p:sp>
        <p:nvSpPr>
          <p:cNvPr id="7" name="Shape 5"/>
          <p:cNvSpPr/>
          <p:nvPr/>
        </p:nvSpPr>
        <p:spPr>
          <a:xfrm>
            <a:off x="548640" y="2606040"/>
            <a:ext cx="11064240" cy="1143000"/>
          </a:xfrm>
          <a:prstGeom prst="roundRect">
            <a:avLst>
              <a:gd name="adj" fmla="val 8000"/>
            </a:avLst>
          </a:prstGeom>
          <a:solidFill>
            <a:srgbClr val="FFFFFF"/>
          </a:solidFill>
          <a:ln w="12700">
            <a:solidFill>
              <a:srgbClr val="D3E5EE"/>
            </a:solidFill>
            <a:prstDash val="solid"/>
          </a:ln>
        </p:spPr>
      </p:sp>
      <p:sp>
        <p:nvSpPr>
          <p:cNvPr id="8" name="Text 6"/>
          <p:cNvSpPr/>
          <p:nvPr/>
        </p:nvSpPr>
        <p:spPr>
          <a:xfrm>
            <a:off x="777240" y="290322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9" name="Text 7"/>
          <p:cNvSpPr txBox="1"/>
          <p:nvPr/>
        </p:nvSpPr>
        <p:spPr>
          <a:xfrm>
            <a:off x="1554480" y="260604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…you will become more inclined </a:t>
            </a:r>
            <a:pPr indent="0" marL="0">
              <a:buNone/>
            </a:pPr>
            <a:r>
              <a:rPr lang="en-US" sz="1900" b="1" dirty="0">
                <a:solidFill>
                  <a:srgbClr val="EF5B3F"/>
                </a:solidFill>
              </a:rPr>
              <a:t>[to eat / eating]</a:t>
            </a:r>
            <a:pPr indent="0" marL="0">
              <a:buNone/>
            </a:pPr>
            <a:r>
              <a:rPr lang="en-US" sz="1900" dirty="0">
                <a:solidFill>
                  <a:srgbClr val="1E2B2A"/>
                </a:solidFill>
              </a:rPr>
              <a:t> fatty food.</a:t>
            </a:r>
            <a:endParaRPr lang="en-US" sz="1900" dirty="0"/>
          </a:p>
        </p:txBody>
      </p:sp>
      <p:sp>
        <p:nvSpPr>
          <p:cNvPr id="10" name="Shape 8"/>
          <p:cNvSpPr/>
          <p:nvPr/>
        </p:nvSpPr>
        <p:spPr>
          <a:xfrm>
            <a:off x="548640" y="3886200"/>
            <a:ext cx="11064240" cy="1143000"/>
          </a:xfrm>
          <a:prstGeom prst="roundRect">
            <a:avLst>
              <a:gd name="adj" fmla="val 8000"/>
            </a:avLst>
          </a:prstGeom>
          <a:solidFill>
            <a:srgbClr val="F2F8FB"/>
          </a:solidFill>
          <a:ln w="12700">
            <a:solidFill>
              <a:srgbClr val="D3E5EE"/>
            </a:solidFill>
            <a:prstDash val="solid"/>
          </a:ln>
        </p:spPr>
      </p:sp>
      <p:sp>
        <p:nvSpPr>
          <p:cNvPr id="11" name="Text 9"/>
          <p:cNvSpPr/>
          <p:nvPr/>
        </p:nvSpPr>
        <p:spPr>
          <a:xfrm>
            <a:off x="777240" y="418338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2" name="Text 10"/>
          <p:cNvSpPr txBox="1"/>
          <p:nvPr/>
        </p:nvSpPr>
        <p:spPr>
          <a:xfrm>
            <a:off x="1554480" y="388620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We </a:t>
            </a:r>
            <a:pPr indent="0" marL="0">
              <a:buNone/>
            </a:pPr>
            <a:r>
              <a:rPr lang="en-US" sz="1900" b="1" dirty="0">
                <a:solidFill>
                  <a:srgbClr val="EF5B3F"/>
                </a:solidFill>
              </a:rPr>
              <a:t>[barely notice / don't barely notice]</a:t>
            </a:r>
            <a:pPr indent="0" marL="0">
              <a:buNone/>
            </a:pPr>
            <a:r>
              <a:rPr lang="en-US" sz="1900" dirty="0">
                <a:solidFill>
                  <a:srgbClr val="1E2B2A"/>
                </a:solidFill>
              </a:rPr>
              <a:t> this interesting hidden principle.</a:t>
            </a:r>
            <a:endParaRPr lang="en-US" sz="19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95  </a:t>
            </a:r>
            <a:pPr algn="l" indent="0" marL="0">
              <a:buNone/>
            </a:pPr>
            <a:r>
              <a:rPr lang="en-US" sz="3000" b="1" dirty="0">
                <a:solidFill>
                  <a:srgbClr val="14453D"/>
                </a:solidFill>
              </a:rPr>
              <a:t>자기 성찰의 힘</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Hook</a:t>
            </a:r>
            <a:endParaRPr lang="en-US" sz="1200" dirty="0"/>
          </a:p>
        </p:txBody>
      </p:sp>
      <p:sp>
        <p:nvSpPr>
          <p:cNvPr id="4" name="Shape 2"/>
          <p:cNvSpPr/>
          <p:nvPr/>
        </p:nvSpPr>
        <p:spPr>
          <a:xfrm>
            <a:off x="1280160" y="1737360"/>
            <a:ext cx="9601200" cy="3291840"/>
          </a:xfrm>
          <a:prstGeom prst="roundRect">
            <a:avLst>
              <a:gd name="adj" fmla="val 6944"/>
            </a:avLst>
          </a:prstGeom>
          <a:solidFill>
            <a:srgbClr val="E6F2ED"/>
          </a:solidFill>
          <a:ln w="12700">
            <a:solidFill>
              <a:srgbClr val="E6F2ED"/>
            </a:solidFill>
            <a:prstDash val="solid"/>
          </a:ln>
        </p:spPr>
      </p:sp>
      <p:sp>
        <p:nvSpPr>
          <p:cNvPr id="5" name="Shape 3"/>
          <p:cNvSpPr/>
          <p:nvPr/>
        </p:nvSpPr>
        <p:spPr>
          <a:xfrm>
            <a:off x="1737360" y="2148840"/>
            <a:ext cx="1005840" cy="1005840"/>
          </a:xfrm>
          <a:prstGeom prst="ellipse">
            <a:avLst/>
          </a:prstGeom>
          <a:solidFill>
            <a:srgbClr val="1F7A64"/>
          </a:solidFill>
          <a:ln w="12700">
            <a:solidFill>
              <a:srgbClr val="1F7A64"/>
            </a:solidFill>
            <a:prstDash val="solid"/>
          </a:ln>
        </p:spPr>
      </p:sp>
      <p:pic>
        <p:nvPicPr>
          <p:cNvPr id="6" name="Image 0" descr="preencoded.png">    </p:cNvPr>
          <p:cNvPicPr>
            <a:picLocks noChangeAspect="1"/>
          </p:cNvPicPr>
          <p:nvPr/>
        </p:nvPicPr>
        <p:blipFill>
          <a:blip r:embed="rId1"/>
          <a:stretch>
            <a:fillRect/>
          </a:stretch>
        </p:blipFill>
        <p:spPr>
          <a:xfrm>
            <a:off x="1984248" y="2395728"/>
            <a:ext cx="512064" cy="512064"/>
          </a:xfrm>
          <a:prstGeom prst="rect">
            <a:avLst/>
          </a:prstGeom>
        </p:spPr>
      </p:pic>
      <p:sp>
        <p:nvSpPr>
          <p:cNvPr id="7" name="Text 4"/>
          <p:cNvSpPr txBox="1"/>
          <p:nvPr/>
        </p:nvSpPr>
        <p:spPr>
          <a:xfrm>
            <a:off x="3017520" y="2194560"/>
            <a:ext cx="5486400" cy="457200"/>
          </a:xfrm>
          <a:prstGeom prst="rect">
            <a:avLst/>
          </a:prstGeom>
          <a:noFill/>
          <a:ln/>
        </p:spPr>
        <p:txBody>
          <a:bodyPr wrap="square" lIns="0" tIns="0" rIns="0" bIns="0" rtlCol="0" anchor="ctr"/>
          <a:lstStyle/>
          <a:p>
            <a:pPr indent="0" marL="0">
              <a:buNone/>
            </a:pPr>
            <a:r>
              <a:rPr lang="en-US" sz="1800" b="1" dirty="0">
                <a:solidFill>
                  <a:srgbClr val="1F7A64"/>
                </a:solidFill>
              </a:rPr>
              <a:t>생각해 볼까?</a:t>
            </a:r>
            <a:endParaRPr lang="en-US" sz="1800" dirty="0"/>
          </a:p>
        </p:txBody>
      </p:sp>
      <p:sp>
        <p:nvSpPr>
          <p:cNvPr id="8" name="Text 5"/>
          <p:cNvSpPr txBox="1"/>
          <p:nvPr/>
        </p:nvSpPr>
        <p:spPr>
          <a:xfrm>
            <a:off x="3017520" y="2697480"/>
            <a:ext cx="7498080" cy="2011680"/>
          </a:xfrm>
          <a:prstGeom prst="rect">
            <a:avLst/>
          </a:prstGeom>
          <a:noFill/>
          <a:ln/>
        </p:spPr>
        <p:txBody>
          <a:bodyPr wrap="square" lIns="0" tIns="0" rIns="0" bIns="0" rtlCol="0" anchor="t">
            <a:normAutofit/>
          </a:bodyPr>
          <a:lstStyle/>
          <a:p>
            <a:pPr indent="0" marL="0">
              <a:buNone/>
            </a:pPr>
            <a:r>
              <a:rPr lang="en-US" sz="2800" b="1" dirty="0">
                <a:solidFill>
                  <a:srgbClr val="14453D"/>
                </a:solidFill>
              </a:rPr>
              <a:t>시험 끝나고 '내가 왜 틀렸지?' 스스로 물어본 적 있어? 그게 바로 자기 성찰!</a:t>
            </a:r>
            <a:endParaRPr lang="en-US" sz="2800" dirty="0"/>
          </a:p>
        </p:txBody>
      </p:sp>
      <p:sp>
        <p:nvSpPr>
          <p:cNvPr id="9" name="Text 6"/>
          <p:cNvSpPr/>
          <p:nvPr/>
        </p:nvSpPr>
        <p:spPr>
          <a:xfrm>
            <a:off x="4251960" y="5349240"/>
            <a:ext cx="3657600" cy="329184"/>
          </a:xfrm>
          <a:prstGeom prst="roundRect">
            <a:avLst>
              <a:gd name="adj" fmla="val 41667"/>
            </a:avLst>
          </a:prstGeom>
          <a:solidFill>
            <a:srgbClr val="EF5B3F"/>
          </a:solidFill>
          <a:ln/>
        </p:spPr>
        <p:txBody>
          <a:bodyPr wrap="square" lIns="0" tIns="0" rIns="0" bIns="0" rtlCol="0" anchor="ctr"/>
          <a:lstStyle/>
          <a:p>
            <a:pPr algn="ctr" indent="0" marL="0">
              <a:buNone/>
            </a:pPr>
            <a:r>
              <a:rPr lang="en-US" sz="1400" b="1" dirty="0">
                <a:solidFill>
                  <a:srgbClr val="FFFFFF"/>
                </a:solidFill>
              </a:rPr>
              <a:t>짝과 30초 이야기 → 2~3명 발표</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95  </a:t>
            </a:r>
            <a:pPr algn="l" indent="0" marL="0">
              <a:buNone/>
            </a:pPr>
            <a:r>
              <a:rPr lang="en-US" sz="2400" b="1" dirty="0">
                <a:solidFill>
                  <a:srgbClr val="14453D"/>
                </a:solidFill>
              </a:rPr>
              <a:t>(A)·(B)에 들어갈 말로 가장 적절한 것은?</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a:t>
            </a:r>
            <a:endParaRPr lang="en-US" sz="1200" dirty="0"/>
          </a:p>
        </p:txBody>
      </p:sp>
      <p:sp>
        <p:nvSpPr>
          <p:cNvPr id="4" name="Shape 2"/>
          <p:cNvSpPr/>
          <p:nvPr/>
        </p:nvSpPr>
        <p:spPr>
          <a:xfrm>
            <a:off x="548640" y="1234440"/>
            <a:ext cx="11064240" cy="5074920"/>
          </a:xfrm>
          <a:prstGeom prst="roundRect">
            <a:avLst>
              <a:gd name="adj" fmla="val 1802"/>
            </a:avLst>
          </a:prstGeom>
          <a:solidFill>
            <a:srgbClr val="FFFFFF"/>
          </a:solidFill>
          <a:ln w="19050">
            <a:solidFill>
              <a:srgbClr val="E6F2ED"/>
            </a:solidFill>
            <a:prstDash val="solid"/>
          </a:ln>
        </p:spPr>
      </p:sp>
      <p:sp>
        <p:nvSpPr>
          <p:cNvPr id="5" name="Text 3"/>
          <p:cNvSpPr txBox="1"/>
          <p:nvPr/>
        </p:nvSpPr>
        <p:spPr>
          <a:xfrm>
            <a:off x="777240" y="1371600"/>
            <a:ext cx="10607040" cy="4846320"/>
          </a:xfrm>
          <a:prstGeom prst="rect">
            <a:avLst/>
          </a:prstGeom>
          <a:noFill/>
          <a:ln/>
        </p:spPr>
        <p:txBody>
          <a:bodyPr wrap="square" lIns="0" tIns="0" rIns="0" bIns="0" rtlCol="0" anchor="t"/>
          <a:lstStyle/>
          <a:p>
            <a:pPr indent="0" marL="0">
              <a:lnSpc>
                <a:spcPct val="115000"/>
              </a:lnSpc>
              <a:buNone/>
            </a:pPr>
            <a:r>
              <a:rPr lang="en-US" sz="1500" dirty="0">
                <a:solidFill>
                  <a:srgbClr val="1E2B2A"/>
                </a:solidFill>
              </a:rPr>
              <a:t>Have you ever thought about what you are good at and not so good at during internal conversations with yourself?</a:t>
            </a:r>
            <a:pPr indent="0" marL="0">
              <a:lnSpc>
                <a:spcPct val="115000"/>
              </a:lnSpc>
              <a:buNone/>
            </a:pPr>
            <a:r>
              <a:rPr lang="en-US" sz="1500" dirty="0">
                <a:solidFill>
                  <a:srgbClr val="000000"/>
                </a:solidFill>
              </a:rPr>
              <a:t> </a:t>
            </a:r>
            <a:pPr indent="0" marL="0">
              <a:lnSpc>
                <a:spcPct val="115000"/>
              </a:lnSpc>
              <a:buNone/>
            </a:pPr>
            <a:r>
              <a:rPr lang="en-US" sz="1500" dirty="0">
                <a:solidFill>
                  <a:srgbClr val="1E2B2A"/>
                </a:solidFill>
              </a:rPr>
              <a:t>Inner thought processes like this help you get a clearer picture of your strengths and weaknesses.</a:t>
            </a:r>
            <a:pPr indent="0" marL="0">
              <a:lnSpc>
                <a:spcPct val="115000"/>
              </a:lnSpc>
              <a:buNone/>
            </a:pPr>
            <a:r>
              <a:rPr lang="en-US" sz="1500" dirty="0">
                <a:solidFill>
                  <a:srgbClr val="000000"/>
                </a:solidFill>
              </a:rPr>
              <a:t> </a:t>
            </a:r>
            <a:pPr indent="0" marL="0">
              <a:lnSpc>
                <a:spcPct val="115000"/>
              </a:lnSpc>
              <a:buNone/>
            </a:pPr>
            <a:r>
              <a:rPr lang="en-US" sz="1500" dirty="0">
                <a:solidFill>
                  <a:srgbClr val="1E2B2A"/>
                </a:solidFill>
              </a:rPr>
              <a:t>During the process, you may ask yourself a series of questions to identify blind spots that may be blocking you from reaching your goals.</a:t>
            </a:r>
            <a:pPr indent="0" marL="0">
              <a:lnSpc>
                <a:spcPct val="115000"/>
              </a:lnSpc>
              <a:buNone/>
            </a:pPr>
            <a:r>
              <a:rPr lang="en-US" sz="1500" dirty="0">
                <a:solidFill>
                  <a:srgbClr val="000000"/>
                </a:solidFill>
              </a:rPr>
              <a:t> </a:t>
            </a:r>
            <a:pPr indent="0" marL="0">
              <a:lnSpc>
                <a:spcPct val="115000"/>
              </a:lnSpc>
              <a:buNone/>
            </a:pPr>
            <a:r>
              <a:rPr lang="en-US" sz="1500" dirty="0">
                <a:solidFill>
                  <a:srgbClr val="1E2B2A"/>
                </a:solidFill>
              </a:rPr>
              <a:t>This reflection process enables you to clearly see potential problems and ways to fix them.</a:t>
            </a:r>
            <a:pPr indent="0" marL="0">
              <a:lnSpc>
                <a:spcPct val="115000"/>
              </a:lnSpc>
              <a:buNone/>
            </a:pPr>
            <a:r>
              <a:rPr lang="en-US" sz="1500" dirty="0">
                <a:solidFill>
                  <a:srgbClr val="000000"/>
                </a:solidFill>
              </a:rPr>
              <a:t> </a:t>
            </a:r>
            <a:pPr indent="0" marL="0">
              <a:lnSpc>
                <a:spcPct val="115000"/>
              </a:lnSpc>
              <a:buNone/>
            </a:pPr>
            <a:r>
              <a:rPr lang="en-US" sz="1500" dirty="0">
                <a:solidFill>
                  <a:srgbClr val="1E2B2A"/>
                </a:solidFill>
              </a:rPr>
              <a:t>It is not only essential in personal development but also critical to corporate success.</a:t>
            </a:r>
            <a:pPr indent="0" marL="0">
              <a:lnSpc>
                <a:spcPct val="115000"/>
              </a:lnSpc>
              <a:buNone/>
            </a:pPr>
            <a:r>
              <a:rPr lang="en-US" sz="1500" dirty="0">
                <a:solidFill>
                  <a:srgbClr val="000000"/>
                </a:solidFill>
              </a:rPr>
              <a:t> </a:t>
            </a:r>
            <a:pPr indent="0" marL="0">
              <a:lnSpc>
                <a:spcPct val="115000"/>
              </a:lnSpc>
              <a:buNone/>
            </a:pPr>
            <a:r>
              <a:rPr lang="en-US" sz="1500" dirty="0">
                <a:solidFill>
                  <a:srgbClr val="1E2B2A"/>
                </a:solidFill>
              </a:rPr>
              <a:t>The most consistently innovative companies in the world promote a culture which includes this self-inquiry.</a:t>
            </a:r>
            <a:pPr indent="0" marL="0">
              <a:lnSpc>
                <a:spcPct val="115000"/>
              </a:lnSpc>
              <a:buNone/>
            </a:pPr>
            <a:r>
              <a:rPr lang="en-US" sz="1500" dirty="0">
                <a:solidFill>
                  <a:srgbClr val="000000"/>
                </a:solidFill>
              </a:rPr>
              <a:t> </a:t>
            </a:r>
            <a:pPr indent="0" marL="0">
              <a:lnSpc>
                <a:spcPct val="115000"/>
              </a:lnSpc>
              <a:buNone/>
            </a:pPr>
            <a:r>
              <a:rPr lang="en-US" sz="1500" dirty="0">
                <a:solidFill>
                  <a:srgbClr val="1E2B2A"/>
                </a:solidFill>
              </a:rPr>
              <a:t>For instance, Google gives its employees free time every Friday to reflect on the pros and cons of their current projects and to dream up new possibilities by thinking “what if” type questions.</a:t>
            </a:r>
            <a:pPr indent="0" marL="0">
              <a:lnSpc>
                <a:spcPct val="115000"/>
              </a:lnSpc>
              <a:buNone/>
            </a:pPr>
            <a:r>
              <a:rPr lang="en-US" sz="1500" dirty="0">
                <a:solidFill>
                  <a:srgbClr val="000000"/>
                </a:solidFill>
              </a:rPr>
              <a:t> </a:t>
            </a:r>
            <a:pPr indent="0" marL="0">
              <a:lnSpc>
                <a:spcPct val="115000"/>
              </a:lnSpc>
              <a:buNone/>
            </a:pPr>
            <a:r>
              <a:rPr lang="en-US" sz="1500" dirty="0">
                <a:solidFill>
                  <a:srgbClr val="1E2B2A"/>
                </a:solidFill>
              </a:rPr>
              <a:t>It is this self-awareness that allows the company to excel at developing innovative and outstanding products.</a:t>
            </a:r>
            <a:endParaRPr lang="en-US" sz="1500" dirty="0"/>
          </a:p>
          <a:p>
            <a:pPr algn="r" indent="0" marL="0">
              <a:lnSpc>
                <a:spcPct val="115000"/>
              </a:lnSpc>
              <a:spcBef>
                <a:spcPts val="200"/>
              </a:spcBef>
              <a:buNone/>
            </a:pPr>
            <a:r>
              <a:rPr lang="en-US" sz="1100" i="1" dirty="0">
                <a:solidFill>
                  <a:srgbClr val="6E7F7C"/>
                </a:solidFill>
              </a:rPr>
              <a:t>*blind spot 맹점, 약점</a:t>
            </a:r>
            <a:endParaRPr lang="en-US" sz="1500" dirty="0"/>
          </a:p>
          <a:p>
            <a:pPr indent="0" marL="0">
              <a:lnSpc>
                <a:spcPct val="115000"/>
              </a:lnSpc>
              <a:spcBef>
                <a:spcPts val="800"/>
              </a:spcBef>
              <a:buNone/>
            </a:pPr>
            <a:r>
              <a:rPr lang="en-US" sz="1500" b="1" dirty="0">
                <a:solidFill>
                  <a:srgbClr val="1F7A64"/>
                </a:solidFill>
              </a:rPr>
              <a:t>↓  </a:t>
            </a:r>
            <a:pPr indent="0" marL="0">
              <a:lnSpc>
                <a:spcPct val="115000"/>
              </a:lnSpc>
              <a:buNone/>
            </a:pPr>
            <a:r>
              <a:rPr lang="en-US" sz="1500" dirty="0">
                <a:solidFill>
                  <a:srgbClr val="14453D"/>
                </a:solidFill>
              </a:rPr>
              <a:t>Our </a:t>
            </a:r>
            <a:pPr indent="0" marL="0">
              <a:lnSpc>
                <a:spcPct val="115000"/>
              </a:lnSpc>
              <a:buNone/>
            </a:pPr>
            <a:r>
              <a:rPr lang="en-US" sz="1500" b="1" dirty="0">
                <a:solidFill>
                  <a:srgbClr val="EF5B3F"/>
                </a:solidFill>
              </a:rPr>
              <a:t>(A)</a:t>
            </a:r>
            <a:pPr indent="0" marL="0">
              <a:lnSpc>
                <a:spcPct val="115000"/>
              </a:lnSpc>
              <a:buNone/>
            </a:pPr>
            <a:r>
              <a:rPr lang="en-US" sz="1500" dirty="0">
                <a:solidFill>
                  <a:srgbClr val="14453D"/>
                </a:solidFill>
              </a:rPr>
              <a:t> efforts to understand the strong points and weak points of a subject through the process of self-reflection can lead to </a:t>
            </a:r>
            <a:pPr indent="0" marL="0">
              <a:lnSpc>
                <a:spcPct val="115000"/>
              </a:lnSpc>
              <a:buNone/>
            </a:pPr>
            <a:r>
              <a:rPr lang="en-US" sz="1500" b="1" dirty="0">
                <a:solidFill>
                  <a:srgbClr val="EF5B3F"/>
                </a:solidFill>
              </a:rPr>
              <a:t>(B)</a:t>
            </a:r>
            <a:pPr indent="0" marL="0">
              <a:lnSpc>
                <a:spcPct val="115000"/>
              </a:lnSpc>
              <a:buNone/>
            </a:pPr>
            <a:r>
              <a:rPr lang="en-US" sz="1500" dirty="0">
                <a:solidFill>
                  <a:srgbClr val="14453D"/>
                </a:solidFill>
              </a:rPr>
              <a:t> achievement as well as individual progress.</a:t>
            </a:r>
            <a:endParaRPr lang="en-US" sz="1500" dirty="0"/>
          </a:p>
          <a:p>
            <a:pPr indent="0" marL="0">
              <a:lnSpc>
                <a:spcPct val="115000"/>
              </a:lnSpc>
              <a:spcBef>
                <a:spcPts val="1000"/>
              </a:spcBef>
              <a:buNone/>
            </a:pPr>
            <a:r>
              <a:rPr lang="en-US" sz="1500" dirty="0">
                <a:solidFill>
                  <a:srgbClr val="14453D"/>
                </a:solidFill>
              </a:rPr>
              <a:t>①  inventive ----- professional</a:t>
            </a:r>
            <a:endParaRPr lang="en-US" sz="1500" dirty="0"/>
          </a:p>
          <a:p>
            <a:pPr indent="0" marL="0">
              <a:lnSpc>
                <a:spcPct val="115000"/>
              </a:lnSpc>
              <a:spcBef>
                <a:spcPts val="200"/>
              </a:spcBef>
              <a:buNone/>
            </a:pPr>
            <a:r>
              <a:rPr lang="en-US" sz="1500" dirty="0">
                <a:solidFill>
                  <a:srgbClr val="14453D"/>
                </a:solidFill>
              </a:rPr>
              <a:t>②  inventive ----- unexpected</a:t>
            </a:r>
            <a:endParaRPr lang="en-US" sz="1500" dirty="0"/>
          </a:p>
          <a:p>
            <a:pPr indent="0" marL="0">
              <a:lnSpc>
                <a:spcPct val="115000"/>
              </a:lnSpc>
              <a:spcBef>
                <a:spcPts val="200"/>
              </a:spcBef>
              <a:buNone/>
            </a:pPr>
            <a:r>
              <a:rPr lang="en-US" sz="1500" dirty="0">
                <a:solidFill>
                  <a:srgbClr val="14453D"/>
                </a:solidFill>
              </a:rPr>
              <a:t>③  independent ----- immediate</a:t>
            </a:r>
            <a:endParaRPr lang="en-US" sz="1500" dirty="0"/>
          </a:p>
          <a:p>
            <a:pPr indent="0" marL="0">
              <a:lnSpc>
                <a:spcPct val="115000"/>
              </a:lnSpc>
              <a:spcBef>
                <a:spcPts val="200"/>
              </a:spcBef>
              <a:buNone/>
            </a:pPr>
            <a:r>
              <a:rPr lang="en-US" sz="1500" dirty="0">
                <a:solidFill>
                  <a:srgbClr val="14453D"/>
                </a:solidFill>
              </a:rPr>
              <a:t>④  conscious ----- collective</a:t>
            </a:r>
            <a:endParaRPr lang="en-US" sz="1500" dirty="0"/>
          </a:p>
          <a:p>
            <a:pPr indent="0" marL="0">
              <a:lnSpc>
                <a:spcPct val="115000"/>
              </a:lnSpc>
              <a:spcBef>
                <a:spcPts val="200"/>
              </a:spcBef>
              <a:buNone/>
            </a:pPr>
            <a:r>
              <a:rPr lang="en-US" sz="1500" dirty="0">
                <a:solidFill>
                  <a:srgbClr val="14453D"/>
                </a:solidFill>
              </a:rPr>
              <a:t>⑤  conscious ----- modest</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95  </a:t>
            </a:r>
            <a:pPr algn="l" indent="0" marL="0">
              <a:buNone/>
            </a:pPr>
            <a:r>
              <a:rPr lang="en-US" sz="3000" b="1" dirty="0">
                <a:solidFill>
                  <a:srgbClr val="14453D"/>
                </a:solidFill>
              </a:rPr>
              <a:t>정답 근거 &amp; 문법 포인트</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근거</a:t>
            </a:r>
            <a:endParaRPr lang="en-US" sz="1200" dirty="0"/>
          </a:p>
        </p:txBody>
      </p:sp>
      <p:sp>
        <p:nvSpPr>
          <p:cNvPr id="4" name="Shape 2"/>
          <p:cNvSpPr/>
          <p:nvPr/>
        </p:nvSpPr>
        <p:spPr>
          <a:xfrm>
            <a:off x="548640" y="1234440"/>
            <a:ext cx="11064240" cy="2642616"/>
          </a:xfrm>
          <a:prstGeom prst="roundRect">
            <a:avLst>
              <a:gd name="adj" fmla="val 3460"/>
            </a:avLst>
          </a:prstGeom>
          <a:solidFill>
            <a:srgbClr val="FFFFFF"/>
          </a:solidFill>
          <a:ln w="19050">
            <a:solidFill>
              <a:srgbClr val="E6F2ED"/>
            </a:solidFill>
            <a:prstDash val="solid"/>
          </a:ln>
        </p:spPr>
      </p:sp>
      <p:sp>
        <p:nvSpPr>
          <p:cNvPr id="5" name="Text 3"/>
          <p:cNvSpPr txBox="1"/>
          <p:nvPr/>
        </p:nvSpPr>
        <p:spPr>
          <a:xfrm>
            <a:off x="777240" y="1371600"/>
            <a:ext cx="10607040" cy="2414016"/>
          </a:xfrm>
          <a:prstGeom prst="rect">
            <a:avLst/>
          </a:prstGeom>
          <a:noFill/>
          <a:ln/>
        </p:spPr>
        <p:txBody>
          <a:bodyPr wrap="square" lIns="0" tIns="0" rIns="0" bIns="0" rtlCol="0" anchor="t">
            <a:normAutofit/>
          </a:bodyPr>
          <a:lstStyle/>
          <a:p>
            <a:pPr indent="0" marL="0">
              <a:lnSpc>
                <a:spcPct val="120000"/>
              </a:lnSpc>
              <a:buNone/>
            </a:pPr>
            <a:r>
              <a:rPr lang="en-US" sz="1100" b="1" dirty="0">
                <a:solidFill>
                  <a:srgbClr val="1F7A64"/>
                </a:solidFill>
              </a:rPr>
              <a:t>(1) </a:t>
            </a:r>
            <a:pPr indent="0" marL="0">
              <a:lnSpc>
                <a:spcPct val="120000"/>
              </a:lnSpc>
              <a:buNone/>
            </a:pPr>
            <a:r>
              <a:rPr lang="en-US" sz="1400" dirty="0">
                <a:solidFill>
                  <a:srgbClr val="1E2B2A"/>
                </a:solidFill>
              </a:rPr>
              <a:t>Have you ever thought about </a:t>
            </a:r>
            <a:pPr indent="0" marL="0">
              <a:lnSpc>
                <a:spcPct val="120000"/>
              </a:lnSpc>
              <a:buNone/>
            </a:pPr>
            <a:r>
              <a:rPr lang="en-US" sz="1400" b="1" dirty="0">
                <a:solidFill>
                  <a:srgbClr val="14453D"/>
                </a:solidFill>
                <a:highlight>
                  <a:srgbClr val="A9DDF3"/>
                </a:highlight>
              </a:rPr>
              <a:t>what you are good at and not so good at</a:t>
            </a:r>
            <a:pPr indent="0" marL="0">
              <a:lnSpc>
                <a:spcPct val="120000"/>
              </a:lnSpc>
              <a:buNone/>
            </a:pPr>
            <a:r>
              <a:rPr lang="en-US" sz="1400" dirty="0">
                <a:solidFill>
                  <a:srgbClr val="1E2B2A"/>
                </a:solidFill>
              </a:rPr>
              <a:t> during </a:t>
            </a:r>
            <a:pPr indent="0" marL="0">
              <a:lnSpc>
                <a:spcPct val="120000"/>
              </a:lnSpc>
              <a:buNone/>
            </a:pPr>
            <a:r>
              <a:rPr lang="en-US" sz="1400" u="dotted" dirty="0">
                <a:solidFill>
                  <a:srgbClr val="1F7A64"/>
                </a:solidFill>
                <a:uFill>
                  <a:solidFill>
                    <a:srgbClr val="1F7A64"/>
                  </a:solidFill>
                </a:uFill>
              </a:rPr>
              <a:t>internal</a:t>
            </a:r>
            <a:pPr indent="0" marL="0">
              <a:lnSpc>
                <a:spcPct val="120000"/>
              </a:lnSpc>
              <a:buNone/>
            </a:pPr>
            <a:r>
              <a:rPr lang="en-US" sz="1400" dirty="0">
                <a:solidFill>
                  <a:srgbClr val="1E2B2A"/>
                </a:solidFill>
              </a:rPr>
              <a:t> conversations with yourself?</a:t>
            </a:r>
            <a:pPr indent="0" marL="0">
              <a:lnSpc>
                <a:spcPct val="120000"/>
              </a:lnSpc>
              <a:buNone/>
            </a:pPr>
            <a:r>
              <a:rPr lang="en-US" sz="1400" dirty="0">
                <a:solidFill>
                  <a:srgbClr val="000000"/>
                </a:solidFill>
              </a:rPr>
              <a:t> </a:t>
            </a:r>
            <a:pPr indent="0" marL="0">
              <a:lnSpc>
                <a:spcPct val="120000"/>
              </a:lnSpc>
              <a:buNone/>
            </a:pPr>
            <a:r>
              <a:rPr lang="en-US" sz="1100" b="1" dirty="0">
                <a:solidFill>
                  <a:srgbClr val="1F7A64"/>
                </a:solidFill>
              </a:rPr>
              <a:t>(2) </a:t>
            </a:r>
            <a:pPr indent="0" marL="0">
              <a:lnSpc>
                <a:spcPct val="120000"/>
              </a:lnSpc>
              <a:buNone/>
            </a:pPr>
            <a:r>
              <a:rPr lang="en-US" sz="1400" dirty="0">
                <a:solidFill>
                  <a:srgbClr val="1E2B2A"/>
                </a:solidFill>
                <a:highlight>
                  <a:srgbClr val="FFD45C"/>
                </a:highlight>
              </a:rPr>
              <a:t>Inner thought processes like this </a:t>
            </a:r>
            <a:pPr indent="0" marL="0">
              <a:lnSpc>
                <a:spcPct val="120000"/>
              </a:lnSpc>
              <a:buNone/>
            </a:pPr>
            <a:r>
              <a:rPr lang="en-US" sz="1400" b="1" dirty="0">
                <a:solidFill>
                  <a:srgbClr val="14453D"/>
                </a:solidFill>
                <a:highlight>
                  <a:srgbClr val="A9DDF3"/>
                </a:highlight>
              </a:rPr>
              <a:t>help you get a clearer picture</a:t>
            </a:r>
            <a:pPr indent="0" marL="0">
              <a:lnSpc>
                <a:spcPct val="120000"/>
              </a:lnSpc>
              <a:buNone/>
            </a:pPr>
            <a:r>
              <a:rPr lang="en-US" sz="1400" dirty="0">
                <a:solidFill>
                  <a:srgbClr val="1E2B2A"/>
                </a:solidFill>
                <a:highlight>
                  <a:srgbClr val="FFD45C"/>
                </a:highlight>
              </a:rPr>
              <a:t> of your strengths and weaknesses.</a:t>
            </a:r>
            <a:pPr indent="0" marL="0">
              <a:lnSpc>
                <a:spcPct val="120000"/>
              </a:lnSpc>
              <a:buNone/>
            </a:pPr>
            <a:r>
              <a:rPr lang="en-US" sz="1400" dirty="0">
                <a:solidFill>
                  <a:srgbClr val="000000"/>
                </a:solidFill>
              </a:rPr>
              <a:t> </a:t>
            </a:r>
            <a:pPr indent="0" marL="0">
              <a:lnSpc>
                <a:spcPct val="120000"/>
              </a:lnSpc>
              <a:buNone/>
            </a:pPr>
            <a:r>
              <a:rPr lang="en-US" sz="1100" b="1" dirty="0">
                <a:solidFill>
                  <a:srgbClr val="1F7A64"/>
                </a:solidFill>
              </a:rPr>
              <a:t>(3) </a:t>
            </a:r>
            <a:pPr indent="0" marL="0">
              <a:lnSpc>
                <a:spcPct val="120000"/>
              </a:lnSpc>
              <a:buNone/>
            </a:pPr>
            <a:r>
              <a:rPr lang="en-US" sz="1400" dirty="0">
                <a:solidFill>
                  <a:srgbClr val="1E2B2A"/>
                </a:solidFill>
              </a:rPr>
              <a:t>During the process, you may ask yourself a series of questions to </a:t>
            </a:r>
            <a:pPr indent="0" marL="0">
              <a:lnSpc>
                <a:spcPct val="120000"/>
              </a:lnSpc>
              <a:buNone/>
            </a:pPr>
            <a:r>
              <a:rPr lang="en-US" sz="1400" u="dotted" dirty="0">
                <a:solidFill>
                  <a:srgbClr val="1F7A64"/>
                </a:solidFill>
                <a:uFill>
                  <a:solidFill>
                    <a:srgbClr val="1F7A64"/>
                  </a:solidFill>
                </a:uFill>
              </a:rPr>
              <a:t>identify</a:t>
            </a:r>
            <a:pPr indent="0" marL="0">
              <a:lnSpc>
                <a:spcPct val="120000"/>
              </a:lnSpc>
              <a:buNone/>
            </a:pPr>
            <a:r>
              <a:rPr lang="en-US" sz="1400" dirty="0">
                <a:solidFill>
                  <a:srgbClr val="1E2B2A"/>
                </a:solidFill>
              </a:rPr>
              <a:t> blind spots that may be blocking you from reaching your goals.</a:t>
            </a:r>
            <a:pPr indent="0" marL="0">
              <a:lnSpc>
                <a:spcPct val="120000"/>
              </a:lnSpc>
              <a:buNone/>
            </a:pPr>
            <a:r>
              <a:rPr lang="en-US" sz="1400" dirty="0">
                <a:solidFill>
                  <a:srgbClr val="000000"/>
                </a:solidFill>
              </a:rPr>
              <a:t> </a:t>
            </a:r>
            <a:pPr indent="0" marL="0">
              <a:lnSpc>
                <a:spcPct val="120000"/>
              </a:lnSpc>
              <a:buNone/>
            </a:pPr>
            <a:r>
              <a:rPr lang="en-US" sz="1100" b="1" dirty="0">
                <a:solidFill>
                  <a:srgbClr val="1F7A64"/>
                </a:solidFill>
              </a:rPr>
              <a:t>(4) </a:t>
            </a:r>
            <a:pPr indent="0" marL="0">
              <a:lnSpc>
                <a:spcPct val="120000"/>
              </a:lnSpc>
              <a:buNone/>
            </a:pPr>
            <a:r>
              <a:rPr lang="en-US" sz="1400" dirty="0">
                <a:solidFill>
                  <a:srgbClr val="1E2B2A"/>
                </a:solidFill>
                <a:highlight>
                  <a:srgbClr val="FFD45C"/>
                </a:highlight>
              </a:rPr>
              <a:t>This reflection process </a:t>
            </a:r>
            <a:pPr indent="0" marL="0">
              <a:lnSpc>
                <a:spcPct val="120000"/>
              </a:lnSpc>
              <a:buNone/>
            </a:pPr>
            <a:r>
              <a:rPr lang="en-US" sz="1400" b="1" dirty="0">
                <a:solidFill>
                  <a:srgbClr val="14453D"/>
                </a:solidFill>
                <a:highlight>
                  <a:srgbClr val="A9DDF3"/>
                </a:highlight>
              </a:rPr>
              <a:t>enables you to clearly see</a:t>
            </a:r>
            <a:pPr indent="0" marL="0">
              <a:lnSpc>
                <a:spcPct val="120000"/>
              </a:lnSpc>
              <a:buNone/>
            </a:pPr>
            <a:r>
              <a:rPr lang="en-US" sz="1400" dirty="0">
                <a:solidFill>
                  <a:srgbClr val="1E2B2A"/>
                </a:solidFill>
                <a:highlight>
                  <a:srgbClr val="FFD45C"/>
                </a:highlight>
              </a:rPr>
              <a:t> potential problems and ways to fix them.</a:t>
            </a:r>
            <a:pPr indent="0" marL="0">
              <a:lnSpc>
                <a:spcPct val="120000"/>
              </a:lnSpc>
              <a:buNone/>
            </a:pPr>
            <a:r>
              <a:rPr lang="en-US" sz="1400" dirty="0">
                <a:solidFill>
                  <a:srgbClr val="000000"/>
                </a:solidFill>
              </a:rPr>
              <a:t> </a:t>
            </a:r>
            <a:pPr indent="0" marL="0">
              <a:lnSpc>
                <a:spcPct val="120000"/>
              </a:lnSpc>
              <a:buNone/>
            </a:pPr>
            <a:r>
              <a:rPr lang="en-US" sz="1100" b="1" dirty="0">
                <a:solidFill>
                  <a:srgbClr val="1F7A64"/>
                </a:solidFill>
              </a:rPr>
              <a:t>(5) </a:t>
            </a:r>
            <a:pPr indent="0" marL="0">
              <a:lnSpc>
                <a:spcPct val="120000"/>
              </a:lnSpc>
              <a:buNone/>
            </a:pPr>
            <a:r>
              <a:rPr lang="en-US" sz="1400" b="1" dirty="0">
                <a:solidFill>
                  <a:srgbClr val="14453D"/>
                </a:solidFill>
                <a:highlight>
                  <a:srgbClr val="A9DDF3"/>
                </a:highlight>
              </a:rPr>
              <a:t>It is not only essential in personal development but also critical</a:t>
            </a:r>
            <a:pPr indent="0" marL="0">
              <a:lnSpc>
                <a:spcPct val="120000"/>
              </a:lnSpc>
              <a:buNone/>
            </a:pPr>
            <a:r>
              <a:rPr lang="en-US" sz="1400" dirty="0">
                <a:solidFill>
                  <a:srgbClr val="1E2B2A"/>
                </a:solidFill>
                <a:highlight>
                  <a:srgbClr val="FFD45C"/>
                </a:highlight>
              </a:rPr>
              <a:t> to </a:t>
            </a:r>
            <a:pPr indent="0" marL="0">
              <a:lnSpc>
                <a:spcPct val="120000"/>
              </a:lnSpc>
              <a:buNone/>
            </a:pPr>
            <a:r>
              <a:rPr lang="en-US" sz="1400" u="dotted" dirty="0">
                <a:solidFill>
                  <a:srgbClr val="1F7A64"/>
                </a:solidFill>
                <a:highlight>
                  <a:srgbClr val="FFD45C"/>
                </a:highlight>
                <a:uFill>
                  <a:solidFill>
                    <a:srgbClr val="1F7A64"/>
                  </a:solidFill>
                </a:uFill>
              </a:rPr>
              <a:t>corporate</a:t>
            </a:r>
            <a:pPr indent="0" marL="0">
              <a:lnSpc>
                <a:spcPct val="120000"/>
              </a:lnSpc>
              <a:buNone/>
            </a:pPr>
            <a:r>
              <a:rPr lang="en-US" sz="1400" dirty="0">
                <a:solidFill>
                  <a:srgbClr val="1E2B2A"/>
                </a:solidFill>
                <a:highlight>
                  <a:srgbClr val="FFD45C"/>
                </a:highlight>
              </a:rPr>
              <a:t> success.</a:t>
            </a:r>
            <a:pPr indent="0" marL="0">
              <a:lnSpc>
                <a:spcPct val="120000"/>
              </a:lnSpc>
              <a:buNone/>
            </a:pPr>
            <a:r>
              <a:rPr lang="en-US" sz="1400" dirty="0">
                <a:solidFill>
                  <a:srgbClr val="000000"/>
                </a:solidFill>
              </a:rPr>
              <a:t> </a:t>
            </a:r>
            <a:pPr indent="0" marL="0">
              <a:lnSpc>
                <a:spcPct val="120000"/>
              </a:lnSpc>
              <a:buNone/>
            </a:pPr>
            <a:r>
              <a:rPr lang="en-US" sz="1100" b="1" dirty="0">
                <a:solidFill>
                  <a:srgbClr val="1F7A64"/>
                </a:solidFill>
              </a:rPr>
              <a:t>(6) </a:t>
            </a:r>
            <a:pPr indent="0" marL="0">
              <a:lnSpc>
                <a:spcPct val="120000"/>
              </a:lnSpc>
              <a:buNone/>
            </a:pPr>
            <a:r>
              <a:rPr lang="en-US" sz="1400" dirty="0">
                <a:solidFill>
                  <a:srgbClr val="1E2B2A"/>
                </a:solidFill>
                <a:highlight>
                  <a:srgbClr val="FFD45C"/>
                </a:highlight>
              </a:rPr>
              <a:t>The most </a:t>
            </a:r>
            <a:pPr indent="0" marL="0">
              <a:lnSpc>
                <a:spcPct val="120000"/>
              </a:lnSpc>
              <a:buNone/>
            </a:pPr>
            <a:r>
              <a:rPr lang="en-US" sz="1400" u="dotted" dirty="0">
                <a:solidFill>
                  <a:srgbClr val="1F7A64"/>
                </a:solidFill>
                <a:highlight>
                  <a:srgbClr val="FFD45C"/>
                </a:highlight>
                <a:uFill>
                  <a:solidFill>
                    <a:srgbClr val="1F7A64"/>
                  </a:solidFill>
                </a:uFill>
              </a:rPr>
              <a:t>consistently</a:t>
            </a:r>
            <a:pPr indent="0" marL="0">
              <a:lnSpc>
                <a:spcPct val="120000"/>
              </a:lnSpc>
              <a:buNone/>
            </a:pPr>
            <a:r>
              <a:rPr lang="en-US" sz="1400" dirty="0">
                <a:solidFill>
                  <a:srgbClr val="1E2B2A"/>
                </a:solidFill>
                <a:highlight>
                  <a:srgbClr val="FFD45C"/>
                </a:highlight>
              </a:rPr>
              <a:t> </a:t>
            </a:r>
            <a:pPr indent="0" marL="0">
              <a:lnSpc>
                <a:spcPct val="120000"/>
              </a:lnSpc>
              <a:buNone/>
            </a:pPr>
            <a:r>
              <a:rPr lang="en-US" sz="1400" u="dotted" dirty="0">
                <a:solidFill>
                  <a:srgbClr val="1F7A64"/>
                </a:solidFill>
                <a:highlight>
                  <a:srgbClr val="FFD45C"/>
                </a:highlight>
                <a:uFill>
                  <a:solidFill>
                    <a:srgbClr val="1F7A64"/>
                  </a:solidFill>
                </a:uFill>
              </a:rPr>
              <a:t>innovative</a:t>
            </a:r>
            <a:pPr indent="0" marL="0">
              <a:lnSpc>
                <a:spcPct val="120000"/>
              </a:lnSpc>
              <a:buNone/>
            </a:pPr>
            <a:r>
              <a:rPr lang="en-US" sz="1400" dirty="0">
                <a:solidFill>
                  <a:srgbClr val="1E2B2A"/>
                </a:solidFill>
                <a:highlight>
                  <a:srgbClr val="FFD45C"/>
                </a:highlight>
              </a:rPr>
              <a:t> companies in the world promote a culture which includes this </a:t>
            </a:r>
            <a:pPr indent="0" marL="0">
              <a:lnSpc>
                <a:spcPct val="120000"/>
              </a:lnSpc>
              <a:buNone/>
            </a:pPr>
            <a:r>
              <a:rPr lang="en-US" sz="1400" u="dotted" dirty="0">
                <a:solidFill>
                  <a:srgbClr val="1F7A64"/>
                </a:solidFill>
                <a:highlight>
                  <a:srgbClr val="FFD45C"/>
                </a:highlight>
                <a:uFill>
                  <a:solidFill>
                    <a:srgbClr val="1F7A64"/>
                  </a:solidFill>
                </a:uFill>
              </a:rPr>
              <a:t>self-inquiry</a:t>
            </a:r>
            <a:pPr indent="0" marL="0">
              <a:lnSpc>
                <a:spcPct val="120000"/>
              </a:lnSpc>
              <a:buNone/>
            </a:pPr>
            <a:r>
              <a:rPr lang="en-US" sz="1400" dirty="0">
                <a:solidFill>
                  <a:srgbClr val="1E2B2A"/>
                </a:solidFill>
                <a:highlight>
                  <a:srgbClr val="FFD45C"/>
                </a:highlight>
              </a:rPr>
              <a:t>.</a:t>
            </a:r>
            <a:pPr indent="0" marL="0">
              <a:lnSpc>
                <a:spcPct val="120000"/>
              </a:lnSpc>
              <a:buNone/>
            </a:pPr>
            <a:r>
              <a:rPr lang="en-US" sz="1400" dirty="0">
                <a:solidFill>
                  <a:srgbClr val="000000"/>
                </a:solidFill>
              </a:rPr>
              <a:t> </a:t>
            </a:r>
            <a:pPr indent="0" marL="0">
              <a:lnSpc>
                <a:spcPct val="120000"/>
              </a:lnSpc>
              <a:buNone/>
            </a:pPr>
            <a:r>
              <a:rPr lang="en-US" sz="1100" b="1" dirty="0">
                <a:solidFill>
                  <a:srgbClr val="1F7A64"/>
                </a:solidFill>
              </a:rPr>
              <a:t>(7) </a:t>
            </a:r>
            <a:pPr indent="0" marL="0">
              <a:lnSpc>
                <a:spcPct val="120000"/>
              </a:lnSpc>
              <a:buNone/>
            </a:pPr>
            <a:r>
              <a:rPr lang="en-US" sz="1400" dirty="0">
                <a:solidFill>
                  <a:srgbClr val="1E2B2A"/>
                </a:solidFill>
              </a:rPr>
              <a:t>For instance, Google gives its employees free time every Friday to reflect on the pros and cons of their current projects and to dream up new possibilities by thinking “what if” type questions.</a:t>
            </a:r>
            <a:pPr indent="0" marL="0">
              <a:lnSpc>
                <a:spcPct val="120000"/>
              </a:lnSpc>
              <a:buNone/>
            </a:pPr>
            <a:r>
              <a:rPr lang="en-US" sz="1400" dirty="0">
                <a:solidFill>
                  <a:srgbClr val="000000"/>
                </a:solidFill>
              </a:rPr>
              <a:t> </a:t>
            </a:r>
            <a:pPr indent="0" marL="0">
              <a:lnSpc>
                <a:spcPct val="120000"/>
              </a:lnSpc>
              <a:buNone/>
            </a:pPr>
            <a:r>
              <a:rPr lang="en-US" sz="1100" b="1" dirty="0">
                <a:solidFill>
                  <a:srgbClr val="1F7A64"/>
                </a:solidFill>
              </a:rPr>
              <a:t>(8) </a:t>
            </a:r>
            <a:pPr indent="0" marL="0">
              <a:lnSpc>
                <a:spcPct val="120000"/>
              </a:lnSpc>
              <a:buNone/>
            </a:pPr>
            <a:r>
              <a:rPr lang="en-US" sz="1400" b="1" dirty="0">
                <a:solidFill>
                  <a:srgbClr val="14453D"/>
                </a:solidFill>
                <a:highlight>
                  <a:srgbClr val="A9DDF3"/>
                </a:highlight>
              </a:rPr>
              <a:t>It is this self-awareness that allows</a:t>
            </a:r>
            <a:pPr indent="0" marL="0">
              <a:lnSpc>
                <a:spcPct val="120000"/>
              </a:lnSpc>
              <a:buNone/>
            </a:pPr>
            <a:r>
              <a:rPr lang="en-US" sz="1400" dirty="0">
                <a:solidFill>
                  <a:srgbClr val="1E2B2A"/>
                </a:solidFill>
              </a:rPr>
              <a:t> the company to </a:t>
            </a:r>
            <a:pPr indent="0" marL="0">
              <a:lnSpc>
                <a:spcPct val="120000"/>
              </a:lnSpc>
              <a:buNone/>
            </a:pPr>
            <a:r>
              <a:rPr lang="en-US" sz="1400" u="dotted" dirty="0">
                <a:solidFill>
                  <a:srgbClr val="1F7A64"/>
                </a:solidFill>
                <a:uFill>
                  <a:solidFill>
                    <a:srgbClr val="1F7A64"/>
                  </a:solidFill>
                </a:uFill>
              </a:rPr>
              <a:t>excel</a:t>
            </a:r>
            <a:pPr indent="0" marL="0">
              <a:lnSpc>
                <a:spcPct val="120000"/>
              </a:lnSpc>
              <a:buNone/>
            </a:pPr>
            <a:r>
              <a:rPr lang="en-US" sz="1400" dirty="0">
                <a:solidFill>
                  <a:srgbClr val="1E2B2A"/>
                </a:solidFill>
              </a:rPr>
              <a:t> at developing innovative and outstanding products.</a:t>
            </a:r>
            <a:endParaRPr lang="en-US" sz="1100" dirty="0"/>
          </a:p>
        </p:txBody>
      </p:sp>
      <p:sp>
        <p:nvSpPr>
          <p:cNvPr id="6" name="Shape 4"/>
          <p:cNvSpPr/>
          <p:nvPr/>
        </p:nvSpPr>
        <p:spPr>
          <a:xfrm>
            <a:off x="548640" y="3968496"/>
            <a:ext cx="11064240" cy="1243584"/>
          </a:xfrm>
          <a:prstGeom prst="roundRect">
            <a:avLst>
              <a:gd name="adj" fmla="val 7353"/>
            </a:avLst>
          </a:prstGeom>
          <a:solidFill>
            <a:srgbClr val="FFF6D6"/>
          </a:solidFill>
          <a:ln w="15875">
            <a:solidFill>
              <a:srgbClr val="FFD45C"/>
            </a:solidFill>
            <a:prstDash val="solid"/>
          </a:ln>
        </p:spPr>
      </p:sp>
      <p:sp>
        <p:nvSpPr>
          <p:cNvPr id="7" name="Text 5"/>
          <p:cNvSpPr txBox="1"/>
          <p:nvPr/>
        </p:nvSpPr>
        <p:spPr>
          <a:xfrm>
            <a:off x="731520" y="4041648"/>
            <a:ext cx="1051560" cy="274320"/>
          </a:xfrm>
          <a:prstGeom prst="rect">
            <a:avLst/>
          </a:prstGeom>
          <a:solidFill>
            <a:srgbClr val="EF5B3F"/>
          </a:solidFill>
          <a:ln/>
        </p:spPr>
        <p:txBody>
          <a:bodyPr wrap="square" lIns="0" tIns="0" rIns="0" bIns="0" rtlCol="0" anchor="ctr"/>
          <a:lstStyle/>
          <a:p>
            <a:pPr algn="ctr" indent="0" marL="0">
              <a:buNone/>
            </a:pPr>
            <a:r>
              <a:rPr lang="en-US" sz="1200" b="1" dirty="0">
                <a:solidFill>
                  <a:srgbClr val="FFFFFF"/>
                </a:solidFill>
              </a:rPr>
              <a:t> 근거 이유 </a:t>
            </a:r>
            <a:endParaRPr lang="en-US" sz="1200" dirty="0"/>
          </a:p>
        </p:txBody>
      </p:sp>
      <p:sp>
        <p:nvSpPr>
          <p:cNvPr id="8" name="Text 6"/>
          <p:cNvSpPr txBox="1"/>
          <p:nvPr/>
        </p:nvSpPr>
        <p:spPr>
          <a:xfrm>
            <a:off x="1920240" y="4014216"/>
            <a:ext cx="9555480" cy="1152144"/>
          </a:xfrm>
          <a:prstGeom prst="rect">
            <a:avLst/>
          </a:prstGeom>
          <a:noFill/>
          <a:ln/>
        </p:spPr>
        <p:txBody>
          <a:bodyPr wrap="square" lIns="0" tIns="0" rIns="0" bIns="0" rtlCol="0" anchor="ctr">
            <a:normAutofit/>
          </a:bodyPr>
          <a:lstStyle/>
          <a:p>
            <a:pPr indent="0" marL="0">
              <a:lnSpc>
                <a:spcPct val="105000"/>
              </a:lnSpc>
              <a:buNone/>
            </a:pPr>
            <a:r>
              <a:rPr lang="en-US" sz="1400" b="1" dirty="0">
                <a:solidFill>
                  <a:srgbClr val="EF5B3F"/>
                </a:solidFill>
              </a:rPr>
              <a:t>(2) </a:t>
            </a:r>
            <a:pPr indent="0" marL="0">
              <a:lnSpc>
                <a:spcPct val="105000"/>
              </a:lnSpc>
              <a:buNone/>
            </a:pPr>
            <a:r>
              <a:rPr lang="en-US" sz="1400" dirty="0">
                <a:solidFill>
                  <a:srgbClr val="14453D"/>
                </a:solidFill>
              </a:rPr>
              <a:t>강점·약점을 더 분명히 봄 → 자기 성찰의 목적</a:t>
            </a:r>
            <a:endParaRPr lang="en-US" sz="1400" dirty="0"/>
          </a:p>
          <a:p>
            <a:pPr indent="0" marL="0">
              <a:lnSpc>
                <a:spcPct val="105000"/>
              </a:lnSpc>
              <a:buNone/>
            </a:pPr>
            <a:r>
              <a:rPr lang="en-US" sz="1400" b="1" dirty="0">
                <a:solidFill>
                  <a:srgbClr val="EF5B3F"/>
                </a:solidFill>
              </a:rPr>
              <a:t>(4) </a:t>
            </a:r>
            <a:pPr indent="0" marL="0">
              <a:lnSpc>
                <a:spcPct val="105000"/>
              </a:lnSpc>
              <a:buNone/>
            </a:pPr>
            <a:r>
              <a:rPr lang="en-US" sz="1400" dirty="0">
                <a:solidFill>
                  <a:srgbClr val="14453D"/>
                </a:solidFill>
              </a:rPr>
              <a:t>스스로 질문하는 의도적인 성찰 과정 → (A) conscious</a:t>
            </a:r>
            <a:endParaRPr lang="en-US" sz="1400" dirty="0"/>
          </a:p>
          <a:p>
            <a:pPr indent="0" marL="0">
              <a:lnSpc>
                <a:spcPct val="105000"/>
              </a:lnSpc>
              <a:buNone/>
            </a:pPr>
            <a:r>
              <a:rPr lang="en-US" sz="1400" b="1" dirty="0">
                <a:solidFill>
                  <a:srgbClr val="EF5B3F"/>
                </a:solidFill>
              </a:rPr>
              <a:t>(5) </a:t>
            </a:r>
            <a:pPr indent="0" marL="0">
              <a:lnSpc>
                <a:spcPct val="105000"/>
              </a:lnSpc>
              <a:buNone/>
            </a:pPr>
            <a:r>
              <a:rPr lang="en-US" sz="1400" dirty="0">
                <a:solidFill>
                  <a:srgbClr val="14453D"/>
                </a:solidFill>
              </a:rPr>
              <a:t>개인 발전 + 기업의 성공(corporate success) → (B) collective</a:t>
            </a:r>
            <a:endParaRPr lang="en-US" sz="1400" dirty="0"/>
          </a:p>
          <a:p>
            <a:pPr indent="0" marL="0">
              <a:lnSpc>
                <a:spcPct val="105000"/>
              </a:lnSpc>
              <a:buNone/>
            </a:pPr>
            <a:r>
              <a:rPr lang="en-US" sz="1400" b="1" dirty="0">
                <a:solidFill>
                  <a:srgbClr val="EF5B3F"/>
                </a:solidFill>
              </a:rPr>
              <a:t>(6) </a:t>
            </a:r>
            <a:pPr indent="0" marL="0">
              <a:lnSpc>
                <a:spcPct val="105000"/>
              </a:lnSpc>
              <a:buNone/>
            </a:pPr>
            <a:r>
              <a:rPr lang="en-US" sz="1400" dirty="0">
                <a:solidFill>
                  <a:srgbClr val="14453D"/>
                </a:solidFill>
              </a:rPr>
              <a:t>회사 전체가 자기 탐구 문화를 장려 → 집단적 성취</a:t>
            </a:r>
            <a:endParaRPr lang="en-US" sz="1400" dirty="0"/>
          </a:p>
        </p:txBody>
      </p:sp>
      <p:sp>
        <p:nvSpPr>
          <p:cNvPr id="9" name="Shape 7"/>
          <p:cNvSpPr/>
          <p:nvPr/>
        </p:nvSpPr>
        <p:spPr>
          <a:xfrm>
            <a:off x="548640" y="5303520"/>
            <a:ext cx="11064240" cy="731520"/>
          </a:xfrm>
          <a:prstGeom prst="roundRect">
            <a:avLst>
              <a:gd name="adj" fmla="val 12500"/>
            </a:avLst>
          </a:prstGeom>
          <a:solidFill>
            <a:srgbClr val="EAF5EF"/>
          </a:solidFill>
          <a:ln w="12700">
            <a:solidFill>
              <a:srgbClr val="CFE6D9"/>
            </a:solidFill>
            <a:prstDash val="solid"/>
          </a:ln>
        </p:spPr>
      </p:sp>
      <p:sp>
        <p:nvSpPr>
          <p:cNvPr id="10" name="Text 8"/>
          <p:cNvSpPr txBox="1"/>
          <p:nvPr/>
        </p:nvSpPr>
        <p:spPr>
          <a:xfrm>
            <a:off x="731520" y="5349240"/>
            <a:ext cx="10698480" cy="640080"/>
          </a:xfrm>
          <a:prstGeom prst="rect">
            <a:avLst/>
          </a:prstGeom>
          <a:noFill/>
          <a:ln/>
        </p:spPr>
        <p:txBody>
          <a:bodyPr wrap="square" lIns="0" tIns="0" rIns="0" bIns="0" rtlCol="0" anchor="ctr">
            <a:normAutofit/>
          </a:bodyPr>
          <a:lstStyle/>
          <a:p>
            <a:pPr indent="0" marL="0">
              <a:lnSpc>
                <a:spcPct val="110000"/>
              </a:lnSpc>
              <a:buNone/>
            </a:pPr>
            <a:r>
              <a:rPr lang="en-US" sz="1400" b="1" dirty="0">
                <a:solidFill>
                  <a:srgbClr val="FFFFFF"/>
                </a:solidFill>
                <a:highlight>
                  <a:srgbClr val="1F7A64"/>
                </a:highlight>
              </a:rPr>
              <a:t> 어휘 </a:t>
            </a:r>
            <a:pPr indent="0" marL="0">
              <a:lnSpc>
                <a:spcPct val="110000"/>
              </a:lnSpc>
              <a:buNone/>
            </a:pPr>
            <a:r>
              <a:rPr lang="en-US" sz="1400" dirty="0">
                <a:solidFill>
                  <a:srgbClr val="000000"/>
                </a:solidFill>
              </a:rPr>
              <a:t>   </a:t>
            </a:r>
            <a:pPr indent="0" marL="0">
              <a:lnSpc>
                <a:spcPct val="110000"/>
              </a:lnSpc>
              <a:buNone/>
            </a:pPr>
            <a:r>
              <a:rPr lang="en-US" sz="1400" b="1" dirty="0">
                <a:solidFill>
                  <a:srgbClr val="1F7A64"/>
                </a:solidFill>
              </a:rPr>
              <a:t>internal </a:t>
            </a:r>
            <a:pPr indent="0" marL="0">
              <a:lnSpc>
                <a:spcPct val="110000"/>
              </a:lnSpc>
              <a:buNone/>
            </a:pPr>
            <a:r>
              <a:rPr lang="en-US" sz="1400" dirty="0">
                <a:solidFill>
                  <a:srgbClr val="1E2B2A"/>
                </a:solidFill>
              </a:rPr>
              <a:t>내적인   ·   </a:t>
            </a:r>
            <a:pPr indent="0" marL="0">
              <a:lnSpc>
                <a:spcPct val="110000"/>
              </a:lnSpc>
              <a:buNone/>
            </a:pPr>
            <a:r>
              <a:rPr lang="en-US" sz="1400" b="1" dirty="0">
                <a:solidFill>
                  <a:srgbClr val="1F7A64"/>
                </a:solidFill>
              </a:rPr>
              <a:t>identify </a:t>
            </a:r>
            <a:pPr indent="0" marL="0">
              <a:lnSpc>
                <a:spcPct val="110000"/>
              </a:lnSpc>
              <a:buNone/>
            </a:pPr>
            <a:r>
              <a:rPr lang="en-US" sz="1400" dirty="0">
                <a:solidFill>
                  <a:srgbClr val="1E2B2A"/>
                </a:solidFill>
              </a:rPr>
              <a:t>찾아내다   ·   </a:t>
            </a:r>
            <a:pPr indent="0" marL="0">
              <a:lnSpc>
                <a:spcPct val="110000"/>
              </a:lnSpc>
              <a:buNone/>
            </a:pPr>
            <a:r>
              <a:rPr lang="en-US" sz="1400" b="1" dirty="0">
                <a:solidFill>
                  <a:srgbClr val="1F7A64"/>
                </a:solidFill>
              </a:rPr>
              <a:t>corporate </a:t>
            </a:r>
            <a:pPr indent="0" marL="0">
              <a:lnSpc>
                <a:spcPct val="110000"/>
              </a:lnSpc>
              <a:buNone/>
            </a:pPr>
            <a:r>
              <a:rPr lang="en-US" sz="1400" dirty="0">
                <a:solidFill>
                  <a:srgbClr val="1E2B2A"/>
                </a:solidFill>
              </a:rPr>
              <a:t>기업의   ·   </a:t>
            </a:r>
            <a:pPr indent="0" marL="0">
              <a:lnSpc>
                <a:spcPct val="110000"/>
              </a:lnSpc>
              <a:buNone/>
            </a:pPr>
            <a:r>
              <a:rPr lang="en-US" sz="1400" b="1" dirty="0">
                <a:solidFill>
                  <a:srgbClr val="1F7A64"/>
                </a:solidFill>
              </a:rPr>
              <a:t>consistently </a:t>
            </a:r>
            <a:pPr indent="0" marL="0">
              <a:lnSpc>
                <a:spcPct val="110000"/>
              </a:lnSpc>
              <a:buNone/>
            </a:pPr>
            <a:r>
              <a:rPr lang="en-US" sz="1400" dirty="0">
                <a:solidFill>
                  <a:srgbClr val="1E2B2A"/>
                </a:solidFill>
              </a:rPr>
              <a:t>꾸준히   ·   </a:t>
            </a:r>
            <a:pPr indent="0" marL="0">
              <a:lnSpc>
                <a:spcPct val="110000"/>
              </a:lnSpc>
              <a:buNone/>
            </a:pPr>
            <a:r>
              <a:rPr lang="en-US" sz="1400" b="1" dirty="0">
                <a:solidFill>
                  <a:srgbClr val="1F7A64"/>
                </a:solidFill>
              </a:rPr>
              <a:t>innovative </a:t>
            </a:r>
            <a:pPr indent="0" marL="0">
              <a:lnSpc>
                <a:spcPct val="110000"/>
              </a:lnSpc>
              <a:buNone/>
            </a:pPr>
            <a:r>
              <a:rPr lang="en-US" sz="1400" dirty="0">
                <a:solidFill>
                  <a:srgbClr val="1E2B2A"/>
                </a:solidFill>
              </a:rPr>
              <a:t>혁신적인   ·   </a:t>
            </a:r>
            <a:pPr indent="0" marL="0">
              <a:lnSpc>
                <a:spcPct val="110000"/>
              </a:lnSpc>
              <a:buNone/>
            </a:pPr>
            <a:r>
              <a:rPr lang="en-US" sz="1400" b="1" dirty="0">
                <a:solidFill>
                  <a:srgbClr val="1F7A64"/>
                </a:solidFill>
              </a:rPr>
              <a:t>self-inquiry </a:t>
            </a:r>
            <a:pPr indent="0" marL="0">
              <a:lnSpc>
                <a:spcPct val="110000"/>
              </a:lnSpc>
              <a:buNone/>
            </a:pPr>
            <a:r>
              <a:rPr lang="en-US" sz="1400" dirty="0">
                <a:solidFill>
                  <a:srgbClr val="1E2B2A"/>
                </a:solidFill>
              </a:rPr>
              <a:t>자기 탐구   ·   </a:t>
            </a:r>
            <a:pPr indent="0" marL="0">
              <a:lnSpc>
                <a:spcPct val="110000"/>
              </a:lnSpc>
              <a:buNone/>
            </a:pPr>
            <a:r>
              <a:rPr lang="en-US" sz="1400" b="1" dirty="0">
                <a:solidFill>
                  <a:srgbClr val="1F7A64"/>
                </a:solidFill>
              </a:rPr>
              <a:t>excel </a:t>
            </a:r>
            <a:pPr indent="0" marL="0">
              <a:lnSpc>
                <a:spcPct val="110000"/>
              </a:lnSpc>
              <a:buNone/>
            </a:pPr>
            <a:r>
              <a:rPr lang="en-US" sz="1400" dirty="0">
                <a:solidFill>
                  <a:srgbClr val="1E2B2A"/>
                </a:solidFill>
              </a:rPr>
              <a:t>뛰어나다</a:t>
            </a:r>
            <a:endParaRPr lang="en-US" sz="1400" dirty="0"/>
          </a:p>
        </p:txBody>
      </p:sp>
      <p:sp>
        <p:nvSpPr>
          <p:cNvPr id="11" name="Text 9"/>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1100" dirty="0">
                <a:solidFill>
                  <a:srgbClr val="FFD45C"/>
                </a:solidFill>
              </a:rPr>
              <a:t>■ </a:t>
            </a:r>
            <a:pPr indent="0" marL="0">
              <a:buNone/>
            </a:pPr>
            <a:r>
              <a:rPr lang="en-US" sz="1100" dirty="0">
                <a:solidFill>
                  <a:srgbClr val="6E7F7C"/>
                </a:solidFill>
              </a:rPr>
              <a:t>형광 = 정답 근거 (이유는 노란 박스)     </a:t>
            </a:r>
            <a:pPr indent="0" marL="0">
              <a:buNone/>
            </a:pPr>
            <a:r>
              <a:rPr lang="en-US" sz="1100" dirty="0">
                <a:solidFill>
                  <a:srgbClr val="A9DDF3"/>
                </a:solidFill>
              </a:rPr>
              <a:t>■ </a:t>
            </a:r>
            <a:pPr indent="0" marL="0">
              <a:buNone/>
            </a:pPr>
            <a:r>
              <a:rPr lang="en-US" sz="1100" dirty="0">
                <a:solidFill>
                  <a:srgbClr val="6E7F7C"/>
                </a:solidFill>
              </a:rPr>
              <a:t>파란 형광 = 문법·내신 포인트     </a:t>
            </a:r>
            <a:pPr indent="0" marL="0">
              <a:buNone/>
            </a:pPr>
            <a:r>
              <a:rPr lang="en-US" sz="1100" b="1" dirty="0">
                <a:solidFill>
                  <a:srgbClr val="1F7A64"/>
                </a:solidFill>
              </a:rPr>
              <a:t>초록 점선 단어 </a:t>
            </a:r>
            <a:pPr indent="0" marL="0">
              <a:buNone/>
            </a:pPr>
            <a:r>
              <a:rPr lang="en-US" sz="1100" dirty="0">
                <a:solidFill>
                  <a:srgbClr val="6E7F7C"/>
                </a:solidFill>
              </a:rPr>
              <a:t>= 하단 어휘     </a:t>
            </a:r>
            <a:pPr indent="0" marL="0">
              <a:buNone/>
            </a:pPr>
            <a:r>
              <a:rPr lang="en-US" sz="1100" b="1" dirty="0">
                <a:solidFill>
                  <a:srgbClr val="1F7A64"/>
                </a:solidFill>
              </a:rPr>
              <a:t>(1) (2) (3) </a:t>
            </a:r>
            <a:pPr indent="0" marL="0">
              <a:buNone/>
            </a:pPr>
            <a:r>
              <a:rPr lang="en-US" sz="1100" dirty="0">
                <a:solidFill>
                  <a:srgbClr val="6E7F7C"/>
                </a:solidFill>
              </a:rPr>
              <a:t>= 문장 번호</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95  </a:t>
            </a:r>
            <a:pPr algn="l" indent="0" marL="0">
              <a:buNone/>
            </a:pPr>
            <a:r>
              <a:rPr lang="en-US" sz="3000" b="1" dirty="0">
                <a:solidFill>
                  <a:srgbClr val="14453D"/>
                </a:solidFill>
              </a:rPr>
              <a:t>자기 성찰의 힘</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흐름 잡기</a:t>
            </a:r>
            <a:endParaRPr lang="en-US" sz="1200" dirty="0"/>
          </a:p>
        </p:txBody>
      </p:sp>
      <p:sp>
        <p:nvSpPr>
          <p:cNvPr id="4" name="Shape 2"/>
          <p:cNvSpPr/>
          <p:nvPr/>
        </p:nvSpPr>
        <p:spPr>
          <a:xfrm>
            <a:off x="548640" y="1325880"/>
            <a:ext cx="5212080" cy="2423160"/>
          </a:xfrm>
          <a:prstGeom prst="roundRect">
            <a:avLst>
              <a:gd name="adj" fmla="val 4528"/>
            </a:avLst>
          </a:prstGeom>
          <a:solidFill>
            <a:srgbClr val="E6F2ED"/>
          </a:solidFill>
          <a:ln w="12700">
            <a:solidFill>
              <a:srgbClr val="E6F2ED"/>
            </a:solidFill>
            <a:prstDash val="solid"/>
          </a:ln>
        </p:spPr>
      </p:sp>
      <p:sp>
        <p:nvSpPr>
          <p:cNvPr id="5" name="Text 3"/>
          <p:cNvSpPr txBox="1"/>
          <p:nvPr/>
        </p:nvSpPr>
        <p:spPr>
          <a:xfrm>
            <a:off x="822960" y="1463040"/>
            <a:ext cx="4663440" cy="320040"/>
          </a:xfrm>
          <a:prstGeom prst="rect">
            <a:avLst/>
          </a:prstGeom>
          <a:noFill/>
          <a:ln/>
        </p:spPr>
        <p:txBody>
          <a:bodyPr wrap="square" lIns="0" tIns="0" rIns="0" bIns="0" rtlCol="0" anchor="ctr"/>
          <a:lstStyle/>
          <a:p>
            <a:pPr indent="0" marL="0">
              <a:buNone/>
            </a:pPr>
            <a:r>
              <a:rPr lang="en-US" sz="1300" b="1" dirty="0">
                <a:solidFill>
                  <a:srgbClr val="1F7A64"/>
                </a:solidFill>
              </a:rPr>
              <a:t>STEP 1 · 요약문 먼저</a:t>
            </a:r>
            <a:endParaRPr lang="en-US" sz="1300" dirty="0"/>
          </a:p>
        </p:txBody>
      </p:sp>
      <p:sp>
        <p:nvSpPr>
          <p:cNvPr id="6" name="Text 4"/>
          <p:cNvSpPr txBox="1"/>
          <p:nvPr/>
        </p:nvSpPr>
        <p:spPr>
          <a:xfrm>
            <a:off x="822960" y="1828800"/>
            <a:ext cx="4663440" cy="868680"/>
          </a:xfrm>
          <a:prstGeom prst="rect">
            <a:avLst/>
          </a:prstGeom>
          <a:noFill/>
          <a:ln/>
        </p:spPr>
        <p:txBody>
          <a:bodyPr wrap="square" lIns="0" tIns="0" rIns="0" bIns="0" rtlCol="0" anchor="t">
            <a:normAutofit/>
          </a:bodyPr>
          <a:lstStyle/>
          <a:p>
            <a:pPr indent="0" marL="0">
              <a:buNone/>
            </a:pPr>
            <a:r>
              <a:rPr lang="en-US" sz="1300" b="1" i="1" dirty="0">
                <a:solidFill>
                  <a:srgbClr val="14453D"/>
                </a:solidFill>
              </a:rPr>
              <a:t>Our (A) efforts to understand the strong points and weak points of a subject through the process of self-reflection can lead to (B) achievement as well as individual progress.</a:t>
            </a:r>
            <a:endParaRPr lang="en-US" sz="1300" dirty="0"/>
          </a:p>
        </p:txBody>
      </p:sp>
      <p:sp>
        <p:nvSpPr>
          <p:cNvPr id="7" name="Text 5"/>
          <p:cNvSpPr txBox="1"/>
          <p:nvPr/>
        </p:nvSpPr>
        <p:spPr>
          <a:xfrm>
            <a:off x="822960" y="2715768"/>
            <a:ext cx="4663440" cy="457200"/>
          </a:xfrm>
          <a:prstGeom prst="rect">
            <a:avLst/>
          </a:prstGeom>
          <a:noFill/>
          <a:ln/>
        </p:spPr>
        <p:txBody>
          <a:bodyPr wrap="square" lIns="0" tIns="0" rIns="0" bIns="0" rtlCol="0" anchor="t">
            <a:normAutofit/>
          </a:bodyPr>
          <a:lstStyle/>
          <a:p>
            <a:pPr indent="0" marL="0">
              <a:buNone/>
            </a:pPr>
            <a:r>
              <a:rPr lang="en-US" sz="1100" dirty="0">
                <a:solidFill>
                  <a:srgbClr val="1E2B2A"/>
                </a:solidFill>
              </a:rPr>
              <a:t>자기 성찰 과정을 통해 대상의 강점과 약점을 이해하려는 우리의 (A) 노력은 개인의 발전뿐 아니라 (B) 성취로 이어질 수 있다.</a:t>
            </a:r>
            <a:endParaRPr lang="en-US" sz="1100" dirty="0"/>
          </a:p>
        </p:txBody>
      </p:sp>
      <p:sp>
        <p:nvSpPr>
          <p:cNvPr id="8" name="Text 6"/>
          <p:cNvSpPr txBox="1"/>
          <p:nvPr/>
        </p:nvSpPr>
        <p:spPr>
          <a:xfrm>
            <a:off x="822960" y="3200400"/>
            <a:ext cx="4663440" cy="411480"/>
          </a:xfrm>
          <a:prstGeom prst="rect">
            <a:avLst/>
          </a:prstGeom>
          <a:noFill/>
          <a:ln/>
        </p:spPr>
        <p:txBody>
          <a:bodyPr wrap="square" lIns="0" tIns="0" rIns="0" bIns="0" rtlCol="0" anchor="ctr"/>
          <a:lstStyle/>
          <a:p>
            <a:pPr indent="0" marL="0">
              <a:buNone/>
            </a:pPr>
            <a:r>
              <a:rPr lang="en-US" sz="1500" b="1" dirty="0">
                <a:solidFill>
                  <a:srgbClr val="EF5B3F"/>
                </a:solidFill>
              </a:rPr>
              <a:t>찾을 것  </a:t>
            </a:r>
            <a:pPr indent="0" marL="0">
              <a:buNone/>
            </a:pPr>
            <a:r>
              <a:rPr lang="en-US" sz="1500" b="1" dirty="0">
                <a:solidFill>
                  <a:srgbClr val="14453D"/>
                </a:solidFill>
              </a:rPr>
              <a:t>(A) 어떤 노력? / (B) 개인 발전 말고 또 어떤 성취?</a:t>
            </a:r>
            <a:endParaRPr lang="en-US" sz="1500" dirty="0"/>
          </a:p>
        </p:txBody>
      </p:sp>
      <p:sp>
        <p:nvSpPr>
          <p:cNvPr id="9" name="Shape 7"/>
          <p:cNvSpPr/>
          <p:nvPr/>
        </p:nvSpPr>
        <p:spPr>
          <a:xfrm>
            <a:off x="548640" y="3931920"/>
            <a:ext cx="5212080" cy="2331720"/>
          </a:xfrm>
          <a:prstGeom prst="roundRect">
            <a:avLst>
              <a:gd name="adj" fmla="val 4706"/>
            </a:avLst>
          </a:prstGeom>
          <a:solidFill>
            <a:srgbClr val="FFFFFF"/>
          </a:solidFill>
          <a:ln w="19050">
            <a:solidFill>
              <a:srgbClr val="EF5B3F"/>
            </a:solidFill>
            <a:prstDash val="solid"/>
          </a:ln>
        </p:spPr>
      </p:sp>
      <p:pic>
        <p:nvPicPr>
          <p:cNvPr id="10" name="Image 0" descr="preencoded.png">    </p:cNvPr>
          <p:cNvPicPr>
            <a:picLocks noChangeAspect="1"/>
          </p:cNvPicPr>
          <p:nvPr/>
        </p:nvPicPr>
        <p:blipFill>
          <a:blip r:embed="rId1"/>
          <a:stretch>
            <a:fillRect/>
          </a:stretch>
        </p:blipFill>
        <p:spPr>
          <a:xfrm>
            <a:off x="822960" y="4096512"/>
            <a:ext cx="274320" cy="274320"/>
          </a:xfrm>
          <a:prstGeom prst="rect">
            <a:avLst/>
          </a:prstGeom>
        </p:spPr>
      </p:pic>
      <p:sp>
        <p:nvSpPr>
          <p:cNvPr id="11" name="Text 8"/>
          <p:cNvSpPr txBox="1"/>
          <p:nvPr/>
        </p:nvSpPr>
        <p:spPr>
          <a:xfrm>
            <a:off x="1188720" y="4069080"/>
            <a:ext cx="4114800" cy="320040"/>
          </a:xfrm>
          <a:prstGeom prst="rect">
            <a:avLst/>
          </a:prstGeom>
          <a:noFill/>
          <a:ln/>
        </p:spPr>
        <p:txBody>
          <a:bodyPr wrap="square" lIns="0" tIns="0" rIns="0" bIns="0" rtlCol="0" anchor="ctr"/>
          <a:lstStyle/>
          <a:p>
            <a:pPr indent="0" marL="0">
              <a:buNone/>
            </a:pPr>
            <a:r>
              <a:rPr lang="en-US" sz="1300" b="1" dirty="0">
                <a:solidFill>
                  <a:srgbClr val="EF5B3F"/>
                </a:solidFill>
              </a:rPr>
              <a:t>STEP 2 · 결정적 단서</a:t>
            </a:r>
            <a:endParaRPr lang="en-US" sz="1300" dirty="0"/>
          </a:p>
        </p:txBody>
      </p:sp>
      <p:sp>
        <p:nvSpPr>
          <p:cNvPr id="12" name="Text 9"/>
          <p:cNvSpPr txBox="1"/>
          <p:nvPr/>
        </p:nvSpPr>
        <p:spPr>
          <a:xfrm>
            <a:off x="822960" y="4480560"/>
            <a:ext cx="4663440" cy="1005840"/>
          </a:xfrm>
          <a:prstGeom prst="rect">
            <a:avLst/>
          </a:prstGeom>
          <a:noFill/>
          <a:ln/>
        </p:spPr>
        <p:txBody>
          <a:bodyPr wrap="square" lIns="0" tIns="0" rIns="0" bIns="0" rtlCol="0" anchor="t"/>
          <a:lstStyle/>
          <a:p>
            <a:pPr indent="0" marL="0">
              <a:buNone/>
            </a:pPr>
            <a:r>
              <a:rPr lang="en-US" sz="1400" i="1" dirty="0">
                <a:solidFill>
                  <a:srgbClr val="14453D"/>
                </a:solidFill>
              </a:rPr>
              <a:t>It is not only essential in personal development but also critical to corporate success.</a:t>
            </a:r>
            <a:endParaRPr lang="en-US" sz="1400" dirty="0"/>
          </a:p>
        </p:txBody>
      </p:sp>
      <p:sp>
        <p:nvSpPr>
          <p:cNvPr id="13" name="Text 10"/>
          <p:cNvSpPr txBox="1"/>
          <p:nvPr/>
        </p:nvSpPr>
        <p:spPr>
          <a:xfrm>
            <a:off x="822960" y="5486400"/>
            <a:ext cx="4663440" cy="685800"/>
          </a:xfrm>
          <a:prstGeom prst="rect">
            <a:avLst/>
          </a:prstGeom>
          <a:noFill/>
          <a:ln/>
        </p:spPr>
        <p:txBody>
          <a:bodyPr wrap="square" lIns="0" tIns="0" rIns="0" bIns="0" rtlCol="0" anchor="t"/>
          <a:lstStyle/>
          <a:p>
            <a:pPr indent="0" marL="0">
              <a:buNone/>
            </a:pPr>
            <a:r>
              <a:rPr lang="en-US" sz="1300" dirty="0">
                <a:solidFill>
                  <a:srgbClr val="6E7F7C"/>
                </a:solidFill>
              </a:rPr>
              <a:t>그것은 개인 발전에 필수적일 뿐 아니라 기업의 성공에도 매우 중요하다 → (B) collective</a:t>
            </a:r>
            <a:endParaRPr lang="en-US" sz="1300" dirty="0"/>
          </a:p>
        </p:txBody>
      </p:sp>
      <p:sp>
        <p:nvSpPr>
          <p:cNvPr id="14" name="Text 11"/>
          <p:cNvSpPr txBox="1"/>
          <p:nvPr/>
        </p:nvSpPr>
        <p:spPr>
          <a:xfrm>
            <a:off x="6217920" y="1325880"/>
            <a:ext cx="2743200" cy="320040"/>
          </a:xfrm>
          <a:prstGeom prst="rect">
            <a:avLst/>
          </a:prstGeom>
          <a:noFill/>
          <a:ln/>
        </p:spPr>
        <p:txBody>
          <a:bodyPr wrap="square" lIns="0" tIns="0" rIns="0" bIns="0" rtlCol="0" anchor="ctr"/>
          <a:lstStyle/>
          <a:p>
            <a:pPr indent="0" marL="0">
              <a:buNone/>
            </a:pPr>
            <a:r>
              <a:rPr lang="en-US" sz="1300" b="1" dirty="0">
                <a:solidFill>
                  <a:srgbClr val="1F7A64"/>
                </a:solidFill>
              </a:rPr>
              <a:t>글의 흐름</a:t>
            </a:r>
            <a:endParaRPr lang="en-US" sz="1300" dirty="0"/>
          </a:p>
        </p:txBody>
      </p:sp>
      <p:sp>
        <p:nvSpPr>
          <p:cNvPr id="15" name="Shape 12"/>
          <p:cNvSpPr/>
          <p:nvPr/>
        </p:nvSpPr>
        <p:spPr>
          <a:xfrm>
            <a:off x="6537960" y="2057400"/>
            <a:ext cx="0" cy="3511296"/>
          </a:xfrm>
          <a:prstGeom prst="line">
            <a:avLst/>
          </a:prstGeom>
          <a:noFill/>
          <a:ln w="38100">
            <a:solidFill>
              <a:srgbClr val="E6F2ED"/>
            </a:solidFill>
            <a:prstDash val="solid"/>
          </a:ln>
        </p:spPr>
      </p:sp>
      <p:sp>
        <p:nvSpPr>
          <p:cNvPr id="16" name="Text 13"/>
          <p:cNvSpPr/>
          <p:nvPr/>
        </p:nvSpPr>
        <p:spPr>
          <a:xfrm>
            <a:off x="6263640" y="1783080"/>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7" name="Text 14"/>
          <p:cNvSpPr txBox="1"/>
          <p:nvPr/>
        </p:nvSpPr>
        <p:spPr>
          <a:xfrm>
            <a:off x="7040880" y="1783080"/>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질문</a:t>
            </a:r>
            <a:endParaRPr lang="en-US" sz="1400" dirty="0"/>
          </a:p>
        </p:txBody>
      </p:sp>
      <p:sp>
        <p:nvSpPr>
          <p:cNvPr id="18" name="Text 15"/>
          <p:cNvSpPr txBox="1"/>
          <p:nvPr/>
        </p:nvSpPr>
        <p:spPr>
          <a:xfrm>
            <a:off x="7040880" y="2121408"/>
            <a:ext cx="4572000" cy="667512"/>
          </a:xfrm>
          <a:prstGeom prst="rect">
            <a:avLst/>
          </a:prstGeom>
          <a:noFill/>
          <a:ln/>
        </p:spPr>
        <p:txBody>
          <a:bodyPr wrap="square" lIns="0" tIns="0" rIns="0" bIns="0" rtlCol="0" anchor="t"/>
          <a:lstStyle/>
          <a:p>
            <a:pPr indent="0" marL="0">
              <a:buNone/>
            </a:pPr>
            <a:r>
              <a:rPr lang="en-US" sz="1400" dirty="0">
                <a:solidFill>
                  <a:srgbClr val="1E2B2A"/>
                </a:solidFill>
              </a:rPr>
              <a:t>나는 무엇을 잘하고 못할까? — 내적 대화</a:t>
            </a:r>
            <a:endParaRPr lang="en-US" sz="1400" dirty="0"/>
          </a:p>
        </p:txBody>
      </p:sp>
      <p:sp>
        <p:nvSpPr>
          <p:cNvPr id="19" name="Text 16"/>
          <p:cNvSpPr/>
          <p:nvPr/>
        </p:nvSpPr>
        <p:spPr>
          <a:xfrm>
            <a:off x="6263640" y="2953512"/>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20" name="Text 17"/>
          <p:cNvSpPr txBox="1"/>
          <p:nvPr/>
        </p:nvSpPr>
        <p:spPr>
          <a:xfrm>
            <a:off x="7040880" y="2953512"/>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효과</a:t>
            </a:r>
            <a:endParaRPr lang="en-US" sz="1400" dirty="0"/>
          </a:p>
        </p:txBody>
      </p:sp>
      <p:sp>
        <p:nvSpPr>
          <p:cNvPr id="21" name="Text 18"/>
          <p:cNvSpPr txBox="1"/>
          <p:nvPr/>
        </p:nvSpPr>
        <p:spPr>
          <a:xfrm>
            <a:off x="7040880" y="3291840"/>
            <a:ext cx="4572000" cy="667512"/>
          </a:xfrm>
          <a:prstGeom prst="rect">
            <a:avLst/>
          </a:prstGeom>
          <a:noFill/>
          <a:ln/>
        </p:spPr>
        <p:txBody>
          <a:bodyPr wrap="square" lIns="0" tIns="0" rIns="0" bIns="0" rtlCol="0" anchor="t"/>
          <a:lstStyle/>
          <a:p>
            <a:pPr indent="0" marL="0">
              <a:buNone/>
            </a:pPr>
            <a:r>
              <a:rPr lang="en-US" sz="1400" dirty="0">
                <a:solidFill>
                  <a:srgbClr val="1E2B2A"/>
                </a:solidFill>
              </a:rPr>
              <a:t>강점·약점을 분명히 보고, 맹점을 찾아 고칠 방법을 봄</a:t>
            </a:r>
            <a:endParaRPr lang="en-US" sz="1400" dirty="0"/>
          </a:p>
        </p:txBody>
      </p:sp>
      <p:sp>
        <p:nvSpPr>
          <p:cNvPr id="22" name="Text 19"/>
          <p:cNvSpPr/>
          <p:nvPr/>
        </p:nvSpPr>
        <p:spPr>
          <a:xfrm>
            <a:off x="6263640" y="4123944"/>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3" name="Text 20"/>
          <p:cNvSpPr txBox="1"/>
          <p:nvPr/>
        </p:nvSpPr>
        <p:spPr>
          <a:xfrm>
            <a:off x="7040880" y="4123944"/>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확장</a:t>
            </a:r>
            <a:endParaRPr lang="en-US" sz="1400" dirty="0"/>
          </a:p>
        </p:txBody>
      </p:sp>
      <p:sp>
        <p:nvSpPr>
          <p:cNvPr id="24" name="Text 21"/>
          <p:cNvSpPr txBox="1"/>
          <p:nvPr/>
        </p:nvSpPr>
        <p:spPr>
          <a:xfrm>
            <a:off x="7040880" y="4462272"/>
            <a:ext cx="4572000" cy="667512"/>
          </a:xfrm>
          <a:prstGeom prst="rect">
            <a:avLst/>
          </a:prstGeom>
          <a:noFill/>
          <a:ln/>
        </p:spPr>
        <p:txBody>
          <a:bodyPr wrap="square" lIns="0" tIns="0" rIns="0" bIns="0" rtlCol="0" anchor="t"/>
          <a:lstStyle/>
          <a:p>
            <a:pPr indent="0" marL="0">
              <a:buNone/>
            </a:pPr>
            <a:r>
              <a:rPr lang="en-US" sz="1400" dirty="0">
                <a:solidFill>
                  <a:srgbClr val="1E2B2A"/>
                </a:solidFill>
              </a:rPr>
              <a:t>개인 발전 + 기업의 성공에도 중요 (not only A but also B)</a:t>
            </a:r>
            <a:endParaRPr lang="en-US" sz="1400" dirty="0"/>
          </a:p>
        </p:txBody>
      </p:sp>
      <p:sp>
        <p:nvSpPr>
          <p:cNvPr id="25" name="Text 22"/>
          <p:cNvSpPr/>
          <p:nvPr/>
        </p:nvSpPr>
        <p:spPr>
          <a:xfrm>
            <a:off x="6263640" y="5294376"/>
            <a:ext cx="548640" cy="548640"/>
          </a:xfrm>
          <a:prstGeom prst="ellipse">
            <a:avLst/>
          </a:prstGeom>
          <a:solidFill>
            <a:srgbClr val="EF5B3F"/>
          </a:solid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6" name="Text 23"/>
          <p:cNvSpPr txBox="1"/>
          <p:nvPr/>
        </p:nvSpPr>
        <p:spPr>
          <a:xfrm>
            <a:off x="7040880" y="5294376"/>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예시</a:t>
            </a:r>
            <a:endParaRPr lang="en-US" sz="1400" dirty="0"/>
          </a:p>
        </p:txBody>
      </p:sp>
      <p:sp>
        <p:nvSpPr>
          <p:cNvPr id="27" name="Text 24"/>
          <p:cNvSpPr txBox="1"/>
          <p:nvPr/>
        </p:nvSpPr>
        <p:spPr>
          <a:xfrm>
            <a:off x="7040880" y="5632704"/>
            <a:ext cx="4572000" cy="667512"/>
          </a:xfrm>
          <a:prstGeom prst="rect">
            <a:avLst/>
          </a:prstGeom>
          <a:noFill/>
          <a:ln/>
        </p:spPr>
        <p:txBody>
          <a:bodyPr wrap="square" lIns="0" tIns="0" rIns="0" bIns="0" rtlCol="0" anchor="t"/>
          <a:lstStyle/>
          <a:p>
            <a:pPr indent="0" marL="0">
              <a:buNone/>
            </a:pPr>
            <a:r>
              <a:rPr lang="en-US" sz="1400" dirty="0">
                <a:solidFill>
                  <a:srgbClr val="1E2B2A"/>
                </a:solidFill>
              </a:rPr>
              <a:t>구글: 금요일 자유 시간에 프로젝트 성찰 → 혁신 제품</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95  </a:t>
            </a:r>
            <a:pPr algn="l" indent="0" marL="0">
              <a:buNone/>
            </a:pPr>
            <a:r>
              <a:rPr lang="en-US" sz="3000" b="1" dirty="0">
                <a:solidFill>
                  <a:srgbClr val="14453D"/>
                </a:solidFill>
              </a:rPr>
              <a:t>정답 &amp; 해설</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정답</a:t>
            </a:r>
            <a:endParaRPr lang="en-US" sz="1200" dirty="0"/>
          </a:p>
        </p:txBody>
      </p:sp>
      <p:sp>
        <p:nvSpPr>
          <p:cNvPr id="4" name="Shape 2"/>
          <p:cNvSpPr/>
          <p:nvPr/>
        </p:nvSpPr>
        <p:spPr>
          <a:xfrm>
            <a:off x="548640" y="1325880"/>
            <a:ext cx="3749040" cy="4983480"/>
          </a:xfrm>
          <a:prstGeom prst="roundRect">
            <a:avLst>
              <a:gd name="adj" fmla="val 3659"/>
            </a:avLst>
          </a:prstGeom>
          <a:solidFill>
            <a:srgbClr val="14453D"/>
          </a:solidFill>
          <a:ln w="12700">
            <a:solidFill>
              <a:srgbClr val="14453D"/>
            </a:solidFill>
            <a:prstDash val="solid"/>
          </a:ln>
        </p:spPr>
      </p:sp>
      <p:sp>
        <p:nvSpPr>
          <p:cNvPr id="5" name="Text 3"/>
          <p:cNvSpPr txBox="1"/>
          <p:nvPr/>
        </p:nvSpPr>
        <p:spPr>
          <a:xfrm>
            <a:off x="868680" y="1554480"/>
            <a:ext cx="3108960" cy="365760"/>
          </a:xfrm>
          <a:prstGeom prst="rect">
            <a:avLst/>
          </a:prstGeom>
          <a:noFill/>
          <a:ln/>
        </p:spPr>
        <p:txBody>
          <a:bodyPr wrap="square" lIns="0" tIns="0" rIns="0" bIns="0" rtlCol="0" anchor="ctr"/>
          <a:lstStyle/>
          <a:p>
            <a:pPr indent="0" marL="0">
              <a:buNone/>
            </a:pPr>
            <a:r>
              <a:rPr lang="en-US" sz="1600" b="1" dirty="0">
                <a:solidFill>
                  <a:srgbClr val="FFD45C"/>
                </a:solidFill>
              </a:rPr>
              <a:t>정답</a:t>
            </a:r>
            <a:endParaRPr lang="en-US" sz="1600" dirty="0"/>
          </a:p>
        </p:txBody>
      </p:sp>
      <p:sp>
        <p:nvSpPr>
          <p:cNvPr id="6" name="Text 4"/>
          <p:cNvSpPr txBox="1"/>
          <p:nvPr/>
        </p:nvSpPr>
        <p:spPr>
          <a:xfrm>
            <a:off x="868680" y="1920240"/>
            <a:ext cx="3108960" cy="1188720"/>
          </a:xfrm>
          <a:prstGeom prst="rect">
            <a:avLst/>
          </a:prstGeom>
          <a:noFill/>
          <a:ln/>
        </p:spPr>
        <p:txBody>
          <a:bodyPr wrap="square" lIns="0" tIns="0" rIns="0" bIns="0" rtlCol="0" anchor="ctr"/>
          <a:lstStyle/>
          <a:p>
            <a:pPr indent="0" marL="0">
              <a:buNone/>
            </a:pPr>
            <a:r>
              <a:rPr lang="en-US" sz="7200" b="1" dirty="0">
                <a:solidFill>
                  <a:srgbClr val="FFFFFF"/>
                </a:solidFill>
              </a:rPr>
              <a:t>④</a:t>
            </a:r>
            <a:endParaRPr lang="en-US" sz="7200" dirty="0"/>
          </a:p>
        </p:txBody>
      </p:sp>
      <p:sp>
        <p:nvSpPr>
          <p:cNvPr id="7" name="Text 5"/>
          <p:cNvSpPr txBox="1"/>
          <p:nvPr/>
        </p:nvSpPr>
        <p:spPr>
          <a:xfrm>
            <a:off x="868680" y="3337560"/>
            <a:ext cx="3154680" cy="1280160"/>
          </a:xfrm>
          <a:prstGeom prst="rect">
            <a:avLst/>
          </a:prstGeom>
          <a:noFill/>
          <a:ln/>
        </p:spPr>
        <p:txBody>
          <a:bodyPr wrap="square" lIns="0" tIns="0" rIns="0" bIns="0" rtlCol="0" anchor="t"/>
          <a:lstStyle/>
          <a:p>
            <a:pPr indent="0" marL="0">
              <a:buNone/>
            </a:pPr>
            <a:r>
              <a:rPr lang="en-US" sz="1700" b="1" i="1" dirty="0">
                <a:solidFill>
                  <a:srgbClr val="FFFFFF"/>
                </a:solidFill>
              </a:rPr>
              <a:t>conscious ----- collective</a:t>
            </a:r>
            <a:endParaRPr lang="en-US" sz="1700" dirty="0"/>
          </a:p>
        </p:txBody>
      </p:sp>
      <p:sp>
        <p:nvSpPr>
          <p:cNvPr id="8" name="Text 6"/>
          <p:cNvSpPr txBox="1"/>
          <p:nvPr/>
        </p:nvSpPr>
        <p:spPr>
          <a:xfrm>
            <a:off x="868680" y="4663440"/>
            <a:ext cx="3154680" cy="1463040"/>
          </a:xfrm>
          <a:prstGeom prst="rect">
            <a:avLst/>
          </a:prstGeom>
          <a:noFill/>
          <a:ln/>
        </p:spPr>
        <p:txBody>
          <a:bodyPr wrap="square" lIns="0" tIns="0" rIns="0" bIns="0" rtlCol="0" anchor="t"/>
          <a:lstStyle/>
          <a:p>
            <a:pPr indent="0" marL="0">
              <a:buNone/>
            </a:pPr>
            <a:r>
              <a:rPr lang="en-US" sz="1400" dirty="0">
                <a:solidFill>
                  <a:srgbClr val="E6F2ED"/>
                </a:solidFill>
              </a:rPr>
              <a:t>의식적인 = 스스로 묻는 성찰 / 집단적인 = corporate success</a:t>
            </a:r>
            <a:endParaRPr lang="en-US" sz="1400" dirty="0"/>
          </a:p>
        </p:txBody>
      </p:sp>
      <p:sp>
        <p:nvSpPr>
          <p:cNvPr id="9" name="Shape 7"/>
          <p:cNvSpPr/>
          <p:nvPr/>
        </p:nvSpPr>
        <p:spPr>
          <a:xfrm>
            <a:off x="4572000" y="1325880"/>
            <a:ext cx="7040880" cy="905256"/>
          </a:xfrm>
          <a:prstGeom prst="roundRect">
            <a:avLst>
              <a:gd name="adj" fmla="val 10101"/>
            </a:avLst>
          </a:prstGeom>
          <a:solidFill>
            <a:srgbClr val="FFFFFF"/>
          </a:solidFill>
          <a:ln w="12700">
            <a:solidFill>
              <a:srgbClr val="E6F2ED"/>
            </a:solidFill>
            <a:prstDash val="solid"/>
          </a:ln>
        </p:spPr>
      </p:sp>
      <p:sp>
        <p:nvSpPr>
          <p:cNvPr id="10" name="Text 8"/>
          <p:cNvSpPr txBox="1"/>
          <p:nvPr/>
        </p:nvSpPr>
        <p:spPr>
          <a:xfrm>
            <a:off x="4754880" y="1435608"/>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①</a:t>
            </a:r>
            <a:endParaRPr lang="en-US" sz="2000" dirty="0"/>
          </a:p>
        </p:txBody>
      </p:sp>
      <p:sp>
        <p:nvSpPr>
          <p:cNvPr id="11" name="Text 9"/>
          <p:cNvSpPr txBox="1"/>
          <p:nvPr/>
        </p:nvSpPr>
        <p:spPr>
          <a:xfrm>
            <a:off x="5257800" y="1399032"/>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inventive ----- professional</a:t>
            </a:r>
            <a:endParaRPr lang="en-US" sz="1500" dirty="0"/>
          </a:p>
        </p:txBody>
      </p:sp>
      <p:sp>
        <p:nvSpPr>
          <p:cNvPr id="12" name="Text 10"/>
          <p:cNvSpPr txBox="1"/>
          <p:nvPr/>
        </p:nvSpPr>
        <p:spPr>
          <a:xfrm>
            <a:off x="5257800" y="1801368"/>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창의적인 ✘ / 직업적인 ✘</a:t>
            </a:r>
            <a:endParaRPr lang="en-US" sz="1300" dirty="0"/>
          </a:p>
        </p:txBody>
      </p:sp>
      <p:sp>
        <p:nvSpPr>
          <p:cNvPr id="13" name="Shape 11"/>
          <p:cNvSpPr/>
          <p:nvPr/>
        </p:nvSpPr>
        <p:spPr>
          <a:xfrm>
            <a:off x="4572000" y="2340864"/>
            <a:ext cx="7040880" cy="905256"/>
          </a:xfrm>
          <a:prstGeom prst="roundRect">
            <a:avLst>
              <a:gd name="adj" fmla="val 10101"/>
            </a:avLst>
          </a:prstGeom>
          <a:solidFill>
            <a:srgbClr val="FFFFFF"/>
          </a:solidFill>
          <a:ln w="12700">
            <a:solidFill>
              <a:srgbClr val="E6F2ED"/>
            </a:solidFill>
            <a:prstDash val="solid"/>
          </a:ln>
        </p:spPr>
      </p:sp>
      <p:sp>
        <p:nvSpPr>
          <p:cNvPr id="14" name="Text 12"/>
          <p:cNvSpPr txBox="1"/>
          <p:nvPr/>
        </p:nvSpPr>
        <p:spPr>
          <a:xfrm>
            <a:off x="4754880" y="2450592"/>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②</a:t>
            </a:r>
            <a:endParaRPr lang="en-US" sz="2000" dirty="0"/>
          </a:p>
        </p:txBody>
      </p:sp>
      <p:sp>
        <p:nvSpPr>
          <p:cNvPr id="15" name="Text 13"/>
          <p:cNvSpPr txBox="1"/>
          <p:nvPr/>
        </p:nvSpPr>
        <p:spPr>
          <a:xfrm>
            <a:off x="5257800" y="2414016"/>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inventive ----- unexpected</a:t>
            </a:r>
            <a:endParaRPr lang="en-US" sz="1500" dirty="0"/>
          </a:p>
        </p:txBody>
      </p:sp>
      <p:sp>
        <p:nvSpPr>
          <p:cNvPr id="16" name="Text 14"/>
          <p:cNvSpPr txBox="1"/>
          <p:nvPr/>
        </p:nvSpPr>
        <p:spPr>
          <a:xfrm>
            <a:off x="5257800" y="2816352"/>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창의적인 ✘ / 예상치 못한 ✘</a:t>
            </a:r>
            <a:endParaRPr lang="en-US" sz="1300" dirty="0"/>
          </a:p>
        </p:txBody>
      </p:sp>
      <p:sp>
        <p:nvSpPr>
          <p:cNvPr id="17" name="Shape 15"/>
          <p:cNvSpPr/>
          <p:nvPr/>
        </p:nvSpPr>
        <p:spPr>
          <a:xfrm>
            <a:off x="4572000" y="3355848"/>
            <a:ext cx="7040880" cy="905256"/>
          </a:xfrm>
          <a:prstGeom prst="roundRect">
            <a:avLst>
              <a:gd name="adj" fmla="val 10101"/>
            </a:avLst>
          </a:prstGeom>
          <a:solidFill>
            <a:srgbClr val="FFFFFF"/>
          </a:solidFill>
          <a:ln w="12700">
            <a:solidFill>
              <a:srgbClr val="E6F2ED"/>
            </a:solidFill>
            <a:prstDash val="solid"/>
          </a:ln>
        </p:spPr>
      </p:sp>
      <p:sp>
        <p:nvSpPr>
          <p:cNvPr id="18" name="Text 16"/>
          <p:cNvSpPr txBox="1"/>
          <p:nvPr/>
        </p:nvSpPr>
        <p:spPr>
          <a:xfrm>
            <a:off x="4754880" y="3465576"/>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③</a:t>
            </a:r>
            <a:endParaRPr lang="en-US" sz="2000" dirty="0"/>
          </a:p>
        </p:txBody>
      </p:sp>
      <p:sp>
        <p:nvSpPr>
          <p:cNvPr id="19" name="Text 17"/>
          <p:cNvSpPr txBox="1"/>
          <p:nvPr/>
        </p:nvSpPr>
        <p:spPr>
          <a:xfrm>
            <a:off x="5257800" y="3429000"/>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independent ----- immediate</a:t>
            </a:r>
            <a:endParaRPr lang="en-US" sz="1500" dirty="0"/>
          </a:p>
        </p:txBody>
      </p:sp>
      <p:sp>
        <p:nvSpPr>
          <p:cNvPr id="20" name="Text 18"/>
          <p:cNvSpPr txBox="1"/>
          <p:nvPr/>
        </p:nvSpPr>
        <p:spPr>
          <a:xfrm>
            <a:off x="5257800" y="3831336"/>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독립적인 ✘ / 즉각적인 ✘</a:t>
            </a:r>
            <a:endParaRPr lang="en-US" sz="1300" dirty="0"/>
          </a:p>
        </p:txBody>
      </p:sp>
      <p:sp>
        <p:nvSpPr>
          <p:cNvPr id="21" name="Shape 19"/>
          <p:cNvSpPr/>
          <p:nvPr/>
        </p:nvSpPr>
        <p:spPr>
          <a:xfrm>
            <a:off x="4572000" y="4370832"/>
            <a:ext cx="7040880" cy="905256"/>
          </a:xfrm>
          <a:prstGeom prst="roundRect">
            <a:avLst>
              <a:gd name="adj" fmla="val 10101"/>
            </a:avLst>
          </a:prstGeom>
          <a:solidFill>
            <a:srgbClr val="F7E9E4"/>
          </a:solidFill>
          <a:ln w="25400">
            <a:solidFill>
              <a:srgbClr val="EF5B3F"/>
            </a:solidFill>
            <a:prstDash val="solid"/>
          </a:ln>
        </p:spPr>
      </p:sp>
      <p:sp>
        <p:nvSpPr>
          <p:cNvPr id="22" name="Text 20"/>
          <p:cNvSpPr txBox="1"/>
          <p:nvPr/>
        </p:nvSpPr>
        <p:spPr>
          <a:xfrm>
            <a:off x="4754880" y="4480560"/>
            <a:ext cx="411480" cy="411480"/>
          </a:xfrm>
          <a:prstGeom prst="rect">
            <a:avLst/>
          </a:prstGeom>
          <a:noFill/>
          <a:ln/>
        </p:spPr>
        <p:txBody>
          <a:bodyPr wrap="square" lIns="0" tIns="0" rIns="0" bIns="0" rtlCol="0" anchor="ctr"/>
          <a:lstStyle/>
          <a:p>
            <a:pPr indent="0" marL="0">
              <a:buNone/>
            </a:pPr>
            <a:r>
              <a:rPr lang="en-US" sz="2000" b="1" dirty="0">
                <a:solidFill>
                  <a:srgbClr val="EF5B3F"/>
                </a:solidFill>
              </a:rPr>
              <a:t>④</a:t>
            </a:r>
            <a:endParaRPr lang="en-US" sz="2000" dirty="0"/>
          </a:p>
        </p:txBody>
      </p:sp>
      <p:sp>
        <p:nvSpPr>
          <p:cNvPr id="23" name="Text 21"/>
          <p:cNvSpPr txBox="1"/>
          <p:nvPr/>
        </p:nvSpPr>
        <p:spPr>
          <a:xfrm>
            <a:off x="5257800" y="4443984"/>
            <a:ext cx="6172200" cy="411480"/>
          </a:xfrm>
          <a:prstGeom prst="rect">
            <a:avLst/>
          </a:prstGeom>
          <a:noFill/>
          <a:ln/>
        </p:spPr>
        <p:txBody>
          <a:bodyPr wrap="square" lIns="0" tIns="0" rIns="0" bIns="0" rtlCol="0" anchor="ctr">
            <a:normAutofit/>
          </a:bodyPr>
          <a:lstStyle/>
          <a:p>
            <a:pPr indent="0" marL="0">
              <a:buNone/>
            </a:pPr>
            <a:r>
              <a:rPr lang="en-US" sz="1500" b="1" dirty="0">
                <a:solidFill>
                  <a:srgbClr val="14453D"/>
                </a:solidFill>
              </a:rPr>
              <a:t>conscious ----- collective</a:t>
            </a:r>
            <a:endParaRPr lang="en-US" sz="1500" dirty="0"/>
          </a:p>
        </p:txBody>
      </p:sp>
      <p:sp>
        <p:nvSpPr>
          <p:cNvPr id="24" name="Text 22"/>
          <p:cNvSpPr txBox="1"/>
          <p:nvPr/>
        </p:nvSpPr>
        <p:spPr>
          <a:xfrm>
            <a:off x="5257800" y="4846320"/>
            <a:ext cx="6172200" cy="365760"/>
          </a:xfrm>
          <a:prstGeom prst="rect">
            <a:avLst/>
          </a:prstGeom>
          <a:noFill/>
          <a:ln/>
        </p:spPr>
        <p:txBody>
          <a:bodyPr wrap="square" lIns="0" tIns="0" rIns="0" bIns="0" rtlCol="0" anchor="ctr">
            <a:normAutofit/>
          </a:bodyPr>
          <a:lstStyle/>
          <a:p>
            <a:pPr indent="0" marL="0">
              <a:buNone/>
            </a:pPr>
            <a:r>
              <a:rPr lang="en-US" sz="1300" dirty="0">
                <a:solidFill>
                  <a:srgbClr val="EF5B3F"/>
                </a:solidFill>
              </a:rPr>
              <a:t>✔ 의식적인 = 스스로 묻는 성찰 / 집단적인 = corporate success</a:t>
            </a:r>
            <a:endParaRPr lang="en-US" sz="1300" dirty="0"/>
          </a:p>
        </p:txBody>
      </p:sp>
      <p:sp>
        <p:nvSpPr>
          <p:cNvPr id="25" name="Shape 23"/>
          <p:cNvSpPr/>
          <p:nvPr/>
        </p:nvSpPr>
        <p:spPr>
          <a:xfrm>
            <a:off x="4572000" y="5385816"/>
            <a:ext cx="7040880" cy="905256"/>
          </a:xfrm>
          <a:prstGeom prst="roundRect">
            <a:avLst>
              <a:gd name="adj" fmla="val 10101"/>
            </a:avLst>
          </a:prstGeom>
          <a:solidFill>
            <a:srgbClr val="FFFFFF"/>
          </a:solidFill>
          <a:ln w="12700">
            <a:solidFill>
              <a:srgbClr val="E6F2ED"/>
            </a:solidFill>
            <a:prstDash val="solid"/>
          </a:ln>
        </p:spPr>
      </p:sp>
      <p:sp>
        <p:nvSpPr>
          <p:cNvPr id="26" name="Text 24"/>
          <p:cNvSpPr txBox="1"/>
          <p:nvPr/>
        </p:nvSpPr>
        <p:spPr>
          <a:xfrm>
            <a:off x="4754880" y="5495544"/>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⑤</a:t>
            </a:r>
            <a:endParaRPr lang="en-US" sz="2000" dirty="0"/>
          </a:p>
        </p:txBody>
      </p:sp>
      <p:sp>
        <p:nvSpPr>
          <p:cNvPr id="27" name="Text 25"/>
          <p:cNvSpPr txBox="1"/>
          <p:nvPr/>
        </p:nvSpPr>
        <p:spPr>
          <a:xfrm>
            <a:off x="5257800" y="5458968"/>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conscious ----- modest</a:t>
            </a:r>
            <a:endParaRPr lang="en-US" sz="1500" dirty="0"/>
          </a:p>
        </p:txBody>
      </p:sp>
      <p:sp>
        <p:nvSpPr>
          <p:cNvPr id="28" name="Text 26"/>
          <p:cNvSpPr txBox="1"/>
          <p:nvPr/>
        </p:nvSpPr>
        <p:spPr>
          <a:xfrm>
            <a:off x="5257800" y="5861304"/>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의식적인 ✔ / 적당한 ✘</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95  </a:t>
            </a:r>
            <a:pPr algn="l" indent="0" marL="0">
              <a:buNone/>
            </a:pPr>
            <a:r>
              <a:rPr lang="en-US" sz="3000" b="1" dirty="0">
                <a:solidFill>
                  <a:srgbClr val="14453D"/>
                </a:solidFill>
              </a:rPr>
              <a:t>내신 어법 체크: 알맞은 것은?</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어법</a:t>
            </a:r>
            <a:endParaRPr lang="en-US" sz="1200" dirty="0"/>
          </a:p>
        </p:txBody>
      </p:sp>
      <p:sp>
        <p:nvSpPr>
          <p:cNvPr id="4" name="Shape 2"/>
          <p:cNvSpPr/>
          <p:nvPr/>
        </p:nvSpPr>
        <p:spPr>
          <a:xfrm>
            <a:off x="548640" y="1325880"/>
            <a:ext cx="11064240" cy="1143000"/>
          </a:xfrm>
          <a:prstGeom prst="roundRect">
            <a:avLst>
              <a:gd name="adj" fmla="val 8000"/>
            </a:avLst>
          </a:prstGeom>
          <a:solidFill>
            <a:srgbClr val="F2F8FB"/>
          </a:solidFill>
          <a:ln w="12700">
            <a:solidFill>
              <a:srgbClr val="D3E5EE"/>
            </a:solidFill>
            <a:prstDash val="solid"/>
          </a:ln>
        </p:spPr>
      </p:sp>
      <p:sp>
        <p:nvSpPr>
          <p:cNvPr id="5" name="Text 3"/>
          <p:cNvSpPr/>
          <p:nvPr/>
        </p:nvSpPr>
        <p:spPr>
          <a:xfrm>
            <a:off x="777240" y="162306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1554480" y="132588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…what you are good at and not so good at </a:t>
            </a:r>
            <a:pPr indent="0" marL="0">
              <a:buNone/>
            </a:pPr>
            <a:r>
              <a:rPr lang="en-US" sz="1900" b="1" dirty="0">
                <a:solidFill>
                  <a:srgbClr val="EF5B3F"/>
                </a:solidFill>
              </a:rPr>
              <a:t>[during / while]</a:t>
            </a:r>
            <a:pPr indent="0" marL="0">
              <a:buNone/>
            </a:pPr>
            <a:r>
              <a:rPr lang="en-US" sz="1900" dirty="0">
                <a:solidFill>
                  <a:srgbClr val="1E2B2A"/>
                </a:solidFill>
              </a:rPr>
              <a:t> internal conversations with yourself?</a:t>
            </a:r>
            <a:endParaRPr lang="en-US" sz="1900" dirty="0"/>
          </a:p>
        </p:txBody>
      </p:sp>
      <p:sp>
        <p:nvSpPr>
          <p:cNvPr id="7" name="Shape 5"/>
          <p:cNvSpPr/>
          <p:nvPr/>
        </p:nvSpPr>
        <p:spPr>
          <a:xfrm>
            <a:off x="548640" y="2606040"/>
            <a:ext cx="11064240" cy="1143000"/>
          </a:xfrm>
          <a:prstGeom prst="roundRect">
            <a:avLst>
              <a:gd name="adj" fmla="val 8000"/>
            </a:avLst>
          </a:prstGeom>
          <a:solidFill>
            <a:srgbClr val="FFFFFF"/>
          </a:solidFill>
          <a:ln w="12700">
            <a:solidFill>
              <a:srgbClr val="D3E5EE"/>
            </a:solidFill>
            <a:prstDash val="solid"/>
          </a:ln>
        </p:spPr>
      </p:sp>
      <p:sp>
        <p:nvSpPr>
          <p:cNvPr id="8" name="Text 6"/>
          <p:cNvSpPr/>
          <p:nvPr/>
        </p:nvSpPr>
        <p:spPr>
          <a:xfrm>
            <a:off x="777240" y="290322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9" name="Text 7"/>
          <p:cNvSpPr txBox="1"/>
          <p:nvPr/>
        </p:nvSpPr>
        <p:spPr>
          <a:xfrm>
            <a:off x="1554480" y="260604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This reflection process enables you to </a:t>
            </a:r>
            <a:pPr indent="0" marL="0">
              <a:buNone/>
            </a:pPr>
            <a:r>
              <a:rPr lang="en-US" sz="1900" b="1" dirty="0">
                <a:solidFill>
                  <a:srgbClr val="EF5B3F"/>
                </a:solidFill>
              </a:rPr>
              <a:t>[clear / clearly]</a:t>
            </a:r>
            <a:pPr indent="0" marL="0">
              <a:buNone/>
            </a:pPr>
            <a:r>
              <a:rPr lang="en-US" sz="1900" dirty="0">
                <a:solidFill>
                  <a:srgbClr val="1E2B2A"/>
                </a:solidFill>
              </a:rPr>
              <a:t> see potential problems.</a:t>
            </a:r>
            <a:endParaRPr lang="en-US" sz="1900" dirty="0"/>
          </a:p>
        </p:txBody>
      </p:sp>
      <p:sp>
        <p:nvSpPr>
          <p:cNvPr id="10" name="Shape 8"/>
          <p:cNvSpPr/>
          <p:nvPr/>
        </p:nvSpPr>
        <p:spPr>
          <a:xfrm>
            <a:off x="548640" y="3886200"/>
            <a:ext cx="11064240" cy="1143000"/>
          </a:xfrm>
          <a:prstGeom prst="roundRect">
            <a:avLst>
              <a:gd name="adj" fmla="val 8000"/>
            </a:avLst>
          </a:prstGeom>
          <a:solidFill>
            <a:srgbClr val="F2F8FB"/>
          </a:solidFill>
          <a:ln w="12700">
            <a:solidFill>
              <a:srgbClr val="D3E5EE"/>
            </a:solidFill>
            <a:prstDash val="solid"/>
          </a:ln>
        </p:spPr>
      </p:sp>
      <p:sp>
        <p:nvSpPr>
          <p:cNvPr id="11" name="Text 9"/>
          <p:cNvSpPr/>
          <p:nvPr/>
        </p:nvSpPr>
        <p:spPr>
          <a:xfrm>
            <a:off x="777240" y="418338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2" name="Text 10"/>
          <p:cNvSpPr txBox="1"/>
          <p:nvPr/>
        </p:nvSpPr>
        <p:spPr>
          <a:xfrm>
            <a:off x="1554480" y="388620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It is this self-awareness </a:t>
            </a:r>
            <a:pPr indent="0" marL="0">
              <a:buNone/>
            </a:pPr>
            <a:r>
              <a:rPr lang="en-US" sz="1900" b="1" dirty="0">
                <a:solidFill>
                  <a:srgbClr val="EF5B3F"/>
                </a:solidFill>
              </a:rPr>
              <a:t>[that / what]</a:t>
            </a:r>
            <a:pPr indent="0" marL="0">
              <a:buNone/>
            </a:pPr>
            <a:r>
              <a:rPr lang="en-US" sz="1900" dirty="0">
                <a:solidFill>
                  <a:srgbClr val="1E2B2A"/>
                </a:solidFill>
              </a:rPr>
              <a:t> allows the company to excel.</a:t>
            </a:r>
            <a:endParaRPr lang="en-US" sz="19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96  </a:t>
            </a:r>
            <a:pPr algn="l" indent="0" marL="0">
              <a:buNone/>
            </a:pPr>
            <a:r>
              <a:rPr lang="en-US" sz="3000" b="1" dirty="0">
                <a:solidFill>
                  <a:srgbClr val="14453D"/>
                </a:solidFill>
              </a:rPr>
              <a:t>동물의 후각 체계</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Hook</a:t>
            </a:r>
            <a:endParaRPr lang="en-US" sz="1200" dirty="0"/>
          </a:p>
        </p:txBody>
      </p:sp>
      <p:sp>
        <p:nvSpPr>
          <p:cNvPr id="4" name="Shape 2"/>
          <p:cNvSpPr/>
          <p:nvPr/>
        </p:nvSpPr>
        <p:spPr>
          <a:xfrm>
            <a:off x="1280160" y="1737360"/>
            <a:ext cx="9601200" cy="3291840"/>
          </a:xfrm>
          <a:prstGeom prst="roundRect">
            <a:avLst>
              <a:gd name="adj" fmla="val 6944"/>
            </a:avLst>
          </a:prstGeom>
          <a:solidFill>
            <a:srgbClr val="E6F2ED"/>
          </a:solidFill>
          <a:ln w="12700">
            <a:solidFill>
              <a:srgbClr val="E6F2ED"/>
            </a:solidFill>
            <a:prstDash val="solid"/>
          </a:ln>
        </p:spPr>
      </p:sp>
      <p:sp>
        <p:nvSpPr>
          <p:cNvPr id="5" name="Shape 3"/>
          <p:cNvSpPr/>
          <p:nvPr/>
        </p:nvSpPr>
        <p:spPr>
          <a:xfrm>
            <a:off x="1737360" y="2148840"/>
            <a:ext cx="1005840" cy="1005840"/>
          </a:xfrm>
          <a:prstGeom prst="ellipse">
            <a:avLst/>
          </a:prstGeom>
          <a:solidFill>
            <a:srgbClr val="1F7A64"/>
          </a:solidFill>
          <a:ln w="12700">
            <a:solidFill>
              <a:srgbClr val="1F7A64"/>
            </a:solidFill>
            <a:prstDash val="solid"/>
          </a:ln>
        </p:spPr>
      </p:sp>
      <p:pic>
        <p:nvPicPr>
          <p:cNvPr id="6" name="Image 0" descr="preencoded.png">    </p:cNvPr>
          <p:cNvPicPr>
            <a:picLocks noChangeAspect="1"/>
          </p:cNvPicPr>
          <p:nvPr/>
        </p:nvPicPr>
        <p:blipFill>
          <a:blip r:embed="rId1"/>
          <a:stretch>
            <a:fillRect/>
          </a:stretch>
        </p:blipFill>
        <p:spPr>
          <a:xfrm>
            <a:off x="1984248" y="2395728"/>
            <a:ext cx="512064" cy="512064"/>
          </a:xfrm>
          <a:prstGeom prst="rect">
            <a:avLst/>
          </a:prstGeom>
        </p:spPr>
      </p:pic>
      <p:sp>
        <p:nvSpPr>
          <p:cNvPr id="7" name="Text 4"/>
          <p:cNvSpPr txBox="1"/>
          <p:nvPr/>
        </p:nvSpPr>
        <p:spPr>
          <a:xfrm>
            <a:off x="3017520" y="2194560"/>
            <a:ext cx="5486400" cy="457200"/>
          </a:xfrm>
          <a:prstGeom prst="rect">
            <a:avLst/>
          </a:prstGeom>
          <a:noFill/>
          <a:ln/>
        </p:spPr>
        <p:txBody>
          <a:bodyPr wrap="square" lIns="0" tIns="0" rIns="0" bIns="0" rtlCol="0" anchor="ctr"/>
          <a:lstStyle/>
          <a:p>
            <a:pPr indent="0" marL="0">
              <a:buNone/>
            </a:pPr>
            <a:r>
              <a:rPr lang="en-US" sz="1800" b="1" dirty="0">
                <a:solidFill>
                  <a:srgbClr val="1F7A64"/>
                </a:solidFill>
              </a:rPr>
              <a:t>생각해 볼까?</a:t>
            </a:r>
            <a:endParaRPr lang="en-US" sz="1800" dirty="0"/>
          </a:p>
        </p:txBody>
      </p:sp>
      <p:sp>
        <p:nvSpPr>
          <p:cNvPr id="8" name="Text 5"/>
          <p:cNvSpPr txBox="1"/>
          <p:nvPr/>
        </p:nvSpPr>
        <p:spPr>
          <a:xfrm>
            <a:off x="3017520" y="2697480"/>
            <a:ext cx="7498080" cy="2011680"/>
          </a:xfrm>
          <a:prstGeom prst="rect">
            <a:avLst/>
          </a:prstGeom>
          <a:noFill/>
          <a:ln/>
        </p:spPr>
        <p:txBody>
          <a:bodyPr wrap="square" lIns="0" tIns="0" rIns="0" bIns="0" rtlCol="0" anchor="t">
            <a:normAutofit/>
          </a:bodyPr>
          <a:lstStyle/>
          <a:p>
            <a:pPr indent="0" marL="0">
              <a:buNone/>
            </a:pPr>
            <a:r>
              <a:rPr lang="en-US" sz="2800" b="1" dirty="0">
                <a:solidFill>
                  <a:srgbClr val="14453D"/>
                </a:solidFill>
              </a:rPr>
              <a:t>물고기가 '위험해!'라고 말할 수 있을까? 냄새로 말한다!</a:t>
            </a:r>
            <a:endParaRPr lang="en-US" sz="2800" dirty="0"/>
          </a:p>
        </p:txBody>
      </p:sp>
      <p:sp>
        <p:nvSpPr>
          <p:cNvPr id="9" name="Text 6"/>
          <p:cNvSpPr/>
          <p:nvPr/>
        </p:nvSpPr>
        <p:spPr>
          <a:xfrm>
            <a:off x="4251960" y="5349240"/>
            <a:ext cx="3657600" cy="329184"/>
          </a:xfrm>
          <a:prstGeom prst="roundRect">
            <a:avLst>
              <a:gd name="adj" fmla="val 41667"/>
            </a:avLst>
          </a:prstGeom>
          <a:solidFill>
            <a:srgbClr val="EF5B3F"/>
          </a:solidFill>
          <a:ln/>
        </p:spPr>
        <p:txBody>
          <a:bodyPr wrap="square" lIns="0" tIns="0" rIns="0" bIns="0" rtlCol="0" anchor="ctr"/>
          <a:lstStyle/>
          <a:p>
            <a:pPr algn="ctr" indent="0" marL="0">
              <a:buNone/>
            </a:pPr>
            <a:r>
              <a:rPr lang="en-US" sz="1400" b="1" dirty="0">
                <a:solidFill>
                  <a:srgbClr val="FFFFFF"/>
                </a:solidFill>
              </a:rPr>
              <a:t>짝과 30초 이야기 → 2~3명 발표</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96  </a:t>
            </a:r>
            <a:pPr algn="l" indent="0" marL="0">
              <a:buNone/>
            </a:pPr>
            <a:r>
              <a:rPr lang="en-US" sz="2400" b="1" dirty="0">
                <a:solidFill>
                  <a:srgbClr val="14453D"/>
                </a:solidFill>
              </a:rPr>
              <a:t>(A)·(B)에 들어갈 말로 가장 적절한 것은?</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a:t>
            </a:r>
            <a:endParaRPr lang="en-US" sz="1200" dirty="0"/>
          </a:p>
        </p:txBody>
      </p:sp>
      <p:sp>
        <p:nvSpPr>
          <p:cNvPr id="4" name="Shape 2"/>
          <p:cNvSpPr/>
          <p:nvPr/>
        </p:nvSpPr>
        <p:spPr>
          <a:xfrm>
            <a:off x="548640" y="1234440"/>
            <a:ext cx="11064240" cy="5074920"/>
          </a:xfrm>
          <a:prstGeom prst="roundRect">
            <a:avLst>
              <a:gd name="adj" fmla="val 1802"/>
            </a:avLst>
          </a:prstGeom>
          <a:solidFill>
            <a:srgbClr val="FFFFFF"/>
          </a:solidFill>
          <a:ln w="19050">
            <a:solidFill>
              <a:srgbClr val="E6F2ED"/>
            </a:solidFill>
            <a:prstDash val="solid"/>
          </a:ln>
        </p:spPr>
      </p:sp>
      <p:sp>
        <p:nvSpPr>
          <p:cNvPr id="5" name="Text 3"/>
          <p:cNvSpPr txBox="1"/>
          <p:nvPr/>
        </p:nvSpPr>
        <p:spPr>
          <a:xfrm>
            <a:off x="777240" y="1371600"/>
            <a:ext cx="10607040" cy="4846320"/>
          </a:xfrm>
          <a:prstGeom prst="rect">
            <a:avLst/>
          </a:prstGeom>
          <a:noFill/>
          <a:ln/>
        </p:spPr>
        <p:txBody>
          <a:bodyPr wrap="square" lIns="0" tIns="0" rIns="0" bIns="0" rtlCol="0" anchor="t"/>
          <a:lstStyle/>
          <a:p>
            <a:pPr indent="0" marL="0">
              <a:lnSpc>
                <a:spcPct val="115000"/>
              </a:lnSpc>
              <a:buNone/>
            </a:pPr>
            <a:r>
              <a:rPr lang="en-US" sz="1500" dirty="0">
                <a:solidFill>
                  <a:srgbClr val="1E2B2A"/>
                </a:solidFill>
              </a:rPr>
              <a:t>To increase the probability of survival, many animals have evolved a sophisticated sense of smell, which consists of two distinct sensory systems.</a:t>
            </a:r>
            <a:pPr indent="0" marL="0">
              <a:lnSpc>
                <a:spcPct val="115000"/>
              </a:lnSpc>
              <a:buNone/>
            </a:pPr>
            <a:r>
              <a:rPr lang="en-US" sz="1500" dirty="0">
                <a:solidFill>
                  <a:srgbClr val="000000"/>
                </a:solidFill>
              </a:rPr>
              <a:t> </a:t>
            </a:r>
            <a:pPr indent="0" marL="0">
              <a:lnSpc>
                <a:spcPct val="115000"/>
              </a:lnSpc>
              <a:buNone/>
            </a:pPr>
            <a:r>
              <a:rPr lang="en-US" sz="1500" dirty="0">
                <a:solidFill>
                  <a:srgbClr val="1E2B2A"/>
                </a:solidFill>
              </a:rPr>
              <a:t>The first system is responsible for detecting an odor.</a:t>
            </a:r>
            <a:pPr indent="0" marL="0">
              <a:lnSpc>
                <a:spcPct val="115000"/>
              </a:lnSpc>
              <a:buNone/>
            </a:pPr>
            <a:r>
              <a:rPr lang="en-US" sz="1500" dirty="0">
                <a:solidFill>
                  <a:srgbClr val="000000"/>
                </a:solidFill>
              </a:rPr>
              <a:t> </a:t>
            </a:r>
            <a:pPr indent="0" marL="0">
              <a:lnSpc>
                <a:spcPct val="115000"/>
              </a:lnSpc>
              <a:buNone/>
            </a:pPr>
            <a:r>
              <a:rPr lang="en-US" sz="1500" dirty="0">
                <a:solidFill>
                  <a:srgbClr val="1E2B2A"/>
                </a:solidFill>
              </a:rPr>
              <a:t>The second system is responsible for understanding that odor and communicating it to the part of the brain responsible for sending the proper messages to your body’s organs, causing them to respond accordingly.</a:t>
            </a:r>
            <a:pPr indent="0" marL="0">
              <a:lnSpc>
                <a:spcPct val="115000"/>
              </a:lnSpc>
              <a:buNone/>
            </a:pPr>
            <a:r>
              <a:rPr lang="en-US" sz="1500" dirty="0">
                <a:solidFill>
                  <a:srgbClr val="000000"/>
                </a:solidFill>
              </a:rPr>
              <a:t> </a:t>
            </a:r>
            <a:pPr indent="0" marL="0">
              <a:lnSpc>
                <a:spcPct val="115000"/>
              </a:lnSpc>
              <a:buNone/>
            </a:pPr>
            <a:r>
              <a:rPr lang="en-US" sz="1500" dirty="0">
                <a:solidFill>
                  <a:srgbClr val="1E2B2A"/>
                </a:solidFill>
              </a:rPr>
              <a:t>The latter system plays a crucial role in interpreting the hidden messages contained in different odors.</a:t>
            </a:r>
            <a:pPr indent="0" marL="0">
              <a:lnSpc>
                <a:spcPct val="115000"/>
              </a:lnSpc>
              <a:buNone/>
            </a:pPr>
            <a:r>
              <a:rPr lang="en-US" sz="1500" dirty="0">
                <a:solidFill>
                  <a:srgbClr val="000000"/>
                </a:solidFill>
              </a:rPr>
              <a:t> </a:t>
            </a:r>
            <a:pPr indent="0" marL="0">
              <a:lnSpc>
                <a:spcPct val="115000"/>
              </a:lnSpc>
              <a:buNone/>
            </a:pPr>
            <a:r>
              <a:rPr lang="en-US" sz="1500" dirty="0">
                <a:solidFill>
                  <a:srgbClr val="1E2B2A"/>
                </a:solidFill>
              </a:rPr>
              <a:t>For example, many marine animals, including fish and lobsters, release a specific chemical odor to warn others of the presence of danger.</a:t>
            </a:r>
            <a:pPr indent="0" marL="0">
              <a:lnSpc>
                <a:spcPct val="115000"/>
              </a:lnSpc>
              <a:buNone/>
            </a:pPr>
            <a:r>
              <a:rPr lang="en-US" sz="1500" dirty="0">
                <a:solidFill>
                  <a:srgbClr val="000000"/>
                </a:solidFill>
              </a:rPr>
              <a:t> </a:t>
            </a:r>
            <a:pPr indent="0" marL="0">
              <a:lnSpc>
                <a:spcPct val="115000"/>
              </a:lnSpc>
              <a:buNone/>
            </a:pPr>
            <a:r>
              <a:rPr lang="en-US" sz="1500" dirty="0">
                <a:solidFill>
                  <a:srgbClr val="1E2B2A"/>
                </a:solidFill>
              </a:rPr>
              <a:t>Failure to detect and decode this odor properly would make the subject easy prey for a predator.</a:t>
            </a:r>
            <a:pPr indent="0" marL="0">
              <a:lnSpc>
                <a:spcPct val="115000"/>
              </a:lnSpc>
              <a:buNone/>
            </a:pPr>
            <a:r>
              <a:rPr lang="en-US" sz="1500" dirty="0">
                <a:solidFill>
                  <a:srgbClr val="000000"/>
                </a:solidFill>
              </a:rPr>
              <a:t> </a:t>
            </a:r>
            <a:pPr indent="0" marL="0">
              <a:lnSpc>
                <a:spcPct val="115000"/>
              </a:lnSpc>
              <a:buNone/>
            </a:pPr>
            <a:r>
              <a:rPr lang="en-US" sz="1500" dirty="0">
                <a:solidFill>
                  <a:srgbClr val="1E2B2A"/>
                </a:solidFill>
              </a:rPr>
              <a:t>Consequently, the ability to recognize whether the odor released is one of fear, danger, or hunger is vital to an animal’s survival.</a:t>
            </a:r>
            <a:endParaRPr lang="en-US" sz="1500" dirty="0"/>
          </a:p>
          <a:p>
            <a:pPr algn="r" indent="0" marL="0">
              <a:lnSpc>
                <a:spcPct val="115000"/>
              </a:lnSpc>
              <a:spcBef>
                <a:spcPts val="200"/>
              </a:spcBef>
              <a:buNone/>
            </a:pPr>
            <a:r>
              <a:rPr lang="en-US" sz="1100" i="1" dirty="0">
                <a:solidFill>
                  <a:srgbClr val="6E7F7C"/>
                </a:solidFill>
              </a:rPr>
              <a:t>*decode 판독하다</a:t>
            </a:r>
            <a:endParaRPr lang="en-US" sz="1500" dirty="0"/>
          </a:p>
          <a:p>
            <a:pPr indent="0" marL="0">
              <a:lnSpc>
                <a:spcPct val="115000"/>
              </a:lnSpc>
              <a:spcBef>
                <a:spcPts val="800"/>
              </a:spcBef>
              <a:buNone/>
            </a:pPr>
            <a:r>
              <a:rPr lang="en-US" sz="1500" b="1" dirty="0">
                <a:solidFill>
                  <a:srgbClr val="1F7A64"/>
                </a:solidFill>
              </a:rPr>
              <a:t>↓  </a:t>
            </a:r>
            <a:pPr indent="0" marL="0">
              <a:lnSpc>
                <a:spcPct val="115000"/>
              </a:lnSpc>
              <a:buNone/>
            </a:pPr>
            <a:r>
              <a:rPr lang="en-US" sz="1500" dirty="0">
                <a:solidFill>
                  <a:srgbClr val="14453D"/>
                </a:solidFill>
              </a:rPr>
              <a:t>Survival of some animals can depend on two sensory systems, the functions of which involve </a:t>
            </a:r>
            <a:pPr indent="0" marL="0">
              <a:lnSpc>
                <a:spcPct val="115000"/>
              </a:lnSpc>
              <a:buNone/>
            </a:pPr>
            <a:r>
              <a:rPr lang="en-US" sz="1500" b="1" dirty="0">
                <a:solidFill>
                  <a:srgbClr val="EF5B3F"/>
                </a:solidFill>
              </a:rPr>
              <a:t>(A)</a:t>
            </a:r>
            <a:pPr indent="0" marL="0">
              <a:lnSpc>
                <a:spcPct val="115000"/>
              </a:lnSpc>
              <a:buNone/>
            </a:pPr>
            <a:r>
              <a:rPr lang="en-US" sz="1500" dirty="0">
                <a:solidFill>
                  <a:srgbClr val="14453D"/>
                </a:solidFill>
              </a:rPr>
              <a:t> odors that other subjects release to </a:t>
            </a:r>
            <a:pPr indent="0" marL="0">
              <a:lnSpc>
                <a:spcPct val="115000"/>
              </a:lnSpc>
              <a:buNone/>
            </a:pPr>
            <a:r>
              <a:rPr lang="en-US" sz="1500" b="1" dirty="0">
                <a:solidFill>
                  <a:srgbClr val="EF5B3F"/>
                </a:solidFill>
              </a:rPr>
              <a:t>(B)</a:t>
            </a:r>
            <a:pPr indent="0" marL="0">
              <a:lnSpc>
                <a:spcPct val="115000"/>
              </a:lnSpc>
              <a:buNone/>
            </a:pPr>
            <a:r>
              <a:rPr lang="en-US" sz="1500" dirty="0">
                <a:solidFill>
                  <a:srgbClr val="14453D"/>
                </a:solidFill>
              </a:rPr>
              <a:t> approaching danger to other members of the species.</a:t>
            </a:r>
            <a:endParaRPr lang="en-US" sz="1500" dirty="0"/>
          </a:p>
          <a:p>
            <a:pPr indent="0" marL="0">
              <a:lnSpc>
                <a:spcPct val="115000"/>
              </a:lnSpc>
              <a:spcBef>
                <a:spcPts val="1000"/>
              </a:spcBef>
              <a:buNone/>
            </a:pPr>
            <a:r>
              <a:rPr lang="en-US" sz="1500" dirty="0">
                <a:solidFill>
                  <a:srgbClr val="14453D"/>
                </a:solidFill>
              </a:rPr>
              <a:t>①  eliminating ----- defeat</a:t>
            </a:r>
            <a:endParaRPr lang="en-US" sz="1500" dirty="0"/>
          </a:p>
          <a:p>
            <a:pPr indent="0" marL="0">
              <a:lnSpc>
                <a:spcPct val="115000"/>
              </a:lnSpc>
              <a:spcBef>
                <a:spcPts val="200"/>
              </a:spcBef>
              <a:buNone/>
            </a:pPr>
            <a:r>
              <a:rPr lang="en-US" sz="1500" dirty="0">
                <a:solidFill>
                  <a:srgbClr val="14453D"/>
                </a:solidFill>
              </a:rPr>
              <a:t>②  interpreting ----- signal</a:t>
            </a:r>
            <a:endParaRPr lang="en-US" sz="1500" dirty="0"/>
          </a:p>
          <a:p>
            <a:pPr indent="0" marL="0">
              <a:lnSpc>
                <a:spcPct val="115000"/>
              </a:lnSpc>
              <a:spcBef>
                <a:spcPts val="200"/>
              </a:spcBef>
              <a:buNone/>
            </a:pPr>
            <a:r>
              <a:rPr lang="en-US" sz="1500" dirty="0">
                <a:solidFill>
                  <a:srgbClr val="14453D"/>
                </a:solidFill>
              </a:rPr>
              <a:t>③  interpreting ----- defeat</a:t>
            </a:r>
            <a:endParaRPr lang="en-US" sz="1500" dirty="0"/>
          </a:p>
          <a:p>
            <a:pPr indent="0" marL="0">
              <a:lnSpc>
                <a:spcPct val="115000"/>
              </a:lnSpc>
              <a:spcBef>
                <a:spcPts val="200"/>
              </a:spcBef>
              <a:buNone/>
            </a:pPr>
            <a:r>
              <a:rPr lang="en-US" sz="1500" dirty="0">
                <a:solidFill>
                  <a:srgbClr val="14453D"/>
                </a:solidFill>
              </a:rPr>
              <a:t>④  distributing ----- signal</a:t>
            </a:r>
            <a:endParaRPr lang="en-US" sz="1500" dirty="0"/>
          </a:p>
          <a:p>
            <a:pPr indent="0" marL="0">
              <a:lnSpc>
                <a:spcPct val="115000"/>
              </a:lnSpc>
              <a:spcBef>
                <a:spcPts val="200"/>
              </a:spcBef>
              <a:buNone/>
            </a:pPr>
            <a:r>
              <a:rPr lang="en-US" sz="1500" dirty="0">
                <a:solidFill>
                  <a:srgbClr val="14453D"/>
                </a:solidFill>
              </a:rPr>
              <a:t>⑤  distributing ----- escape</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96  </a:t>
            </a:r>
            <a:pPr algn="l" indent="0" marL="0">
              <a:buNone/>
            </a:pPr>
            <a:r>
              <a:rPr lang="en-US" sz="3000" b="1" dirty="0">
                <a:solidFill>
                  <a:srgbClr val="14453D"/>
                </a:solidFill>
              </a:rPr>
              <a:t>정답 근거 &amp; 문법 포인트</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근거</a:t>
            </a:r>
            <a:endParaRPr lang="en-US" sz="1200" dirty="0"/>
          </a:p>
        </p:txBody>
      </p:sp>
      <p:sp>
        <p:nvSpPr>
          <p:cNvPr id="4" name="Shape 2"/>
          <p:cNvSpPr/>
          <p:nvPr/>
        </p:nvSpPr>
        <p:spPr>
          <a:xfrm>
            <a:off x="548640" y="1234440"/>
            <a:ext cx="11064240" cy="2907792"/>
          </a:xfrm>
          <a:prstGeom prst="roundRect">
            <a:avLst>
              <a:gd name="adj" fmla="val 3145"/>
            </a:avLst>
          </a:prstGeom>
          <a:solidFill>
            <a:srgbClr val="FFFFFF"/>
          </a:solidFill>
          <a:ln w="19050">
            <a:solidFill>
              <a:srgbClr val="E6F2ED"/>
            </a:solidFill>
            <a:prstDash val="solid"/>
          </a:ln>
        </p:spPr>
      </p:sp>
      <p:sp>
        <p:nvSpPr>
          <p:cNvPr id="5" name="Text 3"/>
          <p:cNvSpPr txBox="1"/>
          <p:nvPr/>
        </p:nvSpPr>
        <p:spPr>
          <a:xfrm>
            <a:off x="777240" y="1371600"/>
            <a:ext cx="10607040" cy="2679192"/>
          </a:xfrm>
          <a:prstGeom prst="rect">
            <a:avLst/>
          </a:prstGeom>
          <a:noFill/>
          <a:ln/>
        </p:spPr>
        <p:txBody>
          <a:bodyPr wrap="square" lIns="0" tIns="0" rIns="0" bIns="0" rtlCol="0" anchor="t">
            <a:normAutofit/>
          </a:bodyPr>
          <a:lstStyle/>
          <a:p>
            <a:pPr indent="0" marL="0">
              <a:lnSpc>
                <a:spcPct val="120000"/>
              </a:lnSpc>
              <a:buNone/>
            </a:pPr>
            <a:r>
              <a:rPr lang="en-US" sz="1200" b="1" dirty="0">
                <a:solidFill>
                  <a:srgbClr val="1F7A64"/>
                </a:solidFill>
              </a:rPr>
              <a:t>(1) </a:t>
            </a:r>
            <a:pPr indent="0" marL="0">
              <a:lnSpc>
                <a:spcPct val="120000"/>
              </a:lnSpc>
              <a:buNone/>
            </a:pPr>
            <a:r>
              <a:rPr lang="en-US" sz="1500" dirty="0">
                <a:solidFill>
                  <a:srgbClr val="1E2B2A"/>
                </a:solidFill>
              </a:rPr>
              <a:t>To increase the </a:t>
            </a:r>
            <a:pPr indent="0" marL="0">
              <a:lnSpc>
                <a:spcPct val="120000"/>
              </a:lnSpc>
              <a:buNone/>
            </a:pPr>
            <a:r>
              <a:rPr lang="en-US" sz="1500" u="dotted" dirty="0">
                <a:solidFill>
                  <a:srgbClr val="1F7A64"/>
                </a:solidFill>
                <a:uFill>
                  <a:solidFill>
                    <a:srgbClr val="1F7A64"/>
                  </a:solidFill>
                </a:uFill>
              </a:rPr>
              <a:t>probability</a:t>
            </a:r>
            <a:pPr indent="0" marL="0">
              <a:lnSpc>
                <a:spcPct val="120000"/>
              </a:lnSpc>
              <a:buNone/>
            </a:pPr>
            <a:r>
              <a:rPr lang="en-US" sz="1500" dirty="0">
                <a:solidFill>
                  <a:srgbClr val="1E2B2A"/>
                </a:solidFill>
              </a:rPr>
              <a:t> of survival, many animals have evolved a </a:t>
            </a:r>
            <a:pPr indent="0" marL="0">
              <a:lnSpc>
                <a:spcPct val="120000"/>
              </a:lnSpc>
              <a:buNone/>
            </a:pPr>
            <a:r>
              <a:rPr lang="en-US" sz="1500" u="dotted" dirty="0">
                <a:solidFill>
                  <a:srgbClr val="1F7A64"/>
                </a:solidFill>
                <a:uFill>
                  <a:solidFill>
                    <a:srgbClr val="1F7A64"/>
                  </a:solidFill>
                </a:uFill>
              </a:rPr>
              <a:t>sophisticated</a:t>
            </a:r>
            <a:pPr indent="0" marL="0">
              <a:lnSpc>
                <a:spcPct val="120000"/>
              </a:lnSpc>
              <a:buNone/>
            </a:pPr>
            <a:r>
              <a:rPr lang="en-US" sz="1500" dirty="0">
                <a:solidFill>
                  <a:srgbClr val="1E2B2A"/>
                </a:solidFill>
              </a:rPr>
              <a:t> sense of smell</a:t>
            </a:r>
            <a:pPr indent="0" marL="0">
              <a:lnSpc>
                <a:spcPct val="120000"/>
              </a:lnSpc>
              <a:buNone/>
            </a:pPr>
            <a:r>
              <a:rPr lang="en-US" sz="1500" b="1" dirty="0">
                <a:solidFill>
                  <a:srgbClr val="14453D"/>
                </a:solidFill>
                <a:highlight>
                  <a:srgbClr val="A9DDF3"/>
                </a:highlight>
              </a:rPr>
              <a:t>, which consists of two </a:t>
            </a:r>
            <a:pPr indent="0" marL="0">
              <a:lnSpc>
                <a:spcPct val="120000"/>
              </a:lnSpc>
              <a:buNone/>
            </a:pPr>
            <a:r>
              <a:rPr lang="en-US" sz="1500" b="1" u="dotted" dirty="0">
                <a:solidFill>
                  <a:srgbClr val="14453D"/>
                </a:solidFill>
                <a:highlight>
                  <a:srgbClr val="A9DDF3"/>
                </a:highlight>
                <a:uFill>
                  <a:solidFill>
                    <a:srgbClr val="1F7A64"/>
                  </a:solidFill>
                </a:uFill>
              </a:rPr>
              <a:t>distinct</a:t>
            </a:r>
            <a:pPr indent="0" marL="0">
              <a:lnSpc>
                <a:spcPct val="120000"/>
              </a:lnSpc>
              <a:buNone/>
            </a:pPr>
            <a:r>
              <a:rPr lang="en-US" sz="1500" b="1" dirty="0">
                <a:solidFill>
                  <a:srgbClr val="14453D"/>
                </a:solidFill>
                <a:highlight>
                  <a:srgbClr val="A9DDF3"/>
                </a:highlight>
              </a:rPr>
              <a:t> sensory systems</a:t>
            </a:r>
            <a:pPr indent="0" marL="0">
              <a:lnSpc>
                <a:spcPct val="120000"/>
              </a:lnSpc>
              <a:buNone/>
            </a:pPr>
            <a:r>
              <a:rPr lang="en-US" sz="1500" dirty="0">
                <a:solidFill>
                  <a:srgbClr val="1E2B2A"/>
                </a:solidFill>
              </a:rPr>
              <a:t>.</a:t>
            </a:r>
            <a:pPr indent="0" marL="0">
              <a:lnSpc>
                <a:spcPct val="120000"/>
              </a:lnSpc>
              <a:buNone/>
            </a:pPr>
            <a:r>
              <a:rPr lang="en-US" sz="1500" dirty="0">
                <a:solidFill>
                  <a:srgbClr val="000000"/>
                </a:solidFill>
              </a:rPr>
              <a:t> </a:t>
            </a:r>
            <a:pPr indent="0" marL="0">
              <a:lnSpc>
                <a:spcPct val="120000"/>
              </a:lnSpc>
              <a:buNone/>
            </a:pPr>
            <a:r>
              <a:rPr lang="en-US" sz="1200" b="1" dirty="0">
                <a:solidFill>
                  <a:srgbClr val="1F7A64"/>
                </a:solidFill>
              </a:rPr>
              <a:t>(2) </a:t>
            </a:r>
            <a:pPr indent="0" marL="0">
              <a:lnSpc>
                <a:spcPct val="120000"/>
              </a:lnSpc>
              <a:buNone/>
            </a:pPr>
            <a:r>
              <a:rPr lang="en-US" sz="1500" dirty="0">
                <a:solidFill>
                  <a:srgbClr val="1E2B2A"/>
                </a:solidFill>
              </a:rPr>
              <a:t>The first system is responsible for detecting an </a:t>
            </a:r>
            <a:pPr indent="0" marL="0">
              <a:lnSpc>
                <a:spcPct val="120000"/>
              </a:lnSpc>
              <a:buNone/>
            </a:pPr>
            <a:r>
              <a:rPr lang="en-US" sz="1500" u="dotted" dirty="0">
                <a:solidFill>
                  <a:srgbClr val="1F7A64"/>
                </a:solidFill>
                <a:uFill>
                  <a:solidFill>
                    <a:srgbClr val="1F7A64"/>
                  </a:solidFill>
                </a:uFill>
              </a:rPr>
              <a:t>odor</a:t>
            </a:r>
            <a:pPr indent="0" marL="0">
              <a:lnSpc>
                <a:spcPct val="120000"/>
              </a:lnSpc>
              <a:buNone/>
            </a:pPr>
            <a:r>
              <a:rPr lang="en-US" sz="1500" dirty="0">
                <a:solidFill>
                  <a:srgbClr val="1E2B2A"/>
                </a:solidFill>
              </a:rPr>
              <a:t>.</a:t>
            </a:r>
            <a:pPr indent="0" marL="0">
              <a:lnSpc>
                <a:spcPct val="120000"/>
              </a:lnSpc>
              <a:buNone/>
            </a:pPr>
            <a:r>
              <a:rPr lang="en-US" sz="1500" dirty="0">
                <a:solidFill>
                  <a:srgbClr val="000000"/>
                </a:solidFill>
              </a:rPr>
              <a:t> </a:t>
            </a:r>
            <a:pPr indent="0" marL="0">
              <a:lnSpc>
                <a:spcPct val="120000"/>
              </a:lnSpc>
              <a:buNone/>
            </a:pPr>
            <a:r>
              <a:rPr lang="en-US" sz="1200" b="1" dirty="0">
                <a:solidFill>
                  <a:srgbClr val="1F7A64"/>
                </a:solidFill>
              </a:rPr>
              <a:t>(3) </a:t>
            </a:r>
            <a:pPr indent="0" marL="0">
              <a:lnSpc>
                <a:spcPct val="120000"/>
              </a:lnSpc>
              <a:buNone/>
            </a:pPr>
            <a:r>
              <a:rPr lang="en-US" sz="1500" dirty="0">
                <a:solidFill>
                  <a:srgbClr val="1E2B2A"/>
                </a:solidFill>
              </a:rPr>
              <a:t>The second system is responsible for understanding that odor and communicating it to the part of the brain responsible for sending the proper messages to your body’s organs, </a:t>
            </a:r>
            <a:pPr indent="0" marL="0">
              <a:lnSpc>
                <a:spcPct val="120000"/>
              </a:lnSpc>
              <a:buNone/>
            </a:pPr>
            <a:r>
              <a:rPr lang="en-US" sz="1500" b="1" dirty="0">
                <a:solidFill>
                  <a:srgbClr val="14453D"/>
                </a:solidFill>
                <a:highlight>
                  <a:srgbClr val="A9DDF3"/>
                </a:highlight>
              </a:rPr>
              <a:t>causing them to respond accordingly</a:t>
            </a:r>
            <a:pPr indent="0" marL="0">
              <a:lnSpc>
                <a:spcPct val="120000"/>
              </a:lnSpc>
              <a:buNone/>
            </a:pPr>
            <a:r>
              <a:rPr lang="en-US" sz="1500" dirty="0">
                <a:solidFill>
                  <a:srgbClr val="1E2B2A"/>
                </a:solidFill>
              </a:rPr>
              <a:t>.</a:t>
            </a:r>
            <a:pPr indent="0" marL="0">
              <a:lnSpc>
                <a:spcPct val="120000"/>
              </a:lnSpc>
              <a:buNone/>
            </a:pPr>
            <a:r>
              <a:rPr lang="en-US" sz="1500" dirty="0">
                <a:solidFill>
                  <a:srgbClr val="000000"/>
                </a:solidFill>
              </a:rPr>
              <a:t> </a:t>
            </a:r>
            <a:pPr indent="0" marL="0">
              <a:lnSpc>
                <a:spcPct val="120000"/>
              </a:lnSpc>
              <a:buNone/>
            </a:pPr>
            <a:r>
              <a:rPr lang="en-US" sz="1200" b="1" dirty="0">
                <a:solidFill>
                  <a:srgbClr val="1F7A64"/>
                </a:solidFill>
              </a:rPr>
              <a:t>(4) </a:t>
            </a:r>
            <a:pPr indent="0" marL="0">
              <a:lnSpc>
                <a:spcPct val="120000"/>
              </a:lnSpc>
              <a:buNone/>
            </a:pPr>
            <a:r>
              <a:rPr lang="en-US" sz="1500" dirty="0">
                <a:solidFill>
                  <a:srgbClr val="1E2B2A"/>
                </a:solidFill>
                <a:highlight>
                  <a:srgbClr val="FFD45C"/>
                </a:highlight>
              </a:rPr>
              <a:t>The latter system plays a </a:t>
            </a:r>
            <a:pPr indent="0" marL="0">
              <a:lnSpc>
                <a:spcPct val="120000"/>
              </a:lnSpc>
              <a:buNone/>
            </a:pPr>
            <a:r>
              <a:rPr lang="en-US" sz="1500" u="dotted" dirty="0">
                <a:solidFill>
                  <a:srgbClr val="1F7A64"/>
                </a:solidFill>
                <a:highlight>
                  <a:srgbClr val="FFD45C"/>
                </a:highlight>
                <a:uFill>
                  <a:solidFill>
                    <a:srgbClr val="1F7A64"/>
                  </a:solidFill>
                </a:uFill>
              </a:rPr>
              <a:t>crucial</a:t>
            </a:r>
            <a:pPr indent="0" marL="0">
              <a:lnSpc>
                <a:spcPct val="120000"/>
              </a:lnSpc>
              <a:buNone/>
            </a:pPr>
            <a:r>
              <a:rPr lang="en-US" sz="1500" dirty="0">
                <a:solidFill>
                  <a:srgbClr val="1E2B2A"/>
                </a:solidFill>
                <a:highlight>
                  <a:srgbClr val="FFD45C"/>
                </a:highlight>
              </a:rPr>
              <a:t> role in interpreting the hidden messages contained in different odors.</a:t>
            </a:r>
            <a:pPr indent="0" marL="0">
              <a:lnSpc>
                <a:spcPct val="120000"/>
              </a:lnSpc>
              <a:buNone/>
            </a:pPr>
            <a:r>
              <a:rPr lang="en-US" sz="1500" dirty="0">
                <a:solidFill>
                  <a:srgbClr val="000000"/>
                </a:solidFill>
              </a:rPr>
              <a:t> </a:t>
            </a:r>
            <a:pPr indent="0" marL="0">
              <a:lnSpc>
                <a:spcPct val="120000"/>
              </a:lnSpc>
              <a:buNone/>
            </a:pPr>
            <a:r>
              <a:rPr lang="en-US" sz="1200" b="1" dirty="0">
                <a:solidFill>
                  <a:srgbClr val="1F7A64"/>
                </a:solidFill>
              </a:rPr>
              <a:t>(5) </a:t>
            </a:r>
            <a:pPr indent="0" marL="0">
              <a:lnSpc>
                <a:spcPct val="120000"/>
              </a:lnSpc>
              <a:buNone/>
            </a:pPr>
            <a:r>
              <a:rPr lang="en-US" sz="1500" dirty="0">
                <a:solidFill>
                  <a:srgbClr val="1E2B2A"/>
                </a:solidFill>
                <a:highlight>
                  <a:srgbClr val="FFD45C"/>
                </a:highlight>
              </a:rPr>
              <a:t>For example, many </a:t>
            </a:r>
            <a:pPr indent="0" marL="0">
              <a:lnSpc>
                <a:spcPct val="120000"/>
              </a:lnSpc>
              <a:buNone/>
            </a:pPr>
            <a:r>
              <a:rPr lang="en-US" sz="1500" u="dotted" dirty="0">
                <a:solidFill>
                  <a:srgbClr val="1F7A64"/>
                </a:solidFill>
                <a:highlight>
                  <a:srgbClr val="FFD45C"/>
                </a:highlight>
                <a:uFill>
                  <a:solidFill>
                    <a:srgbClr val="1F7A64"/>
                  </a:solidFill>
                </a:uFill>
              </a:rPr>
              <a:t>marine</a:t>
            </a:r>
            <a:pPr indent="0" marL="0">
              <a:lnSpc>
                <a:spcPct val="120000"/>
              </a:lnSpc>
              <a:buNone/>
            </a:pPr>
            <a:r>
              <a:rPr lang="en-US" sz="1500" dirty="0">
                <a:solidFill>
                  <a:srgbClr val="1E2B2A"/>
                </a:solidFill>
                <a:highlight>
                  <a:srgbClr val="FFD45C"/>
                </a:highlight>
              </a:rPr>
              <a:t> animals, </a:t>
            </a:r>
            <a:pPr indent="0" marL="0">
              <a:lnSpc>
                <a:spcPct val="120000"/>
              </a:lnSpc>
              <a:buNone/>
            </a:pPr>
            <a:r>
              <a:rPr lang="en-US" sz="1500" b="1" dirty="0">
                <a:solidFill>
                  <a:srgbClr val="14453D"/>
                </a:solidFill>
                <a:highlight>
                  <a:srgbClr val="A9DDF3"/>
                </a:highlight>
              </a:rPr>
              <a:t>including fish and lobsters</a:t>
            </a:r>
            <a:pPr indent="0" marL="0">
              <a:lnSpc>
                <a:spcPct val="120000"/>
              </a:lnSpc>
              <a:buNone/>
            </a:pPr>
            <a:r>
              <a:rPr lang="en-US" sz="1500" dirty="0">
                <a:solidFill>
                  <a:srgbClr val="1E2B2A"/>
                </a:solidFill>
                <a:highlight>
                  <a:srgbClr val="FFD45C"/>
                </a:highlight>
              </a:rPr>
              <a:t>, release a specific chemical odor to warn others of the presence of danger.</a:t>
            </a:r>
            <a:pPr indent="0" marL="0">
              <a:lnSpc>
                <a:spcPct val="120000"/>
              </a:lnSpc>
              <a:buNone/>
            </a:pPr>
            <a:r>
              <a:rPr lang="en-US" sz="1500" dirty="0">
                <a:solidFill>
                  <a:srgbClr val="000000"/>
                </a:solidFill>
              </a:rPr>
              <a:t> </a:t>
            </a:r>
            <a:pPr indent="0" marL="0">
              <a:lnSpc>
                <a:spcPct val="120000"/>
              </a:lnSpc>
              <a:buNone/>
            </a:pPr>
            <a:r>
              <a:rPr lang="en-US" sz="1200" b="1" dirty="0">
                <a:solidFill>
                  <a:srgbClr val="1F7A64"/>
                </a:solidFill>
              </a:rPr>
              <a:t>(6) </a:t>
            </a:r>
            <a:pPr indent="0" marL="0">
              <a:lnSpc>
                <a:spcPct val="120000"/>
              </a:lnSpc>
              <a:buNone/>
            </a:pPr>
            <a:r>
              <a:rPr lang="en-US" sz="1500" b="1" dirty="0">
                <a:solidFill>
                  <a:srgbClr val="14453D"/>
                </a:solidFill>
                <a:highlight>
                  <a:srgbClr val="A9DDF3"/>
                </a:highlight>
              </a:rPr>
              <a:t>Failure to detect and decode this odor properly would make the subject easy </a:t>
            </a:r>
            <a:pPr indent="0" marL="0">
              <a:lnSpc>
                <a:spcPct val="120000"/>
              </a:lnSpc>
              <a:buNone/>
            </a:pPr>
            <a:r>
              <a:rPr lang="en-US" sz="1500" b="1" u="dotted" dirty="0">
                <a:solidFill>
                  <a:srgbClr val="14453D"/>
                </a:solidFill>
                <a:highlight>
                  <a:srgbClr val="A9DDF3"/>
                </a:highlight>
                <a:uFill>
                  <a:solidFill>
                    <a:srgbClr val="1F7A64"/>
                  </a:solidFill>
                </a:uFill>
              </a:rPr>
              <a:t>prey</a:t>
            </a:r>
            <a:pPr indent="0" marL="0">
              <a:lnSpc>
                <a:spcPct val="120000"/>
              </a:lnSpc>
              <a:buNone/>
            </a:pPr>
            <a:r>
              <a:rPr lang="en-US" sz="1500" dirty="0">
                <a:solidFill>
                  <a:srgbClr val="1E2B2A"/>
                </a:solidFill>
              </a:rPr>
              <a:t> for a </a:t>
            </a:r>
            <a:pPr indent="0" marL="0">
              <a:lnSpc>
                <a:spcPct val="120000"/>
              </a:lnSpc>
              <a:buNone/>
            </a:pPr>
            <a:r>
              <a:rPr lang="en-US" sz="1500" u="dotted" dirty="0">
                <a:solidFill>
                  <a:srgbClr val="1F7A64"/>
                </a:solidFill>
                <a:uFill>
                  <a:solidFill>
                    <a:srgbClr val="1F7A64"/>
                  </a:solidFill>
                </a:uFill>
              </a:rPr>
              <a:t>predator</a:t>
            </a:r>
            <a:pPr indent="0" marL="0">
              <a:lnSpc>
                <a:spcPct val="120000"/>
              </a:lnSpc>
              <a:buNone/>
            </a:pPr>
            <a:r>
              <a:rPr lang="en-US" sz="1500" dirty="0">
                <a:solidFill>
                  <a:srgbClr val="1E2B2A"/>
                </a:solidFill>
              </a:rPr>
              <a:t>.</a:t>
            </a:r>
            <a:pPr indent="0" marL="0">
              <a:lnSpc>
                <a:spcPct val="120000"/>
              </a:lnSpc>
              <a:buNone/>
            </a:pPr>
            <a:r>
              <a:rPr lang="en-US" sz="1500" dirty="0">
                <a:solidFill>
                  <a:srgbClr val="000000"/>
                </a:solidFill>
              </a:rPr>
              <a:t> </a:t>
            </a:r>
            <a:pPr indent="0" marL="0">
              <a:lnSpc>
                <a:spcPct val="120000"/>
              </a:lnSpc>
              <a:buNone/>
            </a:pPr>
            <a:r>
              <a:rPr lang="en-US" sz="1200" b="1" dirty="0">
                <a:solidFill>
                  <a:srgbClr val="1F7A64"/>
                </a:solidFill>
              </a:rPr>
              <a:t>(7) </a:t>
            </a:r>
            <a:pPr indent="0" marL="0">
              <a:lnSpc>
                <a:spcPct val="120000"/>
              </a:lnSpc>
              <a:buNone/>
            </a:pPr>
            <a:r>
              <a:rPr lang="en-US" sz="1500" dirty="0">
                <a:solidFill>
                  <a:srgbClr val="1E2B2A"/>
                </a:solidFill>
                <a:highlight>
                  <a:srgbClr val="FFD45C"/>
                </a:highlight>
              </a:rPr>
              <a:t>Consequently, the ability to recognize </a:t>
            </a:r>
            <a:pPr indent="0" marL="0">
              <a:lnSpc>
                <a:spcPct val="120000"/>
              </a:lnSpc>
              <a:buNone/>
            </a:pPr>
            <a:r>
              <a:rPr lang="en-US" sz="1500" b="1" dirty="0">
                <a:solidFill>
                  <a:srgbClr val="14453D"/>
                </a:solidFill>
                <a:highlight>
                  <a:srgbClr val="A9DDF3"/>
                </a:highlight>
              </a:rPr>
              <a:t>whether the odor released is one of fear</a:t>
            </a:r>
            <a:pPr indent="0" marL="0">
              <a:lnSpc>
                <a:spcPct val="120000"/>
              </a:lnSpc>
              <a:buNone/>
            </a:pPr>
            <a:r>
              <a:rPr lang="en-US" sz="1500" dirty="0">
                <a:solidFill>
                  <a:srgbClr val="1E2B2A"/>
                </a:solidFill>
                <a:highlight>
                  <a:srgbClr val="FFD45C"/>
                </a:highlight>
              </a:rPr>
              <a:t>, danger, or hunger is vital to an animal’s survival.</a:t>
            </a:r>
            <a:endParaRPr lang="en-US" sz="1200" dirty="0"/>
          </a:p>
        </p:txBody>
      </p:sp>
      <p:sp>
        <p:nvSpPr>
          <p:cNvPr id="6" name="Shape 4"/>
          <p:cNvSpPr/>
          <p:nvPr/>
        </p:nvSpPr>
        <p:spPr>
          <a:xfrm>
            <a:off x="548640" y="4233672"/>
            <a:ext cx="11064240" cy="978408"/>
          </a:xfrm>
          <a:prstGeom prst="roundRect">
            <a:avLst>
              <a:gd name="adj" fmla="val 9346"/>
            </a:avLst>
          </a:prstGeom>
          <a:solidFill>
            <a:srgbClr val="FFF6D6"/>
          </a:solidFill>
          <a:ln w="15875">
            <a:solidFill>
              <a:srgbClr val="FFD45C"/>
            </a:solidFill>
            <a:prstDash val="solid"/>
          </a:ln>
        </p:spPr>
      </p:sp>
      <p:sp>
        <p:nvSpPr>
          <p:cNvPr id="7" name="Text 5"/>
          <p:cNvSpPr txBox="1"/>
          <p:nvPr/>
        </p:nvSpPr>
        <p:spPr>
          <a:xfrm>
            <a:off x="731520" y="4306824"/>
            <a:ext cx="1051560" cy="274320"/>
          </a:xfrm>
          <a:prstGeom prst="rect">
            <a:avLst/>
          </a:prstGeom>
          <a:solidFill>
            <a:srgbClr val="EF5B3F"/>
          </a:solidFill>
          <a:ln/>
        </p:spPr>
        <p:txBody>
          <a:bodyPr wrap="square" lIns="0" tIns="0" rIns="0" bIns="0" rtlCol="0" anchor="ctr"/>
          <a:lstStyle/>
          <a:p>
            <a:pPr algn="ctr" indent="0" marL="0">
              <a:buNone/>
            </a:pPr>
            <a:r>
              <a:rPr lang="en-US" sz="1200" b="1" dirty="0">
                <a:solidFill>
                  <a:srgbClr val="FFFFFF"/>
                </a:solidFill>
              </a:rPr>
              <a:t> 근거 이유 </a:t>
            </a:r>
            <a:endParaRPr lang="en-US" sz="1200" dirty="0"/>
          </a:p>
        </p:txBody>
      </p:sp>
      <p:sp>
        <p:nvSpPr>
          <p:cNvPr id="8" name="Text 6"/>
          <p:cNvSpPr txBox="1"/>
          <p:nvPr/>
        </p:nvSpPr>
        <p:spPr>
          <a:xfrm>
            <a:off x="1920240" y="4279392"/>
            <a:ext cx="9555480" cy="886968"/>
          </a:xfrm>
          <a:prstGeom prst="rect">
            <a:avLst/>
          </a:prstGeom>
          <a:noFill/>
          <a:ln/>
        </p:spPr>
        <p:txBody>
          <a:bodyPr wrap="square" lIns="0" tIns="0" rIns="0" bIns="0" rtlCol="0" anchor="ctr">
            <a:normAutofit/>
          </a:bodyPr>
          <a:lstStyle/>
          <a:p>
            <a:pPr indent="0" marL="0">
              <a:lnSpc>
                <a:spcPct val="105000"/>
              </a:lnSpc>
              <a:buNone/>
            </a:pPr>
            <a:r>
              <a:rPr lang="en-US" sz="1400" b="1" dirty="0">
                <a:solidFill>
                  <a:srgbClr val="EF5B3F"/>
                </a:solidFill>
              </a:rPr>
              <a:t>(4) </a:t>
            </a:r>
            <a:pPr indent="0" marL="0">
              <a:lnSpc>
                <a:spcPct val="105000"/>
              </a:lnSpc>
              <a:buNone/>
            </a:pPr>
            <a:r>
              <a:rPr lang="en-US" sz="1400" dirty="0">
                <a:solidFill>
                  <a:srgbClr val="14453D"/>
                </a:solidFill>
              </a:rPr>
              <a:t>숨은 메시지를 해석(interpreting) → (A) interpreting</a:t>
            </a:r>
            <a:endParaRPr lang="en-US" sz="1400" dirty="0"/>
          </a:p>
          <a:p>
            <a:pPr indent="0" marL="0">
              <a:lnSpc>
                <a:spcPct val="105000"/>
              </a:lnSpc>
              <a:buNone/>
            </a:pPr>
            <a:r>
              <a:rPr lang="en-US" sz="1400" b="1" dirty="0">
                <a:solidFill>
                  <a:srgbClr val="EF5B3F"/>
                </a:solidFill>
              </a:rPr>
              <a:t>(5) </a:t>
            </a:r>
            <a:pPr indent="0" marL="0">
              <a:lnSpc>
                <a:spcPct val="105000"/>
              </a:lnSpc>
              <a:buNone/>
            </a:pPr>
            <a:r>
              <a:rPr lang="en-US" sz="1400" dirty="0">
                <a:solidFill>
                  <a:srgbClr val="14453D"/>
                </a:solidFill>
              </a:rPr>
              <a:t>위험을 경고(warn)하려고 냄새 방출 → (B) signal</a:t>
            </a:r>
            <a:endParaRPr lang="en-US" sz="1400" dirty="0"/>
          </a:p>
          <a:p>
            <a:pPr indent="0" marL="0">
              <a:lnSpc>
                <a:spcPct val="105000"/>
              </a:lnSpc>
              <a:buNone/>
            </a:pPr>
            <a:r>
              <a:rPr lang="en-US" sz="1400" b="1" dirty="0">
                <a:solidFill>
                  <a:srgbClr val="EF5B3F"/>
                </a:solidFill>
              </a:rPr>
              <a:t>(7) </a:t>
            </a:r>
            <a:pPr indent="0" marL="0">
              <a:lnSpc>
                <a:spcPct val="105000"/>
              </a:lnSpc>
              <a:buNone/>
            </a:pPr>
            <a:r>
              <a:rPr lang="en-US" sz="1400" dirty="0">
                <a:solidFill>
                  <a:srgbClr val="14453D"/>
                </a:solidFill>
              </a:rPr>
              <a:t>냄새의 의미를 알아보는 능력 = 생존에 필수</a:t>
            </a:r>
            <a:endParaRPr lang="en-US" sz="1400" dirty="0"/>
          </a:p>
        </p:txBody>
      </p:sp>
      <p:sp>
        <p:nvSpPr>
          <p:cNvPr id="9" name="Shape 7"/>
          <p:cNvSpPr/>
          <p:nvPr/>
        </p:nvSpPr>
        <p:spPr>
          <a:xfrm>
            <a:off x="548640" y="5303520"/>
            <a:ext cx="11064240" cy="731520"/>
          </a:xfrm>
          <a:prstGeom prst="roundRect">
            <a:avLst>
              <a:gd name="adj" fmla="val 12500"/>
            </a:avLst>
          </a:prstGeom>
          <a:solidFill>
            <a:srgbClr val="EAF5EF"/>
          </a:solidFill>
          <a:ln w="12700">
            <a:solidFill>
              <a:srgbClr val="CFE6D9"/>
            </a:solidFill>
            <a:prstDash val="solid"/>
          </a:ln>
        </p:spPr>
      </p:sp>
      <p:sp>
        <p:nvSpPr>
          <p:cNvPr id="10" name="Text 8"/>
          <p:cNvSpPr txBox="1"/>
          <p:nvPr/>
        </p:nvSpPr>
        <p:spPr>
          <a:xfrm>
            <a:off x="731520" y="5349240"/>
            <a:ext cx="10698480" cy="640080"/>
          </a:xfrm>
          <a:prstGeom prst="rect">
            <a:avLst/>
          </a:prstGeom>
          <a:noFill/>
          <a:ln/>
        </p:spPr>
        <p:txBody>
          <a:bodyPr wrap="square" lIns="0" tIns="0" rIns="0" bIns="0" rtlCol="0" anchor="ctr">
            <a:normAutofit/>
          </a:bodyPr>
          <a:lstStyle/>
          <a:p>
            <a:pPr indent="0" marL="0">
              <a:lnSpc>
                <a:spcPct val="110000"/>
              </a:lnSpc>
              <a:buNone/>
            </a:pPr>
            <a:r>
              <a:rPr lang="en-US" sz="1400" b="1" dirty="0">
                <a:solidFill>
                  <a:srgbClr val="FFFFFF"/>
                </a:solidFill>
                <a:highlight>
                  <a:srgbClr val="1F7A64"/>
                </a:highlight>
              </a:rPr>
              <a:t> 어휘 </a:t>
            </a:r>
            <a:pPr indent="0" marL="0">
              <a:lnSpc>
                <a:spcPct val="110000"/>
              </a:lnSpc>
              <a:buNone/>
            </a:pPr>
            <a:r>
              <a:rPr lang="en-US" sz="1400" dirty="0">
                <a:solidFill>
                  <a:srgbClr val="000000"/>
                </a:solidFill>
              </a:rPr>
              <a:t>   </a:t>
            </a:r>
            <a:pPr indent="0" marL="0">
              <a:lnSpc>
                <a:spcPct val="110000"/>
              </a:lnSpc>
              <a:buNone/>
            </a:pPr>
            <a:r>
              <a:rPr lang="en-US" sz="1400" b="1" dirty="0">
                <a:solidFill>
                  <a:srgbClr val="1F7A64"/>
                </a:solidFill>
              </a:rPr>
              <a:t>probability </a:t>
            </a:r>
            <a:pPr indent="0" marL="0">
              <a:lnSpc>
                <a:spcPct val="110000"/>
              </a:lnSpc>
              <a:buNone/>
            </a:pPr>
            <a:r>
              <a:rPr lang="en-US" sz="1400" dirty="0">
                <a:solidFill>
                  <a:srgbClr val="1E2B2A"/>
                </a:solidFill>
              </a:rPr>
              <a:t>확률   ·   </a:t>
            </a:r>
            <a:pPr indent="0" marL="0">
              <a:lnSpc>
                <a:spcPct val="110000"/>
              </a:lnSpc>
              <a:buNone/>
            </a:pPr>
            <a:r>
              <a:rPr lang="en-US" sz="1400" b="1" dirty="0">
                <a:solidFill>
                  <a:srgbClr val="1F7A64"/>
                </a:solidFill>
              </a:rPr>
              <a:t>sophisticated </a:t>
            </a:r>
            <a:pPr indent="0" marL="0">
              <a:lnSpc>
                <a:spcPct val="110000"/>
              </a:lnSpc>
              <a:buNone/>
            </a:pPr>
            <a:r>
              <a:rPr lang="en-US" sz="1400" dirty="0">
                <a:solidFill>
                  <a:srgbClr val="1E2B2A"/>
                </a:solidFill>
              </a:rPr>
              <a:t>정교한   ·   </a:t>
            </a:r>
            <a:pPr indent="0" marL="0">
              <a:lnSpc>
                <a:spcPct val="110000"/>
              </a:lnSpc>
              <a:buNone/>
            </a:pPr>
            <a:r>
              <a:rPr lang="en-US" sz="1400" b="1" dirty="0">
                <a:solidFill>
                  <a:srgbClr val="1F7A64"/>
                </a:solidFill>
              </a:rPr>
              <a:t>distinct </a:t>
            </a:r>
            <a:pPr indent="0" marL="0">
              <a:lnSpc>
                <a:spcPct val="110000"/>
              </a:lnSpc>
              <a:buNone/>
            </a:pPr>
            <a:r>
              <a:rPr lang="en-US" sz="1400" dirty="0">
                <a:solidFill>
                  <a:srgbClr val="1E2B2A"/>
                </a:solidFill>
              </a:rPr>
              <a:t>별개의   ·   </a:t>
            </a:r>
            <a:pPr indent="0" marL="0">
              <a:lnSpc>
                <a:spcPct val="110000"/>
              </a:lnSpc>
              <a:buNone/>
            </a:pPr>
            <a:r>
              <a:rPr lang="en-US" sz="1400" b="1" dirty="0">
                <a:solidFill>
                  <a:srgbClr val="1F7A64"/>
                </a:solidFill>
              </a:rPr>
              <a:t>odor </a:t>
            </a:r>
            <a:pPr indent="0" marL="0">
              <a:lnSpc>
                <a:spcPct val="110000"/>
              </a:lnSpc>
              <a:buNone/>
            </a:pPr>
            <a:r>
              <a:rPr lang="en-US" sz="1400" dirty="0">
                <a:solidFill>
                  <a:srgbClr val="1E2B2A"/>
                </a:solidFill>
              </a:rPr>
              <a:t>냄새   ·   </a:t>
            </a:r>
            <a:pPr indent="0" marL="0">
              <a:lnSpc>
                <a:spcPct val="110000"/>
              </a:lnSpc>
              <a:buNone/>
            </a:pPr>
            <a:r>
              <a:rPr lang="en-US" sz="1400" b="1" dirty="0">
                <a:solidFill>
                  <a:srgbClr val="1F7A64"/>
                </a:solidFill>
              </a:rPr>
              <a:t>crucial </a:t>
            </a:r>
            <a:pPr indent="0" marL="0">
              <a:lnSpc>
                <a:spcPct val="110000"/>
              </a:lnSpc>
              <a:buNone/>
            </a:pPr>
            <a:r>
              <a:rPr lang="en-US" sz="1400" dirty="0">
                <a:solidFill>
                  <a:srgbClr val="1E2B2A"/>
                </a:solidFill>
              </a:rPr>
              <a:t>중대한   ·   </a:t>
            </a:r>
            <a:pPr indent="0" marL="0">
              <a:lnSpc>
                <a:spcPct val="110000"/>
              </a:lnSpc>
              <a:buNone/>
            </a:pPr>
            <a:r>
              <a:rPr lang="en-US" sz="1400" b="1" dirty="0">
                <a:solidFill>
                  <a:srgbClr val="1F7A64"/>
                </a:solidFill>
              </a:rPr>
              <a:t>marine </a:t>
            </a:r>
            <a:pPr indent="0" marL="0">
              <a:lnSpc>
                <a:spcPct val="110000"/>
              </a:lnSpc>
              <a:buNone/>
            </a:pPr>
            <a:r>
              <a:rPr lang="en-US" sz="1400" dirty="0">
                <a:solidFill>
                  <a:srgbClr val="1E2B2A"/>
                </a:solidFill>
              </a:rPr>
              <a:t>해양의   ·   </a:t>
            </a:r>
            <a:pPr indent="0" marL="0">
              <a:lnSpc>
                <a:spcPct val="110000"/>
              </a:lnSpc>
              <a:buNone/>
            </a:pPr>
            <a:r>
              <a:rPr lang="en-US" sz="1400" b="1" dirty="0">
                <a:solidFill>
                  <a:srgbClr val="1F7A64"/>
                </a:solidFill>
              </a:rPr>
              <a:t>prey </a:t>
            </a:r>
            <a:pPr indent="0" marL="0">
              <a:lnSpc>
                <a:spcPct val="110000"/>
              </a:lnSpc>
              <a:buNone/>
            </a:pPr>
            <a:r>
              <a:rPr lang="en-US" sz="1400" dirty="0">
                <a:solidFill>
                  <a:srgbClr val="1E2B2A"/>
                </a:solidFill>
              </a:rPr>
              <a:t>먹이   ·   </a:t>
            </a:r>
            <a:pPr indent="0" marL="0">
              <a:lnSpc>
                <a:spcPct val="110000"/>
              </a:lnSpc>
              <a:buNone/>
            </a:pPr>
            <a:r>
              <a:rPr lang="en-US" sz="1400" b="1" dirty="0">
                <a:solidFill>
                  <a:srgbClr val="1F7A64"/>
                </a:solidFill>
              </a:rPr>
              <a:t>predator </a:t>
            </a:r>
            <a:pPr indent="0" marL="0">
              <a:lnSpc>
                <a:spcPct val="110000"/>
              </a:lnSpc>
              <a:buNone/>
            </a:pPr>
            <a:r>
              <a:rPr lang="en-US" sz="1400" dirty="0">
                <a:solidFill>
                  <a:srgbClr val="1E2B2A"/>
                </a:solidFill>
              </a:rPr>
              <a:t>포식자</a:t>
            </a:r>
            <a:endParaRPr lang="en-US" sz="1400" dirty="0"/>
          </a:p>
        </p:txBody>
      </p:sp>
      <p:sp>
        <p:nvSpPr>
          <p:cNvPr id="11" name="Text 9"/>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1100" dirty="0">
                <a:solidFill>
                  <a:srgbClr val="FFD45C"/>
                </a:solidFill>
              </a:rPr>
              <a:t>■ </a:t>
            </a:r>
            <a:pPr indent="0" marL="0">
              <a:buNone/>
            </a:pPr>
            <a:r>
              <a:rPr lang="en-US" sz="1100" dirty="0">
                <a:solidFill>
                  <a:srgbClr val="6E7F7C"/>
                </a:solidFill>
              </a:rPr>
              <a:t>형광 = 정답 근거 (이유는 노란 박스)     </a:t>
            </a:r>
            <a:pPr indent="0" marL="0">
              <a:buNone/>
            </a:pPr>
            <a:r>
              <a:rPr lang="en-US" sz="1100" dirty="0">
                <a:solidFill>
                  <a:srgbClr val="A9DDF3"/>
                </a:solidFill>
              </a:rPr>
              <a:t>■ </a:t>
            </a:r>
            <a:pPr indent="0" marL="0">
              <a:buNone/>
            </a:pPr>
            <a:r>
              <a:rPr lang="en-US" sz="1100" dirty="0">
                <a:solidFill>
                  <a:srgbClr val="6E7F7C"/>
                </a:solidFill>
              </a:rPr>
              <a:t>파란 형광 = 문법·내신 포인트     </a:t>
            </a:r>
            <a:pPr indent="0" marL="0">
              <a:buNone/>
            </a:pPr>
            <a:r>
              <a:rPr lang="en-US" sz="1100" b="1" dirty="0">
                <a:solidFill>
                  <a:srgbClr val="1F7A64"/>
                </a:solidFill>
              </a:rPr>
              <a:t>초록 점선 단어 </a:t>
            </a:r>
            <a:pPr indent="0" marL="0">
              <a:buNone/>
            </a:pPr>
            <a:r>
              <a:rPr lang="en-US" sz="1100" dirty="0">
                <a:solidFill>
                  <a:srgbClr val="6E7F7C"/>
                </a:solidFill>
              </a:rPr>
              <a:t>= 하단 어휘     </a:t>
            </a:r>
            <a:pPr indent="0" marL="0">
              <a:buNone/>
            </a:pPr>
            <a:r>
              <a:rPr lang="en-US" sz="1100" b="1" dirty="0">
                <a:solidFill>
                  <a:srgbClr val="1F7A64"/>
                </a:solidFill>
              </a:rPr>
              <a:t>(1) (2) (3) </a:t>
            </a:r>
            <a:pPr indent="0" marL="0">
              <a:buNone/>
            </a:pPr>
            <a:r>
              <a:rPr lang="en-US" sz="1100" dirty="0">
                <a:solidFill>
                  <a:srgbClr val="6E7F7C"/>
                </a:solidFill>
              </a:rPr>
              <a:t>= 문장 번호</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96  </a:t>
            </a:r>
            <a:pPr algn="l" indent="0" marL="0">
              <a:buNone/>
            </a:pPr>
            <a:r>
              <a:rPr lang="en-US" sz="3000" b="1" dirty="0">
                <a:solidFill>
                  <a:srgbClr val="14453D"/>
                </a:solidFill>
              </a:rPr>
              <a:t>동물의 후각 체계</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흐름 잡기</a:t>
            </a:r>
            <a:endParaRPr lang="en-US" sz="1200" dirty="0"/>
          </a:p>
        </p:txBody>
      </p:sp>
      <p:sp>
        <p:nvSpPr>
          <p:cNvPr id="4" name="Shape 2"/>
          <p:cNvSpPr/>
          <p:nvPr/>
        </p:nvSpPr>
        <p:spPr>
          <a:xfrm>
            <a:off x="548640" y="1325880"/>
            <a:ext cx="5212080" cy="2423160"/>
          </a:xfrm>
          <a:prstGeom prst="roundRect">
            <a:avLst>
              <a:gd name="adj" fmla="val 4528"/>
            </a:avLst>
          </a:prstGeom>
          <a:solidFill>
            <a:srgbClr val="E6F2ED"/>
          </a:solidFill>
          <a:ln w="12700">
            <a:solidFill>
              <a:srgbClr val="E6F2ED"/>
            </a:solidFill>
            <a:prstDash val="solid"/>
          </a:ln>
        </p:spPr>
      </p:sp>
      <p:sp>
        <p:nvSpPr>
          <p:cNvPr id="5" name="Text 3"/>
          <p:cNvSpPr txBox="1"/>
          <p:nvPr/>
        </p:nvSpPr>
        <p:spPr>
          <a:xfrm>
            <a:off x="822960" y="1463040"/>
            <a:ext cx="4663440" cy="320040"/>
          </a:xfrm>
          <a:prstGeom prst="rect">
            <a:avLst/>
          </a:prstGeom>
          <a:noFill/>
          <a:ln/>
        </p:spPr>
        <p:txBody>
          <a:bodyPr wrap="square" lIns="0" tIns="0" rIns="0" bIns="0" rtlCol="0" anchor="ctr"/>
          <a:lstStyle/>
          <a:p>
            <a:pPr indent="0" marL="0">
              <a:buNone/>
            </a:pPr>
            <a:r>
              <a:rPr lang="en-US" sz="1300" b="1" dirty="0">
                <a:solidFill>
                  <a:srgbClr val="1F7A64"/>
                </a:solidFill>
              </a:rPr>
              <a:t>STEP 1 · 요약문 먼저</a:t>
            </a:r>
            <a:endParaRPr lang="en-US" sz="1300" dirty="0"/>
          </a:p>
        </p:txBody>
      </p:sp>
      <p:sp>
        <p:nvSpPr>
          <p:cNvPr id="6" name="Text 4"/>
          <p:cNvSpPr txBox="1"/>
          <p:nvPr/>
        </p:nvSpPr>
        <p:spPr>
          <a:xfrm>
            <a:off x="822960" y="1828800"/>
            <a:ext cx="4663440" cy="868680"/>
          </a:xfrm>
          <a:prstGeom prst="rect">
            <a:avLst/>
          </a:prstGeom>
          <a:noFill/>
          <a:ln/>
        </p:spPr>
        <p:txBody>
          <a:bodyPr wrap="square" lIns="0" tIns="0" rIns="0" bIns="0" rtlCol="0" anchor="t">
            <a:normAutofit/>
          </a:bodyPr>
          <a:lstStyle/>
          <a:p>
            <a:pPr indent="0" marL="0">
              <a:buNone/>
            </a:pPr>
            <a:r>
              <a:rPr lang="en-US" sz="1300" b="1" i="1" dirty="0">
                <a:solidFill>
                  <a:srgbClr val="14453D"/>
                </a:solidFill>
              </a:rPr>
              <a:t>Survival of some animals can depend on two sensory systems, the functions of which involve (A) odors that other subjects release to (B) approaching danger to other members of the species.</a:t>
            </a:r>
            <a:endParaRPr lang="en-US" sz="1300" dirty="0"/>
          </a:p>
        </p:txBody>
      </p:sp>
      <p:sp>
        <p:nvSpPr>
          <p:cNvPr id="7" name="Text 5"/>
          <p:cNvSpPr txBox="1"/>
          <p:nvPr/>
        </p:nvSpPr>
        <p:spPr>
          <a:xfrm>
            <a:off x="822960" y="2715768"/>
            <a:ext cx="4663440" cy="457200"/>
          </a:xfrm>
          <a:prstGeom prst="rect">
            <a:avLst/>
          </a:prstGeom>
          <a:noFill/>
          <a:ln/>
        </p:spPr>
        <p:txBody>
          <a:bodyPr wrap="square" lIns="0" tIns="0" rIns="0" bIns="0" rtlCol="0" anchor="t">
            <a:normAutofit/>
          </a:bodyPr>
          <a:lstStyle/>
          <a:p>
            <a:pPr indent="0" marL="0">
              <a:buNone/>
            </a:pPr>
            <a:r>
              <a:rPr lang="en-US" sz="1100" dirty="0">
                <a:solidFill>
                  <a:srgbClr val="1E2B2A"/>
                </a:solidFill>
              </a:rPr>
              <a:t>일부 동물의 생존은 두 감각 체계에 달려 있을 수 있는데, 그 기능은 다른 개체들이 종의 다른 구성원에게 다가오는 위험을 (B)하기 위해 방출하는 냄새를 (A)하는 것을 포함한다.</a:t>
            </a:r>
            <a:endParaRPr lang="en-US" sz="1100" dirty="0"/>
          </a:p>
        </p:txBody>
      </p:sp>
      <p:sp>
        <p:nvSpPr>
          <p:cNvPr id="8" name="Text 6"/>
          <p:cNvSpPr txBox="1"/>
          <p:nvPr/>
        </p:nvSpPr>
        <p:spPr>
          <a:xfrm>
            <a:off x="822960" y="3200400"/>
            <a:ext cx="4663440" cy="411480"/>
          </a:xfrm>
          <a:prstGeom prst="rect">
            <a:avLst/>
          </a:prstGeom>
          <a:noFill/>
          <a:ln/>
        </p:spPr>
        <p:txBody>
          <a:bodyPr wrap="square" lIns="0" tIns="0" rIns="0" bIns="0" rtlCol="0" anchor="ctr"/>
          <a:lstStyle/>
          <a:p>
            <a:pPr indent="0" marL="0">
              <a:buNone/>
            </a:pPr>
            <a:r>
              <a:rPr lang="en-US" sz="1500" b="1" dirty="0">
                <a:solidFill>
                  <a:srgbClr val="EF5B3F"/>
                </a:solidFill>
              </a:rPr>
              <a:t>찾을 것  </a:t>
            </a:r>
            <a:pPr indent="0" marL="0">
              <a:buNone/>
            </a:pPr>
            <a:r>
              <a:rPr lang="en-US" sz="1500" b="1" dirty="0">
                <a:solidFill>
                  <a:srgbClr val="14453D"/>
                </a:solidFill>
              </a:rPr>
              <a:t>(A) 냄새를 어떻게? / (B) 위험을 어떻게 하려고 방출?</a:t>
            </a:r>
            <a:endParaRPr lang="en-US" sz="1500" dirty="0"/>
          </a:p>
        </p:txBody>
      </p:sp>
      <p:sp>
        <p:nvSpPr>
          <p:cNvPr id="9" name="Shape 7"/>
          <p:cNvSpPr/>
          <p:nvPr/>
        </p:nvSpPr>
        <p:spPr>
          <a:xfrm>
            <a:off x="548640" y="3931920"/>
            <a:ext cx="5212080" cy="2331720"/>
          </a:xfrm>
          <a:prstGeom prst="roundRect">
            <a:avLst>
              <a:gd name="adj" fmla="val 4706"/>
            </a:avLst>
          </a:prstGeom>
          <a:solidFill>
            <a:srgbClr val="FFFFFF"/>
          </a:solidFill>
          <a:ln w="19050">
            <a:solidFill>
              <a:srgbClr val="EF5B3F"/>
            </a:solidFill>
            <a:prstDash val="solid"/>
          </a:ln>
        </p:spPr>
      </p:sp>
      <p:pic>
        <p:nvPicPr>
          <p:cNvPr id="10" name="Image 0" descr="preencoded.png">    </p:cNvPr>
          <p:cNvPicPr>
            <a:picLocks noChangeAspect="1"/>
          </p:cNvPicPr>
          <p:nvPr/>
        </p:nvPicPr>
        <p:blipFill>
          <a:blip r:embed="rId1"/>
          <a:stretch>
            <a:fillRect/>
          </a:stretch>
        </p:blipFill>
        <p:spPr>
          <a:xfrm>
            <a:off x="822960" y="4096512"/>
            <a:ext cx="274320" cy="274320"/>
          </a:xfrm>
          <a:prstGeom prst="rect">
            <a:avLst/>
          </a:prstGeom>
        </p:spPr>
      </p:pic>
      <p:sp>
        <p:nvSpPr>
          <p:cNvPr id="11" name="Text 8"/>
          <p:cNvSpPr txBox="1"/>
          <p:nvPr/>
        </p:nvSpPr>
        <p:spPr>
          <a:xfrm>
            <a:off x="1188720" y="4069080"/>
            <a:ext cx="4114800" cy="320040"/>
          </a:xfrm>
          <a:prstGeom prst="rect">
            <a:avLst/>
          </a:prstGeom>
          <a:noFill/>
          <a:ln/>
        </p:spPr>
        <p:txBody>
          <a:bodyPr wrap="square" lIns="0" tIns="0" rIns="0" bIns="0" rtlCol="0" anchor="ctr"/>
          <a:lstStyle/>
          <a:p>
            <a:pPr indent="0" marL="0">
              <a:buNone/>
            </a:pPr>
            <a:r>
              <a:rPr lang="en-US" sz="1300" b="1" dirty="0">
                <a:solidFill>
                  <a:srgbClr val="EF5B3F"/>
                </a:solidFill>
              </a:rPr>
              <a:t>STEP 2 · 결정적 단서</a:t>
            </a:r>
            <a:endParaRPr lang="en-US" sz="1300" dirty="0"/>
          </a:p>
        </p:txBody>
      </p:sp>
      <p:sp>
        <p:nvSpPr>
          <p:cNvPr id="12" name="Text 9"/>
          <p:cNvSpPr txBox="1"/>
          <p:nvPr/>
        </p:nvSpPr>
        <p:spPr>
          <a:xfrm>
            <a:off x="822960" y="4480560"/>
            <a:ext cx="4663440" cy="1005840"/>
          </a:xfrm>
          <a:prstGeom prst="rect">
            <a:avLst/>
          </a:prstGeom>
          <a:noFill/>
          <a:ln/>
        </p:spPr>
        <p:txBody>
          <a:bodyPr wrap="square" lIns="0" tIns="0" rIns="0" bIns="0" rtlCol="0" anchor="t"/>
          <a:lstStyle/>
          <a:p>
            <a:pPr indent="0" marL="0">
              <a:buNone/>
            </a:pPr>
            <a:r>
              <a:rPr lang="en-US" sz="1400" i="1" dirty="0">
                <a:solidFill>
                  <a:srgbClr val="14453D"/>
                </a:solidFill>
              </a:rPr>
              <a:t>The latter system plays a crucial role in interpreting the hidden messages contained in different odors.</a:t>
            </a:r>
            <a:endParaRPr lang="en-US" sz="1400" dirty="0"/>
          </a:p>
        </p:txBody>
      </p:sp>
      <p:sp>
        <p:nvSpPr>
          <p:cNvPr id="13" name="Text 10"/>
          <p:cNvSpPr txBox="1"/>
          <p:nvPr/>
        </p:nvSpPr>
        <p:spPr>
          <a:xfrm>
            <a:off x="822960" y="5486400"/>
            <a:ext cx="4663440" cy="685800"/>
          </a:xfrm>
          <a:prstGeom prst="rect">
            <a:avLst/>
          </a:prstGeom>
          <a:noFill/>
          <a:ln/>
        </p:spPr>
        <p:txBody>
          <a:bodyPr wrap="square" lIns="0" tIns="0" rIns="0" bIns="0" rtlCol="0" anchor="t"/>
          <a:lstStyle/>
          <a:p>
            <a:pPr indent="0" marL="0">
              <a:buNone/>
            </a:pPr>
            <a:r>
              <a:rPr lang="en-US" sz="1300" dirty="0">
                <a:solidFill>
                  <a:srgbClr val="6E7F7C"/>
                </a:solidFill>
              </a:rPr>
              <a:t>후자의 체계는 다양한 냄새 속 숨은 메시지를 해석하는 데 중대한 역할을 한다</a:t>
            </a:r>
            <a:endParaRPr lang="en-US" sz="1300" dirty="0"/>
          </a:p>
        </p:txBody>
      </p:sp>
      <p:sp>
        <p:nvSpPr>
          <p:cNvPr id="14" name="Text 11"/>
          <p:cNvSpPr txBox="1"/>
          <p:nvPr/>
        </p:nvSpPr>
        <p:spPr>
          <a:xfrm>
            <a:off x="6217920" y="1325880"/>
            <a:ext cx="2743200" cy="320040"/>
          </a:xfrm>
          <a:prstGeom prst="rect">
            <a:avLst/>
          </a:prstGeom>
          <a:noFill/>
          <a:ln/>
        </p:spPr>
        <p:txBody>
          <a:bodyPr wrap="square" lIns="0" tIns="0" rIns="0" bIns="0" rtlCol="0" anchor="ctr"/>
          <a:lstStyle/>
          <a:p>
            <a:pPr indent="0" marL="0">
              <a:buNone/>
            </a:pPr>
            <a:r>
              <a:rPr lang="en-US" sz="1300" b="1" dirty="0">
                <a:solidFill>
                  <a:srgbClr val="1F7A64"/>
                </a:solidFill>
              </a:rPr>
              <a:t>글의 흐름</a:t>
            </a:r>
            <a:endParaRPr lang="en-US" sz="1300" dirty="0"/>
          </a:p>
        </p:txBody>
      </p:sp>
      <p:sp>
        <p:nvSpPr>
          <p:cNvPr id="15" name="Shape 12"/>
          <p:cNvSpPr/>
          <p:nvPr/>
        </p:nvSpPr>
        <p:spPr>
          <a:xfrm>
            <a:off x="6537960" y="2057400"/>
            <a:ext cx="0" cy="3511296"/>
          </a:xfrm>
          <a:prstGeom prst="line">
            <a:avLst/>
          </a:prstGeom>
          <a:noFill/>
          <a:ln w="38100">
            <a:solidFill>
              <a:srgbClr val="E6F2ED"/>
            </a:solidFill>
            <a:prstDash val="solid"/>
          </a:ln>
        </p:spPr>
      </p:sp>
      <p:sp>
        <p:nvSpPr>
          <p:cNvPr id="16" name="Text 13"/>
          <p:cNvSpPr/>
          <p:nvPr/>
        </p:nvSpPr>
        <p:spPr>
          <a:xfrm>
            <a:off x="6263640" y="1783080"/>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7" name="Text 14"/>
          <p:cNvSpPr txBox="1"/>
          <p:nvPr/>
        </p:nvSpPr>
        <p:spPr>
          <a:xfrm>
            <a:off x="7040880" y="1783080"/>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주제</a:t>
            </a:r>
            <a:endParaRPr lang="en-US" sz="1400" dirty="0"/>
          </a:p>
        </p:txBody>
      </p:sp>
      <p:sp>
        <p:nvSpPr>
          <p:cNvPr id="18" name="Text 15"/>
          <p:cNvSpPr txBox="1"/>
          <p:nvPr/>
        </p:nvSpPr>
        <p:spPr>
          <a:xfrm>
            <a:off x="7040880" y="2121408"/>
            <a:ext cx="4572000" cy="667512"/>
          </a:xfrm>
          <a:prstGeom prst="rect">
            <a:avLst/>
          </a:prstGeom>
          <a:noFill/>
          <a:ln/>
        </p:spPr>
        <p:txBody>
          <a:bodyPr wrap="square" lIns="0" tIns="0" rIns="0" bIns="0" rtlCol="0" anchor="t"/>
          <a:lstStyle/>
          <a:p>
            <a:pPr indent="0" marL="0">
              <a:buNone/>
            </a:pPr>
            <a:r>
              <a:rPr lang="en-US" sz="1400" dirty="0">
                <a:solidFill>
                  <a:srgbClr val="1E2B2A"/>
                </a:solidFill>
              </a:rPr>
              <a:t>생존을 위해 동물은 두 개의 감각 체계로 된 정교한 후각을 가짐</a:t>
            </a:r>
            <a:endParaRPr lang="en-US" sz="1400" dirty="0"/>
          </a:p>
        </p:txBody>
      </p:sp>
      <p:sp>
        <p:nvSpPr>
          <p:cNvPr id="19" name="Text 16"/>
          <p:cNvSpPr/>
          <p:nvPr/>
        </p:nvSpPr>
        <p:spPr>
          <a:xfrm>
            <a:off x="6263640" y="2953512"/>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20" name="Text 17"/>
          <p:cNvSpPr txBox="1"/>
          <p:nvPr/>
        </p:nvSpPr>
        <p:spPr>
          <a:xfrm>
            <a:off x="7040880" y="2953512"/>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체계 ①②</a:t>
            </a:r>
            <a:endParaRPr lang="en-US" sz="1400" dirty="0"/>
          </a:p>
        </p:txBody>
      </p:sp>
      <p:sp>
        <p:nvSpPr>
          <p:cNvPr id="21" name="Text 18"/>
          <p:cNvSpPr txBox="1"/>
          <p:nvPr/>
        </p:nvSpPr>
        <p:spPr>
          <a:xfrm>
            <a:off x="7040880" y="3291840"/>
            <a:ext cx="4572000" cy="667512"/>
          </a:xfrm>
          <a:prstGeom prst="rect">
            <a:avLst/>
          </a:prstGeom>
          <a:noFill/>
          <a:ln/>
        </p:spPr>
        <p:txBody>
          <a:bodyPr wrap="square" lIns="0" tIns="0" rIns="0" bIns="0" rtlCol="0" anchor="t"/>
          <a:lstStyle/>
          <a:p>
            <a:pPr indent="0" marL="0">
              <a:buNone/>
            </a:pPr>
            <a:r>
              <a:rPr lang="en-US" sz="1400" dirty="0">
                <a:solidFill>
                  <a:srgbClr val="1E2B2A"/>
                </a:solidFill>
              </a:rPr>
              <a:t>① 냄새 감지 ② 냄새를 이해·해석해 뇌로 전달</a:t>
            </a:r>
            <a:endParaRPr lang="en-US" sz="1400" dirty="0"/>
          </a:p>
        </p:txBody>
      </p:sp>
      <p:sp>
        <p:nvSpPr>
          <p:cNvPr id="22" name="Text 19"/>
          <p:cNvSpPr/>
          <p:nvPr/>
        </p:nvSpPr>
        <p:spPr>
          <a:xfrm>
            <a:off x="6263640" y="4123944"/>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3" name="Text 20"/>
          <p:cNvSpPr txBox="1"/>
          <p:nvPr/>
        </p:nvSpPr>
        <p:spPr>
          <a:xfrm>
            <a:off x="7040880" y="4123944"/>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예시</a:t>
            </a:r>
            <a:endParaRPr lang="en-US" sz="1400" dirty="0"/>
          </a:p>
        </p:txBody>
      </p:sp>
      <p:sp>
        <p:nvSpPr>
          <p:cNvPr id="24" name="Text 21"/>
          <p:cNvSpPr txBox="1"/>
          <p:nvPr/>
        </p:nvSpPr>
        <p:spPr>
          <a:xfrm>
            <a:off x="7040880" y="4462272"/>
            <a:ext cx="4572000" cy="667512"/>
          </a:xfrm>
          <a:prstGeom prst="rect">
            <a:avLst/>
          </a:prstGeom>
          <a:noFill/>
          <a:ln/>
        </p:spPr>
        <p:txBody>
          <a:bodyPr wrap="square" lIns="0" tIns="0" rIns="0" bIns="0" rtlCol="0" anchor="t"/>
          <a:lstStyle/>
          <a:p>
            <a:pPr indent="0" marL="0">
              <a:buNone/>
            </a:pPr>
            <a:r>
              <a:rPr lang="en-US" sz="1400" dirty="0">
                <a:solidFill>
                  <a:srgbClr val="1E2B2A"/>
                </a:solidFill>
              </a:rPr>
              <a:t>해양 동물은 위험을 '경고'하려고 화학적 냄새를 방출</a:t>
            </a:r>
            <a:endParaRPr lang="en-US" sz="1400" dirty="0"/>
          </a:p>
        </p:txBody>
      </p:sp>
      <p:sp>
        <p:nvSpPr>
          <p:cNvPr id="25" name="Text 22"/>
          <p:cNvSpPr/>
          <p:nvPr/>
        </p:nvSpPr>
        <p:spPr>
          <a:xfrm>
            <a:off x="6263640" y="5294376"/>
            <a:ext cx="548640" cy="548640"/>
          </a:xfrm>
          <a:prstGeom prst="ellipse">
            <a:avLst/>
          </a:prstGeom>
          <a:solidFill>
            <a:srgbClr val="EF5B3F"/>
          </a:solid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6" name="Text 23"/>
          <p:cNvSpPr txBox="1"/>
          <p:nvPr/>
        </p:nvSpPr>
        <p:spPr>
          <a:xfrm>
            <a:off x="7040880" y="5294376"/>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결론</a:t>
            </a:r>
            <a:endParaRPr lang="en-US" sz="1400" dirty="0"/>
          </a:p>
        </p:txBody>
      </p:sp>
      <p:sp>
        <p:nvSpPr>
          <p:cNvPr id="27" name="Text 24"/>
          <p:cNvSpPr txBox="1"/>
          <p:nvPr/>
        </p:nvSpPr>
        <p:spPr>
          <a:xfrm>
            <a:off x="7040880" y="5632704"/>
            <a:ext cx="4572000" cy="667512"/>
          </a:xfrm>
          <a:prstGeom prst="rect">
            <a:avLst/>
          </a:prstGeom>
          <a:noFill/>
          <a:ln/>
        </p:spPr>
        <p:txBody>
          <a:bodyPr wrap="square" lIns="0" tIns="0" rIns="0" bIns="0" rtlCol="0" anchor="t"/>
          <a:lstStyle/>
          <a:p>
            <a:pPr indent="0" marL="0">
              <a:buNone/>
            </a:pPr>
            <a:r>
              <a:rPr lang="en-US" sz="1400" dirty="0">
                <a:solidFill>
                  <a:srgbClr val="1E2B2A"/>
                </a:solidFill>
              </a:rPr>
              <a:t>냄새의 의미를 알아보는(해석) 능력 = 생존에 필수</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96  </a:t>
            </a:r>
            <a:pPr algn="l" indent="0" marL="0">
              <a:buNone/>
            </a:pPr>
            <a:r>
              <a:rPr lang="en-US" sz="3000" b="1" dirty="0">
                <a:solidFill>
                  <a:srgbClr val="14453D"/>
                </a:solidFill>
              </a:rPr>
              <a:t>정답 &amp; 해설</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정답</a:t>
            </a:r>
            <a:endParaRPr lang="en-US" sz="1200" dirty="0"/>
          </a:p>
        </p:txBody>
      </p:sp>
      <p:sp>
        <p:nvSpPr>
          <p:cNvPr id="4" name="Shape 2"/>
          <p:cNvSpPr/>
          <p:nvPr/>
        </p:nvSpPr>
        <p:spPr>
          <a:xfrm>
            <a:off x="548640" y="1325880"/>
            <a:ext cx="3749040" cy="4983480"/>
          </a:xfrm>
          <a:prstGeom prst="roundRect">
            <a:avLst>
              <a:gd name="adj" fmla="val 3659"/>
            </a:avLst>
          </a:prstGeom>
          <a:solidFill>
            <a:srgbClr val="14453D"/>
          </a:solidFill>
          <a:ln w="12700">
            <a:solidFill>
              <a:srgbClr val="14453D"/>
            </a:solidFill>
            <a:prstDash val="solid"/>
          </a:ln>
        </p:spPr>
      </p:sp>
      <p:sp>
        <p:nvSpPr>
          <p:cNvPr id="5" name="Text 3"/>
          <p:cNvSpPr txBox="1"/>
          <p:nvPr/>
        </p:nvSpPr>
        <p:spPr>
          <a:xfrm>
            <a:off x="868680" y="1554480"/>
            <a:ext cx="3108960" cy="365760"/>
          </a:xfrm>
          <a:prstGeom prst="rect">
            <a:avLst/>
          </a:prstGeom>
          <a:noFill/>
          <a:ln/>
        </p:spPr>
        <p:txBody>
          <a:bodyPr wrap="square" lIns="0" tIns="0" rIns="0" bIns="0" rtlCol="0" anchor="ctr"/>
          <a:lstStyle/>
          <a:p>
            <a:pPr indent="0" marL="0">
              <a:buNone/>
            </a:pPr>
            <a:r>
              <a:rPr lang="en-US" sz="1600" b="1" dirty="0">
                <a:solidFill>
                  <a:srgbClr val="FFD45C"/>
                </a:solidFill>
              </a:rPr>
              <a:t>정답</a:t>
            </a:r>
            <a:endParaRPr lang="en-US" sz="1600" dirty="0"/>
          </a:p>
        </p:txBody>
      </p:sp>
      <p:sp>
        <p:nvSpPr>
          <p:cNvPr id="6" name="Text 4"/>
          <p:cNvSpPr txBox="1"/>
          <p:nvPr/>
        </p:nvSpPr>
        <p:spPr>
          <a:xfrm>
            <a:off x="868680" y="1920240"/>
            <a:ext cx="3108960" cy="1188720"/>
          </a:xfrm>
          <a:prstGeom prst="rect">
            <a:avLst/>
          </a:prstGeom>
          <a:noFill/>
          <a:ln/>
        </p:spPr>
        <p:txBody>
          <a:bodyPr wrap="square" lIns="0" tIns="0" rIns="0" bIns="0" rtlCol="0" anchor="ctr"/>
          <a:lstStyle/>
          <a:p>
            <a:pPr indent="0" marL="0">
              <a:buNone/>
            </a:pPr>
            <a:r>
              <a:rPr lang="en-US" sz="7200" b="1" dirty="0">
                <a:solidFill>
                  <a:srgbClr val="FFFFFF"/>
                </a:solidFill>
              </a:rPr>
              <a:t>②</a:t>
            </a:r>
            <a:endParaRPr lang="en-US" sz="7200" dirty="0"/>
          </a:p>
        </p:txBody>
      </p:sp>
      <p:sp>
        <p:nvSpPr>
          <p:cNvPr id="7" name="Text 5"/>
          <p:cNvSpPr txBox="1"/>
          <p:nvPr/>
        </p:nvSpPr>
        <p:spPr>
          <a:xfrm>
            <a:off x="868680" y="3337560"/>
            <a:ext cx="3154680" cy="1280160"/>
          </a:xfrm>
          <a:prstGeom prst="rect">
            <a:avLst/>
          </a:prstGeom>
          <a:noFill/>
          <a:ln/>
        </p:spPr>
        <p:txBody>
          <a:bodyPr wrap="square" lIns="0" tIns="0" rIns="0" bIns="0" rtlCol="0" anchor="t"/>
          <a:lstStyle/>
          <a:p>
            <a:pPr indent="0" marL="0">
              <a:buNone/>
            </a:pPr>
            <a:r>
              <a:rPr lang="en-US" sz="1700" b="1" i="1" dirty="0">
                <a:solidFill>
                  <a:srgbClr val="FFFFFF"/>
                </a:solidFill>
              </a:rPr>
              <a:t>interpreting ----- signal</a:t>
            </a:r>
            <a:endParaRPr lang="en-US" sz="1700" dirty="0"/>
          </a:p>
        </p:txBody>
      </p:sp>
      <p:sp>
        <p:nvSpPr>
          <p:cNvPr id="8" name="Text 6"/>
          <p:cNvSpPr txBox="1"/>
          <p:nvPr/>
        </p:nvSpPr>
        <p:spPr>
          <a:xfrm>
            <a:off x="868680" y="4663440"/>
            <a:ext cx="3154680" cy="1463040"/>
          </a:xfrm>
          <a:prstGeom prst="rect">
            <a:avLst/>
          </a:prstGeom>
          <a:noFill/>
          <a:ln/>
        </p:spPr>
        <p:txBody>
          <a:bodyPr wrap="square" lIns="0" tIns="0" rIns="0" bIns="0" rtlCol="0" anchor="t"/>
          <a:lstStyle/>
          <a:p>
            <a:pPr indent="0" marL="0">
              <a:buNone/>
            </a:pPr>
            <a:r>
              <a:rPr lang="en-US" sz="1400" dirty="0">
                <a:solidFill>
                  <a:srgbClr val="E6F2ED"/>
                </a:solidFill>
              </a:rPr>
              <a:t>해석하다 = interpreting·decode / 신호를 보내다 = warn</a:t>
            </a:r>
            <a:endParaRPr lang="en-US" sz="1400" dirty="0"/>
          </a:p>
        </p:txBody>
      </p:sp>
      <p:sp>
        <p:nvSpPr>
          <p:cNvPr id="9" name="Shape 7"/>
          <p:cNvSpPr/>
          <p:nvPr/>
        </p:nvSpPr>
        <p:spPr>
          <a:xfrm>
            <a:off x="4572000" y="1325880"/>
            <a:ext cx="7040880" cy="905256"/>
          </a:xfrm>
          <a:prstGeom prst="roundRect">
            <a:avLst>
              <a:gd name="adj" fmla="val 10101"/>
            </a:avLst>
          </a:prstGeom>
          <a:solidFill>
            <a:srgbClr val="FFFFFF"/>
          </a:solidFill>
          <a:ln w="12700">
            <a:solidFill>
              <a:srgbClr val="E6F2ED"/>
            </a:solidFill>
            <a:prstDash val="solid"/>
          </a:ln>
        </p:spPr>
      </p:sp>
      <p:sp>
        <p:nvSpPr>
          <p:cNvPr id="10" name="Text 8"/>
          <p:cNvSpPr txBox="1"/>
          <p:nvPr/>
        </p:nvSpPr>
        <p:spPr>
          <a:xfrm>
            <a:off x="4754880" y="1435608"/>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①</a:t>
            </a:r>
            <a:endParaRPr lang="en-US" sz="2000" dirty="0"/>
          </a:p>
        </p:txBody>
      </p:sp>
      <p:sp>
        <p:nvSpPr>
          <p:cNvPr id="11" name="Text 9"/>
          <p:cNvSpPr txBox="1"/>
          <p:nvPr/>
        </p:nvSpPr>
        <p:spPr>
          <a:xfrm>
            <a:off x="5257800" y="1399032"/>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eliminating ----- defeat</a:t>
            </a:r>
            <a:endParaRPr lang="en-US" sz="1500" dirty="0"/>
          </a:p>
        </p:txBody>
      </p:sp>
      <p:sp>
        <p:nvSpPr>
          <p:cNvPr id="12" name="Text 10"/>
          <p:cNvSpPr txBox="1"/>
          <p:nvPr/>
        </p:nvSpPr>
        <p:spPr>
          <a:xfrm>
            <a:off x="5257800" y="1801368"/>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제거하다 ✘ / 물리치다 ✘</a:t>
            </a:r>
            <a:endParaRPr lang="en-US" sz="1300" dirty="0"/>
          </a:p>
        </p:txBody>
      </p:sp>
      <p:sp>
        <p:nvSpPr>
          <p:cNvPr id="13" name="Shape 11"/>
          <p:cNvSpPr/>
          <p:nvPr/>
        </p:nvSpPr>
        <p:spPr>
          <a:xfrm>
            <a:off x="4572000" y="2340864"/>
            <a:ext cx="7040880" cy="905256"/>
          </a:xfrm>
          <a:prstGeom prst="roundRect">
            <a:avLst>
              <a:gd name="adj" fmla="val 10101"/>
            </a:avLst>
          </a:prstGeom>
          <a:solidFill>
            <a:srgbClr val="F7E9E4"/>
          </a:solidFill>
          <a:ln w="25400">
            <a:solidFill>
              <a:srgbClr val="EF5B3F"/>
            </a:solidFill>
            <a:prstDash val="solid"/>
          </a:ln>
        </p:spPr>
      </p:sp>
      <p:sp>
        <p:nvSpPr>
          <p:cNvPr id="14" name="Text 12"/>
          <p:cNvSpPr txBox="1"/>
          <p:nvPr/>
        </p:nvSpPr>
        <p:spPr>
          <a:xfrm>
            <a:off x="4754880" y="2450592"/>
            <a:ext cx="411480" cy="411480"/>
          </a:xfrm>
          <a:prstGeom prst="rect">
            <a:avLst/>
          </a:prstGeom>
          <a:noFill/>
          <a:ln/>
        </p:spPr>
        <p:txBody>
          <a:bodyPr wrap="square" lIns="0" tIns="0" rIns="0" bIns="0" rtlCol="0" anchor="ctr"/>
          <a:lstStyle/>
          <a:p>
            <a:pPr indent="0" marL="0">
              <a:buNone/>
            </a:pPr>
            <a:r>
              <a:rPr lang="en-US" sz="2000" b="1" dirty="0">
                <a:solidFill>
                  <a:srgbClr val="EF5B3F"/>
                </a:solidFill>
              </a:rPr>
              <a:t>②</a:t>
            </a:r>
            <a:endParaRPr lang="en-US" sz="2000" dirty="0"/>
          </a:p>
        </p:txBody>
      </p:sp>
      <p:sp>
        <p:nvSpPr>
          <p:cNvPr id="15" name="Text 13"/>
          <p:cNvSpPr txBox="1"/>
          <p:nvPr/>
        </p:nvSpPr>
        <p:spPr>
          <a:xfrm>
            <a:off x="5257800" y="2414016"/>
            <a:ext cx="6172200" cy="411480"/>
          </a:xfrm>
          <a:prstGeom prst="rect">
            <a:avLst/>
          </a:prstGeom>
          <a:noFill/>
          <a:ln/>
        </p:spPr>
        <p:txBody>
          <a:bodyPr wrap="square" lIns="0" tIns="0" rIns="0" bIns="0" rtlCol="0" anchor="ctr">
            <a:normAutofit/>
          </a:bodyPr>
          <a:lstStyle/>
          <a:p>
            <a:pPr indent="0" marL="0">
              <a:buNone/>
            </a:pPr>
            <a:r>
              <a:rPr lang="en-US" sz="1500" b="1" dirty="0">
                <a:solidFill>
                  <a:srgbClr val="14453D"/>
                </a:solidFill>
              </a:rPr>
              <a:t>interpreting ----- signal</a:t>
            </a:r>
            <a:endParaRPr lang="en-US" sz="1500" dirty="0"/>
          </a:p>
        </p:txBody>
      </p:sp>
      <p:sp>
        <p:nvSpPr>
          <p:cNvPr id="16" name="Text 14"/>
          <p:cNvSpPr txBox="1"/>
          <p:nvPr/>
        </p:nvSpPr>
        <p:spPr>
          <a:xfrm>
            <a:off x="5257800" y="2816352"/>
            <a:ext cx="6172200" cy="365760"/>
          </a:xfrm>
          <a:prstGeom prst="rect">
            <a:avLst/>
          </a:prstGeom>
          <a:noFill/>
          <a:ln/>
        </p:spPr>
        <p:txBody>
          <a:bodyPr wrap="square" lIns="0" tIns="0" rIns="0" bIns="0" rtlCol="0" anchor="ctr">
            <a:normAutofit/>
          </a:bodyPr>
          <a:lstStyle/>
          <a:p>
            <a:pPr indent="0" marL="0">
              <a:buNone/>
            </a:pPr>
            <a:r>
              <a:rPr lang="en-US" sz="1300" dirty="0">
                <a:solidFill>
                  <a:srgbClr val="EF5B3F"/>
                </a:solidFill>
              </a:rPr>
              <a:t>✔ 해석하다 = interpreting·decode / 신호를 보내다 = warn</a:t>
            </a:r>
            <a:endParaRPr lang="en-US" sz="1300" dirty="0"/>
          </a:p>
        </p:txBody>
      </p:sp>
      <p:sp>
        <p:nvSpPr>
          <p:cNvPr id="17" name="Shape 15"/>
          <p:cNvSpPr/>
          <p:nvPr/>
        </p:nvSpPr>
        <p:spPr>
          <a:xfrm>
            <a:off x="4572000" y="3355848"/>
            <a:ext cx="7040880" cy="905256"/>
          </a:xfrm>
          <a:prstGeom prst="roundRect">
            <a:avLst>
              <a:gd name="adj" fmla="val 10101"/>
            </a:avLst>
          </a:prstGeom>
          <a:solidFill>
            <a:srgbClr val="FFFFFF"/>
          </a:solidFill>
          <a:ln w="12700">
            <a:solidFill>
              <a:srgbClr val="E6F2ED"/>
            </a:solidFill>
            <a:prstDash val="solid"/>
          </a:ln>
        </p:spPr>
      </p:sp>
      <p:sp>
        <p:nvSpPr>
          <p:cNvPr id="18" name="Text 16"/>
          <p:cNvSpPr txBox="1"/>
          <p:nvPr/>
        </p:nvSpPr>
        <p:spPr>
          <a:xfrm>
            <a:off x="4754880" y="3465576"/>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③</a:t>
            </a:r>
            <a:endParaRPr lang="en-US" sz="2000" dirty="0"/>
          </a:p>
        </p:txBody>
      </p:sp>
      <p:sp>
        <p:nvSpPr>
          <p:cNvPr id="19" name="Text 17"/>
          <p:cNvSpPr txBox="1"/>
          <p:nvPr/>
        </p:nvSpPr>
        <p:spPr>
          <a:xfrm>
            <a:off x="5257800" y="3429000"/>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interpreting ----- defeat</a:t>
            </a:r>
            <a:endParaRPr lang="en-US" sz="1500" dirty="0"/>
          </a:p>
        </p:txBody>
      </p:sp>
      <p:sp>
        <p:nvSpPr>
          <p:cNvPr id="20" name="Text 18"/>
          <p:cNvSpPr txBox="1"/>
          <p:nvPr/>
        </p:nvSpPr>
        <p:spPr>
          <a:xfrm>
            <a:off x="5257800" y="3831336"/>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해석하다 ✔ / 물리치다 ✘ → 위험을 '알리는' 것</a:t>
            </a:r>
            <a:endParaRPr lang="en-US" sz="1300" dirty="0"/>
          </a:p>
        </p:txBody>
      </p:sp>
      <p:sp>
        <p:nvSpPr>
          <p:cNvPr id="21" name="Shape 19"/>
          <p:cNvSpPr/>
          <p:nvPr/>
        </p:nvSpPr>
        <p:spPr>
          <a:xfrm>
            <a:off x="4572000" y="4370832"/>
            <a:ext cx="7040880" cy="905256"/>
          </a:xfrm>
          <a:prstGeom prst="roundRect">
            <a:avLst>
              <a:gd name="adj" fmla="val 10101"/>
            </a:avLst>
          </a:prstGeom>
          <a:solidFill>
            <a:srgbClr val="FFFFFF"/>
          </a:solidFill>
          <a:ln w="12700">
            <a:solidFill>
              <a:srgbClr val="E6F2ED"/>
            </a:solidFill>
            <a:prstDash val="solid"/>
          </a:ln>
        </p:spPr>
      </p:sp>
      <p:sp>
        <p:nvSpPr>
          <p:cNvPr id="22" name="Text 20"/>
          <p:cNvSpPr txBox="1"/>
          <p:nvPr/>
        </p:nvSpPr>
        <p:spPr>
          <a:xfrm>
            <a:off x="4754880" y="4480560"/>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④</a:t>
            </a:r>
            <a:endParaRPr lang="en-US" sz="2000" dirty="0"/>
          </a:p>
        </p:txBody>
      </p:sp>
      <p:sp>
        <p:nvSpPr>
          <p:cNvPr id="23" name="Text 21"/>
          <p:cNvSpPr txBox="1"/>
          <p:nvPr/>
        </p:nvSpPr>
        <p:spPr>
          <a:xfrm>
            <a:off x="5257800" y="4443984"/>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distributing ----- signal</a:t>
            </a:r>
            <a:endParaRPr lang="en-US" sz="1500" dirty="0"/>
          </a:p>
        </p:txBody>
      </p:sp>
      <p:sp>
        <p:nvSpPr>
          <p:cNvPr id="24" name="Text 22"/>
          <p:cNvSpPr txBox="1"/>
          <p:nvPr/>
        </p:nvSpPr>
        <p:spPr>
          <a:xfrm>
            <a:off x="5257800" y="4846320"/>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분배하다 ✘ / 신호를 보내다 ✔</a:t>
            </a:r>
            <a:endParaRPr lang="en-US" sz="1300" dirty="0"/>
          </a:p>
        </p:txBody>
      </p:sp>
      <p:sp>
        <p:nvSpPr>
          <p:cNvPr id="25" name="Shape 23"/>
          <p:cNvSpPr/>
          <p:nvPr/>
        </p:nvSpPr>
        <p:spPr>
          <a:xfrm>
            <a:off x="4572000" y="5385816"/>
            <a:ext cx="7040880" cy="905256"/>
          </a:xfrm>
          <a:prstGeom prst="roundRect">
            <a:avLst>
              <a:gd name="adj" fmla="val 10101"/>
            </a:avLst>
          </a:prstGeom>
          <a:solidFill>
            <a:srgbClr val="FFFFFF"/>
          </a:solidFill>
          <a:ln w="12700">
            <a:solidFill>
              <a:srgbClr val="E6F2ED"/>
            </a:solidFill>
            <a:prstDash val="solid"/>
          </a:ln>
        </p:spPr>
      </p:sp>
      <p:sp>
        <p:nvSpPr>
          <p:cNvPr id="26" name="Text 24"/>
          <p:cNvSpPr txBox="1"/>
          <p:nvPr/>
        </p:nvSpPr>
        <p:spPr>
          <a:xfrm>
            <a:off x="4754880" y="5495544"/>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⑤</a:t>
            </a:r>
            <a:endParaRPr lang="en-US" sz="2000" dirty="0"/>
          </a:p>
        </p:txBody>
      </p:sp>
      <p:sp>
        <p:nvSpPr>
          <p:cNvPr id="27" name="Text 25"/>
          <p:cNvSpPr txBox="1"/>
          <p:nvPr/>
        </p:nvSpPr>
        <p:spPr>
          <a:xfrm>
            <a:off x="5257800" y="5458968"/>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distributing ----- escape</a:t>
            </a:r>
            <a:endParaRPr lang="en-US" sz="1500" dirty="0"/>
          </a:p>
        </p:txBody>
      </p:sp>
      <p:sp>
        <p:nvSpPr>
          <p:cNvPr id="28" name="Text 26"/>
          <p:cNvSpPr txBox="1"/>
          <p:nvPr/>
        </p:nvSpPr>
        <p:spPr>
          <a:xfrm>
            <a:off x="5257800" y="5861304"/>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분배하다 ✘ / 도망치다 ✘ → '위험 = 도망' 연상</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96  </a:t>
            </a:r>
            <a:pPr algn="l" indent="0" marL="0">
              <a:buNone/>
            </a:pPr>
            <a:r>
              <a:rPr lang="en-US" sz="3000" b="1" dirty="0">
                <a:solidFill>
                  <a:srgbClr val="14453D"/>
                </a:solidFill>
              </a:rPr>
              <a:t>내신 어법 체크: 알맞은 것은?</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어법</a:t>
            </a:r>
            <a:endParaRPr lang="en-US" sz="1200" dirty="0"/>
          </a:p>
        </p:txBody>
      </p:sp>
      <p:sp>
        <p:nvSpPr>
          <p:cNvPr id="4" name="Shape 2"/>
          <p:cNvSpPr/>
          <p:nvPr/>
        </p:nvSpPr>
        <p:spPr>
          <a:xfrm>
            <a:off x="548640" y="1325880"/>
            <a:ext cx="11064240" cy="1143000"/>
          </a:xfrm>
          <a:prstGeom prst="roundRect">
            <a:avLst>
              <a:gd name="adj" fmla="val 8000"/>
            </a:avLst>
          </a:prstGeom>
          <a:solidFill>
            <a:srgbClr val="F2F8FB"/>
          </a:solidFill>
          <a:ln w="12700">
            <a:solidFill>
              <a:srgbClr val="D3E5EE"/>
            </a:solidFill>
            <a:prstDash val="solid"/>
          </a:ln>
        </p:spPr>
      </p:sp>
      <p:sp>
        <p:nvSpPr>
          <p:cNvPr id="5" name="Text 3"/>
          <p:cNvSpPr/>
          <p:nvPr/>
        </p:nvSpPr>
        <p:spPr>
          <a:xfrm>
            <a:off x="777240" y="162306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1554480" y="132588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…a sophisticated sense of smell, which </a:t>
            </a:r>
            <a:pPr indent="0" marL="0">
              <a:buNone/>
            </a:pPr>
            <a:r>
              <a:rPr lang="en-US" sz="1900" b="1" dirty="0">
                <a:solidFill>
                  <a:srgbClr val="EF5B3F"/>
                </a:solidFill>
              </a:rPr>
              <a:t>[consists of / is consisted of]</a:t>
            </a:r>
            <a:pPr indent="0" marL="0">
              <a:buNone/>
            </a:pPr>
            <a:r>
              <a:rPr lang="en-US" sz="1900" dirty="0">
                <a:solidFill>
                  <a:srgbClr val="1E2B2A"/>
                </a:solidFill>
              </a:rPr>
              <a:t> two distinct sensory systems.</a:t>
            </a:r>
            <a:endParaRPr lang="en-US" sz="1900" dirty="0"/>
          </a:p>
        </p:txBody>
      </p:sp>
      <p:sp>
        <p:nvSpPr>
          <p:cNvPr id="7" name="Shape 5"/>
          <p:cNvSpPr/>
          <p:nvPr/>
        </p:nvSpPr>
        <p:spPr>
          <a:xfrm>
            <a:off x="548640" y="2606040"/>
            <a:ext cx="11064240" cy="1143000"/>
          </a:xfrm>
          <a:prstGeom prst="roundRect">
            <a:avLst>
              <a:gd name="adj" fmla="val 8000"/>
            </a:avLst>
          </a:prstGeom>
          <a:solidFill>
            <a:srgbClr val="FFFFFF"/>
          </a:solidFill>
          <a:ln w="12700">
            <a:solidFill>
              <a:srgbClr val="D3E5EE"/>
            </a:solidFill>
            <a:prstDash val="solid"/>
          </a:ln>
        </p:spPr>
      </p:sp>
      <p:sp>
        <p:nvSpPr>
          <p:cNvPr id="8" name="Text 6"/>
          <p:cNvSpPr/>
          <p:nvPr/>
        </p:nvSpPr>
        <p:spPr>
          <a:xfrm>
            <a:off x="777240" y="290322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9" name="Text 7"/>
          <p:cNvSpPr txBox="1"/>
          <p:nvPr/>
        </p:nvSpPr>
        <p:spPr>
          <a:xfrm>
            <a:off x="1554480" y="260604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Many marine animals, </a:t>
            </a:r>
            <a:pPr indent="0" marL="0">
              <a:buNone/>
            </a:pPr>
            <a:r>
              <a:rPr lang="en-US" sz="1900" b="1" dirty="0">
                <a:solidFill>
                  <a:srgbClr val="EF5B3F"/>
                </a:solidFill>
              </a:rPr>
              <a:t>[including / included]</a:t>
            </a:r>
            <a:pPr indent="0" marL="0">
              <a:buNone/>
            </a:pPr>
            <a:r>
              <a:rPr lang="en-US" sz="1900" dirty="0">
                <a:solidFill>
                  <a:srgbClr val="1E2B2A"/>
                </a:solidFill>
              </a:rPr>
              <a:t> fish and lobsters, release a specific chemical odor.</a:t>
            </a:r>
            <a:endParaRPr lang="en-US" sz="1900" dirty="0"/>
          </a:p>
        </p:txBody>
      </p:sp>
      <p:sp>
        <p:nvSpPr>
          <p:cNvPr id="10" name="Shape 8"/>
          <p:cNvSpPr/>
          <p:nvPr/>
        </p:nvSpPr>
        <p:spPr>
          <a:xfrm>
            <a:off x="548640" y="3886200"/>
            <a:ext cx="11064240" cy="1143000"/>
          </a:xfrm>
          <a:prstGeom prst="roundRect">
            <a:avLst>
              <a:gd name="adj" fmla="val 8000"/>
            </a:avLst>
          </a:prstGeom>
          <a:solidFill>
            <a:srgbClr val="F2F8FB"/>
          </a:solidFill>
          <a:ln w="12700">
            <a:solidFill>
              <a:srgbClr val="D3E5EE"/>
            </a:solidFill>
            <a:prstDash val="solid"/>
          </a:ln>
        </p:spPr>
      </p:sp>
      <p:sp>
        <p:nvSpPr>
          <p:cNvPr id="11" name="Text 9"/>
          <p:cNvSpPr/>
          <p:nvPr/>
        </p:nvSpPr>
        <p:spPr>
          <a:xfrm>
            <a:off x="777240" y="418338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2" name="Text 10"/>
          <p:cNvSpPr txBox="1"/>
          <p:nvPr/>
        </p:nvSpPr>
        <p:spPr>
          <a:xfrm>
            <a:off x="1554480" y="388620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Failure to detect this odor would make the subject </a:t>
            </a:r>
            <a:pPr indent="0" marL="0">
              <a:buNone/>
            </a:pPr>
            <a:r>
              <a:rPr lang="en-US" sz="1900" b="1" dirty="0">
                <a:solidFill>
                  <a:srgbClr val="EF5B3F"/>
                </a:solidFill>
              </a:rPr>
              <a:t>[easy / easily]</a:t>
            </a:r>
            <a:pPr indent="0" marL="0">
              <a:buNone/>
            </a:pPr>
            <a:r>
              <a:rPr lang="en-US" sz="1900" dirty="0">
                <a:solidFill>
                  <a:srgbClr val="1E2B2A"/>
                </a:solidFill>
              </a:rPr>
              <a:t> prey for a predator.</a:t>
            </a:r>
            <a:endParaRPr lang="en-US" sz="19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97  </a:t>
            </a:r>
            <a:pPr algn="l" indent="0" marL="0">
              <a:buNone/>
            </a:pPr>
            <a:r>
              <a:rPr lang="en-US" sz="3000" b="1" dirty="0">
                <a:solidFill>
                  <a:srgbClr val="14453D"/>
                </a:solidFill>
              </a:rPr>
              <a:t>문화와 사고방식</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Hook</a:t>
            </a:r>
            <a:endParaRPr lang="en-US" sz="1200" dirty="0"/>
          </a:p>
        </p:txBody>
      </p:sp>
      <p:sp>
        <p:nvSpPr>
          <p:cNvPr id="4" name="Shape 2"/>
          <p:cNvSpPr/>
          <p:nvPr/>
        </p:nvSpPr>
        <p:spPr>
          <a:xfrm>
            <a:off x="1280160" y="1737360"/>
            <a:ext cx="9601200" cy="3291840"/>
          </a:xfrm>
          <a:prstGeom prst="roundRect">
            <a:avLst>
              <a:gd name="adj" fmla="val 6944"/>
            </a:avLst>
          </a:prstGeom>
          <a:solidFill>
            <a:srgbClr val="E6F2ED"/>
          </a:solidFill>
          <a:ln w="12700">
            <a:solidFill>
              <a:srgbClr val="E6F2ED"/>
            </a:solidFill>
            <a:prstDash val="solid"/>
          </a:ln>
        </p:spPr>
      </p:sp>
      <p:sp>
        <p:nvSpPr>
          <p:cNvPr id="5" name="Shape 3"/>
          <p:cNvSpPr/>
          <p:nvPr/>
        </p:nvSpPr>
        <p:spPr>
          <a:xfrm>
            <a:off x="1737360" y="2148840"/>
            <a:ext cx="1005840" cy="1005840"/>
          </a:xfrm>
          <a:prstGeom prst="ellipse">
            <a:avLst/>
          </a:prstGeom>
          <a:solidFill>
            <a:srgbClr val="1F7A64"/>
          </a:solidFill>
          <a:ln w="12700">
            <a:solidFill>
              <a:srgbClr val="1F7A64"/>
            </a:solidFill>
            <a:prstDash val="solid"/>
          </a:ln>
        </p:spPr>
      </p:sp>
      <p:pic>
        <p:nvPicPr>
          <p:cNvPr id="6" name="Image 0" descr="preencoded.png">    </p:cNvPr>
          <p:cNvPicPr>
            <a:picLocks noChangeAspect="1"/>
          </p:cNvPicPr>
          <p:nvPr/>
        </p:nvPicPr>
        <p:blipFill>
          <a:blip r:embed="rId1"/>
          <a:stretch>
            <a:fillRect/>
          </a:stretch>
        </p:blipFill>
        <p:spPr>
          <a:xfrm>
            <a:off x="1984248" y="2395728"/>
            <a:ext cx="512064" cy="512064"/>
          </a:xfrm>
          <a:prstGeom prst="rect">
            <a:avLst/>
          </a:prstGeom>
        </p:spPr>
      </p:pic>
      <p:sp>
        <p:nvSpPr>
          <p:cNvPr id="7" name="Text 4"/>
          <p:cNvSpPr txBox="1"/>
          <p:nvPr/>
        </p:nvSpPr>
        <p:spPr>
          <a:xfrm>
            <a:off x="3017520" y="2194560"/>
            <a:ext cx="5486400" cy="457200"/>
          </a:xfrm>
          <a:prstGeom prst="rect">
            <a:avLst/>
          </a:prstGeom>
          <a:noFill/>
          <a:ln/>
        </p:spPr>
        <p:txBody>
          <a:bodyPr wrap="square" lIns="0" tIns="0" rIns="0" bIns="0" rtlCol="0" anchor="ctr"/>
          <a:lstStyle/>
          <a:p>
            <a:pPr indent="0" marL="0">
              <a:buNone/>
            </a:pPr>
            <a:r>
              <a:rPr lang="en-US" sz="1800" b="1" dirty="0">
                <a:solidFill>
                  <a:srgbClr val="1F7A64"/>
                </a:solidFill>
              </a:rPr>
              <a:t>생각해 볼까?</a:t>
            </a:r>
            <a:endParaRPr lang="en-US" sz="1800" dirty="0"/>
          </a:p>
        </p:txBody>
      </p:sp>
      <p:sp>
        <p:nvSpPr>
          <p:cNvPr id="8" name="Text 5"/>
          <p:cNvSpPr txBox="1"/>
          <p:nvPr/>
        </p:nvSpPr>
        <p:spPr>
          <a:xfrm>
            <a:off x="3017520" y="2697480"/>
            <a:ext cx="7498080" cy="2011680"/>
          </a:xfrm>
          <a:prstGeom prst="rect">
            <a:avLst/>
          </a:prstGeom>
          <a:noFill/>
          <a:ln/>
        </p:spPr>
        <p:txBody>
          <a:bodyPr wrap="square" lIns="0" tIns="0" rIns="0" bIns="0" rtlCol="0" anchor="t">
            <a:normAutofit/>
          </a:bodyPr>
          <a:lstStyle/>
          <a:p>
            <a:pPr indent="0" marL="0">
              <a:buNone/>
            </a:pPr>
            <a:r>
              <a:rPr lang="en-US" sz="2800" b="1" dirty="0">
                <a:solidFill>
                  <a:srgbClr val="14453D"/>
                </a:solidFill>
              </a:rPr>
              <a:t>어항 사진 보고 처음 눈에 들어오는 게 물고기야, 물풀이야?</a:t>
            </a:r>
            <a:endParaRPr lang="en-US" sz="2800" dirty="0"/>
          </a:p>
        </p:txBody>
      </p:sp>
      <p:sp>
        <p:nvSpPr>
          <p:cNvPr id="9" name="Text 6"/>
          <p:cNvSpPr/>
          <p:nvPr/>
        </p:nvSpPr>
        <p:spPr>
          <a:xfrm>
            <a:off x="4251960" y="5349240"/>
            <a:ext cx="3657600" cy="329184"/>
          </a:xfrm>
          <a:prstGeom prst="roundRect">
            <a:avLst>
              <a:gd name="adj" fmla="val 41667"/>
            </a:avLst>
          </a:prstGeom>
          <a:solidFill>
            <a:srgbClr val="EF5B3F"/>
          </a:solidFill>
          <a:ln/>
        </p:spPr>
        <p:txBody>
          <a:bodyPr wrap="square" lIns="0" tIns="0" rIns="0" bIns="0" rtlCol="0" anchor="ctr"/>
          <a:lstStyle/>
          <a:p>
            <a:pPr algn="ctr" indent="0" marL="0">
              <a:buNone/>
            </a:pPr>
            <a:r>
              <a:rPr lang="en-US" sz="1400" b="1" dirty="0">
                <a:solidFill>
                  <a:srgbClr val="FFFFFF"/>
                </a:solidFill>
              </a:rPr>
              <a:t>짝과 30초 이야기 → 2~3명 발표</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97  </a:t>
            </a:r>
            <a:pPr algn="l" indent="0" marL="0">
              <a:buNone/>
            </a:pPr>
            <a:r>
              <a:rPr lang="en-US" sz="2400" b="1" dirty="0">
                <a:solidFill>
                  <a:srgbClr val="14453D"/>
                </a:solidFill>
              </a:rPr>
              <a:t>(A)·(B)에 들어갈 말로 가장 적절한 것은?</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a:t>
            </a:r>
            <a:endParaRPr lang="en-US" sz="1200" dirty="0"/>
          </a:p>
        </p:txBody>
      </p:sp>
      <p:sp>
        <p:nvSpPr>
          <p:cNvPr id="4" name="Shape 2"/>
          <p:cNvSpPr/>
          <p:nvPr/>
        </p:nvSpPr>
        <p:spPr>
          <a:xfrm>
            <a:off x="548640" y="1234440"/>
            <a:ext cx="11064240" cy="5074920"/>
          </a:xfrm>
          <a:prstGeom prst="roundRect">
            <a:avLst>
              <a:gd name="adj" fmla="val 1802"/>
            </a:avLst>
          </a:prstGeom>
          <a:solidFill>
            <a:srgbClr val="FFFFFF"/>
          </a:solidFill>
          <a:ln w="19050">
            <a:solidFill>
              <a:srgbClr val="E6F2ED"/>
            </a:solidFill>
            <a:prstDash val="solid"/>
          </a:ln>
        </p:spPr>
      </p:sp>
      <p:sp>
        <p:nvSpPr>
          <p:cNvPr id="5" name="Text 3"/>
          <p:cNvSpPr txBox="1"/>
          <p:nvPr/>
        </p:nvSpPr>
        <p:spPr>
          <a:xfrm>
            <a:off x="777240" y="1371600"/>
            <a:ext cx="10607040" cy="4846320"/>
          </a:xfrm>
          <a:prstGeom prst="rect">
            <a:avLst/>
          </a:prstGeom>
          <a:noFill/>
          <a:ln/>
        </p:spPr>
        <p:txBody>
          <a:bodyPr wrap="square" lIns="0" tIns="0" rIns="0" bIns="0" rtlCol="0" anchor="t"/>
          <a:lstStyle/>
          <a:p>
            <a:pPr indent="0" marL="0">
              <a:lnSpc>
                <a:spcPct val="115000"/>
              </a:lnSpc>
              <a:buNone/>
            </a:pPr>
            <a:r>
              <a:rPr lang="en-US" sz="1450" dirty="0">
                <a:solidFill>
                  <a:srgbClr val="1E2B2A"/>
                </a:solidFill>
              </a:rPr>
              <a:t>If Asians and Westerners are shown the same thing, they will likely look at different parts of it.</a:t>
            </a:r>
            <a:pPr indent="0" marL="0">
              <a:lnSpc>
                <a:spcPct val="115000"/>
              </a:lnSpc>
              <a:buNone/>
            </a:pPr>
            <a:r>
              <a:rPr lang="en-US" sz="1450" dirty="0">
                <a:solidFill>
                  <a:srgbClr val="000000"/>
                </a:solidFill>
              </a:rPr>
              <a:t> </a:t>
            </a:r>
            <a:pPr indent="0" marL="0">
              <a:lnSpc>
                <a:spcPct val="115000"/>
              </a:lnSpc>
              <a:buNone/>
            </a:pPr>
            <a:r>
              <a:rPr lang="en-US" sz="1450" dirty="0">
                <a:solidFill>
                  <a:srgbClr val="1E2B2A"/>
                </a:solidFill>
              </a:rPr>
              <a:t>One study attributed this phenomenon to cultural differences in their thinking styles.</a:t>
            </a:r>
            <a:pPr indent="0" marL="0">
              <a:lnSpc>
                <a:spcPct val="115000"/>
              </a:lnSpc>
              <a:buNone/>
            </a:pPr>
            <a:r>
              <a:rPr lang="en-US" sz="1450" dirty="0">
                <a:solidFill>
                  <a:srgbClr val="000000"/>
                </a:solidFill>
              </a:rPr>
              <a:t> </a:t>
            </a:r>
            <a:pPr indent="0" marL="0">
              <a:lnSpc>
                <a:spcPct val="115000"/>
              </a:lnSpc>
              <a:buNone/>
            </a:pPr>
            <a:r>
              <a:rPr lang="en-US" sz="1450" dirty="0">
                <a:solidFill>
                  <a:srgbClr val="1E2B2A"/>
                </a:solidFill>
              </a:rPr>
              <a:t>As part of an experiment, American and Japanese participants were presented with a twenty-second animated video of underwater scenes.</a:t>
            </a:r>
            <a:pPr indent="0" marL="0">
              <a:lnSpc>
                <a:spcPct val="115000"/>
              </a:lnSpc>
              <a:buNone/>
            </a:pPr>
            <a:r>
              <a:rPr lang="en-US" sz="1450" dirty="0">
                <a:solidFill>
                  <a:srgbClr val="000000"/>
                </a:solidFill>
              </a:rPr>
              <a:t> </a:t>
            </a:r>
            <a:pPr indent="0" marL="0">
              <a:lnSpc>
                <a:spcPct val="115000"/>
              </a:lnSpc>
              <a:buNone/>
            </a:pPr>
            <a:r>
              <a:rPr lang="en-US" sz="1450" dirty="0">
                <a:solidFill>
                  <a:srgbClr val="1E2B2A"/>
                </a:solidFill>
              </a:rPr>
              <a:t>When asked what they had observed afterwards, the Americans said they had focused on objects in the front of the scenery, such as tropical fish.</a:t>
            </a:r>
            <a:pPr indent="0" marL="0">
              <a:lnSpc>
                <a:spcPct val="115000"/>
              </a:lnSpc>
              <a:buNone/>
            </a:pPr>
            <a:r>
              <a:rPr lang="en-US" sz="1450" dirty="0">
                <a:solidFill>
                  <a:srgbClr val="000000"/>
                </a:solidFill>
              </a:rPr>
              <a:t> </a:t>
            </a:r>
            <a:pPr indent="0" marL="0">
              <a:lnSpc>
                <a:spcPct val="115000"/>
              </a:lnSpc>
              <a:buNone/>
            </a:pPr>
            <a:r>
              <a:rPr lang="en-US" sz="1450" dirty="0">
                <a:solidFill>
                  <a:srgbClr val="1E2B2A"/>
                </a:solidFill>
              </a:rPr>
              <a:t>Meanwhile, the Japanese had focused on the objects in the background, such as colorful corals.</a:t>
            </a:r>
            <a:pPr indent="0" marL="0">
              <a:lnSpc>
                <a:spcPct val="115000"/>
              </a:lnSpc>
              <a:buNone/>
            </a:pPr>
            <a:r>
              <a:rPr lang="en-US" sz="1450" dirty="0">
                <a:solidFill>
                  <a:srgbClr val="000000"/>
                </a:solidFill>
              </a:rPr>
              <a:t> </a:t>
            </a:r>
            <a:pPr indent="0" marL="0">
              <a:lnSpc>
                <a:spcPct val="115000"/>
              </a:lnSpc>
              <a:buNone/>
            </a:pPr>
            <a:r>
              <a:rPr lang="en-US" sz="1450" dirty="0">
                <a:solidFill>
                  <a:srgbClr val="1E2B2A"/>
                </a:solidFill>
              </a:rPr>
              <a:t>This result shows evidence that Asians are more likely than Westerners to consider the entire context when perceiving information.</a:t>
            </a:r>
            <a:pPr indent="0" marL="0">
              <a:lnSpc>
                <a:spcPct val="115000"/>
              </a:lnSpc>
              <a:buNone/>
            </a:pPr>
            <a:r>
              <a:rPr lang="en-US" sz="1450" dirty="0">
                <a:solidFill>
                  <a:srgbClr val="000000"/>
                </a:solidFill>
              </a:rPr>
              <a:t> </a:t>
            </a:r>
            <a:pPr indent="0" marL="0">
              <a:lnSpc>
                <a:spcPct val="115000"/>
              </a:lnSpc>
              <a:buNone/>
            </a:pPr>
            <a:r>
              <a:rPr lang="en-US" sz="1450" dirty="0">
                <a:solidFill>
                  <a:srgbClr val="1E2B2A"/>
                </a:solidFill>
              </a:rPr>
              <a:t>On the other hand, Westerners are more independent and analytical in their information processing, often noticing specifics.</a:t>
            </a:r>
            <a:pPr indent="0" marL="0">
              <a:lnSpc>
                <a:spcPct val="115000"/>
              </a:lnSpc>
              <a:buNone/>
            </a:pPr>
            <a:r>
              <a:rPr lang="en-US" sz="1450" dirty="0">
                <a:solidFill>
                  <a:srgbClr val="000000"/>
                </a:solidFill>
              </a:rPr>
              <a:t> </a:t>
            </a:r>
            <a:pPr indent="0" marL="0">
              <a:lnSpc>
                <a:spcPct val="115000"/>
              </a:lnSpc>
              <a:buNone/>
            </a:pPr>
            <a:r>
              <a:rPr lang="en-US" sz="1450" dirty="0">
                <a:solidFill>
                  <a:srgbClr val="1E2B2A"/>
                </a:solidFill>
              </a:rPr>
              <a:t>This diversity in thinking styles can be an invaluable source of team strength if the team includes some members who can focus on the minor details and others who can see the big picture.</a:t>
            </a:r>
            <a:endParaRPr lang="en-US" sz="1450" dirty="0"/>
          </a:p>
          <a:p>
            <a:pPr algn="r" indent="0" marL="0">
              <a:lnSpc>
                <a:spcPct val="115000"/>
              </a:lnSpc>
              <a:spcBef>
                <a:spcPts val="200"/>
              </a:spcBef>
              <a:buNone/>
            </a:pPr>
            <a:r>
              <a:rPr lang="en-US" sz="1100" i="1" dirty="0">
                <a:solidFill>
                  <a:srgbClr val="6E7F7C"/>
                </a:solidFill>
              </a:rPr>
              <a:t>*analytical (사고가) 분석적인</a:t>
            </a:r>
            <a:endParaRPr lang="en-US" sz="1450" dirty="0"/>
          </a:p>
          <a:p>
            <a:pPr indent="0" marL="0">
              <a:lnSpc>
                <a:spcPct val="115000"/>
              </a:lnSpc>
              <a:spcBef>
                <a:spcPts val="800"/>
              </a:spcBef>
              <a:buNone/>
            </a:pPr>
            <a:r>
              <a:rPr lang="en-US" sz="1450" b="1" dirty="0">
                <a:solidFill>
                  <a:srgbClr val="1F7A64"/>
                </a:solidFill>
              </a:rPr>
              <a:t>↓  </a:t>
            </a:r>
            <a:pPr indent="0" marL="0">
              <a:lnSpc>
                <a:spcPct val="115000"/>
              </a:lnSpc>
              <a:buNone/>
            </a:pPr>
            <a:r>
              <a:rPr lang="en-US" sz="1450" dirty="0">
                <a:solidFill>
                  <a:srgbClr val="14453D"/>
                </a:solidFill>
              </a:rPr>
              <a:t>People tend to have a </a:t>
            </a:r>
            <a:pPr indent="0" marL="0">
              <a:lnSpc>
                <a:spcPct val="115000"/>
              </a:lnSpc>
              <a:buNone/>
            </a:pPr>
            <a:r>
              <a:rPr lang="en-US" sz="1450" b="1" dirty="0">
                <a:solidFill>
                  <a:srgbClr val="EF5B3F"/>
                </a:solidFill>
              </a:rPr>
              <a:t>(A)</a:t>
            </a:r>
            <a:pPr indent="0" marL="0">
              <a:lnSpc>
                <a:spcPct val="115000"/>
              </a:lnSpc>
              <a:buNone/>
            </a:pPr>
            <a:r>
              <a:rPr lang="en-US" sz="1450" dirty="0">
                <a:solidFill>
                  <a:srgbClr val="14453D"/>
                </a:solidFill>
              </a:rPr>
              <a:t> way of thinking based on their cultural backgrounds, so having cultural diversity on a team can </a:t>
            </a:r>
            <a:pPr indent="0" marL="0">
              <a:lnSpc>
                <a:spcPct val="115000"/>
              </a:lnSpc>
              <a:buNone/>
            </a:pPr>
            <a:r>
              <a:rPr lang="en-US" sz="1450" b="1" dirty="0">
                <a:solidFill>
                  <a:srgbClr val="EF5B3F"/>
                </a:solidFill>
              </a:rPr>
              <a:t>(B)</a:t>
            </a:r>
            <a:pPr indent="0" marL="0">
              <a:lnSpc>
                <a:spcPct val="115000"/>
              </a:lnSpc>
              <a:buNone/>
            </a:pPr>
            <a:r>
              <a:rPr lang="en-US" sz="1450" dirty="0">
                <a:solidFill>
                  <a:srgbClr val="14453D"/>
                </a:solidFill>
              </a:rPr>
              <a:t> teamwork.</a:t>
            </a:r>
            <a:endParaRPr lang="en-US" sz="1450" dirty="0"/>
          </a:p>
          <a:p>
            <a:pPr indent="0" marL="0">
              <a:lnSpc>
                <a:spcPct val="115000"/>
              </a:lnSpc>
              <a:spcBef>
                <a:spcPts val="1000"/>
              </a:spcBef>
              <a:buNone/>
            </a:pPr>
            <a:r>
              <a:rPr lang="en-US" sz="1450" dirty="0">
                <a:solidFill>
                  <a:srgbClr val="14453D"/>
                </a:solidFill>
              </a:rPr>
              <a:t>①  superficial ----- allocate</a:t>
            </a:r>
            <a:endParaRPr lang="en-US" sz="1450" dirty="0"/>
          </a:p>
          <a:p>
            <a:pPr indent="0" marL="0">
              <a:lnSpc>
                <a:spcPct val="115000"/>
              </a:lnSpc>
              <a:spcBef>
                <a:spcPts val="200"/>
              </a:spcBef>
              <a:buNone/>
            </a:pPr>
            <a:r>
              <a:rPr lang="en-US" sz="1450" dirty="0">
                <a:solidFill>
                  <a:srgbClr val="14453D"/>
                </a:solidFill>
              </a:rPr>
              <a:t>②  practical ----- enhance</a:t>
            </a:r>
            <a:endParaRPr lang="en-US" sz="1450" dirty="0"/>
          </a:p>
          <a:p>
            <a:pPr indent="0" marL="0">
              <a:lnSpc>
                <a:spcPct val="115000"/>
              </a:lnSpc>
              <a:spcBef>
                <a:spcPts val="200"/>
              </a:spcBef>
              <a:buNone/>
            </a:pPr>
            <a:r>
              <a:rPr lang="en-US" sz="1450" dirty="0">
                <a:solidFill>
                  <a:srgbClr val="14453D"/>
                </a:solidFill>
              </a:rPr>
              <a:t>③  distinct ----- allocate</a:t>
            </a:r>
            <a:endParaRPr lang="en-US" sz="1450" dirty="0"/>
          </a:p>
          <a:p>
            <a:pPr indent="0" marL="0">
              <a:lnSpc>
                <a:spcPct val="115000"/>
              </a:lnSpc>
              <a:spcBef>
                <a:spcPts val="200"/>
              </a:spcBef>
              <a:buNone/>
            </a:pPr>
            <a:r>
              <a:rPr lang="en-US" sz="1450" dirty="0">
                <a:solidFill>
                  <a:srgbClr val="14453D"/>
                </a:solidFill>
              </a:rPr>
              <a:t>④  preferred ----- enhance</a:t>
            </a:r>
            <a:endParaRPr lang="en-US" sz="1450" dirty="0"/>
          </a:p>
          <a:p>
            <a:pPr indent="0" marL="0">
              <a:lnSpc>
                <a:spcPct val="115000"/>
              </a:lnSpc>
              <a:spcBef>
                <a:spcPts val="200"/>
              </a:spcBef>
              <a:buNone/>
            </a:pPr>
            <a:r>
              <a:rPr lang="en-US" sz="1450" dirty="0">
                <a:solidFill>
                  <a:srgbClr val="14453D"/>
                </a:solidFill>
              </a:rPr>
              <a:t>⑤  expanded ----- undermine</a:t>
            </a:r>
            <a:endParaRPr lang="en-US" sz="14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97  </a:t>
            </a:r>
            <a:pPr algn="l" indent="0" marL="0">
              <a:buNone/>
            </a:pPr>
            <a:r>
              <a:rPr lang="en-US" sz="3000" b="1" dirty="0">
                <a:solidFill>
                  <a:srgbClr val="14453D"/>
                </a:solidFill>
              </a:rPr>
              <a:t>정답 근거 &amp; 문법 포인트</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근거</a:t>
            </a:r>
            <a:endParaRPr lang="en-US" sz="1200" dirty="0"/>
          </a:p>
        </p:txBody>
      </p:sp>
      <p:sp>
        <p:nvSpPr>
          <p:cNvPr id="4" name="Shape 2"/>
          <p:cNvSpPr/>
          <p:nvPr/>
        </p:nvSpPr>
        <p:spPr>
          <a:xfrm>
            <a:off x="548640" y="1234440"/>
            <a:ext cx="11064240" cy="2642616"/>
          </a:xfrm>
          <a:prstGeom prst="roundRect">
            <a:avLst>
              <a:gd name="adj" fmla="val 3460"/>
            </a:avLst>
          </a:prstGeom>
          <a:solidFill>
            <a:srgbClr val="FFFFFF"/>
          </a:solidFill>
          <a:ln w="19050">
            <a:solidFill>
              <a:srgbClr val="E6F2ED"/>
            </a:solidFill>
            <a:prstDash val="solid"/>
          </a:ln>
        </p:spPr>
      </p:sp>
      <p:sp>
        <p:nvSpPr>
          <p:cNvPr id="5" name="Text 3"/>
          <p:cNvSpPr txBox="1"/>
          <p:nvPr/>
        </p:nvSpPr>
        <p:spPr>
          <a:xfrm>
            <a:off x="777240" y="1371600"/>
            <a:ext cx="10607040" cy="2414016"/>
          </a:xfrm>
          <a:prstGeom prst="rect">
            <a:avLst/>
          </a:prstGeom>
          <a:noFill/>
          <a:ln/>
        </p:spPr>
        <p:txBody>
          <a:bodyPr wrap="square" lIns="0" tIns="0" rIns="0" bIns="0" rtlCol="0" anchor="t">
            <a:normAutofit/>
          </a:bodyPr>
          <a:lstStyle/>
          <a:p>
            <a:pPr indent="0" marL="0">
              <a:lnSpc>
                <a:spcPct val="120000"/>
              </a:lnSpc>
              <a:buNone/>
            </a:pPr>
            <a:r>
              <a:rPr lang="en-US" sz="1000" b="1" dirty="0">
                <a:solidFill>
                  <a:srgbClr val="1F7A64"/>
                </a:solidFill>
              </a:rPr>
              <a:t>(1) </a:t>
            </a:r>
            <a:pPr indent="0" marL="0">
              <a:lnSpc>
                <a:spcPct val="120000"/>
              </a:lnSpc>
              <a:buNone/>
            </a:pPr>
            <a:r>
              <a:rPr lang="en-US" sz="1300" dirty="0">
                <a:solidFill>
                  <a:srgbClr val="1E2B2A"/>
                </a:solidFill>
              </a:rPr>
              <a:t>If Asians and Westerners are shown the same thing, </a:t>
            </a:r>
            <a:pPr indent="0" marL="0">
              <a:lnSpc>
                <a:spcPct val="120000"/>
              </a:lnSpc>
              <a:buNone/>
            </a:pPr>
            <a:r>
              <a:rPr lang="en-US" sz="1300" b="1" dirty="0">
                <a:solidFill>
                  <a:srgbClr val="14453D"/>
                </a:solidFill>
                <a:highlight>
                  <a:srgbClr val="A9DDF3"/>
                </a:highlight>
              </a:rPr>
              <a:t>they will likely look at different parts of it</a:t>
            </a:r>
            <a:pPr indent="0" marL="0">
              <a:lnSpc>
                <a:spcPct val="120000"/>
              </a:lnSpc>
              <a:buNone/>
            </a:pPr>
            <a:r>
              <a:rPr lang="en-US" sz="1300" dirty="0">
                <a:solidFill>
                  <a:srgbClr val="1E2B2A"/>
                </a:solidFill>
              </a:rPr>
              <a:t>.</a:t>
            </a:r>
            <a:pPr indent="0" marL="0">
              <a:lnSpc>
                <a:spcPct val="120000"/>
              </a:lnSpc>
              <a:buNone/>
            </a:pPr>
            <a:r>
              <a:rPr lang="en-US" sz="1300" dirty="0">
                <a:solidFill>
                  <a:srgbClr val="000000"/>
                </a:solidFill>
              </a:rPr>
              <a:t> </a:t>
            </a:r>
            <a:pPr indent="0" marL="0">
              <a:lnSpc>
                <a:spcPct val="120000"/>
              </a:lnSpc>
              <a:buNone/>
            </a:pPr>
            <a:r>
              <a:rPr lang="en-US" sz="1000" b="1" dirty="0">
                <a:solidFill>
                  <a:srgbClr val="1F7A64"/>
                </a:solidFill>
              </a:rPr>
              <a:t>(2) </a:t>
            </a:r>
            <a:pPr indent="0" marL="0">
              <a:lnSpc>
                <a:spcPct val="120000"/>
              </a:lnSpc>
              <a:buNone/>
            </a:pPr>
            <a:r>
              <a:rPr lang="en-US" sz="1300" dirty="0">
                <a:solidFill>
                  <a:srgbClr val="1E2B2A"/>
                </a:solidFill>
                <a:highlight>
                  <a:srgbClr val="FFD45C"/>
                </a:highlight>
              </a:rPr>
              <a:t>One study </a:t>
            </a:r>
            <a:pPr indent="0" marL="0">
              <a:lnSpc>
                <a:spcPct val="120000"/>
              </a:lnSpc>
              <a:buNone/>
            </a:pPr>
            <a:r>
              <a:rPr lang="en-US" sz="1300" b="1" u="dotted" dirty="0">
                <a:solidFill>
                  <a:srgbClr val="14453D"/>
                </a:solidFill>
                <a:highlight>
                  <a:srgbClr val="A9DDF3"/>
                </a:highlight>
                <a:uFill>
                  <a:solidFill>
                    <a:srgbClr val="1F7A64"/>
                  </a:solidFill>
                </a:uFill>
              </a:rPr>
              <a:t>attributed</a:t>
            </a:r>
            <a:pPr indent="0" marL="0">
              <a:lnSpc>
                <a:spcPct val="120000"/>
              </a:lnSpc>
              <a:buNone/>
            </a:pPr>
            <a:r>
              <a:rPr lang="en-US" sz="1300" b="1" dirty="0">
                <a:solidFill>
                  <a:srgbClr val="14453D"/>
                </a:solidFill>
                <a:highlight>
                  <a:srgbClr val="A9DDF3"/>
                </a:highlight>
              </a:rPr>
              <a:t> this </a:t>
            </a:r>
            <a:pPr indent="0" marL="0">
              <a:lnSpc>
                <a:spcPct val="120000"/>
              </a:lnSpc>
              <a:buNone/>
            </a:pPr>
            <a:r>
              <a:rPr lang="en-US" sz="1300" b="1" u="dotted" dirty="0">
                <a:solidFill>
                  <a:srgbClr val="14453D"/>
                </a:solidFill>
                <a:highlight>
                  <a:srgbClr val="A9DDF3"/>
                </a:highlight>
                <a:uFill>
                  <a:solidFill>
                    <a:srgbClr val="1F7A64"/>
                  </a:solidFill>
                </a:uFill>
              </a:rPr>
              <a:t>phenomenon</a:t>
            </a:r>
            <a:pPr indent="0" marL="0">
              <a:lnSpc>
                <a:spcPct val="120000"/>
              </a:lnSpc>
              <a:buNone/>
            </a:pPr>
            <a:r>
              <a:rPr lang="en-US" sz="1300" b="1" dirty="0">
                <a:solidFill>
                  <a:srgbClr val="14453D"/>
                </a:solidFill>
                <a:highlight>
                  <a:srgbClr val="A9DDF3"/>
                </a:highlight>
              </a:rPr>
              <a:t> to</a:t>
            </a:r>
            <a:pPr indent="0" marL="0">
              <a:lnSpc>
                <a:spcPct val="120000"/>
              </a:lnSpc>
              <a:buNone/>
            </a:pPr>
            <a:r>
              <a:rPr lang="en-US" sz="1300" dirty="0">
                <a:solidFill>
                  <a:srgbClr val="1E2B2A"/>
                </a:solidFill>
                <a:highlight>
                  <a:srgbClr val="FFD45C"/>
                </a:highlight>
              </a:rPr>
              <a:t> cultural differences in their thinking styles.</a:t>
            </a:r>
            <a:pPr indent="0" marL="0">
              <a:lnSpc>
                <a:spcPct val="120000"/>
              </a:lnSpc>
              <a:buNone/>
            </a:pPr>
            <a:r>
              <a:rPr lang="en-US" sz="1300" dirty="0">
                <a:solidFill>
                  <a:srgbClr val="000000"/>
                </a:solidFill>
              </a:rPr>
              <a:t> </a:t>
            </a:r>
            <a:pPr indent="0" marL="0">
              <a:lnSpc>
                <a:spcPct val="120000"/>
              </a:lnSpc>
              <a:buNone/>
            </a:pPr>
            <a:r>
              <a:rPr lang="en-US" sz="1000" b="1" dirty="0">
                <a:solidFill>
                  <a:srgbClr val="1F7A64"/>
                </a:solidFill>
              </a:rPr>
              <a:t>(3) </a:t>
            </a:r>
            <a:pPr indent="0" marL="0">
              <a:lnSpc>
                <a:spcPct val="120000"/>
              </a:lnSpc>
              <a:buNone/>
            </a:pPr>
            <a:r>
              <a:rPr lang="en-US" sz="1300" dirty="0">
                <a:solidFill>
                  <a:srgbClr val="1E2B2A"/>
                </a:solidFill>
              </a:rPr>
              <a:t>As part of an experiment, American and Japanese participants were presented with a twenty-second animated video of underwater scenes.</a:t>
            </a:r>
            <a:pPr indent="0" marL="0">
              <a:lnSpc>
                <a:spcPct val="120000"/>
              </a:lnSpc>
              <a:buNone/>
            </a:pPr>
            <a:r>
              <a:rPr lang="en-US" sz="1300" dirty="0">
                <a:solidFill>
                  <a:srgbClr val="000000"/>
                </a:solidFill>
              </a:rPr>
              <a:t> </a:t>
            </a:r>
            <a:pPr indent="0" marL="0">
              <a:lnSpc>
                <a:spcPct val="120000"/>
              </a:lnSpc>
              <a:buNone/>
            </a:pPr>
            <a:r>
              <a:rPr lang="en-US" sz="1000" b="1" dirty="0">
                <a:solidFill>
                  <a:srgbClr val="1F7A64"/>
                </a:solidFill>
              </a:rPr>
              <a:t>(4) </a:t>
            </a:r>
            <a:pPr indent="0" marL="0">
              <a:lnSpc>
                <a:spcPct val="120000"/>
              </a:lnSpc>
              <a:buNone/>
            </a:pPr>
            <a:r>
              <a:rPr lang="en-US" sz="1300" b="1" dirty="0">
                <a:solidFill>
                  <a:srgbClr val="14453D"/>
                </a:solidFill>
                <a:highlight>
                  <a:srgbClr val="A9DDF3"/>
                </a:highlight>
              </a:rPr>
              <a:t>When asked what they had observed afterwards</a:t>
            </a:r>
            <a:pPr indent="0" marL="0">
              <a:lnSpc>
                <a:spcPct val="120000"/>
              </a:lnSpc>
              <a:buNone/>
            </a:pPr>
            <a:r>
              <a:rPr lang="en-US" sz="1300" dirty="0">
                <a:solidFill>
                  <a:srgbClr val="1E2B2A"/>
                </a:solidFill>
              </a:rPr>
              <a:t>, the Americans said they had focused on objects in the front of the scenery, such as </a:t>
            </a:r>
            <a:pPr indent="0" marL="0">
              <a:lnSpc>
                <a:spcPct val="120000"/>
              </a:lnSpc>
              <a:buNone/>
            </a:pPr>
            <a:r>
              <a:rPr lang="en-US" sz="1300" u="dotted" dirty="0">
                <a:solidFill>
                  <a:srgbClr val="1F7A64"/>
                </a:solidFill>
                <a:uFill>
                  <a:solidFill>
                    <a:srgbClr val="1F7A64"/>
                  </a:solidFill>
                </a:uFill>
              </a:rPr>
              <a:t>tropical</a:t>
            </a:r>
            <a:pPr indent="0" marL="0">
              <a:lnSpc>
                <a:spcPct val="120000"/>
              </a:lnSpc>
              <a:buNone/>
            </a:pPr>
            <a:r>
              <a:rPr lang="en-US" sz="1300" dirty="0">
                <a:solidFill>
                  <a:srgbClr val="1E2B2A"/>
                </a:solidFill>
              </a:rPr>
              <a:t> fish.</a:t>
            </a:r>
            <a:pPr indent="0" marL="0">
              <a:lnSpc>
                <a:spcPct val="120000"/>
              </a:lnSpc>
              <a:buNone/>
            </a:pPr>
            <a:r>
              <a:rPr lang="en-US" sz="1300" dirty="0">
                <a:solidFill>
                  <a:srgbClr val="000000"/>
                </a:solidFill>
              </a:rPr>
              <a:t> </a:t>
            </a:r>
            <a:pPr indent="0" marL="0">
              <a:lnSpc>
                <a:spcPct val="120000"/>
              </a:lnSpc>
              <a:buNone/>
            </a:pPr>
            <a:r>
              <a:rPr lang="en-US" sz="1000" b="1" dirty="0">
                <a:solidFill>
                  <a:srgbClr val="1F7A64"/>
                </a:solidFill>
              </a:rPr>
              <a:t>(5) </a:t>
            </a:r>
            <a:pPr indent="0" marL="0">
              <a:lnSpc>
                <a:spcPct val="120000"/>
              </a:lnSpc>
              <a:buNone/>
            </a:pPr>
            <a:r>
              <a:rPr lang="en-US" sz="1300" dirty="0">
                <a:solidFill>
                  <a:srgbClr val="1E2B2A"/>
                </a:solidFill>
              </a:rPr>
              <a:t>Meanwhile, the Japanese had focused on the objects in the background, such as colorful </a:t>
            </a:r>
            <a:pPr indent="0" marL="0">
              <a:lnSpc>
                <a:spcPct val="120000"/>
              </a:lnSpc>
              <a:buNone/>
            </a:pPr>
            <a:r>
              <a:rPr lang="en-US" sz="1300" u="dotted" dirty="0">
                <a:solidFill>
                  <a:srgbClr val="1F7A64"/>
                </a:solidFill>
                <a:uFill>
                  <a:solidFill>
                    <a:srgbClr val="1F7A64"/>
                  </a:solidFill>
                </a:uFill>
              </a:rPr>
              <a:t>corals</a:t>
            </a:r>
            <a:pPr indent="0" marL="0">
              <a:lnSpc>
                <a:spcPct val="120000"/>
              </a:lnSpc>
              <a:buNone/>
            </a:pPr>
            <a:r>
              <a:rPr lang="en-US" sz="1300" dirty="0">
                <a:solidFill>
                  <a:srgbClr val="1E2B2A"/>
                </a:solidFill>
              </a:rPr>
              <a:t>.</a:t>
            </a:r>
            <a:pPr indent="0" marL="0">
              <a:lnSpc>
                <a:spcPct val="120000"/>
              </a:lnSpc>
              <a:buNone/>
            </a:pPr>
            <a:r>
              <a:rPr lang="en-US" sz="1300" dirty="0">
                <a:solidFill>
                  <a:srgbClr val="000000"/>
                </a:solidFill>
              </a:rPr>
              <a:t> </a:t>
            </a:r>
            <a:pPr indent="0" marL="0">
              <a:lnSpc>
                <a:spcPct val="120000"/>
              </a:lnSpc>
              <a:buNone/>
            </a:pPr>
            <a:r>
              <a:rPr lang="en-US" sz="1000" b="1" dirty="0">
                <a:solidFill>
                  <a:srgbClr val="1F7A64"/>
                </a:solidFill>
              </a:rPr>
              <a:t>(6) </a:t>
            </a:r>
            <a:pPr indent="0" marL="0">
              <a:lnSpc>
                <a:spcPct val="120000"/>
              </a:lnSpc>
              <a:buNone/>
            </a:pPr>
            <a:r>
              <a:rPr lang="en-US" sz="1300" dirty="0">
                <a:solidFill>
                  <a:srgbClr val="1E2B2A"/>
                </a:solidFill>
                <a:highlight>
                  <a:srgbClr val="FFD45C"/>
                </a:highlight>
              </a:rPr>
              <a:t>This result shows evidence that Asians are </a:t>
            </a:r>
            <a:pPr indent="0" marL="0">
              <a:lnSpc>
                <a:spcPct val="120000"/>
              </a:lnSpc>
              <a:buNone/>
            </a:pPr>
            <a:r>
              <a:rPr lang="en-US" sz="1300" b="1" dirty="0">
                <a:solidFill>
                  <a:srgbClr val="14453D"/>
                </a:solidFill>
                <a:highlight>
                  <a:srgbClr val="A9DDF3"/>
                </a:highlight>
              </a:rPr>
              <a:t>more likely than Westerners to consider</a:t>
            </a:r>
            <a:pPr indent="0" marL="0">
              <a:lnSpc>
                <a:spcPct val="120000"/>
              </a:lnSpc>
              <a:buNone/>
            </a:pPr>
            <a:r>
              <a:rPr lang="en-US" sz="1300" dirty="0">
                <a:solidFill>
                  <a:srgbClr val="1E2B2A"/>
                </a:solidFill>
                <a:highlight>
                  <a:srgbClr val="FFD45C"/>
                </a:highlight>
              </a:rPr>
              <a:t> the entire context when </a:t>
            </a:r>
            <a:pPr indent="0" marL="0">
              <a:lnSpc>
                <a:spcPct val="120000"/>
              </a:lnSpc>
              <a:buNone/>
            </a:pPr>
            <a:r>
              <a:rPr lang="en-US" sz="1300" u="dotted" dirty="0">
                <a:solidFill>
                  <a:srgbClr val="1F7A64"/>
                </a:solidFill>
                <a:highlight>
                  <a:srgbClr val="FFD45C"/>
                </a:highlight>
                <a:uFill>
                  <a:solidFill>
                    <a:srgbClr val="1F7A64"/>
                  </a:solidFill>
                </a:uFill>
              </a:rPr>
              <a:t>perceiving</a:t>
            </a:r>
            <a:pPr indent="0" marL="0">
              <a:lnSpc>
                <a:spcPct val="120000"/>
              </a:lnSpc>
              <a:buNone/>
            </a:pPr>
            <a:r>
              <a:rPr lang="en-US" sz="1300" dirty="0">
                <a:solidFill>
                  <a:srgbClr val="1E2B2A"/>
                </a:solidFill>
                <a:highlight>
                  <a:srgbClr val="FFD45C"/>
                </a:highlight>
              </a:rPr>
              <a:t> information.</a:t>
            </a:r>
            <a:pPr indent="0" marL="0">
              <a:lnSpc>
                <a:spcPct val="120000"/>
              </a:lnSpc>
              <a:buNone/>
            </a:pPr>
            <a:r>
              <a:rPr lang="en-US" sz="1300" dirty="0">
                <a:solidFill>
                  <a:srgbClr val="000000"/>
                </a:solidFill>
              </a:rPr>
              <a:t> </a:t>
            </a:r>
            <a:pPr indent="0" marL="0">
              <a:lnSpc>
                <a:spcPct val="120000"/>
              </a:lnSpc>
              <a:buNone/>
            </a:pPr>
            <a:r>
              <a:rPr lang="en-US" sz="1000" b="1" dirty="0">
                <a:solidFill>
                  <a:srgbClr val="1F7A64"/>
                </a:solidFill>
              </a:rPr>
              <a:t>(7) </a:t>
            </a:r>
            <a:pPr indent="0" marL="0">
              <a:lnSpc>
                <a:spcPct val="120000"/>
              </a:lnSpc>
              <a:buNone/>
            </a:pPr>
            <a:r>
              <a:rPr lang="en-US" sz="1300" dirty="0">
                <a:solidFill>
                  <a:srgbClr val="1E2B2A"/>
                </a:solidFill>
                <a:highlight>
                  <a:srgbClr val="FFD45C"/>
                </a:highlight>
              </a:rPr>
              <a:t>On the other hand, Westerners are more independent and analytical in their information processing</a:t>
            </a:r>
            <a:pPr indent="0" marL="0">
              <a:lnSpc>
                <a:spcPct val="120000"/>
              </a:lnSpc>
              <a:buNone/>
            </a:pPr>
            <a:r>
              <a:rPr lang="en-US" sz="1300" b="1" dirty="0">
                <a:solidFill>
                  <a:srgbClr val="14453D"/>
                </a:solidFill>
                <a:highlight>
                  <a:srgbClr val="A9DDF3"/>
                </a:highlight>
              </a:rPr>
              <a:t>, often noticing </a:t>
            </a:r>
            <a:pPr indent="0" marL="0">
              <a:lnSpc>
                <a:spcPct val="120000"/>
              </a:lnSpc>
              <a:buNone/>
            </a:pPr>
            <a:r>
              <a:rPr lang="en-US" sz="1300" b="1" u="dotted" dirty="0">
                <a:solidFill>
                  <a:srgbClr val="14453D"/>
                </a:solidFill>
                <a:highlight>
                  <a:srgbClr val="A9DDF3"/>
                </a:highlight>
                <a:uFill>
                  <a:solidFill>
                    <a:srgbClr val="1F7A64"/>
                  </a:solidFill>
                </a:uFill>
              </a:rPr>
              <a:t>specifics</a:t>
            </a:r>
            <a:pPr indent="0" marL="0">
              <a:lnSpc>
                <a:spcPct val="120000"/>
              </a:lnSpc>
              <a:buNone/>
            </a:pPr>
            <a:r>
              <a:rPr lang="en-US" sz="1300" dirty="0">
                <a:solidFill>
                  <a:srgbClr val="1E2B2A"/>
                </a:solidFill>
                <a:highlight>
                  <a:srgbClr val="FFD45C"/>
                </a:highlight>
              </a:rPr>
              <a:t>.</a:t>
            </a:r>
            <a:pPr indent="0" marL="0">
              <a:lnSpc>
                <a:spcPct val="120000"/>
              </a:lnSpc>
              <a:buNone/>
            </a:pPr>
            <a:r>
              <a:rPr lang="en-US" sz="1300" dirty="0">
                <a:solidFill>
                  <a:srgbClr val="000000"/>
                </a:solidFill>
              </a:rPr>
              <a:t> </a:t>
            </a:r>
            <a:pPr indent="0" marL="0">
              <a:lnSpc>
                <a:spcPct val="120000"/>
              </a:lnSpc>
              <a:buNone/>
            </a:pPr>
            <a:r>
              <a:rPr lang="en-US" sz="1000" b="1" dirty="0">
                <a:solidFill>
                  <a:srgbClr val="1F7A64"/>
                </a:solidFill>
              </a:rPr>
              <a:t>(8) </a:t>
            </a:r>
            <a:pPr indent="0" marL="0">
              <a:lnSpc>
                <a:spcPct val="120000"/>
              </a:lnSpc>
              <a:buNone/>
            </a:pPr>
            <a:r>
              <a:rPr lang="en-US" sz="1300" dirty="0">
                <a:solidFill>
                  <a:srgbClr val="1E2B2A"/>
                </a:solidFill>
                <a:highlight>
                  <a:srgbClr val="FFD45C"/>
                </a:highlight>
              </a:rPr>
              <a:t>This diversity in thinking styles can be an </a:t>
            </a:r>
            <a:pPr indent="0" marL="0">
              <a:lnSpc>
                <a:spcPct val="120000"/>
              </a:lnSpc>
              <a:buNone/>
            </a:pPr>
            <a:r>
              <a:rPr lang="en-US" sz="1300" u="dotted" dirty="0">
                <a:solidFill>
                  <a:srgbClr val="1F7A64"/>
                </a:solidFill>
                <a:highlight>
                  <a:srgbClr val="FFD45C"/>
                </a:highlight>
                <a:uFill>
                  <a:solidFill>
                    <a:srgbClr val="1F7A64"/>
                  </a:solidFill>
                </a:uFill>
              </a:rPr>
              <a:t>invaluable</a:t>
            </a:r>
            <a:pPr indent="0" marL="0">
              <a:lnSpc>
                <a:spcPct val="120000"/>
              </a:lnSpc>
              <a:buNone/>
            </a:pPr>
            <a:r>
              <a:rPr lang="en-US" sz="1300" dirty="0">
                <a:solidFill>
                  <a:srgbClr val="1E2B2A"/>
                </a:solidFill>
                <a:highlight>
                  <a:srgbClr val="FFD45C"/>
                </a:highlight>
              </a:rPr>
              <a:t> source of team strength if the team includes some members who can focus on the minor details and others who can see the big picture.</a:t>
            </a:r>
            <a:endParaRPr lang="en-US" sz="1000" dirty="0"/>
          </a:p>
        </p:txBody>
      </p:sp>
      <p:sp>
        <p:nvSpPr>
          <p:cNvPr id="6" name="Shape 4"/>
          <p:cNvSpPr/>
          <p:nvPr/>
        </p:nvSpPr>
        <p:spPr>
          <a:xfrm>
            <a:off x="548640" y="3968496"/>
            <a:ext cx="11064240" cy="1243584"/>
          </a:xfrm>
          <a:prstGeom prst="roundRect">
            <a:avLst>
              <a:gd name="adj" fmla="val 7353"/>
            </a:avLst>
          </a:prstGeom>
          <a:solidFill>
            <a:srgbClr val="FFF6D6"/>
          </a:solidFill>
          <a:ln w="15875">
            <a:solidFill>
              <a:srgbClr val="FFD45C"/>
            </a:solidFill>
            <a:prstDash val="solid"/>
          </a:ln>
        </p:spPr>
      </p:sp>
      <p:sp>
        <p:nvSpPr>
          <p:cNvPr id="7" name="Text 5"/>
          <p:cNvSpPr txBox="1"/>
          <p:nvPr/>
        </p:nvSpPr>
        <p:spPr>
          <a:xfrm>
            <a:off x="731520" y="4041648"/>
            <a:ext cx="1051560" cy="274320"/>
          </a:xfrm>
          <a:prstGeom prst="rect">
            <a:avLst/>
          </a:prstGeom>
          <a:solidFill>
            <a:srgbClr val="EF5B3F"/>
          </a:solidFill>
          <a:ln/>
        </p:spPr>
        <p:txBody>
          <a:bodyPr wrap="square" lIns="0" tIns="0" rIns="0" bIns="0" rtlCol="0" anchor="ctr"/>
          <a:lstStyle/>
          <a:p>
            <a:pPr algn="ctr" indent="0" marL="0">
              <a:buNone/>
            </a:pPr>
            <a:r>
              <a:rPr lang="en-US" sz="1200" b="1" dirty="0">
                <a:solidFill>
                  <a:srgbClr val="FFFFFF"/>
                </a:solidFill>
              </a:rPr>
              <a:t> 근거 이유 </a:t>
            </a:r>
            <a:endParaRPr lang="en-US" sz="1200" dirty="0"/>
          </a:p>
        </p:txBody>
      </p:sp>
      <p:sp>
        <p:nvSpPr>
          <p:cNvPr id="8" name="Text 6"/>
          <p:cNvSpPr txBox="1"/>
          <p:nvPr/>
        </p:nvSpPr>
        <p:spPr>
          <a:xfrm>
            <a:off x="1920240" y="4014216"/>
            <a:ext cx="9555480" cy="1152144"/>
          </a:xfrm>
          <a:prstGeom prst="rect">
            <a:avLst/>
          </a:prstGeom>
          <a:noFill/>
          <a:ln/>
        </p:spPr>
        <p:txBody>
          <a:bodyPr wrap="square" lIns="0" tIns="0" rIns="0" bIns="0" rtlCol="0" anchor="ctr">
            <a:normAutofit/>
          </a:bodyPr>
          <a:lstStyle/>
          <a:p>
            <a:pPr indent="0" marL="0">
              <a:lnSpc>
                <a:spcPct val="105000"/>
              </a:lnSpc>
              <a:buNone/>
            </a:pPr>
            <a:r>
              <a:rPr lang="en-US" sz="1400" b="1" dirty="0">
                <a:solidFill>
                  <a:srgbClr val="EF5B3F"/>
                </a:solidFill>
              </a:rPr>
              <a:t>(2) </a:t>
            </a:r>
            <a:pPr indent="0" marL="0">
              <a:lnSpc>
                <a:spcPct val="105000"/>
              </a:lnSpc>
              <a:buNone/>
            </a:pPr>
            <a:r>
              <a:rPr lang="en-US" sz="1400" dirty="0">
                <a:solidFill>
                  <a:srgbClr val="14453D"/>
                </a:solidFill>
              </a:rPr>
              <a:t>문화 차이가 사고방식 차이를 만든다</a:t>
            </a:r>
            <a:endParaRPr lang="en-US" sz="1400" dirty="0"/>
          </a:p>
          <a:p>
            <a:pPr indent="0" marL="0">
              <a:lnSpc>
                <a:spcPct val="105000"/>
              </a:lnSpc>
              <a:buNone/>
            </a:pPr>
            <a:r>
              <a:rPr lang="en-US" sz="1400" b="1" dirty="0">
                <a:solidFill>
                  <a:srgbClr val="EF5B3F"/>
                </a:solidFill>
              </a:rPr>
              <a:t>(6) </a:t>
            </a:r>
            <a:pPr indent="0" marL="0">
              <a:lnSpc>
                <a:spcPct val="105000"/>
              </a:lnSpc>
              <a:buNone/>
            </a:pPr>
            <a:r>
              <a:rPr lang="en-US" sz="1400" dirty="0">
                <a:solidFill>
                  <a:srgbClr val="14453D"/>
                </a:solidFill>
              </a:rPr>
              <a:t>아시아인은 전체 맥락을 더 고려 → 문화별 (A) preferred 방식</a:t>
            </a:r>
            <a:endParaRPr lang="en-US" sz="1400" dirty="0"/>
          </a:p>
          <a:p>
            <a:pPr indent="0" marL="0">
              <a:lnSpc>
                <a:spcPct val="105000"/>
              </a:lnSpc>
              <a:buNone/>
            </a:pPr>
            <a:r>
              <a:rPr lang="en-US" sz="1400" b="1" dirty="0">
                <a:solidFill>
                  <a:srgbClr val="EF5B3F"/>
                </a:solidFill>
              </a:rPr>
              <a:t>(7) </a:t>
            </a:r>
            <a:pPr indent="0" marL="0">
              <a:lnSpc>
                <a:spcPct val="105000"/>
              </a:lnSpc>
              <a:buNone/>
            </a:pPr>
            <a:r>
              <a:rPr lang="en-US" sz="1400" dirty="0">
                <a:solidFill>
                  <a:srgbClr val="14453D"/>
                </a:solidFill>
              </a:rPr>
              <a:t>서양인은 독립적·분석적 → 각자 선호하는 방식</a:t>
            </a:r>
            <a:endParaRPr lang="en-US" sz="1400" dirty="0"/>
          </a:p>
          <a:p>
            <a:pPr indent="0" marL="0">
              <a:lnSpc>
                <a:spcPct val="105000"/>
              </a:lnSpc>
              <a:buNone/>
            </a:pPr>
            <a:r>
              <a:rPr lang="en-US" sz="1400" b="1" dirty="0">
                <a:solidFill>
                  <a:srgbClr val="EF5B3F"/>
                </a:solidFill>
              </a:rPr>
              <a:t>(8) </a:t>
            </a:r>
            <a:pPr indent="0" marL="0">
              <a:lnSpc>
                <a:spcPct val="105000"/>
              </a:lnSpc>
              <a:buNone/>
            </a:pPr>
            <a:r>
              <a:rPr lang="en-US" sz="1400" dirty="0">
                <a:solidFill>
                  <a:srgbClr val="14453D"/>
                </a:solidFill>
              </a:rPr>
              <a:t>다양성 = 팀 역량의 귀중한 원천 → (B) enhance</a:t>
            </a:r>
            <a:endParaRPr lang="en-US" sz="1400" dirty="0"/>
          </a:p>
        </p:txBody>
      </p:sp>
      <p:sp>
        <p:nvSpPr>
          <p:cNvPr id="9" name="Shape 7"/>
          <p:cNvSpPr/>
          <p:nvPr/>
        </p:nvSpPr>
        <p:spPr>
          <a:xfrm>
            <a:off x="548640" y="5303520"/>
            <a:ext cx="11064240" cy="731520"/>
          </a:xfrm>
          <a:prstGeom prst="roundRect">
            <a:avLst>
              <a:gd name="adj" fmla="val 12500"/>
            </a:avLst>
          </a:prstGeom>
          <a:solidFill>
            <a:srgbClr val="EAF5EF"/>
          </a:solidFill>
          <a:ln w="12700">
            <a:solidFill>
              <a:srgbClr val="CFE6D9"/>
            </a:solidFill>
            <a:prstDash val="solid"/>
          </a:ln>
        </p:spPr>
      </p:sp>
      <p:sp>
        <p:nvSpPr>
          <p:cNvPr id="10" name="Text 8"/>
          <p:cNvSpPr txBox="1"/>
          <p:nvPr/>
        </p:nvSpPr>
        <p:spPr>
          <a:xfrm>
            <a:off x="731520" y="5349240"/>
            <a:ext cx="10698480" cy="640080"/>
          </a:xfrm>
          <a:prstGeom prst="rect">
            <a:avLst/>
          </a:prstGeom>
          <a:noFill/>
          <a:ln/>
        </p:spPr>
        <p:txBody>
          <a:bodyPr wrap="square" lIns="0" tIns="0" rIns="0" bIns="0" rtlCol="0" anchor="ctr">
            <a:normAutofit/>
          </a:bodyPr>
          <a:lstStyle/>
          <a:p>
            <a:pPr indent="0" marL="0">
              <a:lnSpc>
                <a:spcPct val="110000"/>
              </a:lnSpc>
              <a:buNone/>
            </a:pPr>
            <a:r>
              <a:rPr lang="en-US" sz="1400" b="1" dirty="0">
                <a:solidFill>
                  <a:srgbClr val="FFFFFF"/>
                </a:solidFill>
                <a:highlight>
                  <a:srgbClr val="1F7A64"/>
                </a:highlight>
              </a:rPr>
              <a:t> 어휘 </a:t>
            </a:r>
            <a:pPr indent="0" marL="0">
              <a:lnSpc>
                <a:spcPct val="110000"/>
              </a:lnSpc>
              <a:buNone/>
            </a:pPr>
            <a:r>
              <a:rPr lang="en-US" sz="1400" dirty="0">
                <a:solidFill>
                  <a:srgbClr val="000000"/>
                </a:solidFill>
              </a:rPr>
              <a:t>   </a:t>
            </a:r>
            <a:pPr indent="0" marL="0">
              <a:lnSpc>
                <a:spcPct val="110000"/>
              </a:lnSpc>
              <a:buNone/>
            </a:pPr>
            <a:r>
              <a:rPr lang="en-US" sz="1400" b="1" dirty="0">
                <a:solidFill>
                  <a:srgbClr val="1F7A64"/>
                </a:solidFill>
              </a:rPr>
              <a:t>phenomenon </a:t>
            </a:r>
            <a:pPr indent="0" marL="0">
              <a:lnSpc>
                <a:spcPct val="110000"/>
              </a:lnSpc>
              <a:buNone/>
            </a:pPr>
            <a:r>
              <a:rPr lang="en-US" sz="1400" dirty="0">
                <a:solidFill>
                  <a:srgbClr val="1E2B2A"/>
                </a:solidFill>
              </a:rPr>
              <a:t>현상   ·   </a:t>
            </a:r>
            <a:pPr indent="0" marL="0">
              <a:lnSpc>
                <a:spcPct val="110000"/>
              </a:lnSpc>
              <a:buNone/>
            </a:pPr>
            <a:r>
              <a:rPr lang="en-US" sz="1400" b="1" dirty="0">
                <a:solidFill>
                  <a:srgbClr val="1F7A64"/>
                </a:solidFill>
              </a:rPr>
              <a:t>attributed </a:t>
            </a:r>
            <a:pPr indent="0" marL="0">
              <a:lnSpc>
                <a:spcPct val="110000"/>
              </a:lnSpc>
              <a:buNone/>
            </a:pPr>
            <a:r>
              <a:rPr lang="en-US" sz="1400" dirty="0">
                <a:solidFill>
                  <a:srgbClr val="1E2B2A"/>
                </a:solidFill>
              </a:rPr>
              <a:t>~의 탓으로 돌렸다   ·   </a:t>
            </a:r>
            <a:pPr indent="0" marL="0">
              <a:lnSpc>
                <a:spcPct val="110000"/>
              </a:lnSpc>
              <a:buNone/>
            </a:pPr>
            <a:r>
              <a:rPr lang="en-US" sz="1400" b="1" dirty="0">
                <a:solidFill>
                  <a:srgbClr val="1F7A64"/>
                </a:solidFill>
              </a:rPr>
              <a:t>tropical </a:t>
            </a:r>
            <a:pPr indent="0" marL="0">
              <a:lnSpc>
                <a:spcPct val="110000"/>
              </a:lnSpc>
              <a:buNone/>
            </a:pPr>
            <a:r>
              <a:rPr lang="en-US" sz="1400" dirty="0">
                <a:solidFill>
                  <a:srgbClr val="1E2B2A"/>
                </a:solidFill>
              </a:rPr>
              <a:t>열대의   ·   </a:t>
            </a:r>
            <a:pPr indent="0" marL="0">
              <a:lnSpc>
                <a:spcPct val="110000"/>
              </a:lnSpc>
              <a:buNone/>
            </a:pPr>
            <a:r>
              <a:rPr lang="en-US" sz="1400" b="1" dirty="0">
                <a:solidFill>
                  <a:srgbClr val="1F7A64"/>
                </a:solidFill>
              </a:rPr>
              <a:t>corals </a:t>
            </a:r>
            <a:pPr indent="0" marL="0">
              <a:lnSpc>
                <a:spcPct val="110000"/>
              </a:lnSpc>
              <a:buNone/>
            </a:pPr>
            <a:r>
              <a:rPr lang="en-US" sz="1400" dirty="0">
                <a:solidFill>
                  <a:srgbClr val="1E2B2A"/>
                </a:solidFill>
              </a:rPr>
              <a:t>산호   ·   </a:t>
            </a:r>
            <a:pPr indent="0" marL="0">
              <a:lnSpc>
                <a:spcPct val="110000"/>
              </a:lnSpc>
              <a:buNone/>
            </a:pPr>
            <a:r>
              <a:rPr lang="en-US" sz="1400" b="1" dirty="0">
                <a:solidFill>
                  <a:srgbClr val="1F7A64"/>
                </a:solidFill>
              </a:rPr>
              <a:t>perceiving </a:t>
            </a:r>
            <a:pPr indent="0" marL="0">
              <a:lnSpc>
                <a:spcPct val="110000"/>
              </a:lnSpc>
              <a:buNone/>
            </a:pPr>
            <a:r>
              <a:rPr lang="en-US" sz="1400" dirty="0">
                <a:solidFill>
                  <a:srgbClr val="1E2B2A"/>
                </a:solidFill>
              </a:rPr>
              <a:t>인식하는   ·   </a:t>
            </a:r>
            <a:pPr indent="0" marL="0">
              <a:lnSpc>
                <a:spcPct val="110000"/>
              </a:lnSpc>
              <a:buNone/>
            </a:pPr>
            <a:r>
              <a:rPr lang="en-US" sz="1400" b="1" dirty="0">
                <a:solidFill>
                  <a:srgbClr val="1F7A64"/>
                </a:solidFill>
              </a:rPr>
              <a:t>specifics </a:t>
            </a:r>
            <a:pPr indent="0" marL="0">
              <a:lnSpc>
                <a:spcPct val="110000"/>
              </a:lnSpc>
              <a:buNone/>
            </a:pPr>
            <a:r>
              <a:rPr lang="en-US" sz="1400" dirty="0">
                <a:solidFill>
                  <a:srgbClr val="1E2B2A"/>
                </a:solidFill>
              </a:rPr>
              <a:t>세부 사항   ·   </a:t>
            </a:r>
            <a:pPr indent="0" marL="0">
              <a:lnSpc>
                <a:spcPct val="110000"/>
              </a:lnSpc>
              <a:buNone/>
            </a:pPr>
            <a:r>
              <a:rPr lang="en-US" sz="1400" b="1" dirty="0">
                <a:solidFill>
                  <a:srgbClr val="1F7A64"/>
                </a:solidFill>
              </a:rPr>
              <a:t>invaluable </a:t>
            </a:r>
            <a:pPr indent="0" marL="0">
              <a:lnSpc>
                <a:spcPct val="110000"/>
              </a:lnSpc>
              <a:buNone/>
            </a:pPr>
            <a:r>
              <a:rPr lang="en-US" sz="1400" dirty="0">
                <a:solidFill>
                  <a:srgbClr val="1E2B2A"/>
                </a:solidFill>
              </a:rPr>
              <a:t>매우 귀중한</a:t>
            </a:r>
            <a:endParaRPr lang="en-US" sz="1400" dirty="0"/>
          </a:p>
        </p:txBody>
      </p:sp>
      <p:sp>
        <p:nvSpPr>
          <p:cNvPr id="11" name="Text 9"/>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1100" dirty="0">
                <a:solidFill>
                  <a:srgbClr val="FFD45C"/>
                </a:solidFill>
              </a:rPr>
              <a:t>■ </a:t>
            </a:r>
            <a:pPr indent="0" marL="0">
              <a:buNone/>
            </a:pPr>
            <a:r>
              <a:rPr lang="en-US" sz="1100" dirty="0">
                <a:solidFill>
                  <a:srgbClr val="6E7F7C"/>
                </a:solidFill>
              </a:rPr>
              <a:t>형광 = 정답 근거 (이유는 노란 박스)     </a:t>
            </a:r>
            <a:pPr indent="0" marL="0">
              <a:buNone/>
            </a:pPr>
            <a:r>
              <a:rPr lang="en-US" sz="1100" dirty="0">
                <a:solidFill>
                  <a:srgbClr val="A9DDF3"/>
                </a:solidFill>
              </a:rPr>
              <a:t>■ </a:t>
            </a:r>
            <a:pPr indent="0" marL="0">
              <a:buNone/>
            </a:pPr>
            <a:r>
              <a:rPr lang="en-US" sz="1100" dirty="0">
                <a:solidFill>
                  <a:srgbClr val="6E7F7C"/>
                </a:solidFill>
              </a:rPr>
              <a:t>파란 형광 = 문법·내신 포인트     </a:t>
            </a:r>
            <a:pPr indent="0" marL="0">
              <a:buNone/>
            </a:pPr>
            <a:r>
              <a:rPr lang="en-US" sz="1100" b="1" dirty="0">
                <a:solidFill>
                  <a:srgbClr val="1F7A64"/>
                </a:solidFill>
              </a:rPr>
              <a:t>초록 점선 단어 </a:t>
            </a:r>
            <a:pPr indent="0" marL="0">
              <a:buNone/>
            </a:pPr>
            <a:r>
              <a:rPr lang="en-US" sz="1100" dirty="0">
                <a:solidFill>
                  <a:srgbClr val="6E7F7C"/>
                </a:solidFill>
              </a:rPr>
              <a:t>= 하단 어휘     </a:t>
            </a:r>
            <a:pPr indent="0" marL="0">
              <a:buNone/>
            </a:pPr>
            <a:r>
              <a:rPr lang="en-US" sz="1100" b="1" dirty="0">
                <a:solidFill>
                  <a:srgbClr val="1F7A64"/>
                </a:solidFill>
              </a:rPr>
              <a:t>(1) (2) (3) </a:t>
            </a:r>
            <a:pPr indent="0" marL="0">
              <a:buNone/>
            </a:pPr>
            <a:r>
              <a:rPr lang="en-US" sz="1100" dirty="0">
                <a:solidFill>
                  <a:srgbClr val="6E7F7C"/>
                </a:solidFill>
              </a:rPr>
              <a:t>= 문장 번호</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97  </a:t>
            </a:r>
            <a:pPr algn="l" indent="0" marL="0">
              <a:buNone/>
            </a:pPr>
            <a:r>
              <a:rPr lang="en-US" sz="3000" b="1" dirty="0">
                <a:solidFill>
                  <a:srgbClr val="14453D"/>
                </a:solidFill>
              </a:rPr>
              <a:t>문화와 사고방식</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흐름 잡기</a:t>
            </a:r>
            <a:endParaRPr lang="en-US" sz="1200" dirty="0"/>
          </a:p>
        </p:txBody>
      </p:sp>
      <p:sp>
        <p:nvSpPr>
          <p:cNvPr id="4" name="Shape 2"/>
          <p:cNvSpPr/>
          <p:nvPr/>
        </p:nvSpPr>
        <p:spPr>
          <a:xfrm>
            <a:off x="548640" y="1325880"/>
            <a:ext cx="5212080" cy="2423160"/>
          </a:xfrm>
          <a:prstGeom prst="roundRect">
            <a:avLst>
              <a:gd name="adj" fmla="val 4528"/>
            </a:avLst>
          </a:prstGeom>
          <a:solidFill>
            <a:srgbClr val="E6F2ED"/>
          </a:solidFill>
          <a:ln w="12700">
            <a:solidFill>
              <a:srgbClr val="E6F2ED"/>
            </a:solidFill>
            <a:prstDash val="solid"/>
          </a:ln>
        </p:spPr>
      </p:sp>
      <p:sp>
        <p:nvSpPr>
          <p:cNvPr id="5" name="Text 3"/>
          <p:cNvSpPr txBox="1"/>
          <p:nvPr/>
        </p:nvSpPr>
        <p:spPr>
          <a:xfrm>
            <a:off x="822960" y="1463040"/>
            <a:ext cx="4663440" cy="320040"/>
          </a:xfrm>
          <a:prstGeom prst="rect">
            <a:avLst/>
          </a:prstGeom>
          <a:noFill/>
          <a:ln/>
        </p:spPr>
        <p:txBody>
          <a:bodyPr wrap="square" lIns="0" tIns="0" rIns="0" bIns="0" rtlCol="0" anchor="ctr"/>
          <a:lstStyle/>
          <a:p>
            <a:pPr indent="0" marL="0">
              <a:buNone/>
            </a:pPr>
            <a:r>
              <a:rPr lang="en-US" sz="1300" b="1" dirty="0">
                <a:solidFill>
                  <a:srgbClr val="1F7A64"/>
                </a:solidFill>
              </a:rPr>
              <a:t>STEP 1 · 요약문 먼저</a:t>
            </a:r>
            <a:endParaRPr lang="en-US" sz="1300" dirty="0"/>
          </a:p>
        </p:txBody>
      </p:sp>
      <p:sp>
        <p:nvSpPr>
          <p:cNvPr id="6" name="Text 4"/>
          <p:cNvSpPr txBox="1"/>
          <p:nvPr/>
        </p:nvSpPr>
        <p:spPr>
          <a:xfrm>
            <a:off x="822960" y="1828800"/>
            <a:ext cx="4663440" cy="868680"/>
          </a:xfrm>
          <a:prstGeom prst="rect">
            <a:avLst/>
          </a:prstGeom>
          <a:noFill/>
          <a:ln/>
        </p:spPr>
        <p:txBody>
          <a:bodyPr wrap="square" lIns="0" tIns="0" rIns="0" bIns="0" rtlCol="0" anchor="t">
            <a:normAutofit/>
          </a:bodyPr>
          <a:lstStyle/>
          <a:p>
            <a:pPr indent="0" marL="0">
              <a:buNone/>
            </a:pPr>
            <a:r>
              <a:rPr lang="en-US" sz="1300" b="1" i="1" dirty="0">
                <a:solidFill>
                  <a:srgbClr val="14453D"/>
                </a:solidFill>
              </a:rPr>
              <a:t>People tend to have a (A) way of thinking based on their cultural backgrounds, so having cultural diversity on a team can (B) teamwork.</a:t>
            </a:r>
            <a:endParaRPr lang="en-US" sz="1300" dirty="0"/>
          </a:p>
        </p:txBody>
      </p:sp>
      <p:sp>
        <p:nvSpPr>
          <p:cNvPr id="7" name="Text 5"/>
          <p:cNvSpPr txBox="1"/>
          <p:nvPr/>
        </p:nvSpPr>
        <p:spPr>
          <a:xfrm>
            <a:off x="822960" y="2715768"/>
            <a:ext cx="4663440" cy="457200"/>
          </a:xfrm>
          <a:prstGeom prst="rect">
            <a:avLst/>
          </a:prstGeom>
          <a:noFill/>
          <a:ln/>
        </p:spPr>
        <p:txBody>
          <a:bodyPr wrap="square" lIns="0" tIns="0" rIns="0" bIns="0" rtlCol="0" anchor="t">
            <a:normAutofit/>
          </a:bodyPr>
          <a:lstStyle/>
          <a:p>
            <a:pPr indent="0" marL="0">
              <a:buNone/>
            </a:pPr>
            <a:r>
              <a:rPr lang="en-US" sz="1100" dirty="0">
                <a:solidFill>
                  <a:srgbClr val="1E2B2A"/>
                </a:solidFill>
              </a:rPr>
              <a:t>사람들은 문화적 배경에 따라 (A) 사고방식을 갖는 경향이 있으므로, 팀 안의 문화적 다양성은 팀워크를 (B)할 수 있다.</a:t>
            </a:r>
            <a:endParaRPr lang="en-US" sz="1100" dirty="0"/>
          </a:p>
        </p:txBody>
      </p:sp>
      <p:sp>
        <p:nvSpPr>
          <p:cNvPr id="8" name="Text 6"/>
          <p:cNvSpPr txBox="1"/>
          <p:nvPr/>
        </p:nvSpPr>
        <p:spPr>
          <a:xfrm>
            <a:off x="822960" y="3200400"/>
            <a:ext cx="4663440" cy="411480"/>
          </a:xfrm>
          <a:prstGeom prst="rect">
            <a:avLst/>
          </a:prstGeom>
          <a:noFill/>
          <a:ln/>
        </p:spPr>
        <p:txBody>
          <a:bodyPr wrap="square" lIns="0" tIns="0" rIns="0" bIns="0" rtlCol="0" anchor="ctr"/>
          <a:lstStyle/>
          <a:p>
            <a:pPr indent="0" marL="0">
              <a:buNone/>
            </a:pPr>
            <a:r>
              <a:rPr lang="en-US" sz="1500" b="1" dirty="0">
                <a:solidFill>
                  <a:srgbClr val="EF5B3F"/>
                </a:solidFill>
              </a:rPr>
              <a:t>찾을 것  </a:t>
            </a:r>
            <a:pPr indent="0" marL="0">
              <a:buNone/>
            </a:pPr>
            <a:r>
              <a:rPr lang="en-US" sz="1500" b="1" dirty="0">
                <a:solidFill>
                  <a:srgbClr val="14453D"/>
                </a:solidFill>
              </a:rPr>
              <a:t>(A) 어떤 사고방식? / (B) 다양성이 팀워크를 어떻게?</a:t>
            </a:r>
            <a:endParaRPr lang="en-US" sz="1500" dirty="0"/>
          </a:p>
        </p:txBody>
      </p:sp>
      <p:sp>
        <p:nvSpPr>
          <p:cNvPr id="9" name="Shape 7"/>
          <p:cNvSpPr/>
          <p:nvPr/>
        </p:nvSpPr>
        <p:spPr>
          <a:xfrm>
            <a:off x="548640" y="3931920"/>
            <a:ext cx="5212080" cy="2331720"/>
          </a:xfrm>
          <a:prstGeom prst="roundRect">
            <a:avLst>
              <a:gd name="adj" fmla="val 4706"/>
            </a:avLst>
          </a:prstGeom>
          <a:solidFill>
            <a:srgbClr val="FFFFFF"/>
          </a:solidFill>
          <a:ln w="19050">
            <a:solidFill>
              <a:srgbClr val="EF5B3F"/>
            </a:solidFill>
            <a:prstDash val="solid"/>
          </a:ln>
        </p:spPr>
      </p:sp>
      <p:pic>
        <p:nvPicPr>
          <p:cNvPr id="10" name="Image 0" descr="preencoded.png">    </p:cNvPr>
          <p:cNvPicPr>
            <a:picLocks noChangeAspect="1"/>
          </p:cNvPicPr>
          <p:nvPr/>
        </p:nvPicPr>
        <p:blipFill>
          <a:blip r:embed="rId1"/>
          <a:stretch>
            <a:fillRect/>
          </a:stretch>
        </p:blipFill>
        <p:spPr>
          <a:xfrm>
            <a:off x="822960" y="4096512"/>
            <a:ext cx="274320" cy="274320"/>
          </a:xfrm>
          <a:prstGeom prst="rect">
            <a:avLst/>
          </a:prstGeom>
        </p:spPr>
      </p:pic>
      <p:sp>
        <p:nvSpPr>
          <p:cNvPr id="11" name="Text 8"/>
          <p:cNvSpPr txBox="1"/>
          <p:nvPr/>
        </p:nvSpPr>
        <p:spPr>
          <a:xfrm>
            <a:off x="1188720" y="4069080"/>
            <a:ext cx="4114800" cy="320040"/>
          </a:xfrm>
          <a:prstGeom prst="rect">
            <a:avLst/>
          </a:prstGeom>
          <a:noFill/>
          <a:ln/>
        </p:spPr>
        <p:txBody>
          <a:bodyPr wrap="square" lIns="0" tIns="0" rIns="0" bIns="0" rtlCol="0" anchor="ctr"/>
          <a:lstStyle/>
          <a:p>
            <a:pPr indent="0" marL="0">
              <a:buNone/>
            </a:pPr>
            <a:r>
              <a:rPr lang="en-US" sz="1300" b="1" dirty="0">
                <a:solidFill>
                  <a:srgbClr val="EF5B3F"/>
                </a:solidFill>
              </a:rPr>
              <a:t>STEP 2 · 결정적 단서</a:t>
            </a:r>
            <a:endParaRPr lang="en-US" sz="1300" dirty="0"/>
          </a:p>
        </p:txBody>
      </p:sp>
      <p:sp>
        <p:nvSpPr>
          <p:cNvPr id="12" name="Text 9"/>
          <p:cNvSpPr txBox="1"/>
          <p:nvPr/>
        </p:nvSpPr>
        <p:spPr>
          <a:xfrm>
            <a:off x="822960" y="4480560"/>
            <a:ext cx="4663440" cy="1005840"/>
          </a:xfrm>
          <a:prstGeom prst="rect">
            <a:avLst/>
          </a:prstGeom>
          <a:noFill/>
          <a:ln/>
        </p:spPr>
        <p:txBody>
          <a:bodyPr wrap="square" lIns="0" tIns="0" rIns="0" bIns="0" rtlCol="0" anchor="t"/>
          <a:lstStyle/>
          <a:p>
            <a:pPr indent="0" marL="0">
              <a:buNone/>
            </a:pPr>
            <a:r>
              <a:rPr lang="en-US" sz="1400" i="1" dirty="0">
                <a:solidFill>
                  <a:srgbClr val="14453D"/>
                </a:solidFill>
              </a:rPr>
              <a:t>This diversity in thinking styles can be an invaluable source of team strength…</a:t>
            </a:r>
            <a:endParaRPr lang="en-US" sz="1400" dirty="0"/>
          </a:p>
        </p:txBody>
      </p:sp>
      <p:sp>
        <p:nvSpPr>
          <p:cNvPr id="13" name="Text 10"/>
          <p:cNvSpPr txBox="1"/>
          <p:nvPr/>
        </p:nvSpPr>
        <p:spPr>
          <a:xfrm>
            <a:off x="822960" y="5486400"/>
            <a:ext cx="4663440" cy="685800"/>
          </a:xfrm>
          <a:prstGeom prst="rect">
            <a:avLst/>
          </a:prstGeom>
          <a:noFill/>
          <a:ln/>
        </p:spPr>
        <p:txBody>
          <a:bodyPr wrap="square" lIns="0" tIns="0" rIns="0" bIns="0" rtlCol="0" anchor="t"/>
          <a:lstStyle/>
          <a:p>
            <a:pPr indent="0" marL="0">
              <a:buNone/>
            </a:pPr>
            <a:r>
              <a:rPr lang="en-US" sz="1300" dirty="0">
                <a:solidFill>
                  <a:srgbClr val="6E7F7C"/>
                </a:solidFill>
              </a:rPr>
              <a:t>사고방식의 이러한 다양성은 팀 역량의 매우 귀중한 원천이 될 수 있다 → (B) enhance</a:t>
            </a:r>
            <a:endParaRPr lang="en-US" sz="1300" dirty="0"/>
          </a:p>
        </p:txBody>
      </p:sp>
      <p:sp>
        <p:nvSpPr>
          <p:cNvPr id="14" name="Text 11"/>
          <p:cNvSpPr txBox="1"/>
          <p:nvPr/>
        </p:nvSpPr>
        <p:spPr>
          <a:xfrm>
            <a:off x="6217920" y="1325880"/>
            <a:ext cx="2743200" cy="320040"/>
          </a:xfrm>
          <a:prstGeom prst="rect">
            <a:avLst/>
          </a:prstGeom>
          <a:noFill/>
          <a:ln/>
        </p:spPr>
        <p:txBody>
          <a:bodyPr wrap="square" lIns="0" tIns="0" rIns="0" bIns="0" rtlCol="0" anchor="ctr"/>
          <a:lstStyle/>
          <a:p>
            <a:pPr indent="0" marL="0">
              <a:buNone/>
            </a:pPr>
            <a:r>
              <a:rPr lang="en-US" sz="1300" b="1" dirty="0">
                <a:solidFill>
                  <a:srgbClr val="1F7A64"/>
                </a:solidFill>
              </a:rPr>
              <a:t>글의 흐름</a:t>
            </a:r>
            <a:endParaRPr lang="en-US" sz="1300" dirty="0"/>
          </a:p>
        </p:txBody>
      </p:sp>
      <p:sp>
        <p:nvSpPr>
          <p:cNvPr id="15" name="Shape 12"/>
          <p:cNvSpPr/>
          <p:nvPr/>
        </p:nvSpPr>
        <p:spPr>
          <a:xfrm>
            <a:off x="6537960" y="2057400"/>
            <a:ext cx="0" cy="3511296"/>
          </a:xfrm>
          <a:prstGeom prst="line">
            <a:avLst/>
          </a:prstGeom>
          <a:noFill/>
          <a:ln w="38100">
            <a:solidFill>
              <a:srgbClr val="E6F2ED"/>
            </a:solidFill>
            <a:prstDash val="solid"/>
          </a:ln>
        </p:spPr>
      </p:sp>
      <p:sp>
        <p:nvSpPr>
          <p:cNvPr id="16" name="Text 13"/>
          <p:cNvSpPr/>
          <p:nvPr/>
        </p:nvSpPr>
        <p:spPr>
          <a:xfrm>
            <a:off x="6263640" y="1783080"/>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7" name="Text 14"/>
          <p:cNvSpPr txBox="1"/>
          <p:nvPr/>
        </p:nvSpPr>
        <p:spPr>
          <a:xfrm>
            <a:off x="7040880" y="1783080"/>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현상</a:t>
            </a:r>
            <a:endParaRPr lang="en-US" sz="1400" dirty="0"/>
          </a:p>
        </p:txBody>
      </p:sp>
      <p:sp>
        <p:nvSpPr>
          <p:cNvPr id="18" name="Text 15"/>
          <p:cNvSpPr txBox="1"/>
          <p:nvPr/>
        </p:nvSpPr>
        <p:spPr>
          <a:xfrm>
            <a:off x="7040880" y="2121408"/>
            <a:ext cx="4572000" cy="667512"/>
          </a:xfrm>
          <a:prstGeom prst="rect">
            <a:avLst/>
          </a:prstGeom>
          <a:noFill/>
          <a:ln/>
        </p:spPr>
        <p:txBody>
          <a:bodyPr wrap="square" lIns="0" tIns="0" rIns="0" bIns="0" rtlCol="0" anchor="t"/>
          <a:lstStyle/>
          <a:p>
            <a:pPr indent="0" marL="0">
              <a:buNone/>
            </a:pPr>
            <a:r>
              <a:rPr lang="en-US" sz="1400" dirty="0">
                <a:solidFill>
                  <a:srgbClr val="1E2B2A"/>
                </a:solidFill>
              </a:rPr>
              <a:t>같은 것을 봐도 아시아인과 서양인은 다른 부분을 본다</a:t>
            </a:r>
            <a:endParaRPr lang="en-US" sz="1400" dirty="0"/>
          </a:p>
        </p:txBody>
      </p:sp>
      <p:sp>
        <p:nvSpPr>
          <p:cNvPr id="19" name="Text 16"/>
          <p:cNvSpPr/>
          <p:nvPr/>
        </p:nvSpPr>
        <p:spPr>
          <a:xfrm>
            <a:off x="6263640" y="2953512"/>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20" name="Text 17"/>
          <p:cNvSpPr txBox="1"/>
          <p:nvPr/>
        </p:nvSpPr>
        <p:spPr>
          <a:xfrm>
            <a:off x="7040880" y="2953512"/>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실험</a:t>
            </a:r>
            <a:endParaRPr lang="en-US" sz="1400" dirty="0"/>
          </a:p>
        </p:txBody>
      </p:sp>
      <p:sp>
        <p:nvSpPr>
          <p:cNvPr id="21" name="Text 18"/>
          <p:cNvSpPr txBox="1"/>
          <p:nvPr/>
        </p:nvSpPr>
        <p:spPr>
          <a:xfrm>
            <a:off x="7040880" y="3291840"/>
            <a:ext cx="4572000" cy="667512"/>
          </a:xfrm>
          <a:prstGeom prst="rect">
            <a:avLst/>
          </a:prstGeom>
          <a:noFill/>
          <a:ln/>
        </p:spPr>
        <p:txBody>
          <a:bodyPr wrap="square" lIns="0" tIns="0" rIns="0" bIns="0" rtlCol="0" anchor="t"/>
          <a:lstStyle/>
          <a:p>
            <a:pPr indent="0" marL="0">
              <a:buNone/>
            </a:pPr>
            <a:r>
              <a:rPr lang="en-US" sz="1400" dirty="0">
                <a:solidFill>
                  <a:srgbClr val="1E2B2A"/>
                </a:solidFill>
              </a:rPr>
              <a:t>수중 영상: 미국인 = 앞쪽 열대어 / 일본인 = 배경 산호</a:t>
            </a:r>
            <a:endParaRPr lang="en-US" sz="1400" dirty="0"/>
          </a:p>
        </p:txBody>
      </p:sp>
      <p:sp>
        <p:nvSpPr>
          <p:cNvPr id="22" name="Text 19"/>
          <p:cNvSpPr/>
          <p:nvPr/>
        </p:nvSpPr>
        <p:spPr>
          <a:xfrm>
            <a:off x="6263640" y="4123944"/>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3" name="Text 20"/>
          <p:cNvSpPr txBox="1"/>
          <p:nvPr/>
        </p:nvSpPr>
        <p:spPr>
          <a:xfrm>
            <a:off x="7040880" y="4123944"/>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해석</a:t>
            </a:r>
            <a:endParaRPr lang="en-US" sz="1400" dirty="0"/>
          </a:p>
        </p:txBody>
      </p:sp>
      <p:sp>
        <p:nvSpPr>
          <p:cNvPr id="24" name="Text 21"/>
          <p:cNvSpPr txBox="1"/>
          <p:nvPr/>
        </p:nvSpPr>
        <p:spPr>
          <a:xfrm>
            <a:off x="7040880" y="4462272"/>
            <a:ext cx="4572000" cy="667512"/>
          </a:xfrm>
          <a:prstGeom prst="rect">
            <a:avLst/>
          </a:prstGeom>
          <a:noFill/>
          <a:ln/>
        </p:spPr>
        <p:txBody>
          <a:bodyPr wrap="square" lIns="0" tIns="0" rIns="0" bIns="0" rtlCol="0" anchor="t"/>
          <a:lstStyle/>
          <a:p>
            <a:pPr indent="0" marL="0">
              <a:buNone/>
            </a:pPr>
            <a:r>
              <a:rPr lang="en-US" sz="1400" dirty="0">
                <a:solidFill>
                  <a:srgbClr val="1E2B2A"/>
                </a:solidFill>
              </a:rPr>
              <a:t>아시아인 = 전체 맥락, 서양인 = 독립적·분석적 (각자 선호하는 방식)</a:t>
            </a:r>
            <a:endParaRPr lang="en-US" sz="1400" dirty="0"/>
          </a:p>
        </p:txBody>
      </p:sp>
      <p:sp>
        <p:nvSpPr>
          <p:cNvPr id="25" name="Text 22"/>
          <p:cNvSpPr/>
          <p:nvPr/>
        </p:nvSpPr>
        <p:spPr>
          <a:xfrm>
            <a:off x="6263640" y="5294376"/>
            <a:ext cx="548640" cy="548640"/>
          </a:xfrm>
          <a:prstGeom prst="ellipse">
            <a:avLst/>
          </a:prstGeom>
          <a:solidFill>
            <a:srgbClr val="EF5B3F"/>
          </a:solid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6" name="Text 23"/>
          <p:cNvSpPr txBox="1"/>
          <p:nvPr/>
        </p:nvSpPr>
        <p:spPr>
          <a:xfrm>
            <a:off x="7040880" y="5294376"/>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결론</a:t>
            </a:r>
            <a:endParaRPr lang="en-US" sz="1400" dirty="0"/>
          </a:p>
        </p:txBody>
      </p:sp>
      <p:sp>
        <p:nvSpPr>
          <p:cNvPr id="27" name="Text 24"/>
          <p:cNvSpPr txBox="1"/>
          <p:nvPr/>
        </p:nvSpPr>
        <p:spPr>
          <a:xfrm>
            <a:off x="7040880" y="5632704"/>
            <a:ext cx="4572000" cy="667512"/>
          </a:xfrm>
          <a:prstGeom prst="rect">
            <a:avLst/>
          </a:prstGeom>
          <a:noFill/>
          <a:ln/>
        </p:spPr>
        <p:txBody>
          <a:bodyPr wrap="square" lIns="0" tIns="0" rIns="0" bIns="0" rtlCol="0" anchor="t"/>
          <a:lstStyle/>
          <a:p>
            <a:pPr indent="0" marL="0">
              <a:buNone/>
            </a:pPr>
            <a:r>
              <a:rPr lang="en-US" sz="1400" dirty="0">
                <a:solidFill>
                  <a:srgbClr val="1E2B2A"/>
                </a:solidFill>
              </a:rPr>
              <a:t>사고방식의 다양성 = 팀 역량의 귀중한 원천 (팀워크 향상)</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97  </a:t>
            </a:r>
            <a:pPr algn="l" indent="0" marL="0">
              <a:buNone/>
            </a:pPr>
            <a:r>
              <a:rPr lang="en-US" sz="3000" b="1" dirty="0">
                <a:solidFill>
                  <a:srgbClr val="14453D"/>
                </a:solidFill>
              </a:rPr>
              <a:t>정답 &amp; 해설</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정답</a:t>
            </a:r>
            <a:endParaRPr lang="en-US" sz="1200" dirty="0"/>
          </a:p>
        </p:txBody>
      </p:sp>
      <p:sp>
        <p:nvSpPr>
          <p:cNvPr id="4" name="Shape 2"/>
          <p:cNvSpPr/>
          <p:nvPr/>
        </p:nvSpPr>
        <p:spPr>
          <a:xfrm>
            <a:off x="548640" y="1325880"/>
            <a:ext cx="3749040" cy="4983480"/>
          </a:xfrm>
          <a:prstGeom prst="roundRect">
            <a:avLst>
              <a:gd name="adj" fmla="val 3659"/>
            </a:avLst>
          </a:prstGeom>
          <a:solidFill>
            <a:srgbClr val="14453D"/>
          </a:solidFill>
          <a:ln w="12700">
            <a:solidFill>
              <a:srgbClr val="14453D"/>
            </a:solidFill>
            <a:prstDash val="solid"/>
          </a:ln>
        </p:spPr>
      </p:sp>
      <p:sp>
        <p:nvSpPr>
          <p:cNvPr id="5" name="Text 3"/>
          <p:cNvSpPr txBox="1"/>
          <p:nvPr/>
        </p:nvSpPr>
        <p:spPr>
          <a:xfrm>
            <a:off x="868680" y="1554480"/>
            <a:ext cx="3108960" cy="365760"/>
          </a:xfrm>
          <a:prstGeom prst="rect">
            <a:avLst/>
          </a:prstGeom>
          <a:noFill/>
          <a:ln/>
        </p:spPr>
        <p:txBody>
          <a:bodyPr wrap="square" lIns="0" tIns="0" rIns="0" bIns="0" rtlCol="0" anchor="ctr"/>
          <a:lstStyle/>
          <a:p>
            <a:pPr indent="0" marL="0">
              <a:buNone/>
            </a:pPr>
            <a:r>
              <a:rPr lang="en-US" sz="1600" b="1" dirty="0">
                <a:solidFill>
                  <a:srgbClr val="FFD45C"/>
                </a:solidFill>
              </a:rPr>
              <a:t>정답</a:t>
            </a:r>
            <a:endParaRPr lang="en-US" sz="1600" dirty="0"/>
          </a:p>
        </p:txBody>
      </p:sp>
      <p:sp>
        <p:nvSpPr>
          <p:cNvPr id="6" name="Text 4"/>
          <p:cNvSpPr txBox="1"/>
          <p:nvPr/>
        </p:nvSpPr>
        <p:spPr>
          <a:xfrm>
            <a:off x="868680" y="1920240"/>
            <a:ext cx="3108960" cy="1188720"/>
          </a:xfrm>
          <a:prstGeom prst="rect">
            <a:avLst/>
          </a:prstGeom>
          <a:noFill/>
          <a:ln/>
        </p:spPr>
        <p:txBody>
          <a:bodyPr wrap="square" lIns="0" tIns="0" rIns="0" bIns="0" rtlCol="0" anchor="ctr"/>
          <a:lstStyle/>
          <a:p>
            <a:pPr indent="0" marL="0">
              <a:buNone/>
            </a:pPr>
            <a:r>
              <a:rPr lang="en-US" sz="7200" b="1" dirty="0">
                <a:solidFill>
                  <a:srgbClr val="FFFFFF"/>
                </a:solidFill>
              </a:rPr>
              <a:t>④</a:t>
            </a:r>
            <a:endParaRPr lang="en-US" sz="7200" dirty="0"/>
          </a:p>
        </p:txBody>
      </p:sp>
      <p:sp>
        <p:nvSpPr>
          <p:cNvPr id="7" name="Text 5"/>
          <p:cNvSpPr txBox="1"/>
          <p:nvPr/>
        </p:nvSpPr>
        <p:spPr>
          <a:xfrm>
            <a:off x="868680" y="3337560"/>
            <a:ext cx="3154680" cy="1280160"/>
          </a:xfrm>
          <a:prstGeom prst="rect">
            <a:avLst/>
          </a:prstGeom>
          <a:noFill/>
          <a:ln/>
        </p:spPr>
        <p:txBody>
          <a:bodyPr wrap="square" lIns="0" tIns="0" rIns="0" bIns="0" rtlCol="0" anchor="t"/>
          <a:lstStyle/>
          <a:p>
            <a:pPr indent="0" marL="0">
              <a:buNone/>
            </a:pPr>
            <a:r>
              <a:rPr lang="en-US" sz="1700" b="1" i="1" dirty="0">
                <a:solidFill>
                  <a:srgbClr val="FFFFFF"/>
                </a:solidFill>
              </a:rPr>
              <a:t>preferred ----- enhance</a:t>
            </a:r>
            <a:endParaRPr lang="en-US" sz="1700" dirty="0"/>
          </a:p>
        </p:txBody>
      </p:sp>
      <p:sp>
        <p:nvSpPr>
          <p:cNvPr id="8" name="Text 6"/>
          <p:cNvSpPr txBox="1"/>
          <p:nvPr/>
        </p:nvSpPr>
        <p:spPr>
          <a:xfrm>
            <a:off x="868680" y="4663440"/>
            <a:ext cx="3154680" cy="1463040"/>
          </a:xfrm>
          <a:prstGeom prst="rect">
            <a:avLst/>
          </a:prstGeom>
          <a:noFill/>
          <a:ln/>
        </p:spPr>
        <p:txBody>
          <a:bodyPr wrap="square" lIns="0" tIns="0" rIns="0" bIns="0" rtlCol="0" anchor="t"/>
          <a:lstStyle/>
          <a:p>
            <a:pPr indent="0" marL="0">
              <a:buNone/>
            </a:pPr>
            <a:r>
              <a:rPr lang="en-US" sz="1400" dirty="0">
                <a:solidFill>
                  <a:srgbClr val="E6F2ED"/>
                </a:solidFill>
              </a:rPr>
              <a:t>선호하는 = 문화에 따라 더 쓰는 방식 / 향상시키다 = invaluable source</a:t>
            </a:r>
            <a:endParaRPr lang="en-US" sz="1400" dirty="0"/>
          </a:p>
        </p:txBody>
      </p:sp>
      <p:sp>
        <p:nvSpPr>
          <p:cNvPr id="9" name="Shape 7"/>
          <p:cNvSpPr/>
          <p:nvPr/>
        </p:nvSpPr>
        <p:spPr>
          <a:xfrm>
            <a:off x="4572000" y="1325880"/>
            <a:ext cx="7040880" cy="905256"/>
          </a:xfrm>
          <a:prstGeom prst="roundRect">
            <a:avLst>
              <a:gd name="adj" fmla="val 10101"/>
            </a:avLst>
          </a:prstGeom>
          <a:solidFill>
            <a:srgbClr val="FFFFFF"/>
          </a:solidFill>
          <a:ln w="12700">
            <a:solidFill>
              <a:srgbClr val="E6F2ED"/>
            </a:solidFill>
            <a:prstDash val="solid"/>
          </a:ln>
        </p:spPr>
      </p:sp>
      <p:sp>
        <p:nvSpPr>
          <p:cNvPr id="10" name="Text 8"/>
          <p:cNvSpPr txBox="1"/>
          <p:nvPr/>
        </p:nvSpPr>
        <p:spPr>
          <a:xfrm>
            <a:off x="4754880" y="1435608"/>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①</a:t>
            </a:r>
            <a:endParaRPr lang="en-US" sz="2000" dirty="0"/>
          </a:p>
        </p:txBody>
      </p:sp>
      <p:sp>
        <p:nvSpPr>
          <p:cNvPr id="11" name="Text 9"/>
          <p:cNvSpPr txBox="1"/>
          <p:nvPr/>
        </p:nvSpPr>
        <p:spPr>
          <a:xfrm>
            <a:off x="5257800" y="1399032"/>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superficial ----- allocate</a:t>
            </a:r>
            <a:endParaRPr lang="en-US" sz="1500" dirty="0"/>
          </a:p>
        </p:txBody>
      </p:sp>
      <p:sp>
        <p:nvSpPr>
          <p:cNvPr id="12" name="Text 10"/>
          <p:cNvSpPr txBox="1"/>
          <p:nvPr/>
        </p:nvSpPr>
        <p:spPr>
          <a:xfrm>
            <a:off x="5257800" y="1801368"/>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피상적인 ✘ / 할당하다 ✘</a:t>
            </a:r>
            <a:endParaRPr lang="en-US" sz="1300" dirty="0"/>
          </a:p>
        </p:txBody>
      </p:sp>
      <p:sp>
        <p:nvSpPr>
          <p:cNvPr id="13" name="Shape 11"/>
          <p:cNvSpPr/>
          <p:nvPr/>
        </p:nvSpPr>
        <p:spPr>
          <a:xfrm>
            <a:off x="4572000" y="2340864"/>
            <a:ext cx="7040880" cy="905256"/>
          </a:xfrm>
          <a:prstGeom prst="roundRect">
            <a:avLst>
              <a:gd name="adj" fmla="val 10101"/>
            </a:avLst>
          </a:prstGeom>
          <a:solidFill>
            <a:srgbClr val="FFFFFF"/>
          </a:solidFill>
          <a:ln w="12700">
            <a:solidFill>
              <a:srgbClr val="E6F2ED"/>
            </a:solidFill>
            <a:prstDash val="solid"/>
          </a:ln>
        </p:spPr>
      </p:sp>
      <p:sp>
        <p:nvSpPr>
          <p:cNvPr id="14" name="Text 12"/>
          <p:cNvSpPr txBox="1"/>
          <p:nvPr/>
        </p:nvSpPr>
        <p:spPr>
          <a:xfrm>
            <a:off x="4754880" y="2450592"/>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②</a:t>
            </a:r>
            <a:endParaRPr lang="en-US" sz="2000" dirty="0"/>
          </a:p>
        </p:txBody>
      </p:sp>
      <p:sp>
        <p:nvSpPr>
          <p:cNvPr id="15" name="Text 13"/>
          <p:cNvSpPr txBox="1"/>
          <p:nvPr/>
        </p:nvSpPr>
        <p:spPr>
          <a:xfrm>
            <a:off x="5257800" y="2414016"/>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practical ----- enhance</a:t>
            </a:r>
            <a:endParaRPr lang="en-US" sz="1500" dirty="0"/>
          </a:p>
        </p:txBody>
      </p:sp>
      <p:sp>
        <p:nvSpPr>
          <p:cNvPr id="16" name="Text 14"/>
          <p:cNvSpPr txBox="1"/>
          <p:nvPr/>
        </p:nvSpPr>
        <p:spPr>
          <a:xfrm>
            <a:off x="5257800" y="2816352"/>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실용적인 ✘ / 향상시키다 ✔</a:t>
            </a:r>
            <a:endParaRPr lang="en-US" sz="1300" dirty="0"/>
          </a:p>
        </p:txBody>
      </p:sp>
      <p:sp>
        <p:nvSpPr>
          <p:cNvPr id="17" name="Shape 15"/>
          <p:cNvSpPr/>
          <p:nvPr/>
        </p:nvSpPr>
        <p:spPr>
          <a:xfrm>
            <a:off x="4572000" y="3355848"/>
            <a:ext cx="7040880" cy="905256"/>
          </a:xfrm>
          <a:prstGeom prst="roundRect">
            <a:avLst>
              <a:gd name="adj" fmla="val 10101"/>
            </a:avLst>
          </a:prstGeom>
          <a:solidFill>
            <a:srgbClr val="FFFFFF"/>
          </a:solidFill>
          <a:ln w="12700">
            <a:solidFill>
              <a:srgbClr val="E6F2ED"/>
            </a:solidFill>
            <a:prstDash val="solid"/>
          </a:ln>
        </p:spPr>
      </p:sp>
      <p:sp>
        <p:nvSpPr>
          <p:cNvPr id="18" name="Text 16"/>
          <p:cNvSpPr txBox="1"/>
          <p:nvPr/>
        </p:nvSpPr>
        <p:spPr>
          <a:xfrm>
            <a:off x="4754880" y="3465576"/>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③</a:t>
            </a:r>
            <a:endParaRPr lang="en-US" sz="2000" dirty="0"/>
          </a:p>
        </p:txBody>
      </p:sp>
      <p:sp>
        <p:nvSpPr>
          <p:cNvPr id="19" name="Text 17"/>
          <p:cNvSpPr txBox="1"/>
          <p:nvPr/>
        </p:nvSpPr>
        <p:spPr>
          <a:xfrm>
            <a:off x="5257800" y="3429000"/>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distinct ----- allocate</a:t>
            </a:r>
            <a:endParaRPr lang="en-US" sz="1500" dirty="0"/>
          </a:p>
        </p:txBody>
      </p:sp>
      <p:sp>
        <p:nvSpPr>
          <p:cNvPr id="20" name="Text 18"/>
          <p:cNvSpPr txBox="1"/>
          <p:nvPr/>
        </p:nvSpPr>
        <p:spPr>
          <a:xfrm>
            <a:off x="5257800" y="3831336"/>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뚜렷한 △ / 할당하다 ✘ → B칸이 틀림</a:t>
            </a:r>
            <a:endParaRPr lang="en-US" sz="1300" dirty="0"/>
          </a:p>
        </p:txBody>
      </p:sp>
      <p:sp>
        <p:nvSpPr>
          <p:cNvPr id="21" name="Shape 19"/>
          <p:cNvSpPr/>
          <p:nvPr/>
        </p:nvSpPr>
        <p:spPr>
          <a:xfrm>
            <a:off x="4572000" y="4370832"/>
            <a:ext cx="7040880" cy="905256"/>
          </a:xfrm>
          <a:prstGeom prst="roundRect">
            <a:avLst>
              <a:gd name="adj" fmla="val 10101"/>
            </a:avLst>
          </a:prstGeom>
          <a:solidFill>
            <a:srgbClr val="F7E9E4"/>
          </a:solidFill>
          <a:ln w="25400">
            <a:solidFill>
              <a:srgbClr val="EF5B3F"/>
            </a:solidFill>
            <a:prstDash val="solid"/>
          </a:ln>
        </p:spPr>
      </p:sp>
      <p:sp>
        <p:nvSpPr>
          <p:cNvPr id="22" name="Text 20"/>
          <p:cNvSpPr txBox="1"/>
          <p:nvPr/>
        </p:nvSpPr>
        <p:spPr>
          <a:xfrm>
            <a:off x="4754880" y="4480560"/>
            <a:ext cx="411480" cy="411480"/>
          </a:xfrm>
          <a:prstGeom prst="rect">
            <a:avLst/>
          </a:prstGeom>
          <a:noFill/>
          <a:ln/>
        </p:spPr>
        <p:txBody>
          <a:bodyPr wrap="square" lIns="0" tIns="0" rIns="0" bIns="0" rtlCol="0" anchor="ctr"/>
          <a:lstStyle/>
          <a:p>
            <a:pPr indent="0" marL="0">
              <a:buNone/>
            </a:pPr>
            <a:r>
              <a:rPr lang="en-US" sz="2000" b="1" dirty="0">
                <a:solidFill>
                  <a:srgbClr val="EF5B3F"/>
                </a:solidFill>
              </a:rPr>
              <a:t>④</a:t>
            </a:r>
            <a:endParaRPr lang="en-US" sz="2000" dirty="0"/>
          </a:p>
        </p:txBody>
      </p:sp>
      <p:sp>
        <p:nvSpPr>
          <p:cNvPr id="23" name="Text 21"/>
          <p:cNvSpPr txBox="1"/>
          <p:nvPr/>
        </p:nvSpPr>
        <p:spPr>
          <a:xfrm>
            <a:off x="5257800" y="4443984"/>
            <a:ext cx="6172200" cy="411480"/>
          </a:xfrm>
          <a:prstGeom prst="rect">
            <a:avLst/>
          </a:prstGeom>
          <a:noFill/>
          <a:ln/>
        </p:spPr>
        <p:txBody>
          <a:bodyPr wrap="square" lIns="0" tIns="0" rIns="0" bIns="0" rtlCol="0" anchor="ctr">
            <a:normAutofit/>
          </a:bodyPr>
          <a:lstStyle/>
          <a:p>
            <a:pPr indent="0" marL="0">
              <a:buNone/>
            </a:pPr>
            <a:r>
              <a:rPr lang="en-US" sz="1500" b="1" dirty="0">
                <a:solidFill>
                  <a:srgbClr val="14453D"/>
                </a:solidFill>
              </a:rPr>
              <a:t>preferred ----- enhance</a:t>
            </a:r>
            <a:endParaRPr lang="en-US" sz="1500" dirty="0"/>
          </a:p>
        </p:txBody>
      </p:sp>
      <p:sp>
        <p:nvSpPr>
          <p:cNvPr id="24" name="Text 22"/>
          <p:cNvSpPr txBox="1"/>
          <p:nvPr/>
        </p:nvSpPr>
        <p:spPr>
          <a:xfrm>
            <a:off x="5257800" y="4846320"/>
            <a:ext cx="6172200" cy="365760"/>
          </a:xfrm>
          <a:prstGeom prst="rect">
            <a:avLst/>
          </a:prstGeom>
          <a:noFill/>
          <a:ln/>
        </p:spPr>
        <p:txBody>
          <a:bodyPr wrap="square" lIns="0" tIns="0" rIns="0" bIns="0" rtlCol="0" anchor="ctr">
            <a:normAutofit/>
          </a:bodyPr>
          <a:lstStyle/>
          <a:p>
            <a:pPr indent="0" marL="0">
              <a:buNone/>
            </a:pPr>
            <a:r>
              <a:rPr lang="en-US" sz="1300" dirty="0">
                <a:solidFill>
                  <a:srgbClr val="EF5B3F"/>
                </a:solidFill>
              </a:rPr>
              <a:t>✔ 선호하는 = 문화에 따라 더 쓰는 방식 / 향상시키다 = invaluable source</a:t>
            </a:r>
            <a:endParaRPr lang="en-US" sz="1300" dirty="0"/>
          </a:p>
        </p:txBody>
      </p:sp>
      <p:sp>
        <p:nvSpPr>
          <p:cNvPr id="25" name="Shape 23"/>
          <p:cNvSpPr/>
          <p:nvPr/>
        </p:nvSpPr>
        <p:spPr>
          <a:xfrm>
            <a:off x="4572000" y="5385816"/>
            <a:ext cx="7040880" cy="905256"/>
          </a:xfrm>
          <a:prstGeom prst="roundRect">
            <a:avLst>
              <a:gd name="adj" fmla="val 10101"/>
            </a:avLst>
          </a:prstGeom>
          <a:solidFill>
            <a:srgbClr val="FFFFFF"/>
          </a:solidFill>
          <a:ln w="12700">
            <a:solidFill>
              <a:srgbClr val="E6F2ED"/>
            </a:solidFill>
            <a:prstDash val="solid"/>
          </a:ln>
        </p:spPr>
      </p:sp>
      <p:sp>
        <p:nvSpPr>
          <p:cNvPr id="26" name="Text 24"/>
          <p:cNvSpPr txBox="1"/>
          <p:nvPr/>
        </p:nvSpPr>
        <p:spPr>
          <a:xfrm>
            <a:off x="4754880" y="5495544"/>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⑤</a:t>
            </a:r>
            <a:endParaRPr lang="en-US" sz="2000" dirty="0"/>
          </a:p>
        </p:txBody>
      </p:sp>
      <p:sp>
        <p:nvSpPr>
          <p:cNvPr id="27" name="Text 25"/>
          <p:cNvSpPr txBox="1"/>
          <p:nvPr/>
        </p:nvSpPr>
        <p:spPr>
          <a:xfrm>
            <a:off x="5257800" y="5458968"/>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expanded ----- undermine</a:t>
            </a:r>
            <a:endParaRPr lang="en-US" sz="1500" dirty="0"/>
          </a:p>
        </p:txBody>
      </p:sp>
      <p:sp>
        <p:nvSpPr>
          <p:cNvPr id="28" name="Text 26"/>
          <p:cNvSpPr txBox="1"/>
          <p:nvPr/>
        </p:nvSpPr>
        <p:spPr>
          <a:xfrm>
            <a:off x="5257800" y="5861304"/>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확장된 ✘ / 약화시키다 ✘</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97  </a:t>
            </a:r>
            <a:pPr algn="l" indent="0" marL="0">
              <a:buNone/>
            </a:pPr>
            <a:r>
              <a:rPr lang="en-US" sz="3000" b="1" dirty="0">
                <a:solidFill>
                  <a:srgbClr val="14453D"/>
                </a:solidFill>
              </a:rPr>
              <a:t>내신 어법 체크: 알맞은 것은?</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어법</a:t>
            </a:r>
            <a:endParaRPr lang="en-US" sz="1200" dirty="0"/>
          </a:p>
        </p:txBody>
      </p:sp>
      <p:sp>
        <p:nvSpPr>
          <p:cNvPr id="4" name="Shape 2"/>
          <p:cNvSpPr/>
          <p:nvPr/>
        </p:nvSpPr>
        <p:spPr>
          <a:xfrm>
            <a:off x="548640" y="1325880"/>
            <a:ext cx="11064240" cy="1143000"/>
          </a:xfrm>
          <a:prstGeom prst="roundRect">
            <a:avLst>
              <a:gd name="adj" fmla="val 8000"/>
            </a:avLst>
          </a:prstGeom>
          <a:solidFill>
            <a:srgbClr val="F2F8FB"/>
          </a:solidFill>
          <a:ln w="12700">
            <a:solidFill>
              <a:srgbClr val="D3E5EE"/>
            </a:solidFill>
            <a:prstDash val="solid"/>
          </a:ln>
        </p:spPr>
      </p:sp>
      <p:sp>
        <p:nvSpPr>
          <p:cNvPr id="5" name="Text 3"/>
          <p:cNvSpPr/>
          <p:nvPr/>
        </p:nvSpPr>
        <p:spPr>
          <a:xfrm>
            <a:off x="777240" y="162306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1554480" y="132588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If Asians and Westerners are shown the same thing, they will likely look at different parts of </a:t>
            </a:r>
            <a:pPr indent="0" marL="0">
              <a:buNone/>
            </a:pPr>
            <a:r>
              <a:rPr lang="en-US" sz="1900" b="1" dirty="0">
                <a:solidFill>
                  <a:srgbClr val="EF5B3F"/>
                </a:solidFill>
              </a:rPr>
              <a:t>[it / them]</a:t>
            </a:r>
            <a:pPr indent="0" marL="0">
              <a:buNone/>
            </a:pPr>
            <a:r>
              <a:rPr lang="en-US" sz="1900" dirty="0">
                <a:solidFill>
                  <a:srgbClr val="1E2B2A"/>
                </a:solidFill>
              </a:rPr>
              <a:t>.</a:t>
            </a:r>
            <a:endParaRPr lang="en-US" sz="1900" dirty="0"/>
          </a:p>
        </p:txBody>
      </p:sp>
      <p:sp>
        <p:nvSpPr>
          <p:cNvPr id="7" name="Shape 5"/>
          <p:cNvSpPr/>
          <p:nvPr/>
        </p:nvSpPr>
        <p:spPr>
          <a:xfrm>
            <a:off x="548640" y="2606040"/>
            <a:ext cx="11064240" cy="1143000"/>
          </a:xfrm>
          <a:prstGeom prst="roundRect">
            <a:avLst>
              <a:gd name="adj" fmla="val 8000"/>
            </a:avLst>
          </a:prstGeom>
          <a:solidFill>
            <a:srgbClr val="FFFFFF"/>
          </a:solidFill>
          <a:ln w="12700">
            <a:solidFill>
              <a:srgbClr val="D3E5EE"/>
            </a:solidFill>
            <a:prstDash val="solid"/>
          </a:ln>
        </p:spPr>
      </p:sp>
      <p:sp>
        <p:nvSpPr>
          <p:cNvPr id="8" name="Text 6"/>
          <p:cNvSpPr/>
          <p:nvPr/>
        </p:nvSpPr>
        <p:spPr>
          <a:xfrm>
            <a:off x="777240" y="290322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9" name="Text 7"/>
          <p:cNvSpPr txBox="1"/>
          <p:nvPr/>
        </p:nvSpPr>
        <p:spPr>
          <a:xfrm>
            <a:off x="1554480" y="260604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When </a:t>
            </a:r>
            <a:pPr indent="0" marL="0">
              <a:buNone/>
            </a:pPr>
            <a:r>
              <a:rPr lang="en-US" sz="1900" b="1" dirty="0">
                <a:solidFill>
                  <a:srgbClr val="EF5B3F"/>
                </a:solidFill>
              </a:rPr>
              <a:t>[asked / asking]</a:t>
            </a:r>
            <a:pPr indent="0" marL="0">
              <a:buNone/>
            </a:pPr>
            <a:r>
              <a:rPr lang="en-US" sz="1900" dirty="0">
                <a:solidFill>
                  <a:srgbClr val="1E2B2A"/>
                </a:solidFill>
              </a:rPr>
              <a:t> what they had observed afterwards, the Americans said…</a:t>
            </a:r>
            <a:endParaRPr lang="en-US" sz="1900" dirty="0"/>
          </a:p>
        </p:txBody>
      </p:sp>
      <p:sp>
        <p:nvSpPr>
          <p:cNvPr id="10" name="Shape 8"/>
          <p:cNvSpPr/>
          <p:nvPr/>
        </p:nvSpPr>
        <p:spPr>
          <a:xfrm>
            <a:off x="548640" y="3886200"/>
            <a:ext cx="11064240" cy="1143000"/>
          </a:xfrm>
          <a:prstGeom prst="roundRect">
            <a:avLst>
              <a:gd name="adj" fmla="val 8000"/>
            </a:avLst>
          </a:prstGeom>
          <a:solidFill>
            <a:srgbClr val="F2F8FB"/>
          </a:solidFill>
          <a:ln w="12700">
            <a:solidFill>
              <a:srgbClr val="D3E5EE"/>
            </a:solidFill>
            <a:prstDash val="solid"/>
          </a:ln>
        </p:spPr>
      </p:sp>
      <p:sp>
        <p:nvSpPr>
          <p:cNvPr id="11" name="Text 9"/>
          <p:cNvSpPr/>
          <p:nvPr/>
        </p:nvSpPr>
        <p:spPr>
          <a:xfrm>
            <a:off x="777240" y="418338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2" name="Text 10"/>
          <p:cNvSpPr txBox="1"/>
          <p:nvPr/>
        </p:nvSpPr>
        <p:spPr>
          <a:xfrm>
            <a:off x="1554480" y="388620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Westerners are more independent and analytical, often </a:t>
            </a:r>
            <a:pPr indent="0" marL="0">
              <a:buNone/>
            </a:pPr>
            <a:r>
              <a:rPr lang="en-US" sz="1900" b="1" dirty="0">
                <a:solidFill>
                  <a:srgbClr val="EF5B3F"/>
                </a:solidFill>
              </a:rPr>
              <a:t>[noticing / noticed]</a:t>
            </a:r>
            <a:pPr indent="0" marL="0">
              <a:buNone/>
            </a:pPr>
            <a:r>
              <a:rPr lang="en-US" sz="1900" dirty="0">
                <a:solidFill>
                  <a:srgbClr val="1E2B2A"/>
                </a:solidFill>
              </a:rPr>
              <a:t> specifics.</a:t>
            </a:r>
            <a:endParaRPr lang="en-US" sz="19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98  </a:t>
            </a:r>
            <a:pPr algn="l" indent="0" marL="0">
              <a:buNone/>
            </a:pPr>
            <a:r>
              <a:rPr lang="en-US" sz="3000" b="1" dirty="0">
                <a:solidFill>
                  <a:srgbClr val="14453D"/>
                </a:solidFill>
              </a:rPr>
              <a:t>순서 효과</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Hook</a:t>
            </a:r>
            <a:endParaRPr lang="en-US" sz="1200" dirty="0"/>
          </a:p>
        </p:txBody>
      </p:sp>
      <p:sp>
        <p:nvSpPr>
          <p:cNvPr id="4" name="Shape 2"/>
          <p:cNvSpPr/>
          <p:nvPr/>
        </p:nvSpPr>
        <p:spPr>
          <a:xfrm>
            <a:off x="1280160" y="1737360"/>
            <a:ext cx="9601200" cy="3291840"/>
          </a:xfrm>
          <a:prstGeom prst="roundRect">
            <a:avLst>
              <a:gd name="adj" fmla="val 6944"/>
            </a:avLst>
          </a:prstGeom>
          <a:solidFill>
            <a:srgbClr val="E6F2ED"/>
          </a:solidFill>
          <a:ln w="12700">
            <a:solidFill>
              <a:srgbClr val="E6F2ED"/>
            </a:solidFill>
            <a:prstDash val="solid"/>
          </a:ln>
        </p:spPr>
      </p:sp>
      <p:sp>
        <p:nvSpPr>
          <p:cNvPr id="5" name="Shape 3"/>
          <p:cNvSpPr/>
          <p:nvPr/>
        </p:nvSpPr>
        <p:spPr>
          <a:xfrm>
            <a:off x="1737360" y="2148840"/>
            <a:ext cx="1005840" cy="1005840"/>
          </a:xfrm>
          <a:prstGeom prst="ellipse">
            <a:avLst/>
          </a:prstGeom>
          <a:solidFill>
            <a:srgbClr val="1F7A64"/>
          </a:solidFill>
          <a:ln w="12700">
            <a:solidFill>
              <a:srgbClr val="1F7A64"/>
            </a:solidFill>
            <a:prstDash val="solid"/>
          </a:ln>
        </p:spPr>
      </p:sp>
      <p:pic>
        <p:nvPicPr>
          <p:cNvPr id="6" name="Image 0" descr="preencoded.png">    </p:cNvPr>
          <p:cNvPicPr>
            <a:picLocks noChangeAspect="1"/>
          </p:cNvPicPr>
          <p:nvPr/>
        </p:nvPicPr>
        <p:blipFill>
          <a:blip r:embed="rId1"/>
          <a:stretch>
            <a:fillRect/>
          </a:stretch>
        </p:blipFill>
        <p:spPr>
          <a:xfrm>
            <a:off x="1984248" y="2395728"/>
            <a:ext cx="512064" cy="512064"/>
          </a:xfrm>
          <a:prstGeom prst="rect">
            <a:avLst/>
          </a:prstGeom>
        </p:spPr>
      </p:pic>
      <p:sp>
        <p:nvSpPr>
          <p:cNvPr id="7" name="Text 4"/>
          <p:cNvSpPr txBox="1"/>
          <p:nvPr/>
        </p:nvSpPr>
        <p:spPr>
          <a:xfrm>
            <a:off x="3017520" y="2194560"/>
            <a:ext cx="5486400" cy="457200"/>
          </a:xfrm>
          <a:prstGeom prst="rect">
            <a:avLst/>
          </a:prstGeom>
          <a:noFill/>
          <a:ln/>
        </p:spPr>
        <p:txBody>
          <a:bodyPr wrap="square" lIns="0" tIns="0" rIns="0" bIns="0" rtlCol="0" anchor="ctr"/>
          <a:lstStyle/>
          <a:p>
            <a:pPr indent="0" marL="0">
              <a:buNone/>
            </a:pPr>
            <a:r>
              <a:rPr lang="en-US" sz="1800" b="1" dirty="0">
                <a:solidFill>
                  <a:srgbClr val="1F7A64"/>
                </a:solidFill>
              </a:rPr>
              <a:t>생각해 볼까?</a:t>
            </a:r>
            <a:endParaRPr lang="en-US" sz="1800" dirty="0"/>
          </a:p>
        </p:txBody>
      </p:sp>
      <p:sp>
        <p:nvSpPr>
          <p:cNvPr id="8" name="Text 5"/>
          <p:cNvSpPr txBox="1"/>
          <p:nvPr/>
        </p:nvSpPr>
        <p:spPr>
          <a:xfrm>
            <a:off x="3017520" y="2697480"/>
            <a:ext cx="7498080" cy="2011680"/>
          </a:xfrm>
          <a:prstGeom prst="rect">
            <a:avLst/>
          </a:prstGeom>
          <a:noFill/>
          <a:ln/>
        </p:spPr>
        <p:txBody>
          <a:bodyPr wrap="square" lIns="0" tIns="0" rIns="0" bIns="0" rtlCol="0" anchor="t">
            <a:normAutofit/>
          </a:bodyPr>
          <a:lstStyle/>
          <a:p>
            <a:pPr indent="0" marL="0">
              <a:buNone/>
            </a:pPr>
            <a:r>
              <a:rPr lang="en-US" sz="2800" b="1" dirty="0">
                <a:solidFill>
                  <a:srgbClr val="14453D"/>
                </a:solidFill>
              </a:rPr>
              <a:t>노래 경연에서 첫 번째 순서는 유리할까, 불리할까?</a:t>
            </a:r>
            <a:endParaRPr lang="en-US" sz="2800" dirty="0"/>
          </a:p>
        </p:txBody>
      </p:sp>
      <p:sp>
        <p:nvSpPr>
          <p:cNvPr id="9" name="Text 6"/>
          <p:cNvSpPr/>
          <p:nvPr/>
        </p:nvSpPr>
        <p:spPr>
          <a:xfrm>
            <a:off x="4251960" y="5349240"/>
            <a:ext cx="3657600" cy="329184"/>
          </a:xfrm>
          <a:prstGeom prst="roundRect">
            <a:avLst>
              <a:gd name="adj" fmla="val 41667"/>
            </a:avLst>
          </a:prstGeom>
          <a:solidFill>
            <a:srgbClr val="EF5B3F"/>
          </a:solidFill>
          <a:ln/>
        </p:spPr>
        <p:txBody>
          <a:bodyPr wrap="square" lIns="0" tIns="0" rIns="0" bIns="0" rtlCol="0" anchor="ctr"/>
          <a:lstStyle/>
          <a:p>
            <a:pPr algn="ctr" indent="0" marL="0">
              <a:buNone/>
            </a:pPr>
            <a:r>
              <a:rPr lang="en-US" sz="1400" b="1" dirty="0">
                <a:solidFill>
                  <a:srgbClr val="FFFFFF"/>
                </a:solidFill>
              </a:rPr>
              <a:t>짝과 30초 이야기 → 2~3명 발표</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98  </a:t>
            </a:r>
            <a:pPr algn="l" indent="0" marL="0">
              <a:buNone/>
            </a:pPr>
            <a:r>
              <a:rPr lang="en-US" sz="2400" b="1" dirty="0">
                <a:solidFill>
                  <a:srgbClr val="14453D"/>
                </a:solidFill>
              </a:rPr>
              <a:t>(A)·(B)에 들어갈 말로 가장 적절한 것은?</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a:t>
            </a:r>
            <a:endParaRPr lang="en-US" sz="1200" dirty="0"/>
          </a:p>
        </p:txBody>
      </p:sp>
      <p:sp>
        <p:nvSpPr>
          <p:cNvPr id="4" name="Shape 2"/>
          <p:cNvSpPr/>
          <p:nvPr/>
        </p:nvSpPr>
        <p:spPr>
          <a:xfrm>
            <a:off x="548640" y="1234440"/>
            <a:ext cx="11064240" cy="5074920"/>
          </a:xfrm>
          <a:prstGeom prst="roundRect">
            <a:avLst>
              <a:gd name="adj" fmla="val 1802"/>
            </a:avLst>
          </a:prstGeom>
          <a:solidFill>
            <a:srgbClr val="FFFFFF"/>
          </a:solidFill>
          <a:ln w="19050">
            <a:solidFill>
              <a:srgbClr val="E6F2ED"/>
            </a:solidFill>
            <a:prstDash val="solid"/>
          </a:ln>
        </p:spPr>
      </p:sp>
      <p:sp>
        <p:nvSpPr>
          <p:cNvPr id="5" name="Text 3"/>
          <p:cNvSpPr txBox="1"/>
          <p:nvPr/>
        </p:nvSpPr>
        <p:spPr>
          <a:xfrm>
            <a:off x="777240" y="1371600"/>
            <a:ext cx="10607040" cy="4846320"/>
          </a:xfrm>
          <a:prstGeom prst="rect">
            <a:avLst/>
          </a:prstGeom>
          <a:noFill/>
          <a:ln/>
        </p:spPr>
        <p:txBody>
          <a:bodyPr wrap="square" lIns="0" tIns="0" rIns="0" bIns="0" rtlCol="0" anchor="t"/>
          <a:lstStyle/>
          <a:p>
            <a:pPr indent="0" marL="0">
              <a:lnSpc>
                <a:spcPct val="115000"/>
              </a:lnSpc>
              <a:buNone/>
            </a:pPr>
            <a:r>
              <a:rPr lang="en-US" sz="1600" dirty="0">
                <a:solidFill>
                  <a:srgbClr val="1E2B2A"/>
                </a:solidFill>
              </a:rPr>
              <a:t>Order effect is the prejudicial impact that the presentation order of a question, idea, answer, or product has on a respondent.</a:t>
            </a:r>
            <a:pPr indent="0" marL="0">
              <a:lnSpc>
                <a:spcPct val="115000"/>
              </a:lnSpc>
              <a:buNone/>
            </a:pPr>
            <a:r>
              <a:rPr lang="en-US" sz="1600" dirty="0">
                <a:solidFill>
                  <a:srgbClr val="000000"/>
                </a:solidFill>
              </a:rPr>
              <a:t> </a:t>
            </a:r>
            <a:pPr indent="0" marL="0">
              <a:lnSpc>
                <a:spcPct val="115000"/>
              </a:lnSpc>
              <a:buNone/>
            </a:pPr>
            <a:r>
              <a:rPr lang="en-US" sz="1600" dirty="0">
                <a:solidFill>
                  <a:srgbClr val="1E2B2A"/>
                </a:solidFill>
              </a:rPr>
              <a:t>Whether the item is located in the first, last, or middle position sometimes affects the selection of or response to that item.</a:t>
            </a:r>
            <a:pPr indent="0" marL="0">
              <a:lnSpc>
                <a:spcPct val="115000"/>
              </a:lnSpc>
              <a:buNone/>
            </a:pPr>
            <a:r>
              <a:rPr lang="en-US" sz="1600" dirty="0">
                <a:solidFill>
                  <a:srgbClr val="000000"/>
                </a:solidFill>
              </a:rPr>
              <a:t> </a:t>
            </a:r>
            <a:pPr indent="0" marL="0">
              <a:lnSpc>
                <a:spcPct val="115000"/>
              </a:lnSpc>
              <a:buNone/>
            </a:pPr>
            <a:r>
              <a:rPr lang="en-US" sz="1600" dirty="0">
                <a:solidFill>
                  <a:srgbClr val="1E2B2A"/>
                </a:solidFill>
              </a:rPr>
              <a:t>There have been several studies that have noticed an order effect when an early stimulus acts as a frame of reference for later stimuli.</a:t>
            </a:r>
            <a:pPr indent="0" marL="0">
              <a:lnSpc>
                <a:spcPct val="115000"/>
              </a:lnSpc>
              <a:buNone/>
            </a:pPr>
            <a:r>
              <a:rPr lang="en-US" sz="1600" dirty="0">
                <a:solidFill>
                  <a:srgbClr val="000000"/>
                </a:solidFill>
              </a:rPr>
              <a:t> </a:t>
            </a:r>
            <a:pPr indent="0" marL="0">
              <a:lnSpc>
                <a:spcPct val="115000"/>
              </a:lnSpc>
              <a:buNone/>
            </a:pPr>
            <a:r>
              <a:rPr lang="en-US" sz="1600" dirty="0">
                <a:solidFill>
                  <a:srgbClr val="1E2B2A"/>
                </a:solidFill>
              </a:rPr>
              <a:t>Robert Ferber from Illinois University had respondents rate a list of occupations and found that the maximum or minimum ratings occurred on the one presented first, regardless of the ordering of the occupations.</a:t>
            </a:r>
            <a:pPr indent="0" marL="0">
              <a:lnSpc>
                <a:spcPct val="115000"/>
              </a:lnSpc>
              <a:buNone/>
            </a:pPr>
            <a:r>
              <a:rPr lang="en-US" sz="1600" dirty="0">
                <a:solidFill>
                  <a:srgbClr val="000000"/>
                </a:solidFill>
              </a:rPr>
              <a:t> </a:t>
            </a:r>
            <a:pPr indent="0" marL="0">
              <a:lnSpc>
                <a:spcPct val="115000"/>
              </a:lnSpc>
              <a:buNone/>
            </a:pPr>
            <a:r>
              <a:rPr lang="en-US" sz="1600" dirty="0">
                <a:solidFill>
                  <a:srgbClr val="1E2B2A"/>
                </a:solidFill>
              </a:rPr>
              <a:t>In another study, the subjects were asked to rate a beverage on intention to buy on a scale ranging from “definitely would not buy” to “definitely would buy.”</a:t>
            </a:r>
            <a:pPr indent="0" marL="0">
              <a:lnSpc>
                <a:spcPct val="115000"/>
              </a:lnSpc>
              <a:buNone/>
            </a:pPr>
            <a:r>
              <a:rPr lang="en-US" sz="1600" dirty="0">
                <a:solidFill>
                  <a:srgbClr val="000000"/>
                </a:solidFill>
              </a:rPr>
              <a:t> </a:t>
            </a:r>
            <a:pPr indent="0" marL="0">
              <a:lnSpc>
                <a:spcPct val="115000"/>
              </a:lnSpc>
              <a:buNone/>
            </a:pPr>
            <a:r>
              <a:rPr lang="en-US" sz="1600" dirty="0">
                <a:solidFill>
                  <a:srgbClr val="1E2B2A"/>
                </a:solidFill>
              </a:rPr>
              <a:t>The first beverage tasted was rated significantly higher.</a:t>
            </a:r>
            <a:endParaRPr lang="en-US" sz="1600" dirty="0"/>
          </a:p>
          <a:p>
            <a:pPr indent="0" marL="0">
              <a:lnSpc>
                <a:spcPct val="115000"/>
              </a:lnSpc>
              <a:spcBef>
                <a:spcPts val="800"/>
              </a:spcBef>
              <a:buNone/>
            </a:pPr>
            <a:r>
              <a:rPr lang="en-US" sz="1600" b="1" dirty="0">
                <a:solidFill>
                  <a:srgbClr val="1F7A64"/>
                </a:solidFill>
              </a:rPr>
              <a:t>↓  </a:t>
            </a:r>
            <a:pPr indent="0" marL="0">
              <a:lnSpc>
                <a:spcPct val="115000"/>
              </a:lnSpc>
              <a:buNone/>
            </a:pPr>
            <a:r>
              <a:rPr lang="en-US" sz="1600" dirty="0">
                <a:solidFill>
                  <a:srgbClr val="14453D"/>
                </a:solidFill>
              </a:rPr>
              <a:t>The items presented in the </a:t>
            </a:r>
            <a:pPr indent="0" marL="0">
              <a:lnSpc>
                <a:spcPct val="115000"/>
              </a:lnSpc>
              <a:buNone/>
            </a:pPr>
            <a:r>
              <a:rPr lang="en-US" sz="1600" b="1" dirty="0">
                <a:solidFill>
                  <a:srgbClr val="EF5B3F"/>
                </a:solidFill>
              </a:rPr>
              <a:t>(A)</a:t>
            </a:r>
            <a:pPr indent="0" marL="0">
              <a:lnSpc>
                <a:spcPct val="115000"/>
              </a:lnSpc>
              <a:buNone/>
            </a:pPr>
            <a:r>
              <a:rPr lang="en-US" sz="1600" dirty="0">
                <a:solidFill>
                  <a:srgbClr val="14453D"/>
                </a:solidFill>
              </a:rPr>
              <a:t> position tend to get </a:t>
            </a:r>
            <a:pPr indent="0" marL="0">
              <a:lnSpc>
                <a:spcPct val="115000"/>
              </a:lnSpc>
              <a:buNone/>
            </a:pPr>
            <a:r>
              <a:rPr lang="en-US" sz="1600" b="1" dirty="0">
                <a:solidFill>
                  <a:srgbClr val="EF5B3F"/>
                </a:solidFill>
              </a:rPr>
              <a:t>(B)</a:t>
            </a:r>
            <a:pPr indent="0" marL="0">
              <a:lnSpc>
                <a:spcPct val="115000"/>
              </a:lnSpc>
              <a:buNone/>
            </a:pPr>
            <a:r>
              <a:rPr lang="en-US" sz="1600" dirty="0">
                <a:solidFill>
                  <a:srgbClr val="14453D"/>
                </a:solidFill>
              </a:rPr>
              <a:t> ratings by people.</a:t>
            </a:r>
            <a:endParaRPr lang="en-US" sz="1600" dirty="0"/>
          </a:p>
          <a:p>
            <a:pPr indent="0" marL="0">
              <a:lnSpc>
                <a:spcPct val="115000"/>
              </a:lnSpc>
              <a:spcBef>
                <a:spcPts val="1000"/>
              </a:spcBef>
              <a:buNone/>
            </a:pPr>
            <a:r>
              <a:rPr lang="en-US" sz="1600" dirty="0">
                <a:solidFill>
                  <a:srgbClr val="14453D"/>
                </a:solidFill>
              </a:rPr>
              <a:t>①  initial ----- extreme</a:t>
            </a:r>
            <a:endParaRPr lang="en-US" sz="1600" dirty="0"/>
          </a:p>
          <a:p>
            <a:pPr indent="0" marL="0">
              <a:lnSpc>
                <a:spcPct val="115000"/>
              </a:lnSpc>
              <a:spcBef>
                <a:spcPts val="200"/>
              </a:spcBef>
              <a:buNone/>
            </a:pPr>
            <a:r>
              <a:rPr lang="en-US" sz="1600" dirty="0">
                <a:solidFill>
                  <a:srgbClr val="14453D"/>
                </a:solidFill>
              </a:rPr>
              <a:t>②  fixed ----- moderate</a:t>
            </a:r>
            <a:endParaRPr lang="en-US" sz="1600" dirty="0"/>
          </a:p>
          <a:p>
            <a:pPr indent="0" marL="0">
              <a:lnSpc>
                <a:spcPct val="115000"/>
              </a:lnSpc>
              <a:spcBef>
                <a:spcPts val="200"/>
              </a:spcBef>
              <a:buNone/>
            </a:pPr>
            <a:r>
              <a:rPr lang="en-US" sz="1600" dirty="0">
                <a:solidFill>
                  <a:srgbClr val="14453D"/>
                </a:solidFill>
              </a:rPr>
              <a:t>③  last ----- clear</a:t>
            </a:r>
            <a:endParaRPr lang="en-US" sz="1600" dirty="0"/>
          </a:p>
          <a:p>
            <a:pPr indent="0" marL="0">
              <a:lnSpc>
                <a:spcPct val="115000"/>
              </a:lnSpc>
              <a:spcBef>
                <a:spcPts val="200"/>
              </a:spcBef>
              <a:buNone/>
            </a:pPr>
            <a:r>
              <a:rPr lang="en-US" sz="1600" dirty="0">
                <a:solidFill>
                  <a:srgbClr val="14453D"/>
                </a:solidFill>
              </a:rPr>
              <a:t>④  random ----- uncertain</a:t>
            </a:r>
            <a:endParaRPr lang="en-US" sz="1600" dirty="0"/>
          </a:p>
          <a:p>
            <a:pPr indent="0" marL="0">
              <a:lnSpc>
                <a:spcPct val="115000"/>
              </a:lnSpc>
              <a:spcBef>
                <a:spcPts val="200"/>
              </a:spcBef>
              <a:buNone/>
            </a:pPr>
            <a:r>
              <a:rPr lang="en-US" sz="1600" dirty="0">
                <a:solidFill>
                  <a:srgbClr val="14453D"/>
                </a:solidFill>
              </a:rPr>
              <a:t>⑤  variable ----- average</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98  </a:t>
            </a:r>
            <a:pPr algn="l" indent="0" marL="0">
              <a:buNone/>
            </a:pPr>
            <a:r>
              <a:rPr lang="en-US" sz="3000" b="1" dirty="0">
                <a:solidFill>
                  <a:srgbClr val="14453D"/>
                </a:solidFill>
              </a:rPr>
              <a:t>정답 근거 &amp; 문법 포인트</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근거</a:t>
            </a:r>
            <a:endParaRPr lang="en-US" sz="1200" dirty="0"/>
          </a:p>
        </p:txBody>
      </p:sp>
      <p:sp>
        <p:nvSpPr>
          <p:cNvPr id="4" name="Shape 2"/>
          <p:cNvSpPr/>
          <p:nvPr/>
        </p:nvSpPr>
        <p:spPr>
          <a:xfrm>
            <a:off x="548640" y="1234440"/>
            <a:ext cx="11064240" cy="2907792"/>
          </a:xfrm>
          <a:prstGeom prst="roundRect">
            <a:avLst>
              <a:gd name="adj" fmla="val 3145"/>
            </a:avLst>
          </a:prstGeom>
          <a:solidFill>
            <a:srgbClr val="FFFFFF"/>
          </a:solidFill>
          <a:ln w="19050">
            <a:solidFill>
              <a:srgbClr val="E6F2ED"/>
            </a:solidFill>
            <a:prstDash val="solid"/>
          </a:ln>
        </p:spPr>
      </p:sp>
      <p:sp>
        <p:nvSpPr>
          <p:cNvPr id="5" name="Text 3"/>
          <p:cNvSpPr txBox="1"/>
          <p:nvPr/>
        </p:nvSpPr>
        <p:spPr>
          <a:xfrm>
            <a:off x="777240" y="1371600"/>
            <a:ext cx="10607040" cy="2679192"/>
          </a:xfrm>
          <a:prstGeom prst="rect">
            <a:avLst/>
          </a:prstGeom>
          <a:noFill/>
          <a:ln/>
        </p:spPr>
        <p:txBody>
          <a:bodyPr wrap="square" lIns="0" tIns="0" rIns="0" bIns="0" rtlCol="0" anchor="t">
            <a:normAutofit/>
          </a:bodyPr>
          <a:lstStyle/>
          <a:p>
            <a:pPr indent="0" marL="0">
              <a:lnSpc>
                <a:spcPct val="120000"/>
              </a:lnSpc>
              <a:buNone/>
            </a:pPr>
            <a:r>
              <a:rPr lang="en-US" sz="1300" b="1" dirty="0">
                <a:solidFill>
                  <a:srgbClr val="1F7A64"/>
                </a:solidFill>
              </a:rPr>
              <a:t>(1) </a:t>
            </a:r>
            <a:pPr indent="0" marL="0">
              <a:lnSpc>
                <a:spcPct val="120000"/>
              </a:lnSpc>
              <a:buNone/>
            </a:pPr>
            <a:r>
              <a:rPr lang="en-US" sz="1600" dirty="0">
                <a:solidFill>
                  <a:srgbClr val="1E2B2A"/>
                </a:solidFill>
                <a:highlight>
                  <a:srgbClr val="FFD45C"/>
                </a:highlight>
              </a:rPr>
              <a:t>Order effect is </a:t>
            </a:r>
            <a:pPr indent="0" marL="0">
              <a:lnSpc>
                <a:spcPct val="120000"/>
              </a:lnSpc>
              <a:buNone/>
            </a:pPr>
            <a:r>
              <a:rPr lang="en-US" sz="1600" b="1" dirty="0">
                <a:solidFill>
                  <a:srgbClr val="14453D"/>
                </a:solidFill>
                <a:highlight>
                  <a:srgbClr val="A9DDF3"/>
                </a:highlight>
              </a:rPr>
              <a:t>the </a:t>
            </a:r>
            <a:pPr indent="0" marL="0">
              <a:lnSpc>
                <a:spcPct val="120000"/>
              </a:lnSpc>
              <a:buNone/>
            </a:pPr>
            <a:r>
              <a:rPr lang="en-US" sz="1600" b="1" u="dotted" dirty="0">
                <a:solidFill>
                  <a:srgbClr val="14453D"/>
                </a:solidFill>
                <a:highlight>
                  <a:srgbClr val="A9DDF3"/>
                </a:highlight>
                <a:uFill>
                  <a:solidFill>
                    <a:srgbClr val="1F7A64"/>
                  </a:solidFill>
                </a:uFill>
              </a:rPr>
              <a:t>prejudicial</a:t>
            </a:r>
            <a:pPr indent="0" marL="0">
              <a:lnSpc>
                <a:spcPct val="120000"/>
              </a:lnSpc>
              <a:buNone/>
            </a:pPr>
            <a:r>
              <a:rPr lang="en-US" sz="1600" b="1" dirty="0">
                <a:solidFill>
                  <a:srgbClr val="14453D"/>
                </a:solidFill>
                <a:highlight>
                  <a:srgbClr val="A9DDF3"/>
                </a:highlight>
              </a:rPr>
              <a:t> impact that the presentation order of a question, idea, answer, or product has on a </a:t>
            </a:r>
            <a:pPr indent="0" marL="0">
              <a:lnSpc>
                <a:spcPct val="120000"/>
              </a:lnSpc>
              <a:buNone/>
            </a:pPr>
            <a:r>
              <a:rPr lang="en-US" sz="1600" b="1" u="dotted" dirty="0">
                <a:solidFill>
                  <a:srgbClr val="14453D"/>
                </a:solidFill>
                <a:highlight>
                  <a:srgbClr val="A9DDF3"/>
                </a:highlight>
                <a:uFill>
                  <a:solidFill>
                    <a:srgbClr val="1F7A64"/>
                  </a:solidFill>
                </a:uFill>
              </a:rPr>
              <a:t>respondent</a:t>
            </a:r>
            <a:pPr indent="0" marL="0">
              <a:lnSpc>
                <a:spcPct val="120000"/>
              </a:lnSpc>
              <a:buNone/>
            </a:pPr>
            <a:r>
              <a:rPr lang="en-US" sz="1600" dirty="0">
                <a:solidFill>
                  <a:srgbClr val="1E2B2A"/>
                </a:solidFill>
                <a:highlight>
                  <a:srgbClr val="FFD45C"/>
                </a:highlight>
              </a:rPr>
              <a:t>.</a:t>
            </a:r>
            <a:pPr indent="0" marL="0">
              <a:lnSpc>
                <a:spcPct val="120000"/>
              </a:lnSpc>
              <a:buNone/>
            </a:pPr>
            <a:r>
              <a:rPr lang="en-US" sz="1600" dirty="0">
                <a:solidFill>
                  <a:srgbClr val="000000"/>
                </a:solidFill>
              </a:rPr>
              <a:t> </a:t>
            </a:r>
            <a:pPr indent="0" marL="0">
              <a:lnSpc>
                <a:spcPct val="120000"/>
              </a:lnSpc>
              <a:buNone/>
            </a:pPr>
            <a:r>
              <a:rPr lang="en-US" sz="1300" b="1" dirty="0">
                <a:solidFill>
                  <a:srgbClr val="1F7A64"/>
                </a:solidFill>
              </a:rPr>
              <a:t>(2) </a:t>
            </a:r>
            <a:pPr indent="0" marL="0">
              <a:lnSpc>
                <a:spcPct val="120000"/>
              </a:lnSpc>
              <a:buNone/>
            </a:pPr>
            <a:r>
              <a:rPr lang="en-US" sz="1600" b="1" dirty="0">
                <a:solidFill>
                  <a:srgbClr val="14453D"/>
                </a:solidFill>
                <a:highlight>
                  <a:srgbClr val="A9DDF3"/>
                </a:highlight>
              </a:rPr>
              <a:t>Whether the item is located in the first, last, or middle position sometimes affects</a:t>
            </a:r>
            <a:pPr indent="0" marL="0">
              <a:lnSpc>
                <a:spcPct val="120000"/>
              </a:lnSpc>
              <a:buNone/>
            </a:pPr>
            <a:r>
              <a:rPr lang="en-US" sz="1600" dirty="0">
                <a:solidFill>
                  <a:srgbClr val="1E2B2A"/>
                </a:solidFill>
              </a:rPr>
              <a:t> the selection of or response to that item.</a:t>
            </a:r>
            <a:pPr indent="0" marL="0">
              <a:lnSpc>
                <a:spcPct val="120000"/>
              </a:lnSpc>
              <a:buNone/>
            </a:pPr>
            <a:r>
              <a:rPr lang="en-US" sz="1600" dirty="0">
                <a:solidFill>
                  <a:srgbClr val="000000"/>
                </a:solidFill>
              </a:rPr>
              <a:t> </a:t>
            </a:r>
            <a:pPr indent="0" marL="0">
              <a:lnSpc>
                <a:spcPct val="120000"/>
              </a:lnSpc>
              <a:buNone/>
            </a:pPr>
            <a:r>
              <a:rPr lang="en-US" sz="1300" b="1" dirty="0">
                <a:solidFill>
                  <a:srgbClr val="1F7A64"/>
                </a:solidFill>
              </a:rPr>
              <a:t>(3) </a:t>
            </a:r>
            <a:pPr indent="0" marL="0">
              <a:lnSpc>
                <a:spcPct val="120000"/>
              </a:lnSpc>
              <a:buNone/>
            </a:pPr>
            <a:r>
              <a:rPr lang="en-US" sz="1600" dirty="0">
                <a:solidFill>
                  <a:srgbClr val="1E2B2A"/>
                </a:solidFill>
              </a:rPr>
              <a:t>There have been several studies that have noticed an order effect when an early </a:t>
            </a:r>
            <a:pPr indent="0" marL="0">
              <a:lnSpc>
                <a:spcPct val="120000"/>
              </a:lnSpc>
              <a:buNone/>
            </a:pPr>
            <a:r>
              <a:rPr lang="en-US" sz="1600" u="dotted" dirty="0">
                <a:solidFill>
                  <a:srgbClr val="1F7A64"/>
                </a:solidFill>
                <a:uFill>
                  <a:solidFill>
                    <a:srgbClr val="1F7A64"/>
                  </a:solidFill>
                </a:uFill>
              </a:rPr>
              <a:t>stimulus</a:t>
            </a:r>
            <a:pPr indent="0" marL="0">
              <a:lnSpc>
                <a:spcPct val="120000"/>
              </a:lnSpc>
              <a:buNone/>
            </a:pPr>
            <a:r>
              <a:rPr lang="en-US" sz="1600" dirty="0">
                <a:solidFill>
                  <a:srgbClr val="1E2B2A"/>
                </a:solidFill>
              </a:rPr>
              <a:t> acts as a frame of reference for later stimuli.</a:t>
            </a:r>
            <a:pPr indent="0" marL="0">
              <a:lnSpc>
                <a:spcPct val="120000"/>
              </a:lnSpc>
              <a:buNone/>
            </a:pPr>
            <a:r>
              <a:rPr lang="en-US" sz="1600" dirty="0">
                <a:solidFill>
                  <a:srgbClr val="000000"/>
                </a:solidFill>
              </a:rPr>
              <a:t> </a:t>
            </a:r>
            <a:pPr indent="0" marL="0">
              <a:lnSpc>
                <a:spcPct val="120000"/>
              </a:lnSpc>
              <a:buNone/>
            </a:pPr>
            <a:r>
              <a:rPr lang="en-US" sz="1300" b="1" dirty="0">
                <a:solidFill>
                  <a:srgbClr val="1F7A64"/>
                </a:solidFill>
              </a:rPr>
              <a:t>(4) </a:t>
            </a:r>
            <a:pPr indent="0" marL="0">
              <a:lnSpc>
                <a:spcPct val="120000"/>
              </a:lnSpc>
              <a:buNone/>
            </a:pPr>
            <a:r>
              <a:rPr lang="en-US" sz="1600" dirty="0">
                <a:solidFill>
                  <a:srgbClr val="1E2B2A"/>
                </a:solidFill>
                <a:highlight>
                  <a:srgbClr val="FFD45C"/>
                </a:highlight>
              </a:rPr>
              <a:t>Robert Ferber from Illinois University </a:t>
            </a:r>
            <a:pPr indent="0" marL="0">
              <a:lnSpc>
                <a:spcPct val="120000"/>
              </a:lnSpc>
              <a:buNone/>
            </a:pPr>
            <a:r>
              <a:rPr lang="en-US" sz="1600" b="1" dirty="0">
                <a:solidFill>
                  <a:srgbClr val="14453D"/>
                </a:solidFill>
                <a:highlight>
                  <a:srgbClr val="A9DDF3"/>
                </a:highlight>
              </a:rPr>
              <a:t>had respondents rate a list of </a:t>
            </a:r>
            <a:pPr indent="0" marL="0">
              <a:lnSpc>
                <a:spcPct val="120000"/>
              </a:lnSpc>
              <a:buNone/>
            </a:pPr>
            <a:r>
              <a:rPr lang="en-US" sz="1600" b="1" u="dotted" dirty="0">
                <a:solidFill>
                  <a:srgbClr val="14453D"/>
                </a:solidFill>
                <a:highlight>
                  <a:srgbClr val="A9DDF3"/>
                </a:highlight>
                <a:uFill>
                  <a:solidFill>
                    <a:srgbClr val="1F7A64"/>
                  </a:solidFill>
                </a:uFill>
              </a:rPr>
              <a:t>occupations</a:t>
            </a:r>
            <a:pPr indent="0" marL="0">
              <a:lnSpc>
                <a:spcPct val="120000"/>
              </a:lnSpc>
              <a:buNone/>
            </a:pPr>
            <a:r>
              <a:rPr lang="en-US" sz="1600" dirty="0">
                <a:solidFill>
                  <a:srgbClr val="1E2B2A"/>
                </a:solidFill>
                <a:highlight>
                  <a:srgbClr val="FFD45C"/>
                </a:highlight>
              </a:rPr>
              <a:t> and found that the maximum or minimum ratings occurred on </a:t>
            </a:r>
            <a:pPr indent="0" marL="0">
              <a:lnSpc>
                <a:spcPct val="120000"/>
              </a:lnSpc>
              <a:buNone/>
            </a:pPr>
            <a:r>
              <a:rPr lang="en-US" sz="1600" b="1" dirty="0">
                <a:solidFill>
                  <a:srgbClr val="14453D"/>
                </a:solidFill>
                <a:highlight>
                  <a:srgbClr val="A9DDF3"/>
                </a:highlight>
              </a:rPr>
              <a:t>the one presented first</a:t>
            </a:r>
            <a:pPr indent="0" marL="0">
              <a:lnSpc>
                <a:spcPct val="120000"/>
              </a:lnSpc>
              <a:buNone/>
            </a:pPr>
            <a:r>
              <a:rPr lang="en-US" sz="1600" dirty="0">
                <a:solidFill>
                  <a:srgbClr val="1E2B2A"/>
                </a:solidFill>
                <a:highlight>
                  <a:srgbClr val="FFD45C"/>
                </a:highlight>
              </a:rPr>
              <a:t>, </a:t>
            </a:r>
            <a:pPr indent="0" marL="0">
              <a:lnSpc>
                <a:spcPct val="120000"/>
              </a:lnSpc>
              <a:buNone/>
            </a:pPr>
            <a:r>
              <a:rPr lang="en-US" sz="1600" u="dotted" dirty="0">
                <a:solidFill>
                  <a:srgbClr val="1F7A64"/>
                </a:solidFill>
                <a:highlight>
                  <a:srgbClr val="FFD45C"/>
                </a:highlight>
                <a:uFill>
                  <a:solidFill>
                    <a:srgbClr val="1F7A64"/>
                  </a:solidFill>
                </a:uFill>
              </a:rPr>
              <a:t>regardless of</a:t>
            </a:r>
            <a:pPr indent="0" marL="0">
              <a:lnSpc>
                <a:spcPct val="120000"/>
              </a:lnSpc>
              <a:buNone/>
            </a:pPr>
            <a:r>
              <a:rPr lang="en-US" sz="1600" dirty="0">
                <a:solidFill>
                  <a:srgbClr val="1E2B2A"/>
                </a:solidFill>
                <a:highlight>
                  <a:srgbClr val="FFD45C"/>
                </a:highlight>
              </a:rPr>
              <a:t> the ordering of the occupations.</a:t>
            </a:r>
            <a:pPr indent="0" marL="0">
              <a:lnSpc>
                <a:spcPct val="120000"/>
              </a:lnSpc>
              <a:buNone/>
            </a:pPr>
            <a:r>
              <a:rPr lang="en-US" sz="1600" dirty="0">
                <a:solidFill>
                  <a:srgbClr val="000000"/>
                </a:solidFill>
              </a:rPr>
              <a:t> </a:t>
            </a:r>
            <a:pPr indent="0" marL="0">
              <a:lnSpc>
                <a:spcPct val="120000"/>
              </a:lnSpc>
              <a:buNone/>
            </a:pPr>
            <a:r>
              <a:rPr lang="en-US" sz="1300" b="1" dirty="0">
                <a:solidFill>
                  <a:srgbClr val="1F7A64"/>
                </a:solidFill>
              </a:rPr>
              <a:t>(5) </a:t>
            </a:r>
            <a:pPr indent="0" marL="0">
              <a:lnSpc>
                <a:spcPct val="120000"/>
              </a:lnSpc>
              <a:buNone/>
            </a:pPr>
            <a:r>
              <a:rPr lang="en-US" sz="1600" dirty="0">
                <a:solidFill>
                  <a:srgbClr val="1E2B2A"/>
                </a:solidFill>
              </a:rPr>
              <a:t>In another study, the subjects were asked to rate a </a:t>
            </a:r>
            <a:pPr indent="0" marL="0">
              <a:lnSpc>
                <a:spcPct val="120000"/>
              </a:lnSpc>
              <a:buNone/>
            </a:pPr>
            <a:r>
              <a:rPr lang="en-US" sz="1600" u="dotted" dirty="0">
                <a:solidFill>
                  <a:srgbClr val="1F7A64"/>
                </a:solidFill>
                <a:uFill>
                  <a:solidFill>
                    <a:srgbClr val="1F7A64"/>
                  </a:solidFill>
                </a:uFill>
              </a:rPr>
              <a:t>beverage</a:t>
            </a:r>
            <a:pPr indent="0" marL="0">
              <a:lnSpc>
                <a:spcPct val="120000"/>
              </a:lnSpc>
              <a:buNone/>
            </a:pPr>
            <a:r>
              <a:rPr lang="en-US" sz="1600" dirty="0">
                <a:solidFill>
                  <a:srgbClr val="1E2B2A"/>
                </a:solidFill>
              </a:rPr>
              <a:t> on intention to buy on a scale ranging from “definitely would not buy” to “definitely would buy.”</a:t>
            </a:r>
            <a:pPr indent="0" marL="0">
              <a:lnSpc>
                <a:spcPct val="120000"/>
              </a:lnSpc>
              <a:buNone/>
            </a:pPr>
            <a:r>
              <a:rPr lang="en-US" sz="1600" dirty="0">
                <a:solidFill>
                  <a:srgbClr val="000000"/>
                </a:solidFill>
              </a:rPr>
              <a:t> </a:t>
            </a:r>
            <a:pPr indent="0" marL="0">
              <a:lnSpc>
                <a:spcPct val="120000"/>
              </a:lnSpc>
              <a:buNone/>
            </a:pPr>
            <a:r>
              <a:rPr lang="en-US" sz="1300" b="1" dirty="0">
                <a:solidFill>
                  <a:srgbClr val="1F7A64"/>
                </a:solidFill>
              </a:rPr>
              <a:t>(6) </a:t>
            </a:r>
            <a:pPr indent="0" marL="0">
              <a:lnSpc>
                <a:spcPct val="120000"/>
              </a:lnSpc>
              <a:buNone/>
            </a:pPr>
            <a:r>
              <a:rPr lang="en-US" sz="1600" b="1" dirty="0">
                <a:solidFill>
                  <a:srgbClr val="14453D"/>
                </a:solidFill>
                <a:highlight>
                  <a:srgbClr val="A9DDF3"/>
                </a:highlight>
              </a:rPr>
              <a:t>The first beverage tasted was rated</a:t>
            </a:r>
            <a:pPr indent="0" marL="0">
              <a:lnSpc>
                <a:spcPct val="120000"/>
              </a:lnSpc>
              <a:buNone/>
            </a:pPr>
            <a:r>
              <a:rPr lang="en-US" sz="1600" dirty="0">
                <a:solidFill>
                  <a:srgbClr val="1E2B2A"/>
                </a:solidFill>
                <a:highlight>
                  <a:srgbClr val="FFD45C"/>
                </a:highlight>
              </a:rPr>
              <a:t> </a:t>
            </a:r>
            <a:pPr indent="0" marL="0">
              <a:lnSpc>
                <a:spcPct val="120000"/>
              </a:lnSpc>
              <a:buNone/>
            </a:pPr>
            <a:r>
              <a:rPr lang="en-US" sz="1600" u="dotted" dirty="0">
                <a:solidFill>
                  <a:srgbClr val="1F7A64"/>
                </a:solidFill>
                <a:highlight>
                  <a:srgbClr val="FFD45C"/>
                </a:highlight>
                <a:uFill>
                  <a:solidFill>
                    <a:srgbClr val="1F7A64"/>
                  </a:solidFill>
                </a:uFill>
              </a:rPr>
              <a:t>significantly</a:t>
            </a:r>
            <a:pPr indent="0" marL="0">
              <a:lnSpc>
                <a:spcPct val="120000"/>
              </a:lnSpc>
              <a:buNone/>
            </a:pPr>
            <a:r>
              <a:rPr lang="en-US" sz="1600" dirty="0">
                <a:solidFill>
                  <a:srgbClr val="1E2B2A"/>
                </a:solidFill>
                <a:highlight>
                  <a:srgbClr val="FFD45C"/>
                </a:highlight>
              </a:rPr>
              <a:t> higher.</a:t>
            </a:r>
            <a:endParaRPr lang="en-US" sz="1300" dirty="0"/>
          </a:p>
        </p:txBody>
      </p:sp>
      <p:sp>
        <p:nvSpPr>
          <p:cNvPr id="6" name="Shape 4"/>
          <p:cNvSpPr/>
          <p:nvPr/>
        </p:nvSpPr>
        <p:spPr>
          <a:xfrm>
            <a:off x="548640" y="4233672"/>
            <a:ext cx="11064240" cy="978408"/>
          </a:xfrm>
          <a:prstGeom prst="roundRect">
            <a:avLst>
              <a:gd name="adj" fmla="val 9346"/>
            </a:avLst>
          </a:prstGeom>
          <a:solidFill>
            <a:srgbClr val="FFF6D6"/>
          </a:solidFill>
          <a:ln w="15875">
            <a:solidFill>
              <a:srgbClr val="FFD45C"/>
            </a:solidFill>
            <a:prstDash val="solid"/>
          </a:ln>
        </p:spPr>
      </p:sp>
      <p:sp>
        <p:nvSpPr>
          <p:cNvPr id="7" name="Text 5"/>
          <p:cNvSpPr txBox="1"/>
          <p:nvPr/>
        </p:nvSpPr>
        <p:spPr>
          <a:xfrm>
            <a:off x="731520" y="4306824"/>
            <a:ext cx="1051560" cy="274320"/>
          </a:xfrm>
          <a:prstGeom prst="rect">
            <a:avLst/>
          </a:prstGeom>
          <a:solidFill>
            <a:srgbClr val="EF5B3F"/>
          </a:solidFill>
          <a:ln/>
        </p:spPr>
        <p:txBody>
          <a:bodyPr wrap="square" lIns="0" tIns="0" rIns="0" bIns="0" rtlCol="0" anchor="ctr"/>
          <a:lstStyle/>
          <a:p>
            <a:pPr algn="ctr" indent="0" marL="0">
              <a:buNone/>
            </a:pPr>
            <a:r>
              <a:rPr lang="en-US" sz="1200" b="1" dirty="0">
                <a:solidFill>
                  <a:srgbClr val="FFFFFF"/>
                </a:solidFill>
              </a:rPr>
              <a:t> 근거 이유 </a:t>
            </a:r>
            <a:endParaRPr lang="en-US" sz="1200" dirty="0"/>
          </a:p>
        </p:txBody>
      </p:sp>
      <p:sp>
        <p:nvSpPr>
          <p:cNvPr id="8" name="Text 6"/>
          <p:cNvSpPr txBox="1"/>
          <p:nvPr/>
        </p:nvSpPr>
        <p:spPr>
          <a:xfrm>
            <a:off x="1920240" y="4279392"/>
            <a:ext cx="9555480" cy="886968"/>
          </a:xfrm>
          <a:prstGeom prst="rect">
            <a:avLst/>
          </a:prstGeom>
          <a:noFill/>
          <a:ln/>
        </p:spPr>
        <p:txBody>
          <a:bodyPr wrap="square" lIns="0" tIns="0" rIns="0" bIns="0" rtlCol="0" anchor="ctr">
            <a:normAutofit/>
          </a:bodyPr>
          <a:lstStyle/>
          <a:p>
            <a:pPr indent="0" marL="0">
              <a:lnSpc>
                <a:spcPct val="105000"/>
              </a:lnSpc>
              <a:buNone/>
            </a:pPr>
            <a:r>
              <a:rPr lang="en-US" sz="1400" b="1" dirty="0">
                <a:solidFill>
                  <a:srgbClr val="EF5B3F"/>
                </a:solidFill>
              </a:rPr>
              <a:t>(1) </a:t>
            </a:r>
            <a:pPr indent="0" marL="0">
              <a:lnSpc>
                <a:spcPct val="105000"/>
              </a:lnSpc>
              <a:buNone/>
            </a:pPr>
            <a:r>
              <a:rPr lang="en-US" sz="1400" dirty="0">
                <a:solidFill>
                  <a:srgbClr val="14453D"/>
                </a:solidFill>
              </a:rPr>
              <a:t>순서 효과 = 제시 순서가 평가에 주는 편향된 영향</a:t>
            </a:r>
            <a:endParaRPr lang="en-US" sz="1400" dirty="0"/>
          </a:p>
          <a:p>
            <a:pPr indent="0" marL="0">
              <a:lnSpc>
                <a:spcPct val="105000"/>
              </a:lnSpc>
              <a:buNone/>
            </a:pPr>
            <a:r>
              <a:rPr lang="en-US" sz="1400" b="1" dirty="0">
                <a:solidFill>
                  <a:srgbClr val="EF5B3F"/>
                </a:solidFill>
              </a:rPr>
              <a:t>(4) </a:t>
            </a:r>
            <a:pPr indent="0" marL="0">
              <a:lnSpc>
                <a:spcPct val="105000"/>
              </a:lnSpc>
              <a:buNone/>
            </a:pPr>
            <a:r>
              <a:rPr lang="en-US" sz="1400" dirty="0">
                <a:solidFill>
                  <a:srgbClr val="14453D"/>
                </a:solidFill>
              </a:rPr>
              <a:t>처음 것이 최고 또는 최저 → (A) initial / (B) extreme</a:t>
            </a:r>
            <a:endParaRPr lang="en-US" sz="1400" dirty="0"/>
          </a:p>
          <a:p>
            <a:pPr indent="0" marL="0">
              <a:lnSpc>
                <a:spcPct val="105000"/>
              </a:lnSpc>
              <a:buNone/>
            </a:pPr>
            <a:r>
              <a:rPr lang="en-US" sz="1400" b="1" dirty="0">
                <a:solidFill>
                  <a:srgbClr val="EF5B3F"/>
                </a:solidFill>
              </a:rPr>
              <a:t>(6) </a:t>
            </a:r>
            <a:pPr indent="0" marL="0">
              <a:lnSpc>
                <a:spcPct val="105000"/>
              </a:lnSpc>
              <a:buNone/>
            </a:pPr>
            <a:r>
              <a:rPr lang="en-US" sz="1400" dirty="0">
                <a:solidFill>
                  <a:srgbClr val="14453D"/>
                </a:solidFill>
              </a:rPr>
              <a:t>처음 맛본 음료가 훨씬 높은 평가 → (A) initial</a:t>
            </a:r>
            <a:endParaRPr lang="en-US" sz="1400" dirty="0"/>
          </a:p>
        </p:txBody>
      </p:sp>
      <p:sp>
        <p:nvSpPr>
          <p:cNvPr id="9" name="Shape 7"/>
          <p:cNvSpPr/>
          <p:nvPr/>
        </p:nvSpPr>
        <p:spPr>
          <a:xfrm>
            <a:off x="548640" y="5303520"/>
            <a:ext cx="11064240" cy="731520"/>
          </a:xfrm>
          <a:prstGeom prst="roundRect">
            <a:avLst>
              <a:gd name="adj" fmla="val 12500"/>
            </a:avLst>
          </a:prstGeom>
          <a:solidFill>
            <a:srgbClr val="EAF5EF"/>
          </a:solidFill>
          <a:ln w="12700">
            <a:solidFill>
              <a:srgbClr val="CFE6D9"/>
            </a:solidFill>
            <a:prstDash val="solid"/>
          </a:ln>
        </p:spPr>
      </p:sp>
      <p:sp>
        <p:nvSpPr>
          <p:cNvPr id="10" name="Text 8"/>
          <p:cNvSpPr txBox="1"/>
          <p:nvPr/>
        </p:nvSpPr>
        <p:spPr>
          <a:xfrm>
            <a:off x="731520" y="5349240"/>
            <a:ext cx="10698480" cy="640080"/>
          </a:xfrm>
          <a:prstGeom prst="rect">
            <a:avLst/>
          </a:prstGeom>
          <a:noFill/>
          <a:ln/>
        </p:spPr>
        <p:txBody>
          <a:bodyPr wrap="square" lIns="0" tIns="0" rIns="0" bIns="0" rtlCol="0" anchor="ctr">
            <a:normAutofit/>
          </a:bodyPr>
          <a:lstStyle/>
          <a:p>
            <a:pPr indent="0" marL="0">
              <a:lnSpc>
                <a:spcPct val="110000"/>
              </a:lnSpc>
              <a:buNone/>
            </a:pPr>
            <a:r>
              <a:rPr lang="en-US" sz="1400" b="1" dirty="0">
                <a:solidFill>
                  <a:srgbClr val="FFFFFF"/>
                </a:solidFill>
                <a:highlight>
                  <a:srgbClr val="1F7A64"/>
                </a:highlight>
              </a:rPr>
              <a:t> 어휘 </a:t>
            </a:r>
            <a:pPr indent="0" marL="0">
              <a:lnSpc>
                <a:spcPct val="110000"/>
              </a:lnSpc>
              <a:buNone/>
            </a:pPr>
            <a:r>
              <a:rPr lang="en-US" sz="1400" dirty="0">
                <a:solidFill>
                  <a:srgbClr val="000000"/>
                </a:solidFill>
              </a:rPr>
              <a:t>   </a:t>
            </a:r>
            <a:pPr indent="0" marL="0">
              <a:lnSpc>
                <a:spcPct val="110000"/>
              </a:lnSpc>
              <a:buNone/>
            </a:pPr>
            <a:r>
              <a:rPr lang="en-US" sz="1400" b="1" dirty="0">
                <a:solidFill>
                  <a:srgbClr val="1F7A64"/>
                </a:solidFill>
              </a:rPr>
              <a:t>prejudicial </a:t>
            </a:r>
            <a:pPr indent="0" marL="0">
              <a:lnSpc>
                <a:spcPct val="110000"/>
              </a:lnSpc>
              <a:buNone/>
            </a:pPr>
            <a:r>
              <a:rPr lang="en-US" sz="1400" dirty="0">
                <a:solidFill>
                  <a:srgbClr val="1E2B2A"/>
                </a:solidFill>
              </a:rPr>
              <a:t>편향된   ·   </a:t>
            </a:r>
            <a:pPr indent="0" marL="0">
              <a:lnSpc>
                <a:spcPct val="110000"/>
              </a:lnSpc>
              <a:buNone/>
            </a:pPr>
            <a:r>
              <a:rPr lang="en-US" sz="1400" b="1" dirty="0">
                <a:solidFill>
                  <a:srgbClr val="1F7A64"/>
                </a:solidFill>
              </a:rPr>
              <a:t>respondent </a:t>
            </a:r>
            <a:pPr indent="0" marL="0">
              <a:lnSpc>
                <a:spcPct val="110000"/>
              </a:lnSpc>
              <a:buNone/>
            </a:pPr>
            <a:r>
              <a:rPr lang="en-US" sz="1400" dirty="0">
                <a:solidFill>
                  <a:srgbClr val="1E2B2A"/>
                </a:solidFill>
              </a:rPr>
              <a:t>응답자   ·   </a:t>
            </a:r>
            <a:pPr indent="0" marL="0">
              <a:lnSpc>
                <a:spcPct val="110000"/>
              </a:lnSpc>
              <a:buNone/>
            </a:pPr>
            <a:r>
              <a:rPr lang="en-US" sz="1400" b="1" dirty="0">
                <a:solidFill>
                  <a:srgbClr val="1F7A64"/>
                </a:solidFill>
              </a:rPr>
              <a:t>stimulus </a:t>
            </a:r>
            <a:pPr indent="0" marL="0">
              <a:lnSpc>
                <a:spcPct val="110000"/>
              </a:lnSpc>
              <a:buNone/>
            </a:pPr>
            <a:r>
              <a:rPr lang="en-US" sz="1400" dirty="0">
                <a:solidFill>
                  <a:srgbClr val="1E2B2A"/>
                </a:solidFill>
              </a:rPr>
              <a:t>자극   ·   </a:t>
            </a:r>
            <a:pPr indent="0" marL="0">
              <a:lnSpc>
                <a:spcPct val="110000"/>
              </a:lnSpc>
              <a:buNone/>
            </a:pPr>
            <a:r>
              <a:rPr lang="en-US" sz="1400" b="1" dirty="0">
                <a:solidFill>
                  <a:srgbClr val="1F7A64"/>
                </a:solidFill>
              </a:rPr>
              <a:t>occupations </a:t>
            </a:r>
            <a:pPr indent="0" marL="0">
              <a:lnSpc>
                <a:spcPct val="110000"/>
              </a:lnSpc>
              <a:buNone/>
            </a:pPr>
            <a:r>
              <a:rPr lang="en-US" sz="1400" dirty="0">
                <a:solidFill>
                  <a:srgbClr val="1E2B2A"/>
                </a:solidFill>
              </a:rPr>
              <a:t>직업   ·   </a:t>
            </a:r>
            <a:pPr indent="0" marL="0">
              <a:lnSpc>
                <a:spcPct val="110000"/>
              </a:lnSpc>
              <a:buNone/>
            </a:pPr>
            <a:r>
              <a:rPr lang="en-US" sz="1400" b="1" dirty="0">
                <a:solidFill>
                  <a:srgbClr val="1F7A64"/>
                </a:solidFill>
              </a:rPr>
              <a:t>regardless of </a:t>
            </a:r>
            <a:pPr indent="0" marL="0">
              <a:lnSpc>
                <a:spcPct val="110000"/>
              </a:lnSpc>
              <a:buNone/>
            </a:pPr>
            <a:r>
              <a:rPr lang="en-US" sz="1400" dirty="0">
                <a:solidFill>
                  <a:srgbClr val="1E2B2A"/>
                </a:solidFill>
              </a:rPr>
              <a:t>~와 상관없이   ·   </a:t>
            </a:r>
            <a:pPr indent="0" marL="0">
              <a:lnSpc>
                <a:spcPct val="110000"/>
              </a:lnSpc>
              <a:buNone/>
            </a:pPr>
            <a:r>
              <a:rPr lang="en-US" sz="1400" b="1" dirty="0">
                <a:solidFill>
                  <a:srgbClr val="1F7A64"/>
                </a:solidFill>
              </a:rPr>
              <a:t>beverage </a:t>
            </a:r>
            <a:pPr indent="0" marL="0">
              <a:lnSpc>
                <a:spcPct val="110000"/>
              </a:lnSpc>
              <a:buNone/>
            </a:pPr>
            <a:r>
              <a:rPr lang="en-US" sz="1400" dirty="0">
                <a:solidFill>
                  <a:srgbClr val="1E2B2A"/>
                </a:solidFill>
              </a:rPr>
              <a:t>음료   ·   </a:t>
            </a:r>
            <a:pPr indent="0" marL="0">
              <a:lnSpc>
                <a:spcPct val="110000"/>
              </a:lnSpc>
              <a:buNone/>
            </a:pPr>
            <a:r>
              <a:rPr lang="en-US" sz="1400" b="1" dirty="0">
                <a:solidFill>
                  <a:srgbClr val="1F7A64"/>
                </a:solidFill>
              </a:rPr>
              <a:t>significantly </a:t>
            </a:r>
            <a:pPr indent="0" marL="0">
              <a:lnSpc>
                <a:spcPct val="110000"/>
              </a:lnSpc>
              <a:buNone/>
            </a:pPr>
            <a:r>
              <a:rPr lang="en-US" sz="1400" dirty="0">
                <a:solidFill>
                  <a:srgbClr val="1E2B2A"/>
                </a:solidFill>
              </a:rPr>
              <a:t>상당히</a:t>
            </a:r>
            <a:endParaRPr lang="en-US" sz="1400" dirty="0"/>
          </a:p>
        </p:txBody>
      </p:sp>
      <p:sp>
        <p:nvSpPr>
          <p:cNvPr id="11" name="Text 9"/>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1100" dirty="0">
                <a:solidFill>
                  <a:srgbClr val="FFD45C"/>
                </a:solidFill>
              </a:rPr>
              <a:t>■ </a:t>
            </a:r>
            <a:pPr indent="0" marL="0">
              <a:buNone/>
            </a:pPr>
            <a:r>
              <a:rPr lang="en-US" sz="1100" dirty="0">
                <a:solidFill>
                  <a:srgbClr val="6E7F7C"/>
                </a:solidFill>
              </a:rPr>
              <a:t>형광 = 정답 근거 (이유는 노란 박스)     </a:t>
            </a:r>
            <a:pPr indent="0" marL="0">
              <a:buNone/>
            </a:pPr>
            <a:r>
              <a:rPr lang="en-US" sz="1100" dirty="0">
                <a:solidFill>
                  <a:srgbClr val="A9DDF3"/>
                </a:solidFill>
              </a:rPr>
              <a:t>■ </a:t>
            </a:r>
            <a:pPr indent="0" marL="0">
              <a:buNone/>
            </a:pPr>
            <a:r>
              <a:rPr lang="en-US" sz="1100" dirty="0">
                <a:solidFill>
                  <a:srgbClr val="6E7F7C"/>
                </a:solidFill>
              </a:rPr>
              <a:t>파란 형광 = 문법·내신 포인트     </a:t>
            </a:r>
            <a:pPr indent="0" marL="0">
              <a:buNone/>
            </a:pPr>
            <a:r>
              <a:rPr lang="en-US" sz="1100" b="1" dirty="0">
                <a:solidFill>
                  <a:srgbClr val="1F7A64"/>
                </a:solidFill>
              </a:rPr>
              <a:t>초록 점선 단어 </a:t>
            </a:r>
            <a:pPr indent="0" marL="0">
              <a:buNone/>
            </a:pPr>
            <a:r>
              <a:rPr lang="en-US" sz="1100" dirty="0">
                <a:solidFill>
                  <a:srgbClr val="6E7F7C"/>
                </a:solidFill>
              </a:rPr>
              <a:t>= 하단 어휘     </a:t>
            </a:r>
            <a:pPr indent="0" marL="0">
              <a:buNone/>
            </a:pPr>
            <a:r>
              <a:rPr lang="en-US" sz="1100" b="1" dirty="0">
                <a:solidFill>
                  <a:srgbClr val="1F7A64"/>
                </a:solidFill>
              </a:rPr>
              <a:t>(1) (2) (3) </a:t>
            </a:r>
            <a:pPr indent="0" marL="0">
              <a:buNone/>
            </a:pPr>
            <a:r>
              <a:rPr lang="en-US" sz="1100" dirty="0">
                <a:solidFill>
                  <a:srgbClr val="6E7F7C"/>
                </a:solidFill>
              </a:rPr>
              <a:t>= 문장 번호</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98  </a:t>
            </a:r>
            <a:pPr algn="l" indent="0" marL="0">
              <a:buNone/>
            </a:pPr>
            <a:r>
              <a:rPr lang="en-US" sz="3000" b="1" dirty="0">
                <a:solidFill>
                  <a:srgbClr val="14453D"/>
                </a:solidFill>
              </a:rPr>
              <a:t>순서 효과</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흐름 잡기</a:t>
            </a:r>
            <a:endParaRPr lang="en-US" sz="1200" dirty="0"/>
          </a:p>
        </p:txBody>
      </p:sp>
      <p:sp>
        <p:nvSpPr>
          <p:cNvPr id="4" name="Shape 2"/>
          <p:cNvSpPr/>
          <p:nvPr/>
        </p:nvSpPr>
        <p:spPr>
          <a:xfrm>
            <a:off x="548640" y="1325880"/>
            <a:ext cx="5212080" cy="2423160"/>
          </a:xfrm>
          <a:prstGeom prst="roundRect">
            <a:avLst>
              <a:gd name="adj" fmla="val 4528"/>
            </a:avLst>
          </a:prstGeom>
          <a:solidFill>
            <a:srgbClr val="E6F2ED"/>
          </a:solidFill>
          <a:ln w="12700">
            <a:solidFill>
              <a:srgbClr val="E6F2ED"/>
            </a:solidFill>
            <a:prstDash val="solid"/>
          </a:ln>
        </p:spPr>
      </p:sp>
      <p:sp>
        <p:nvSpPr>
          <p:cNvPr id="5" name="Text 3"/>
          <p:cNvSpPr txBox="1"/>
          <p:nvPr/>
        </p:nvSpPr>
        <p:spPr>
          <a:xfrm>
            <a:off x="822960" y="1463040"/>
            <a:ext cx="4663440" cy="320040"/>
          </a:xfrm>
          <a:prstGeom prst="rect">
            <a:avLst/>
          </a:prstGeom>
          <a:noFill/>
          <a:ln/>
        </p:spPr>
        <p:txBody>
          <a:bodyPr wrap="square" lIns="0" tIns="0" rIns="0" bIns="0" rtlCol="0" anchor="ctr"/>
          <a:lstStyle/>
          <a:p>
            <a:pPr indent="0" marL="0">
              <a:buNone/>
            </a:pPr>
            <a:r>
              <a:rPr lang="en-US" sz="1300" b="1" dirty="0">
                <a:solidFill>
                  <a:srgbClr val="1F7A64"/>
                </a:solidFill>
              </a:rPr>
              <a:t>STEP 1 · 요약문 먼저</a:t>
            </a:r>
            <a:endParaRPr lang="en-US" sz="1300" dirty="0"/>
          </a:p>
        </p:txBody>
      </p:sp>
      <p:sp>
        <p:nvSpPr>
          <p:cNvPr id="6" name="Text 4"/>
          <p:cNvSpPr txBox="1"/>
          <p:nvPr/>
        </p:nvSpPr>
        <p:spPr>
          <a:xfrm>
            <a:off x="822960" y="1828800"/>
            <a:ext cx="4663440" cy="777240"/>
          </a:xfrm>
          <a:prstGeom prst="rect">
            <a:avLst/>
          </a:prstGeom>
          <a:noFill/>
          <a:ln/>
        </p:spPr>
        <p:txBody>
          <a:bodyPr wrap="square" lIns="0" tIns="0" rIns="0" bIns="0" rtlCol="0" anchor="t">
            <a:normAutofit/>
          </a:bodyPr>
          <a:lstStyle/>
          <a:p>
            <a:pPr indent="0" marL="0">
              <a:buNone/>
            </a:pPr>
            <a:r>
              <a:rPr lang="en-US" sz="1600" b="1" i="1" dirty="0">
                <a:solidFill>
                  <a:srgbClr val="14453D"/>
                </a:solidFill>
              </a:rPr>
              <a:t>The items presented in the (A) position tend to get (B) ratings by people.</a:t>
            </a:r>
            <a:endParaRPr lang="en-US" sz="1600" dirty="0"/>
          </a:p>
        </p:txBody>
      </p:sp>
      <p:sp>
        <p:nvSpPr>
          <p:cNvPr id="7" name="Text 5"/>
          <p:cNvSpPr txBox="1"/>
          <p:nvPr/>
        </p:nvSpPr>
        <p:spPr>
          <a:xfrm>
            <a:off x="822960" y="2606040"/>
            <a:ext cx="4663440" cy="502920"/>
          </a:xfrm>
          <a:prstGeom prst="rect">
            <a:avLst/>
          </a:prstGeom>
          <a:noFill/>
          <a:ln/>
        </p:spPr>
        <p:txBody>
          <a:bodyPr wrap="square" lIns="0" tIns="0" rIns="0" bIns="0" rtlCol="0" anchor="t">
            <a:normAutofit/>
          </a:bodyPr>
          <a:lstStyle/>
          <a:p>
            <a:pPr indent="0" marL="0">
              <a:buNone/>
            </a:pPr>
            <a:r>
              <a:rPr lang="en-US" sz="1400" dirty="0">
                <a:solidFill>
                  <a:srgbClr val="1E2B2A"/>
                </a:solidFill>
              </a:rPr>
              <a:t>(A) 위치에 제시된 항목은 사람들에게 (B) 평가를 받는 경향이 있다.</a:t>
            </a:r>
            <a:endParaRPr lang="en-US" sz="1400" dirty="0"/>
          </a:p>
        </p:txBody>
      </p:sp>
      <p:sp>
        <p:nvSpPr>
          <p:cNvPr id="8" name="Text 6"/>
          <p:cNvSpPr txBox="1"/>
          <p:nvPr/>
        </p:nvSpPr>
        <p:spPr>
          <a:xfrm>
            <a:off x="822960" y="3200400"/>
            <a:ext cx="4663440" cy="411480"/>
          </a:xfrm>
          <a:prstGeom prst="rect">
            <a:avLst/>
          </a:prstGeom>
          <a:noFill/>
          <a:ln/>
        </p:spPr>
        <p:txBody>
          <a:bodyPr wrap="square" lIns="0" tIns="0" rIns="0" bIns="0" rtlCol="0" anchor="ctr"/>
          <a:lstStyle/>
          <a:p>
            <a:pPr indent="0" marL="0">
              <a:buNone/>
            </a:pPr>
            <a:r>
              <a:rPr lang="en-US" sz="1500" b="1" dirty="0">
                <a:solidFill>
                  <a:srgbClr val="EF5B3F"/>
                </a:solidFill>
              </a:rPr>
              <a:t>찾을 것  </a:t>
            </a:r>
            <a:pPr indent="0" marL="0">
              <a:buNone/>
            </a:pPr>
            <a:r>
              <a:rPr lang="en-US" sz="1500" b="1" dirty="0">
                <a:solidFill>
                  <a:srgbClr val="14453D"/>
                </a:solidFill>
              </a:rPr>
              <a:t>(A) 어느 위치? / (B) 어떤 평가?</a:t>
            </a:r>
            <a:endParaRPr lang="en-US" sz="1500" dirty="0"/>
          </a:p>
        </p:txBody>
      </p:sp>
      <p:sp>
        <p:nvSpPr>
          <p:cNvPr id="9" name="Shape 7"/>
          <p:cNvSpPr/>
          <p:nvPr/>
        </p:nvSpPr>
        <p:spPr>
          <a:xfrm>
            <a:off x="548640" y="3931920"/>
            <a:ext cx="5212080" cy="2331720"/>
          </a:xfrm>
          <a:prstGeom prst="roundRect">
            <a:avLst>
              <a:gd name="adj" fmla="val 4706"/>
            </a:avLst>
          </a:prstGeom>
          <a:solidFill>
            <a:srgbClr val="FFFFFF"/>
          </a:solidFill>
          <a:ln w="19050">
            <a:solidFill>
              <a:srgbClr val="EF5B3F"/>
            </a:solidFill>
            <a:prstDash val="solid"/>
          </a:ln>
        </p:spPr>
      </p:sp>
      <p:pic>
        <p:nvPicPr>
          <p:cNvPr id="10" name="Image 0" descr="preencoded.png">    </p:cNvPr>
          <p:cNvPicPr>
            <a:picLocks noChangeAspect="1"/>
          </p:cNvPicPr>
          <p:nvPr/>
        </p:nvPicPr>
        <p:blipFill>
          <a:blip r:embed="rId1"/>
          <a:stretch>
            <a:fillRect/>
          </a:stretch>
        </p:blipFill>
        <p:spPr>
          <a:xfrm>
            <a:off x="822960" y="4096512"/>
            <a:ext cx="274320" cy="274320"/>
          </a:xfrm>
          <a:prstGeom prst="rect">
            <a:avLst/>
          </a:prstGeom>
        </p:spPr>
      </p:pic>
      <p:sp>
        <p:nvSpPr>
          <p:cNvPr id="11" name="Text 8"/>
          <p:cNvSpPr txBox="1"/>
          <p:nvPr/>
        </p:nvSpPr>
        <p:spPr>
          <a:xfrm>
            <a:off x="1188720" y="4069080"/>
            <a:ext cx="4114800" cy="320040"/>
          </a:xfrm>
          <a:prstGeom prst="rect">
            <a:avLst/>
          </a:prstGeom>
          <a:noFill/>
          <a:ln/>
        </p:spPr>
        <p:txBody>
          <a:bodyPr wrap="square" lIns="0" tIns="0" rIns="0" bIns="0" rtlCol="0" anchor="ctr"/>
          <a:lstStyle/>
          <a:p>
            <a:pPr indent="0" marL="0">
              <a:buNone/>
            </a:pPr>
            <a:r>
              <a:rPr lang="en-US" sz="1300" b="1" dirty="0">
                <a:solidFill>
                  <a:srgbClr val="EF5B3F"/>
                </a:solidFill>
              </a:rPr>
              <a:t>STEP 2 · 결정적 단서</a:t>
            </a:r>
            <a:endParaRPr lang="en-US" sz="1300" dirty="0"/>
          </a:p>
        </p:txBody>
      </p:sp>
      <p:sp>
        <p:nvSpPr>
          <p:cNvPr id="12" name="Text 9"/>
          <p:cNvSpPr txBox="1"/>
          <p:nvPr/>
        </p:nvSpPr>
        <p:spPr>
          <a:xfrm>
            <a:off x="822960" y="4480560"/>
            <a:ext cx="4663440" cy="1005840"/>
          </a:xfrm>
          <a:prstGeom prst="rect">
            <a:avLst/>
          </a:prstGeom>
          <a:noFill/>
          <a:ln/>
        </p:spPr>
        <p:txBody>
          <a:bodyPr wrap="square" lIns="0" tIns="0" rIns="0" bIns="0" rtlCol="0" anchor="t"/>
          <a:lstStyle/>
          <a:p>
            <a:pPr indent="0" marL="0">
              <a:buNone/>
            </a:pPr>
            <a:r>
              <a:rPr lang="en-US" sz="1400" i="1" dirty="0">
                <a:solidFill>
                  <a:srgbClr val="14453D"/>
                </a:solidFill>
              </a:rPr>
              <a:t>…the maximum or minimum ratings occurred on the one presented first, regardless of the ordering…</a:t>
            </a:r>
            <a:endParaRPr lang="en-US" sz="1400" dirty="0"/>
          </a:p>
        </p:txBody>
      </p:sp>
      <p:sp>
        <p:nvSpPr>
          <p:cNvPr id="13" name="Text 10"/>
          <p:cNvSpPr txBox="1"/>
          <p:nvPr/>
        </p:nvSpPr>
        <p:spPr>
          <a:xfrm>
            <a:off x="822960" y="5486400"/>
            <a:ext cx="4663440" cy="685800"/>
          </a:xfrm>
          <a:prstGeom prst="rect">
            <a:avLst/>
          </a:prstGeom>
          <a:noFill/>
          <a:ln/>
        </p:spPr>
        <p:txBody>
          <a:bodyPr wrap="square" lIns="0" tIns="0" rIns="0" bIns="0" rtlCol="0" anchor="t"/>
          <a:lstStyle/>
          <a:p>
            <a:pPr indent="0" marL="0">
              <a:buNone/>
            </a:pPr>
            <a:r>
              <a:rPr lang="en-US" sz="1300" dirty="0">
                <a:solidFill>
                  <a:srgbClr val="6E7F7C"/>
                </a:solidFill>
              </a:rPr>
              <a:t>순서와 상관없이 최고 또는 최저 평가가 처음 제시된 것에서 나왔다 → initial / extreme</a:t>
            </a:r>
            <a:endParaRPr lang="en-US" sz="1300" dirty="0"/>
          </a:p>
        </p:txBody>
      </p:sp>
      <p:sp>
        <p:nvSpPr>
          <p:cNvPr id="14" name="Text 11"/>
          <p:cNvSpPr txBox="1"/>
          <p:nvPr/>
        </p:nvSpPr>
        <p:spPr>
          <a:xfrm>
            <a:off x="6217920" y="1325880"/>
            <a:ext cx="2743200" cy="320040"/>
          </a:xfrm>
          <a:prstGeom prst="rect">
            <a:avLst/>
          </a:prstGeom>
          <a:noFill/>
          <a:ln/>
        </p:spPr>
        <p:txBody>
          <a:bodyPr wrap="square" lIns="0" tIns="0" rIns="0" bIns="0" rtlCol="0" anchor="ctr"/>
          <a:lstStyle/>
          <a:p>
            <a:pPr indent="0" marL="0">
              <a:buNone/>
            </a:pPr>
            <a:r>
              <a:rPr lang="en-US" sz="1300" b="1" dirty="0">
                <a:solidFill>
                  <a:srgbClr val="1F7A64"/>
                </a:solidFill>
              </a:rPr>
              <a:t>글의 흐름</a:t>
            </a:r>
            <a:endParaRPr lang="en-US" sz="1300" dirty="0"/>
          </a:p>
        </p:txBody>
      </p:sp>
      <p:sp>
        <p:nvSpPr>
          <p:cNvPr id="15" name="Shape 12"/>
          <p:cNvSpPr/>
          <p:nvPr/>
        </p:nvSpPr>
        <p:spPr>
          <a:xfrm>
            <a:off x="6537960" y="2057400"/>
            <a:ext cx="0" cy="3511296"/>
          </a:xfrm>
          <a:prstGeom prst="line">
            <a:avLst/>
          </a:prstGeom>
          <a:noFill/>
          <a:ln w="38100">
            <a:solidFill>
              <a:srgbClr val="E6F2ED"/>
            </a:solidFill>
            <a:prstDash val="solid"/>
          </a:ln>
        </p:spPr>
      </p:sp>
      <p:sp>
        <p:nvSpPr>
          <p:cNvPr id="16" name="Text 13"/>
          <p:cNvSpPr/>
          <p:nvPr/>
        </p:nvSpPr>
        <p:spPr>
          <a:xfrm>
            <a:off x="6263640" y="1783080"/>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7" name="Text 14"/>
          <p:cNvSpPr txBox="1"/>
          <p:nvPr/>
        </p:nvSpPr>
        <p:spPr>
          <a:xfrm>
            <a:off x="7040880" y="1783080"/>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정의</a:t>
            </a:r>
            <a:endParaRPr lang="en-US" sz="1400" dirty="0"/>
          </a:p>
        </p:txBody>
      </p:sp>
      <p:sp>
        <p:nvSpPr>
          <p:cNvPr id="18" name="Text 15"/>
          <p:cNvSpPr txBox="1"/>
          <p:nvPr/>
        </p:nvSpPr>
        <p:spPr>
          <a:xfrm>
            <a:off x="7040880" y="2121408"/>
            <a:ext cx="4572000" cy="667512"/>
          </a:xfrm>
          <a:prstGeom prst="rect">
            <a:avLst/>
          </a:prstGeom>
          <a:noFill/>
          <a:ln/>
        </p:spPr>
        <p:txBody>
          <a:bodyPr wrap="square" lIns="0" tIns="0" rIns="0" bIns="0" rtlCol="0" anchor="t"/>
          <a:lstStyle/>
          <a:p>
            <a:pPr indent="0" marL="0">
              <a:buNone/>
            </a:pPr>
            <a:r>
              <a:rPr lang="en-US" sz="1400" dirty="0">
                <a:solidFill>
                  <a:srgbClr val="1E2B2A"/>
                </a:solidFill>
              </a:rPr>
              <a:t>순서 효과 = 제시 순서가 응답자에게 주는 편향된 영향</a:t>
            </a:r>
            <a:endParaRPr lang="en-US" sz="1400" dirty="0"/>
          </a:p>
        </p:txBody>
      </p:sp>
      <p:sp>
        <p:nvSpPr>
          <p:cNvPr id="19" name="Text 16"/>
          <p:cNvSpPr/>
          <p:nvPr/>
        </p:nvSpPr>
        <p:spPr>
          <a:xfrm>
            <a:off x="6263640" y="2953512"/>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20" name="Text 17"/>
          <p:cNvSpPr txBox="1"/>
          <p:nvPr/>
        </p:nvSpPr>
        <p:spPr>
          <a:xfrm>
            <a:off x="7040880" y="2953512"/>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원리</a:t>
            </a:r>
            <a:endParaRPr lang="en-US" sz="1400" dirty="0"/>
          </a:p>
        </p:txBody>
      </p:sp>
      <p:sp>
        <p:nvSpPr>
          <p:cNvPr id="21" name="Text 18"/>
          <p:cNvSpPr txBox="1"/>
          <p:nvPr/>
        </p:nvSpPr>
        <p:spPr>
          <a:xfrm>
            <a:off x="7040880" y="3291840"/>
            <a:ext cx="4572000" cy="667512"/>
          </a:xfrm>
          <a:prstGeom prst="rect">
            <a:avLst/>
          </a:prstGeom>
          <a:noFill/>
          <a:ln/>
        </p:spPr>
        <p:txBody>
          <a:bodyPr wrap="square" lIns="0" tIns="0" rIns="0" bIns="0" rtlCol="0" anchor="t"/>
          <a:lstStyle/>
          <a:p>
            <a:pPr indent="0" marL="0">
              <a:buNone/>
            </a:pPr>
            <a:r>
              <a:rPr lang="en-US" sz="1400" dirty="0">
                <a:solidFill>
                  <a:srgbClr val="1E2B2A"/>
                </a:solidFill>
              </a:rPr>
              <a:t>초기 자극이 이후 자극의 기준틀이 된다</a:t>
            </a:r>
            <a:endParaRPr lang="en-US" sz="1400" dirty="0"/>
          </a:p>
        </p:txBody>
      </p:sp>
      <p:sp>
        <p:nvSpPr>
          <p:cNvPr id="22" name="Text 19"/>
          <p:cNvSpPr/>
          <p:nvPr/>
        </p:nvSpPr>
        <p:spPr>
          <a:xfrm>
            <a:off x="6263640" y="4123944"/>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3" name="Text 20"/>
          <p:cNvSpPr txBox="1"/>
          <p:nvPr/>
        </p:nvSpPr>
        <p:spPr>
          <a:xfrm>
            <a:off x="7040880" y="4123944"/>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연구 ①</a:t>
            </a:r>
            <a:endParaRPr lang="en-US" sz="1400" dirty="0"/>
          </a:p>
        </p:txBody>
      </p:sp>
      <p:sp>
        <p:nvSpPr>
          <p:cNvPr id="24" name="Text 21"/>
          <p:cNvSpPr txBox="1"/>
          <p:nvPr/>
        </p:nvSpPr>
        <p:spPr>
          <a:xfrm>
            <a:off x="7040880" y="4462272"/>
            <a:ext cx="4572000" cy="667512"/>
          </a:xfrm>
          <a:prstGeom prst="rect">
            <a:avLst/>
          </a:prstGeom>
          <a:noFill/>
          <a:ln/>
        </p:spPr>
        <p:txBody>
          <a:bodyPr wrap="square" lIns="0" tIns="0" rIns="0" bIns="0" rtlCol="0" anchor="t"/>
          <a:lstStyle/>
          <a:p>
            <a:pPr indent="0" marL="0">
              <a:buNone/>
            </a:pPr>
            <a:r>
              <a:rPr lang="en-US" sz="1400" dirty="0">
                <a:solidFill>
                  <a:srgbClr val="1E2B2A"/>
                </a:solidFill>
              </a:rPr>
              <a:t>직업 평가: 처음 것이 최고 또는 최저 (극단) 평가</a:t>
            </a:r>
            <a:endParaRPr lang="en-US" sz="1400" dirty="0"/>
          </a:p>
        </p:txBody>
      </p:sp>
      <p:sp>
        <p:nvSpPr>
          <p:cNvPr id="25" name="Text 22"/>
          <p:cNvSpPr/>
          <p:nvPr/>
        </p:nvSpPr>
        <p:spPr>
          <a:xfrm>
            <a:off x="6263640" y="5294376"/>
            <a:ext cx="548640" cy="548640"/>
          </a:xfrm>
          <a:prstGeom prst="ellipse">
            <a:avLst/>
          </a:prstGeom>
          <a:solidFill>
            <a:srgbClr val="EF5B3F"/>
          </a:solid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6" name="Text 23"/>
          <p:cNvSpPr txBox="1"/>
          <p:nvPr/>
        </p:nvSpPr>
        <p:spPr>
          <a:xfrm>
            <a:off x="7040880" y="5294376"/>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연구 ②</a:t>
            </a:r>
            <a:endParaRPr lang="en-US" sz="1400" dirty="0"/>
          </a:p>
        </p:txBody>
      </p:sp>
      <p:sp>
        <p:nvSpPr>
          <p:cNvPr id="27" name="Text 24"/>
          <p:cNvSpPr txBox="1"/>
          <p:nvPr/>
        </p:nvSpPr>
        <p:spPr>
          <a:xfrm>
            <a:off x="7040880" y="5632704"/>
            <a:ext cx="4572000" cy="667512"/>
          </a:xfrm>
          <a:prstGeom prst="rect">
            <a:avLst/>
          </a:prstGeom>
          <a:noFill/>
          <a:ln/>
        </p:spPr>
        <p:txBody>
          <a:bodyPr wrap="square" lIns="0" tIns="0" rIns="0" bIns="0" rtlCol="0" anchor="t"/>
          <a:lstStyle/>
          <a:p>
            <a:pPr indent="0" marL="0">
              <a:buNone/>
            </a:pPr>
            <a:r>
              <a:rPr lang="en-US" sz="1400" dirty="0">
                <a:solidFill>
                  <a:srgbClr val="1E2B2A"/>
                </a:solidFill>
              </a:rPr>
              <a:t>음료 평가: 처음 맛본 음료가 훨씬 높은 평가</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98  </a:t>
            </a:r>
            <a:pPr algn="l" indent="0" marL="0">
              <a:buNone/>
            </a:pPr>
            <a:r>
              <a:rPr lang="en-US" sz="3000" b="1" dirty="0">
                <a:solidFill>
                  <a:srgbClr val="14453D"/>
                </a:solidFill>
              </a:rPr>
              <a:t>정답 &amp; 해설</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정답</a:t>
            </a:r>
            <a:endParaRPr lang="en-US" sz="1200" dirty="0"/>
          </a:p>
        </p:txBody>
      </p:sp>
      <p:sp>
        <p:nvSpPr>
          <p:cNvPr id="4" name="Shape 2"/>
          <p:cNvSpPr/>
          <p:nvPr/>
        </p:nvSpPr>
        <p:spPr>
          <a:xfrm>
            <a:off x="548640" y="1325880"/>
            <a:ext cx="3749040" cy="4983480"/>
          </a:xfrm>
          <a:prstGeom prst="roundRect">
            <a:avLst>
              <a:gd name="adj" fmla="val 3659"/>
            </a:avLst>
          </a:prstGeom>
          <a:solidFill>
            <a:srgbClr val="14453D"/>
          </a:solidFill>
          <a:ln w="12700">
            <a:solidFill>
              <a:srgbClr val="14453D"/>
            </a:solidFill>
            <a:prstDash val="solid"/>
          </a:ln>
        </p:spPr>
      </p:sp>
      <p:sp>
        <p:nvSpPr>
          <p:cNvPr id="5" name="Text 3"/>
          <p:cNvSpPr txBox="1"/>
          <p:nvPr/>
        </p:nvSpPr>
        <p:spPr>
          <a:xfrm>
            <a:off x="868680" y="1554480"/>
            <a:ext cx="3108960" cy="365760"/>
          </a:xfrm>
          <a:prstGeom prst="rect">
            <a:avLst/>
          </a:prstGeom>
          <a:noFill/>
          <a:ln/>
        </p:spPr>
        <p:txBody>
          <a:bodyPr wrap="square" lIns="0" tIns="0" rIns="0" bIns="0" rtlCol="0" anchor="ctr"/>
          <a:lstStyle/>
          <a:p>
            <a:pPr indent="0" marL="0">
              <a:buNone/>
            </a:pPr>
            <a:r>
              <a:rPr lang="en-US" sz="1600" b="1" dirty="0">
                <a:solidFill>
                  <a:srgbClr val="FFD45C"/>
                </a:solidFill>
              </a:rPr>
              <a:t>정답</a:t>
            </a:r>
            <a:endParaRPr lang="en-US" sz="1600" dirty="0"/>
          </a:p>
        </p:txBody>
      </p:sp>
      <p:sp>
        <p:nvSpPr>
          <p:cNvPr id="6" name="Text 4"/>
          <p:cNvSpPr txBox="1"/>
          <p:nvPr/>
        </p:nvSpPr>
        <p:spPr>
          <a:xfrm>
            <a:off x="868680" y="1920240"/>
            <a:ext cx="3108960" cy="1188720"/>
          </a:xfrm>
          <a:prstGeom prst="rect">
            <a:avLst/>
          </a:prstGeom>
          <a:noFill/>
          <a:ln/>
        </p:spPr>
        <p:txBody>
          <a:bodyPr wrap="square" lIns="0" tIns="0" rIns="0" bIns="0" rtlCol="0" anchor="ctr"/>
          <a:lstStyle/>
          <a:p>
            <a:pPr indent="0" marL="0">
              <a:buNone/>
            </a:pPr>
            <a:r>
              <a:rPr lang="en-US" sz="7200" b="1" dirty="0">
                <a:solidFill>
                  <a:srgbClr val="FFFFFF"/>
                </a:solidFill>
              </a:rPr>
              <a:t>①</a:t>
            </a:r>
            <a:endParaRPr lang="en-US" sz="7200" dirty="0"/>
          </a:p>
        </p:txBody>
      </p:sp>
      <p:sp>
        <p:nvSpPr>
          <p:cNvPr id="7" name="Text 5"/>
          <p:cNvSpPr txBox="1"/>
          <p:nvPr/>
        </p:nvSpPr>
        <p:spPr>
          <a:xfrm>
            <a:off x="868680" y="3337560"/>
            <a:ext cx="3154680" cy="1280160"/>
          </a:xfrm>
          <a:prstGeom prst="rect">
            <a:avLst/>
          </a:prstGeom>
          <a:noFill/>
          <a:ln/>
        </p:spPr>
        <p:txBody>
          <a:bodyPr wrap="square" lIns="0" tIns="0" rIns="0" bIns="0" rtlCol="0" anchor="t"/>
          <a:lstStyle/>
          <a:p>
            <a:pPr indent="0" marL="0">
              <a:buNone/>
            </a:pPr>
            <a:r>
              <a:rPr lang="en-US" sz="1700" b="1" i="1" dirty="0">
                <a:solidFill>
                  <a:srgbClr val="FFFFFF"/>
                </a:solidFill>
              </a:rPr>
              <a:t>initial ----- extreme</a:t>
            </a:r>
            <a:endParaRPr lang="en-US" sz="1700" dirty="0"/>
          </a:p>
        </p:txBody>
      </p:sp>
      <p:sp>
        <p:nvSpPr>
          <p:cNvPr id="8" name="Text 6"/>
          <p:cNvSpPr txBox="1"/>
          <p:nvPr/>
        </p:nvSpPr>
        <p:spPr>
          <a:xfrm>
            <a:off x="868680" y="4663440"/>
            <a:ext cx="3154680" cy="1463040"/>
          </a:xfrm>
          <a:prstGeom prst="rect">
            <a:avLst/>
          </a:prstGeom>
          <a:noFill/>
          <a:ln/>
        </p:spPr>
        <p:txBody>
          <a:bodyPr wrap="square" lIns="0" tIns="0" rIns="0" bIns="0" rtlCol="0" anchor="t"/>
          <a:lstStyle/>
          <a:p>
            <a:pPr indent="0" marL="0">
              <a:buNone/>
            </a:pPr>
            <a:r>
              <a:rPr lang="en-US" sz="1400" dirty="0">
                <a:solidFill>
                  <a:srgbClr val="E6F2ED"/>
                </a:solidFill>
              </a:rPr>
              <a:t>처음의 = presented first / 극단적인 = maximum or minimum</a:t>
            </a:r>
            <a:endParaRPr lang="en-US" sz="1400" dirty="0"/>
          </a:p>
        </p:txBody>
      </p:sp>
      <p:sp>
        <p:nvSpPr>
          <p:cNvPr id="9" name="Shape 7"/>
          <p:cNvSpPr/>
          <p:nvPr/>
        </p:nvSpPr>
        <p:spPr>
          <a:xfrm>
            <a:off x="4572000" y="1325880"/>
            <a:ext cx="7040880" cy="905256"/>
          </a:xfrm>
          <a:prstGeom prst="roundRect">
            <a:avLst>
              <a:gd name="adj" fmla="val 10101"/>
            </a:avLst>
          </a:prstGeom>
          <a:solidFill>
            <a:srgbClr val="F7E9E4"/>
          </a:solidFill>
          <a:ln w="25400">
            <a:solidFill>
              <a:srgbClr val="EF5B3F"/>
            </a:solidFill>
            <a:prstDash val="solid"/>
          </a:ln>
        </p:spPr>
      </p:sp>
      <p:sp>
        <p:nvSpPr>
          <p:cNvPr id="10" name="Text 8"/>
          <p:cNvSpPr txBox="1"/>
          <p:nvPr/>
        </p:nvSpPr>
        <p:spPr>
          <a:xfrm>
            <a:off x="4754880" y="1435608"/>
            <a:ext cx="411480" cy="411480"/>
          </a:xfrm>
          <a:prstGeom prst="rect">
            <a:avLst/>
          </a:prstGeom>
          <a:noFill/>
          <a:ln/>
        </p:spPr>
        <p:txBody>
          <a:bodyPr wrap="square" lIns="0" tIns="0" rIns="0" bIns="0" rtlCol="0" anchor="ctr"/>
          <a:lstStyle/>
          <a:p>
            <a:pPr indent="0" marL="0">
              <a:buNone/>
            </a:pPr>
            <a:r>
              <a:rPr lang="en-US" sz="2000" b="1" dirty="0">
                <a:solidFill>
                  <a:srgbClr val="EF5B3F"/>
                </a:solidFill>
              </a:rPr>
              <a:t>①</a:t>
            </a:r>
            <a:endParaRPr lang="en-US" sz="2000" dirty="0"/>
          </a:p>
        </p:txBody>
      </p:sp>
      <p:sp>
        <p:nvSpPr>
          <p:cNvPr id="11" name="Text 9"/>
          <p:cNvSpPr txBox="1"/>
          <p:nvPr/>
        </p:nvSpPr>
        <p:spPr>
          <a:xfrm>
            <a:off x="5257800" y="1399032"/>
            <a:ext cx="6172200" cy="411480"/>
          </a:xfrm>
          <a:prstGeom prst="rect">
            <a:avLst/>
          </a:prstGeom>
          <a:noFill/>
          <a:ln/>
        </p:spPr>
        <p:txBody>
          <a:bodyPr wrap="square" lIns="0" tIns="0" rIns="0" bIns="0" rtlCol="0" anchor="ctr">
            <a:normAutofit/>
          </a:bodyPr>
          <a:lstStyle/>
          <a:p>
            <a:pPr indent="0" marL="0">
              <a:buNone/>
            </a:pPr>
            <a:r>
              <a:rPr lang="en-US" sz="1500" b="1" dirty="0">
                <a:solidFill>
                  <a:srgbClr val="14453D"/>
                </a:solidFill>
              </a:rPr>
              <a:t>initial ----- extreme</a:t>
            </a:r>
            <a:endParaRPr lang="en-US" sz="1500" dirty="0"/>
          </a:p>
        </p:txBody>
      </p:sp>
      <p:sp>
        <p:nvSpPr>
          <p:cNvPr id="12" name="Text 10"/>
          <p:cNvSpPr txBox="1"/>
          <p:nvPr/>
        </p:nvSpPr>
        <p:spPr>
          <a:xfrm>
            <a:off x="5257800" y="1801368"/>
            <a:ext cx="6172200" cy="365760"/>
          </a:xfrm>
          <a:prstGeom prst="rect">
            <a:avLst/>
          </a:prstGeom>
          <a:noFill/>
          <a:ln/>
        </p:spPr>
        <p:txBody>
          <a:bodyPr wrap="square" lIns="0" tIns="0" rIns="0" bIns="0" rtlCol="0" anchor="ctr">
            <a:normAutofit/>
          </a:bodyPr>
          <a:lstStyle/>
          <a:p>
            <a:pPr indent="0" marL="0">
              <a:buNone/>
            </a:pPr>
            <a:r>
              <a:rPr lang="en-US" sz="1300" dirty="0">
                <a:solidFill>
                  <a:srgbClr val="EF5B3F"/>
                </a:solidFill>
              </a:rPr>
              <a:t>✔ 처음의 = presented first / 극단적인 = maximum or minimum</a:t>
            </a:r>
            <a:endParaRPr lang="en-US" sz="1300" dirty="0"/>
          </a:p>
        </p:txBody>
      </p:sp>
      <p:sp>
        <p:nvSpPr>
          <p:cNvPr id="13" name="Shape 11"/>
          <p:cNvSpPr/>
          <p:nvPr/>
        </p:nvSpPr>
        <p:spPr>
          <a:xfrm>
            <a:off x="4572000" y="2340864"/>
            <a:ext cx="7040880" cy="905256"/>
          </a:xfrm>
          <a:prstGeom prst="roundRect">
            <a:avLst>
              <a:gd name="adj" fmla="val 10101"/>
            </a:avLst>
          </a:prstGeom>
          <a:solidFill>
            <a:srgbClr val="FFFFFF"/>
          </a:solidFill>
          <a:ln w="12700">
            <a:solidFill>
              <a:srgbClr val="E6F2ED"/>
            </a:solidFill>
            <a:prstDash val="solid"/>
          </a:ln>
        </p:spPr>
      </p:sp>
      <p:sp>
        <p:nvSpPr>
          <p:cNvPr id="14" name="Text 12"/>
          <p:cNvSpPr txBox="1"/>
          <p:nvPr/>
        </p:nvSpPr>
        <p:spPr>
          <a:xfrm>
            <a:off x="4754880" y="2450592"/>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②</a:t>
            </a:r>
            <a:endParaRPr lang="en-US" sz="2000" dirty="0"/>
          </a:p>
        </p:txBody>
      </p:sp>
      <p:sp>
        <p:nvSpPr>
          <p:cNvPr id="15" name="Text 13"/>
          <p:cNvSpPr txBox="1"/>
          <p:nvPr/>
        </p:nvSpPr>
        <p:spPr>
          <a:xfrm>
            <a:off x="5257800" y="2414016"/>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fixed ----- moderate</a:t>
            </a:r>
            <a:endParaRPr lang="en-US" sz="1500" dirty="0"/>
          </a:p>
        </p:txBody>
      </p:sp>
      <p:sp>
        <p:nvSpPr>
          <p:cNvPr id="16" name="Text 14"/>
          <p:cNvSpPr txBox="1"/>
          <p:nvPr/>
        </p:nvSpPr>
        <p:spPr>
          <a:xfrm>
            <a:off x="5257800" y="2816352"/>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고정된 ✘ / 중간 정도의 ✘ → 극단과 반대</a:t>
            </a:r>
            <a:endParaRPr lang="en-US" sz="1300" dirty="0"/>
          </a:p>
        </p:txBody>
      </p:sp>
      <p:sp>
        <p:nvSpPr>
          <p:cNvPr id="17" name="Shape 15"/>
          <p:cNvSpPr/>
          <p:nvPr/>
        </p:nvSpPr>
        <p:spPr>
          <a:xfrm>
            <a:off x="4572000" y="3355848"/>
            <a:ext cx="7040880" cy="905256"/>
          </a:xfrm>
          <a:prstGeom prst="roundRect">
            <a:avLst>
              <a:gd name="adj" fmla="val 10101"/>
            </a:avLst>
          </a:prstGeom>
          <a:solidFill>
            <a:srgbClr val="FFFFFF"/>
          </a:solidFill>
          <a:ln w="12700">
            <a:solidFill>
              <a:srgbClr val="E6F2ED"/>
            </a:solidFill>
            <a:prstDash val="solid"/>
          </a:ln>
        </p:spPr>
      </p:sp>
      <p:sp>
        <p:nvSpPr>
          <p:cNvPr id="18" name="Text 16"/>
          <p:cNvSpPr txBox="1"/>
          <p:nvPr/>
        </p:nvSpPr>
        <p:spPr>
          <a:xfrm>
            <a:off x="4754880" y="3465576"/>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③</a:t>
            </a:r>
            <a:endParaRPr lang="en-US" sz="2000" dirty="0"/>
          </a:p>
        </p:txBody>
      </p:sp>
      <p:sp>
        <p:nvSpPr>
          <p:cNvPr id="19" name="Text 17"/>
          <p:cNvSpPr txBox="1"/>
          <p:nvPr/>
        </p:nvSpPr>
        <p:spPr>
          <a:xfrm>
            <a:off x="5257800" y="3429000"/>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last ----- clear</a:t>
            </a:r>
            <a:endParaRPr lang="en-US" sz="1500" dirty="0"/>
          </a:p>
        </p:txBody>
      </p:sp>
      <p:sp>
        <p:nvSpPr>
          <p:cNvPr id="20" name="Text 18"/>
          <p:cNvSpPr txBox="1"/>
          <p:nvPr/>
        </p:nvSpPr>
        <p:spPr>
          <a:xfrm>
            <a:off x="5257800" y="3831336"/>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마지막 ✘ / 분명한 ✘ → last는 본문 단어일 뿐</a:t>
            </a:r>
            <a:endParaRPr lang="en-US" sz="1300" dirty="0"/>
          </a:p>
        </p:txBody>
      </p:sp>
      <p:sp>
        <p:nvSpPr>
          <p:cNvPr id="21" name="Shape 19"/>
          <p:cNvSpPr/>
          <p:nvPr/>
        </p:nvSpPr>
        <p:spPr>
          <a:xfrm>
            <a:off x="4572000" y="4370832"/>
            <a:ext cx="7040880" cy="905256"/>
          </a:xfrm>
          <a:prstGeom prst="roundRect">
            <a:avLst>
              <a:gd name="adj" fmla="val 10101"/>
            </a:avLst>
          </a:prstGeom>
          <a:solidFill>
            <a:srgbClr val="FFFFFF"/>
          </a:solidFill>
          <a:ln w="12700">
            <a:solidFill>
              <a:srgbClr val="E6F2ED"/>
            </a:solidFill>
            <a:prstDash val="solid"/>
          </a:ln>
        </p:spPr>
      </p:sp>
      <p:sp>
        <p:nvSpPr>
          <p:cNvPr id="22" name="Text 20"/>
          <p:cNvSpPr txBox="1"/>
          <p:nvPr/>
        </p:nvSpPr>
        <p:spPr>
          <a:xfrm>
            <a:off x="4754880" y="4480560"/>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④</a:t>
            </a:r>
            <a:endParaRPr lang="en-US" sz="2000" dirty="0"/>
          </a:p>
        </p:txBody>
      </p:sp>
      <p:sp>
        <p:nvSpPr>
          <p:cNvPr id="23" name="Text 21"/>
          <p:cNvSpPr txBox="1"/>
          <p:nvPr/>
        </p:nvSpPr>
        <p:spPr>
          <a:xfrm>
            <a:off x="5257800" y="4443984"/>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random ----- uncertain</a:t>
            </a:r>
            <a:endParaRPr lang="en-US" sz="1500" dirty="0"/>
          </a:p>
        </p:txBody>
      </p:sp>
      <p:sp>
        <p:nvSpPr>
          <p:cNvPr id="24" name="Text 22"/>
          <p:cNvSpPr txBox="1"/>
          <p:nvPr/>
        </p:nvSpPr>
        <p:spPr>
          <a:xfrm>
            <a:off x="5257800" y="4846320"/>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무작위 ✘ / 불확실한 ✘</a:t>
            </a:r>
            <a:endParaRPr lang="en-US" sz="1300" dirty="0"/>
          </a:p>
        </p:txBody>
      </p:sp>
      <p:sp>
        <p:nvSpPr>
          <p:cNvPr id="25" name="Shape 23"/>
          <p:cNvSpPr/>
          <p:nvPr/>
        </p:nvSpPr>
        <p:spPr>
          <a:xfrm>
            <a:off x="4572000" y="5385816"/>
            <a:ext cx="7040880" cy="905256"/>
          </a:xfrm>
          <a:prstGeom prst="roundRect">
            <a:avLst>
              <a:gd name="adj" fmla="val 10101"/>
            </a:avLst>
          </a:prstGeom>
          <a:solidFill>
            <a:srgbClr val="FFFFFF"/>
          </a:solidFill>
          <a:ln w="12700">
            <a:solidFill>
              <a:srgbClr val="E6F2ED"/>
            </a:solidFill>
            <a:prstDash val="solid"/>
          </a:ln>
        </p:spPr>
      </p:sp>
      <p:sp>
        <p:nvSpPr>
          <p:cNvPr id="26" name="Text 24"/>
          <p:cNvSpPr txBox="1"/>
          <p:nvPr/>
        </p:nvSpPr>
        <p:spPr>
          <a:xfrm>
            <a:off x="4754880" y="5495544"/>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⑤</a:t>
            </a:r>
            <a:endParaRPr lang="en-US" sz="2000" dirty="0"/>
          </a:p>
        </p:txBody>
      </p:sp>
      <p:sp>
        <p:nvSpPr>
          <p:cNvPr id="27" name="Text 25"/>
          <p:cNvSpPr txBox="1"/>
          <p:nvPr/>
        </p:nvSpPr>
        <p:spPr>
          <a:xfrm>
            <a:off x="5257800" y="5458968"/>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variable ----- average</a:t>
            </a:r>
            <a:endParaRPr lang="en-US" sz="1500" dirty="0"/>
          </a:p>
        </p:txBody>
      </p:sp>
      <p:sp>
        <p:nvSpPr>
          <p:cNvPr id="28" name="Text 26"/>
          <p:cNvSpPr txBox="1"/>
          <p:nvPr/>
        </p:nvSpPr>
        <p:spPr>
          <a:xfrm>
            <a:off x="5257800" y="5861304"/>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가변적인 ✘ / 평균적인 ✘</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98  </a:t>
            </a:r>
            <a:pPr algn="l" indent="0" marL="0">
              <a:buNone/>
            </a:pPr>
            <a:r>
              <a:rPr lang="en-US" sz="3000" b="1" dirty="0">
                <a:solidFill>
                  <a:srgbClr val="14453D"/>
                </a:solidFill>
              </a:rPr>
              <a:t>내신 어법 체크: 알맞은 것은?</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어법</a:t>
            </a:r>
            <a:endParaRPr lang="en-US" sz="1200" dirty="0"/>
          </a:p>
        </p:txBody>
      </p:sp>
      <p:sp>
        <p:nvSpPr>
          <p:cNvPr id="4" name="Shape 2"/>
          <p:cNvSpPr/>
          <p:nvPr/>
        </p:nvSpPr>
        <p:spPr>
          <a:xfrm>
            <a:off x="548640" y="1325880"/>
            <a:ext cx="11064240" cy="1143000"/>
          </a:xfrm>
          <a:prstGeom prst="roundRect">
            <a:avLst>
              <a:gd name="adj" fmla="val 8000"/>
            </a:avLst>
          </a:prstGeom>
          <a:solidFill>
            <a:srgbClr val="F2F8FB"/>
          </a:solidFill>
          <a:ln w="12700">
            <a:solidFill>
              <a:srgbClr val="D3E5EE"/>
            </a:solidFill>
            <a:prstDash val="solid"/>
          </a:ln>
        </p:spPr>
      </p:sp>
      <p:sp>
        <p:nvSpPr>
          <p:cNvPr id="5" name="Text 3"/>
          <p:cNvSpPr/>
          <p:nvPr/>
        </p:nvSpPr>
        <p:spPr>
          <a:xfrm>
            <a:off x="777240" y="162306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1554480" y="132588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Whether the item is located in the first, last, or middle position sometimes </a:t>
            </a:r>
            <a:pPr indent="0" marL="0">
              <a:buNone/>
            </a:pPr>
            <a:r>
              <a:rPr lang="en-US" sz="1900" b="1" dirty="0">
                <a:solidFill>
                  <a:srgbClr val="EF5B3F"/>
                </a:solidFill>
              </a:rPr>
              <a:t>[affect / affects]</a:t>
            </a:r>
            <a:pPr indent="0" marL="0">
              <a:buNone/>
            </a:pPr>
            <a:r>
              <a:rPr lang="en-US" sz="1900" dirty="0">
                <a:solidFill>
                  <a:srgbClr val="1E2B2A"/>
                </a:solidFill>
              </a:rPr>
              <a:t> the selection.</a:t>
            </a:r>
            <a:endParaRPr lang="en-US" sz="1900" dirty="0"/>
          </a:p>
        </p:txBody>
      </p:sp>
      <p:sp>
        <p:nvSpPr>
          <p:cNvPr id="7" name="Shape 5"/>
          <p:cNvSpPr/>
          <p:nvPr/>
        </p:nvSpPr>
        <p:spPr>
          <a:xfrm>
            <a:off x="548640" y="2606040"/>
            <a:ext cx="11064240" cy="1143000"/>
          </a:xfrm>
          <a:prstGeom prst="roundRect">
            <a:avLst>
              <a:gd name="adj" fmla="val 8000"/>
            </a:avLst>
          </a:prstGeom>
          <a:solidFill>
            <a:srgbClr val="FFFFFF"/>
          </a:solidFill>
          <a:ln w="12700">
            <a:solidFill>
              <a:srgbClr val="D3E5EE"/>
            </a:solidFill>
            <a:prstDash val="solid"/>
          </a:ln>
        </p:spPr>
      </p:sp>
      <p:sp>
        <p:nvSpPr>
          <p:cNvPr id="8" name="Text 6"/>
          <p:cNvSpPr/>
          <p:nvPr/>
        </p:nvSpPr>
        <p:spPr>
          <a:xfrm>
            <a:off x="777240" y="290322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9" name="Text 7"/>
          <p:cNvSpPr txBox="1"/>
          <p:nvPr/>
        </p:nvSpPr>
        <p:spPr>
          <a:xfrm>
            <a:off x="1554480" y="260604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Robert Ferber had respondents </a:t>
            </a:r>
            <a:pPr indent="0" marL="0">
              <a:buNone/>
            </a:pPr>
            <a:r>
              <a:rPr lang="en-US" sz="1900" b="1" dirty="0">
                <a:solidFill>
                  <a:srgbClr val="EF5B3F"/>
                </a:solidFill>
              </a:rPr>
              <a:t>[rate / to rate]</a:t>
            </a:r>
            <a:pPr indent="0" marL="0">
              <a:buNone/>
            </a:pPr>
            <a:r>
              <a:rPr lang="en-US" sz="1900" dirty="0">
                <a:solidFill>
                  <a:srgbClr val="1E2B2A"/>
                </a:solidFill>
              </a:rPr>
              <a:t> a list of occupations.</a:t>
            </a:r>
            <a:endParaRPr lang="en-US" sz="1900" dirty="0"/>
          </a:p>
        </p:txBody>
      </p:sp>
      <p:sp>
        <p:nvSpPr>
          <p:cNvPr id="10" name="Shape 8"/>
          <p:cNvSpPr/>
          <p:nvPr/>
        </p:nvSpPr>
        <p:spPr>
          <a:xfrm>
            <a:off x="548640" y="3886200"/>
            <a:ext cx="11064240" cy="1143000"/>
          </a:xfrm>
          <a:prstGeom prst="roundRect">
            <a:avLst>
              <a:gd name="adj" fmla="val 8000"/>
            </a:avLst>
          </a:prstGeom>
          <a:solidFill>
            <a:srgbClr val="F2F8FB"/>
          </a:solidFill>
          <a:ln w="12700">
            <a:solidFill>
              <a:srgbClr val="D3E5EE"/>
            </a:solidFill>
            <a:prstDash val="solid"/>
          </a:ln>
        </p:spPr>
      </p:sp>
      <p:sp>
        <p:nvSpPr>
          <p:cNvPr id="11" name="Text 9"/>
          <p:cNvSpPr/>
          <p:nvPr/>
        </p:nvSpPr>
        <p:spPr>
          <a:xfrm>
            <a:off x="777240" y="418338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2" name="Text 10"/>
          <p:cNvSpPr txBox="1"/>
          <p:nvPr/>
        </p:nvSpPr>
        <p:spPr>
          <a:xfrm>
            <a:off x="1554480" y="388620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The first beverage </a:t>
            </a:r>
            <a:pPr indent="0" marL="0">
              <a:buNone/>
            </a:pPr>
            <a:r>
              <a:rPr lang="en-US" sz="1900" b="1" dirty="0">
                <a:solidFill>
                  <a:srgbClr val="EF5B3F"/>
                </a:solidFill>
              </a:rPr>
              <a:t>[tasted / tasting]</a:t>
            </a:r>
            <a:pPr indent="0" marL="0">
              <a:buNone/>
            </a:pPr>
            <a:r>
              <a:rPr lang="en-US" sz="1900" dirty="0">
                <a:solidFill>
                  <a:srgbClr val="1E2B2A"/>
                </a:solidFill>
              </a:rPr>
              <a:t> was rated significantly higher.</a:t>
            </a:r>
            <a:endParaRPr lang="en-US" sz="19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ctr"/>
          <a:lstStyle/>
          <a:p>
            <a:pPr algn="l" indent="0" marL="0">
              <a:buNone/>
            </a:pPr>
            <a:r>
              <a:rPr lang="en-US" sz="4400" b="1" dirty="0">
                <a:solidFill>
                  <a:srgbClr val="FFFFFF"/>
                </a:solidFill>
              </a:rPr>
              <a:t>Part 2  ·  Exercise 99–104</a:t>
            </a:r>
            <a:endParaRPr lang="en-US" sz="4400" dirty="0"/>
          </a:p>
        </p:txBody>
      </p:sp>
      <p:sp>
        <p:nvSpPr>
          <p:cNvPr id="3" name="Text 0"/>
          <p:cNvSpPr/>
          <p:nvPr>
            <p:ph idx="101" type="body" hasCustomPrompt="1"/>
          </p:nvPr>
        </p:nvSpPr>
        <p:spPr>
          <a:xfrm>
            <a:off x="731520" y="3566160"/>
            <a:ext cx="10698480" cy="1280160"/>
          </a:xfrm>
          <a:prstGeom prst="rect">
            <a:avLst/>
          </a:prstGeom>
          <a:noFill/>
          <a:ln/>
        </p:spPr>
        <p:txBody>
          <a:bodyPr wrap="square" lIns="0" tIns="0" rIns="0" bIns="0" rtlCol="0" anchor="t"/>
          <a:lstStyle/>
          <a:p>
            <a:pPr algn="l" indent="0" marL="0">
              <a:buNone/>
            </a:pPr>
            <a:r>
              <a:rPr lang="en-US" sz="2000" dirty="0">
                <a:solidFill>
                  <a:srgbClr val="E6F2ED"/>
                </a:solidFill>
              </a:rPr>
              <a:t>다이어트 · 훈련된 무능 · 기부 심리 · 틀 효과(빈칸) · 자기 성찰(삽입) · 훈련된 무능(어휘)</a:t>
            </a:r>
            <a:endParaRPr lang="en-US" sz="2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99  </a:t>
            </a:r>
            <a:pPr algn="l" indent="0" marL="0">
              <a:buNone/>
            </a:pPr>
            <a:r>
              <a:rPr lang="en-US" sz="3000" b="1" dirty="0">
                <a:solidFill>
                  <a:srgbClr val="14453D"/>
                </a:solidFill>
              </a:rPr>
              <a:t>다이어트 성공의 조건</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Hook</a:t>
            </a:r>
            <a:endParaRPr lang="en-US" sz="1200" dirty="0"/>
          </a:p>
        </p:txBody>
      </p:sp>
      <p:sp>
        <p:nvSpPr>
          <p:cNvPr id="4" name="Shape 2"/>
          <p:cNvSpPr/>
          <p:nvPr/>
        </p:nvSpPr>
        <p:spPr>
          <a:xfrm>
            <a:off x="1280160" y="1737360"/>
            <a:ext cx="9601200" cy="3291840"/>
          </a:xfrm>
          <a:prstGeom prst="roundRect">
            <a:avLst>
              <a:gd name="adj" fmla="val 6944"/>
            </a:avLst>
          </a:prstGeom>
          <a:solidFill>
            <a:srgbClr val="E6F2ED"/>
          </a:solidFill>
          <a:ln w="12700">
            <a:solidFill>
              <a:srgbClr val="E6F2ED"/>
            </a:solidFill>
            <a:prstDash val="solid"/>
          </a:ln>
        </p:spPr>
      </p:sp>
      <p:sp>
        <p:nvSpPr>
          <p:cNvPr id="5" name="Shape 3"/>
          <p:cNvSpPr/>
          <p:nvPr/>
        </p:nvSpPr>
        <p:spPr>
          <a:xfrm>
            <a:off x="1737360" y="2148840"/>
            <a:ext cx="1005840" cy="1005840"/>
          </a:xfrm>
          <a:prstGeom prst="ellipse">
            <a:avLst/>
          </a:prstGeom>
          <a:solidFill>
            <a:srgbClr val="1F7A64"/>
          </a:solidFill>
          <a:ln w="12700">
            <a:solidFill>
              <a:srgbClr val="1F7A64"/>
            </a:solidFill>
            <a:prstDash val="solid"/>
          </a:ln>
        </p:spPr>
      </p:sp>
      <p:pic>
        <p:nvPicPr>
          <p:cNvPr id="6" name="Image 0" descr="preencoded.png">    </p:cNvPr>
          <p:cNvPicPr>
            <a:picLocks noChangeAspect="1"/>
          </p:cNvPicPr>
          <p:nvPr/>
        </p:nvPicPr>
        <p:blipFill>
          <a:blip r:embed="rId1"/>
          <a:stretch>
            <a:fillRect/>
          </a:stretch>
        </p:blipFill>
        <p:spPr>
          <a:xfrm>
            <a:off x="1984248" y="2395728"/>
            <a:ext cx="512064" cy="512064"/>
          </a:xfrm>
          <a:prstGeom prst="rect">
            <a:avLst/>
          </a:prstGeom>
        </p:spPr>
      </p:pic>
      <p:sp>
        <p:nvSpPr>
          <p:cNvPr id="7" name="Text 4"/>
          <p:cNvSpPr txBox="1"/>
          <p:nvPr/>
        </p:nvSpPr>
        <p:spPr>
          <a:xfrm>
            <a:off x="3017520" y="2194560"/>
            <a:ext cx="5486400" cy="457200"/>
          </a:xfrm>
          <a:prstGeom prst="rect">
            <a:avLst/>
          </a:prstGeom>
          <a:noFill/>
          <a:ln/>
        </p:spPr>
        <p:txBody>
          <a:bodyPr wrap="square" lIns="0" tIns="0" rIns="0" bIns="0" rtlCol="0" anchor="ctr"/>
          <a:lstStyle/>
          <a:p>
            <a:pPr indent="0" marL="0">
              <a:buNone/>
            </a:pPr>
            <a:r>
              <a:rPr lang="en-US" sz="1800" b="1" dirty="0">
                <a:solidFill>
                  <a:srgbClr val="1F7A64"/>
                </a:solidFill>
              </a:rPr>
              <a:t>생각해 볼까?</a:t>
            </a:r>
            <a:endParaRPr lang="en-US" sz="1800" dirty="0"/>
          </a:p>
        </p:txBody>
      </p:sp>
      <p:sp>
        <p:nvSpPr>
          <p:cNvPr id="8" name="Text 5"/>
          <p:cNvSpPr txBox="1"/>
          <p:nvPr/>
        </p:nvSpPr>
        <p:spPr>
          <a:xfrm>
            <a:off x="3017520" y="2697480"/>
            <a:ext cx="7498080" cy="2011680"/>
          </a:xfrm>
          <a:prstGeom prst="rect">
            <a:avLst/>
          </a:prstGeom>
          <a:noFill/>
          <a:ln/>
        </p:spPr>
        <p:txBody>
          <a:bodyPr wrap="square" lIns="0" tIns="0" rIns="0" bIns="0" rtlCol="0" anchor="t">
            <a:normAutofit/>
          </a:bodyPr>
          <a:lstStyle/>
          <a:p>
            <a:pPr indent="0" marL="0">
              <a:buNone/>
            </a:pPr>
            <a:r>
              <a:rPr lang="en-US" sz="2800" b="1" dirty="0">
                <a:solidFill>
                  <a:srgbClr val="14453D"/>
                </a:solidFill>
              </a:rPr>
              <a:t>다이어트 실패하는 이유, 의지가 약해서일까?</a:t>
            </a:r>
            <a:endParaRPr lang="en-US" sz="2800" dirty="0"/>
          </a:p>
        </p:txBody>
      </p:sp>
      <p:sp>
        <p:nvSpPr>
          <p:cNvPr id="9" name="Text 6"/>
          <p:cNvSpPr/>
          <p:nvPr/>
        </p:nvSpPr>
        <p:spPr>
          <a:xfrm>
            <a:off x="4251960" y="5349240"/>
            <a:ext cx="3657600" cy="329184"/>
          </a:xfrm>
          <a:prstGeom prst="roundRect">
            <a:avLst>
              <a:gd name="adj" fmla="val 41667"/>
            </a:avLst>
          </a:prstGeom>
          <a:solidFill>
            <a:srgbClr val="EF5B3F"/>
          </a:solidFill>
          <a:ln/>
        </p:spPr>
        <p:txBody>
          <a:bodyPr wrap="square" lIns="0" tIns="0" rIns="0" bIns="0" rtlCol="0" anchor="ctr"/>
          <a:lstStyle/>
          <a:p>
            <a:pPr algn="ctr" indent="0" marL="0">
              <a:buNone/>
            </a:pPr>
            <a:r>
              <a:rPr lang="en-US" sz="1400" b="1" dirty="0">
                <a:solidFill>
                  <a:srgbClr val="FFFFFF"/>
                </a:solidFill>
              </a:rPr>
              <a:t>짝과 30초 이야기 → 2~3명 발표</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99  </a:t>
            </a:r>
            <a:pPr algn="l" indent="0" marL="0">
              <a:buNone/>
            </a:pPr>
            <a:r>
              <a:rPr lang="en-US" sz="2400" b="1" dirty="0">
                <a:solidFill>
                  <a:srgbClr val="14453D"/>
                </a:solidFill>
              </a:rPr>
              <a:t>(A)·(B)에 들어갈 말로 가장 적절한 것은?</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a:t>
            </a:r>
            <a:endParaRPr lang="en-US" sz="1200" dirty="0"/>
          </a:p>
        </p:txBody>
      </p:sp>
      <p:sp>
        <p:nvSpPr>
          <p:cNvPr id="4" name="Shape 2"/>
          <p:cNvSpPr/>
          <p:nvPr/>
        </p:nvSpPr>
        <p:spPr>
          <a:xfrm>
            <a:off x="548640" y="1234440"/>
            <a:ext cx="11064240" cy="5074920"/>
          </a:xfrm>
          <a:prstGeom prst="roundRect">
            <a:avLst>
              <a:gd name="adj" fmla="val 1802"/>
            </a:avLst>
          </a:prstGeom>
          <a:solidFill>
            <a:srgbClr val="FFFFFF"/>
          </a:solidFill>
          <a:ln w="19050">
            <a:solidFill>
              <a:srgbClr val="E6F2ED"/>
            </a:solidFill>
            <a:prstDash val="solid"/>
          </a:ln>
        </p:spPr>
      </p:sp>
      <p:sp>
        <p:nvSpPr>
          <p:cNvPr id="5" name="Text 3"/>
          <p:cNvSpPr txBox="1"/>
          <p:nvPr/>
        </p:nvSpPr>
        <p:spPr>
          <a:xfrm>
            <a:off x="777240" y="1371600"/>
            <a:ext cx="10607040" cy="4846320"/>
          </a:xfrm>
          <a:prstGeom prst="rect">
            <a:avLst/>
          </a:prstGeom>
          <a:noFill/>
          <a:ln/>
        </p:spPr>
        <p:txBody>
          <a:bodyPr wrap="square" lIns="0" tIns="0" rIns="0" bIns="0" rtlCol="0" anchor="t"/>
          <a:lstStyle/>
          <a:p>
            <a:pPr indent="0" marL="0">
              <a:lnSpc>
                <a:spcPct val="115000"/>
              </a:lnSpc>
              <a:buNone/>
            </a:pPr>
            <a:r>
              <a:rPr lang="en-US" sz="1700" dirty="0">
                <a:solidFill>
                  <a:srgbClr val="1E2B2A"/>
                </a:solidFill>
              </a:rPr>
              <a:t>Many people think the success of dieting depends mostly on determination, persistence and self-discipline.</a:t>
            </a:r>
            <a:pPr indent="0" marL="0">
              <a:lnSpc>
                <a:spcPct val="115000"/>
              </a:lnSpc>
              <a:buNone/>
            </a:pPr>
            <a:r>
              <a:rPr lang="en-US" sz="1700" dirty="0">
                <a:solidFill>
                  <a:srgbClr val="000000"/>
                </a:solidFill>
              </a:rPr>
              <a:t> </a:t>
            </a:r>
            <a:pPr indent="0" marL="0">
              <a:lnSpc>
                <a:spcPct val="115000"/>
              </a:lnSpc>
              <a:buNone/>
            </a:pPr>
            <a:r>
              <a:rPr lang="en-US" sz="1700" dirty="0">
                <a:solidFill>
                  <a:srgbClr val="1E2B2A"/>
                </a:solidFill>
              </a:rPr>
              <a:t>While this mental power matters, a new research has found that a much more subtle aspect of the diets themselves can also have a big influence on the pounds lost.</a:t>
            </a:r>
            <a:pPr indent="0" marL="0">
              <a:lnSpc>
                <a:spcPct val="115000"/>
              </a:lnSpc>
              <a:buNone/>
            </a:pPr>
            <a:r>
              <a:rPr lang="en-US" sz="1700" dirty="0">
                <a:solidFill>
                  <a:srgbClr val="000000"/>
                </a:solidFill>
              </a:rPr>
              <a:t> </a:t>
            </a:r>
            <a:pPr indent="0" marL="0">
              <a:lnSpc>
                <a:spcPct val="115000"/>
              </a:lnSpc>
              <a:buNone/>
            </a:pPr>
            <a:r>
              <a:rPr lang="en-US" sz="1700" dirty="0">
                <a:solidFill>
                  <a:srgbClr val="1E2B2A"/>
                </a:solidFill>
              </a:rPr>
              <a:t>Researchers compared the dieting behavior of women following two very different diet plans.</a:t>
            </a:r>
            <a:pPr indent="0" marL="0">
              <a:lnSpc>
                <a:spcPct val="115000"/>
              </a:lnSpc>
              <a:buNone/>
            </a:pPr>
            <a:r>
              <a:rPr lang="en-US" sz="1700" dirty="0">
                <a:solidFill>
                  <a:srgbClr val="000000"/>
                </a:solidFill>
              </a:rPr>
              <a:t> </a:t>
            </a:r>
            <a:pPr indent="0" marL="0">
              <a:lnSpc>
                <a:spcPct val="115000"/>
              </a:lnSpc>
              <a:buNone/>
            </a:pPr>
            <a:r>
              <a:rPr lang="en-US" sz="1700" dirty="0">
                <a:solidFill>
                  <a:srgbClr val="1E2B2A"/>
                </a:solidFill>
              </a:rPr>
              <a:t>They found that the more complicated people thought their diet plan was, the sooner they were likely to drop it.</a:t>
            </a:r>
            <a:pPr indent="0" marL="0">
              <a:lnSpc>
                <a:spcPct val="115000"/>
              </a:lnSpc>
              <a:buNone/>
            </a:pPr>
            <a:r>
              <a:rPr lang="en-US" sz="1700" dirty="0">
                <a:solidFill>
                  <a:srgbClr val="000000"/>
                </a:solidFill>
              </a:rPr>
              <a:t> </a:t>
            </a:r>
            <a:pPr indent="0" marL="0">
              <a:lnSpc>
                <a:spcPct val="115000"/>
              </a:lnSpc>
              <a:buNone/>
            </a:pPr>
            <a:r>
              <a:rPr lang="en-US" sz="1700" dirty="0">
                <a:solidFill>
                  <a:srgbClr val="1E2B2A"/>
                </a:solidFill>
              </a:rPr>
              <a:t>In other words, for people who go on a more complex diet that involves keeping track of quantities and items eaten, their subjective impression of the difficulty of the diet can lead them to give up on it.</a:t>
            </a:r>
            <a:endParaRPr lang="en-US" sz="1700" dirty="0"/>
          </a:p>
          <a:p>
            <a:pPr indent="0" marL="0">
              <a:lnSpc>
                <a:spcPct val="115000"/>
              </a:lnSpc>
              <a:spcBef>
                <a:spcPts val="800"/>
              </a:spcBef>
              <a:buNone/>
            </a:pPr>
            <a:r>
              <a:rPr lang="en-US" sz="1700" b="1" dirty="0">
                <a:solidFill>
                  <a:srgbClr val="1F7A64"/>
                </a:solidFill>
              </a:rPr>
              <a:t>↓  </a:t>
            </a:r>
            <a:pPr indent="0" marL="0">
              <a:lnSpc>
                <a:spcPct val="115000"/>
              </a:lnSpc>
              <a:buNone/>
            </a:pPr>
            <a:r>
              <a:rPr lang="en-US" sz="1700" dirty="0">
                <a:solidFill>
                  <a:srgbClr val="14453D"/>
                </a:solidFill>
              </a:rPr>
              <a:t>To succeed in diet, </a:t>
            </a:r>
            <a:pPr indent="0" marL="0">
              <a:lnSpc>
                <a:spcPct val="115000"/>
              </a:lnSpc>
              <a:buNone/>
            </a:pPr>
            <a:r>
              <a:rPr lang="en-US" sz="1700" b="1" dirty="0">
                <a:solidFill>
                  <a:srgbClr val="EF5B3F"/>
                </a:solidFill>
              </a:rPr>
              <a:t>(A)</a:t>
            </a:r>
            <a:pPr indent="0" marL="0">
              <a:lnSpc>
                <a:spcPct val="115000"/>
              </a:lnSpc>
              <a:buNone/>
            </a:pPr>
            <a:r>
              <a:rPr lang="en-US" sz="1700" dirty="0">
                <a:solidFill>
                  <a:srgbClr val="14453D"/>
                </a:solidFill>
              </a:rPr>
              <a:t> of process for carrying it out is more important than </a:t>
            </a:r>
            <a:pPr indent="0" marL="0">
              <a:lnSpc>
                <a:spcPct val="115000"/>
              </a:lnSpc>
              <a:buNone/>
            </a:pPr>
            <a:r>
              <a:rPr lang="en-US" sz="1700" b="1" dirty="0">
                <a:solidFill>
                  <a:srgbClr val="EF5B3F"/>
                </a:solidFill>
              </a:rPr>
              <a:t>(B)</a:t>
            </a:r>
            <a:pPr indent="0" marL="0">
              <a:lnSpc>
                <a:spcPct val="115000"/>
              </a:lnSpc>
              <a:buNone/>
            </a:pPr>
            <a:r>
              <a:rPr lang="en-US" sz="1700" dirty="0">
                <a:solidFill>
                  <a:srgbClr val="14453D"/>
                </a:solidFill>
              </a:rPr>
              <a:t>.</a:t>
            </a:r>
            <a:endParaRPr lang="en-US" sz="1700" dirty="0"/>
          </a:p>
          <a:p>
            <a:pPr indent="0" marL="0">
              <a:lnSpc>
                <a:spcPct val="115000"/>
              </a:lnSpc>
              <a:spcBef>
                <a:spcPts val="1000"/>
              </a:spcBef>
              <a:buNone/>
            </a:pPr>
            <a:r>
              <a:rPr lang="en-US" sz="1700" dirty="0">
                <a:solidFill>
                  <a:srgbClr val="14453D"/>
                </a:solidFill>
              </a:rPr>
              <a:t>①  simplicity ----- necessity</a:t>
            </a:r>
            <a:endParaRPr lang="en-US" sz="1700" dirty="0"/>
          </a:p>
          <a:p>
            <a:pPr indent="0" marL="0">
              <a:lnSpc>
                <a:spcPct val="115000"/>
              </a:lnSpc>
              <a:spcBef>
                <a:spcPts val="200"/>
              </a:spcBef>
              <a:buNone/>
            </a:pPr>
            <a:r>
              <a:rPr lang="en-US" sz="1700" dirty="0">
                <a:solidFill>
                  <a:srgbClr val="14453D"/>
                </a:solidFill>
              </a:rPr>
              <a:t>②  simplicity ----- willpower</a:t>
            </a:r>
            <a:endParaRPr lang="en-US" sz="1700" dirty="0"/>
          </a:p>
          <a:p>
            <a:pPr indent="0" marL="0">
              <a:lnSpc>
                <a:spcPct val="115000"/>
              </a:lnSpc>
              <a:spcBef>
                <a:spcPts val="200"/>
              </a:spcBef>
              <a:buNone/>
            </a:pPr>
            <a:r>
              <a:rPr lang="en-US" sz="1700" dirty="0">
                <a:solidFill>
                  <a:srgbClr val="14453D"/>
                </a:solidFill>
              </a:rPr>
              <a:t>③  popularity ----- necessity</a:t>
            </a:r>
            <a:endParaRPr lang="en-US" sz="1700" dirty="0"/>
          </a:p>
          <a:p>
            <a:pPr indent="0" marL="0">
              <a:lnSpc>
                <a:spcPct val="115000"/>
              </a:lnSpc>
              <a:spcBef>
                <a:spcPts val="200"/>
              </a:spcBef>
              <a:buNone/>
            </a:pPr>
            <a:r>
              <a:rPr lang="en-US" sz="1700" dirty="0">
                <a:solidFill>
                  <a:srgbClr val="14453D"/>
                </a:solidFill>
              </a:rPr>
              <a:t>④  consistency ----- willpower</a:t>
            </a:r>
            <a:endParaRPr lang="en-US" sz="1700" dirty="0"/>
          </a:p>
          <a:p>
            <a:pPr indent="0" marL="0">
              <a:lnSpc>
                <a:spcPct val="115000"/>
              </a:lnSpc>
              <a:spcBef>
                <a:spcPts val="200"/>
              </a:spcBef>
              <a:buNone/>
            </a:pPr>
            <a:r>
              <a:rPr lang="en-US" sz="1700" dirty="0">
                <a:solidFill>
                  <a:srgbClr val="14453D"/>
                </a:solidFill>
              </a:rPr>
              <a:t>⑤  consistency ----- expense</a:t>
            </a:r>
            <a:endParaRPr lang="en-US" sz="17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99  </a:t>
            </a:r>
            <a:pPr algn="l" indent="0" marL="0">
              <a:buNone/>
            </a:pPr>
            <a:r>
              <a:rPr lang="en-US" sz="3000" b="1" dirty="0">
                <a:solidFill>
                  <a:srgbClr val="14453D"/>
                </a:solidFill>
              </a:rPr>
              <a:t>정답 근거 &amp; 문법 포인트</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근거</a:t>
            </a:r>
            <a:endParaRPr lang="en-US" sz="1200" dirty="0"/>
          </a:p>
        </p:txBody>
      </p:sp>
      <p:sp>
        <p:nvSpPr>
          <p:cNvPr id="4" name="Shape 2"/>
          <p:cNvSpPr/>
          <p:nvPr/>
        </p:nvSpPr>
        <p:spPr>
          <a:xfrm>
            <a:off x="548640" y="1234440"/>
            <a:ext cx="11064240" cy="2907792"/>
          </a:xfrm>
          <a:prstGeom prst="roundRect">
            <a:avLst>
              <a:gd name="adj" fmla="val 3145"/>
            </a:avLst>
          </a:prstGeom>
          <a:solidFill>
            <a:srgbClr val="FFFFFF"/>
          </a:solidFill>
          <a:ln w="19050">
            <a:solidFill>
              <a:srgbClr val="E6F2ED"/>
            </a:solidFill>
            <a:prstDash val="solid"/>
          </a:ln>
        </p:spPr>
      </p:sp>
      <p:sp>
        <p:nvSpPr>
          <p:cNvPr id="5" name="Text 3"/>
          <p:cNvSpPr txBox="1"/>
          <p:nvPr/>
        </p:nvSpPr>
        <p:spPr>
          <a:xfrm>
            <a:off x="777240" y="1371600"/>
            <a:ext cx="10607040" cy="2679192"/>
          </a:xfrm>
          <a:prstGeom prst="rect">
            <a:avLst/>
          </a:prstGeom>
          <a:noFill/>
          <a:ln/>
        </p:spPr>
        <p:txBody>
          <a:bodyPr wrap="square" lIns="0" tIns="0" rIns="0" bIns="0" rtlCol="0" anchor="t">
            <a:normAutofit/>
          </a:bodyPr>
          <a:lstStyle/>
          <a:p>
            <a:pPr indent="0" marL="0">
              <a:lnSpc>
                <a:spcPct val="120000"/>
              </a:lnSpc>
              <a:buNone/>
            </a:pPr>
            <a:r>
              <a:rPr lang="en-US" sz="1400" b="1" dirty="0">
                <a:solidFill>
                  <a:srgbClr val="1F7A64"/>
                </a:solidFill>
              </a:rPr>
              <a:t>(1) </a:t>
            </a:r>
            <a:pPr indent="0" marL="0">
              <a:lnSpc>
                <a:spcPct val="120000"/>
              </a:lnSpc>
              <a:buNone/>
            </a:pPr>
            <a:r>
              <a:rPr lang="en-US" sz="1700" dirty="0">
                <a:solidFill>
                  <a:srgbClr val="1E2B2A"/>
                </a:solidFill>
              </a:rPr>
              <a:t>Many people think the success of dieting </a:t>
            </a:r>
            <a:pPr indent="0" marL="0">
              <a:lnSpc>
                <a:spcPct val="120000"/>
              </a:lnSpc>
              <a:buNone/>
            </a:pPr>
            <a:r>
              <a:rPr lang="en-US" sz="1700" b="1" dirty="0">
                <a:solidFill>
                  <a:srgbClr val="14453D"/>
                </a:solidFill>
                <a:highlight>
                  <a:srgbClr val="A9DDF3"/>
                </a:highlight>
              </a:rPr>
              <a:t>depends mostly on </a:t>
            </a:r>
            <a:pPr indent="0" marL="0">
              <a:lnSpc>
                <a:spcPct val="120000"/>
              </a:lnSpc>
              <a:buNone/>
            </a:pPr>
            <a:r>
              <a:rPr lang="en-US" sz="1700" b="1" u="dotted" dirty="0">
                <a:solidFill>
                  <a:srgbClr val="14453D"/>
                </a:solidFill>
                <a:highlight>
                  <a:srgbClr val="A9DDF3"/>
                </a:highlight>
                <a:uFill>
                  <a:solidFill>
                    <a:srgbClr val="1F7A64"/>
                  </a:solidFill>
                </a:uFill>
              </a:rPr>
              <a:t>determination</a:t>
            </a:r>
            <a:pPr indent="0" marL="0">
              <a:lnSpc>
                <a:spcPct val="120000"/>
              </a:lnSpc>
              <a:buNone/>
            </a:pPr>
            <a:r>
              <a:rPr lang="en-US" sz="1700" b="1" dirty="0">
                <a:solidFill>
                  <a:srgbClr val="14453D"/>
                </a:solidFill>
                <a:highlight>
                  <a:srgbClr val="A9DDF3"/>
                </a:highlight>
              </a:rPr>
              <a:t>, </a:t>
            </a:r>
            <a:pPr indent="0" marL="0">
              <a:lnSpc>
                <a:spcPct val="120000"/>
              </a:lnSpc>
              <a:buNone/>
            </a:pPr>
            <a:r>
              <a:rPr lang="en-US" sz="1700" b="1" u="dotted" dirty="0">
                <a:solidFill>
                  <a:srgbClr val="14453D"/>
                </a:solidFill>
                <a:highlight>
                  <a:srgbClr val="A9DDF3"/>
                </a:highlight>
                <a:uFill>
                  <a:solidFill>
                    <a:srgbClr val="1F7A64"/>
                  </a:solidFill>
                </a:uFill>
              </a:rPr>
              <a:t>persistence</a:t>
            </a:r>
            <a:pPr indent="0" marL="0">
              <a:lnSpc>
                <a:spcPct val="120000"/>
              </a:lnSpc>
              <a:buNone/>
            </a:pPr>
            <a:r>
              <a:rPr lang="en-US" sz="1700" b="1" dirty="0">
                <a:solidFill>
                  <a:srgbClr val="14453D"/>
                </a:solidFill>
                <a:highlight>
                  <a:srgbClr val="A9DDF3"/>
                </a:highlight>
              </a:rPr>
              <a:t> and </a:t>
            </a:r>
            <a:pPr indent="0" marL="0">
              <a:lnSpc>
                <a:spcPct val="120000"/>
              </a:lnSpc>
              <a:buNone/>
            </a:pPr>
            <a:r>
              <a:rPr lang="en-US" sz="1700" b="1" u="dotted" dirty="0">
                <a:solidFill>
                  <a:srgbClr val="14453D"/>
                </a:solidFill>
                <a:highlight>
                  <a:srgbClr val="A9DDF3"/>
                </a:highlight>
                <a:uFill>
                  <a:solidFill>
                    <a:srgbClr val="1F7A64"/>
                  </a:solidFill>
                </a:uFill>
              </a:rPr>
              <a:t>self-discipline</a:t>
            </a:r>
            <a:pPr indent="0" marL="0">
              <a:lnSpc>
                <a:spcPct val="120000"/>
              </a:lnSpc>
              <a:buNone/>
            </a:pPr>
            <a:r>
              <a:rPr lang="en-US" sz="1700" dirty="0">
                <a:solidFill>
                  <a:srgbClr val="1E2B2A"/>
                </a:solidFill>
              </a:rPr>
              <a:t>.</a:t>
            </a:r>
            <a:pPr indent="0" marL="0">
              <a:lnSpc>
                <a:spcPct val="120000"/>
              </a:lnSpc>
              <a:buNone/>
            </a:pPr>
            <a:r>
              <a:rPr lang="en-US" sz="1700" dirty="0">
                <a:solidFill>
                  <a:srgbClr val="000000"/>
                </a:solidFill>
              </a:rPr>
              <a:t> </a:t>
            </a:r>
            <a:pPr indent="0" marL="0">
              <a:lnSpc>
                <a:spcPct val="120000"/>
              </a:lnSpc>
              <a:buNone/>
            </a:pPr>
            <a:r>
              <a:rPr lang="en-US" sz="1400" b="1" dirty="0">
                <a:solidFill>
                  <a:srgbClr val="1F7A64"/>
                </a:solidFill>
              </a:rPr>
              <a:t>(2) </a:t>
            </a:r>
            <a:pPr indent="0" marL="0">
              <a:lnSpc>
                <a:spcPct val="120000"/>
              </a:lnSpc>
              <a:buNone/>
            </a:pPr>
            <a:r>
              <a:rPr lang="en-US" sz="1700" dirty="0">
                <a:solidFill>
                  <a:srgbClr val="1E2B2A"/>
                </a:solidFill>
                <a:highlight>
                  <a:srgbClr val="FFD45C"/>
                </a:highlight>
              </a:rPr>
              <a:t>While this mental power matters, a new research has found that a much more </a:t>
            </a:r>
            <a:pPr indent="0" marL="0">
              <a:lnSpc>
                <a:spcPct val="120000"/>
              </a:lnSpc>
              <a:buNone/>
            </a:pPr>
            <a:r>
              <a:rPr lang="en-US" sz="1700" u="dotted" dirty="0">
                <a:solidFill>
                  <a:srgbClr val="1F7A64"/>
                </a:solidFill>
                <a:highlight>
                  <a:srgbClr val="FFD45C"/>
                </a:highlight>
                <a:uFill>
                  <a:solidFill>
                    <a:srgbClr val="1F7A64"/>
                  </a:solidFill>
                </a:uFill>
              </a:rPr>
              <a:t>subtle</a:t>
            </a:r>
            <a:pPr indent="0" marL="0">
              <a:lnSpc>
                <a:spcPct val="120000"/>
              </a:lnSpc>
              <a:buNone/>
            </a:pPr>
            <a:r>
              <a:rPr lang="en-US" sz="1700" dirty="0">
                <a:solidFill>
                  <a:srgbClr val="1E2B2A"/>
                </a:solidFill>
                <a:highlight>
                  <a:srgbClr val="FFD45C"/>
                </a:highlight>
              </a:rPr>
              <a:t> aspect of the diets themselves can also have a big influence on the pounds lost.</a:t>
            </a:r>
            <a:pPr indent="0" marL="0">
              <a:lnSpc>
                <a:spcPct val="120000"/>
              </a:lnSpc>
              <a:buNone/>
            </a:pPr>
            <a:r>
              <a:rPr lang="en-US" sz="1700" dirty="0">
                <a:solidFill>
                  <a:srgbClr val="000000"/>
                </a:solidFill>
              </a:rPr>
              <a:t> </a:t>
            </a:r>
            <a:pPr indent="0" marL="0">
              <a:lnSpc>
                <a:spcPct val="120000"/>
              </a:lnSpc>
              <a:buNone/>
            </a:pPr>
            <a:r>
              <a:rPr lang="en-US" sz="1400" b="1" dirty="0">
                <a:solidFill>
                  <a:srgbClr val="1F7A64"/>
                </a:solidFill>
              </a:rPr>
              <a:t>(3) </a:t>
            </a:r>
            <a:pPr indent="0" marL="0">
              <a:lnSpc>
                <a:spcPct val="120000"/>
              </a:lnSpc>
              <a:buNone/>
            </a:pPr>
            <a:r>
              <a:rPr lang="en-US" sz="1700" dirty="0">
                <a:solidFill>
                  <a:srgbClr val="1E2B2A"/>
                </a:solidFill>
              </a:rPr>
              <a:t>Researchers compared the dieting behavior of women following two very different diet plans.</a:t>
            </a:r>
            <a:pPr indent="0" marL="0">
              <a:lnSpc>
                <a:spcPct val="120000"/>
              </a:lnSpc>
              <a:buNone/>
            </a:pPr>
            <a:r>
              <a:rPr lang="en-US" sz="1700" dirty="0">
                <a:solidFill>
                  <a:srgbClr val="000000"/>
                </a:solidFill>
              </a:rPr>
              <a:t> </a:t>
            </a:r>
            <a:pPr indent="0" marL="0">
              <a:lnSpc>
                <a:spcPct val="120000"/>
              </a:lnSpc>
              <a:buNone/>
            </a:pPr>
            <a:r>
              <a:rPr lang="en-US" sz="1400" b="1" dirty="0">
                <a:solidFill>
                  <a:srgbClr val="1F7A64"/>
                </a:solidFill>
              </a:rPr>
              <a:t>(4) </a:t>
            </a:r>
            <a:pPr indent="0" marL="0">
              <a:lnSpc>
                <a:spcPct val="120000"/>
              </a:lnSpc>
              <a:buNone/>
            </a:pPr>
            <a:r>
              <a:rPr lang="en-US" sz="1700" dirty="0">
                <a:solidFill>
                  <a:srgbClr val="1E2B2A"/>
                </a:solidFill>
                <a:highlight>
                  <a:srgbClr val="FFD45C"/>
                </a:highlight>
              </a:rPr>
              <a:t>They found that </a:t>
            </a:r>
            <a:pPr indent="0" marL="0">
              <a:lnSpc>
                <a:spcPct val="120000"/>
              </a:lnSpc>
              <a:buNone/>
            </a:pPr>
            <a:r>
              <a:rPr lang="en-US" sz="1700" b="1" dirty="0">
                <a:solidFill>
                  <a:srgbClr val="14453D"/>
                </a:solidFill>
                <a:highlight>
                  <a:srgbClr val="A9DDF3"/>
                </a:highlight>
              </a:rPr>
              <a:t>the more </a:t>
            </a:r>
            <a:pPr indent="0" marL="0">
              <a:lnSpc>
                <a:spcPct val="120000"/>
              </a:lnSpc>
              <a:buNone/>
            </a:pPr>
            <a:r>
              <a:rPr lang="en-US" sz="1700" b="1" u="dotted" dirty="0">
                <a:solidFill>
                  <a:srgbClr val="14453D"/>
                </a:solidFill>
                <a:highlight>
                  <a:srgbClr val="A9DDF3"/>
                </a:highlight>
                <a:uFill>
                  <a:solidFill>
                    <a:srgbClr val="1F7A64"/>
                  </a:solidFill>
                </a:uFill>
              </a:rPr>
              <a:t>complicated</a:t>
            </a:r>
            <a:pPr indent="0" marL="0">
              <a:lnSpc>
                <a:spcPct val="120000"/>
              </a:lnSpc>
              <a:buNone/>
            </a:pPr>
            <a:r>
              <a:rPr lang="en-US" sz="1700" b="1" dirty="0">
                <a:solidFill>
                  <a:srgbClr val="14453D"/>
                </a:solidFill>
                <a:highlight>
                  <a:srgbClr val="A9DDF3"/>
                </a:highlight>
              </a:rPr>
              <a:t> people thought their diet plan was, the sooner they were likely to drop it</a:t>
            </a:r>
            <a:pPr indent="0" marL="0">
              <a:lnSpc>
                <a:spcPct val="120000"/>
              </a:lnSpc>
              <a:buNone/>
            </a:pPr>
            <a:r>
              <a:rPr lang="en-US" sz="1700" dirty="0">
                <a:solidFill>
                  <a:srgbClr val="1E2B2A"/>
                </a:solidFill>
                <a:highlight>
                  <a:srgbClr val="FFD45C"/>
                </a:highlight>
              </a:rPr>
              <a:t>.</a:t>
            </a:r>
            <a:pPr indent="0" marL="0">
              <a:lnSpc>
                <a:spcPct val="120000"/>
              </a:lnSpc>
              <a:buNone/>
            </a:pPr>
            <a:r>
              <a:rPr lang="en-US" sz="1700" dirty="0">
                <a:solidFill>
                  <a:srgbClr val="000000"/>
                </a:solidFill>
              </a:rPr>
              <a:t> </a:t>
            </a:r>
            <a:pPr indent="0" marL="0">
              <a:lnSpc>
                <a:spcPct val="120000"/>
              </a:lnSpc>
              <a:buNone/>
            </a:pPr>
            <a:r>
              <a:rPr lang="en-US" sz="1400" b="1" dirty="0">
                <a:solidFill>
                  <a:srgbClr val="1F7A64"/>
                </a:solidFill>
              </a:rPr>
              <a:t>(5) </a:t>
            </a:r>
            <a:pPr indent="0" marL="0">
              <a:lnSpc>
                <a:spcPct val="120000"/>
              </a:lnSpc>
              <a:buNone/>
            </a:pPr>
            <a:r>
              <a:rPr lang="en-US" sz="1700" dirty="0">
                <a:solidFill>
                  <a:srgbClr val="1E2B2A"/>
                </a:solidFill>
                <a:highlight>
                  <a:srgbClr val="FFD45C"/>
                </a:highlight>
              </a:rPr>
              <a:t>In other words, for people who go on </a:t>
            </a:r>
            <a:pPr indent="0" marL="0">
              <a:lnSpc>
                <a:spcPct val="120000"/>
              </a:lnSpc>
              <a:buNone/>
            </a:pPr>
            <a:r>
              <a:rPr lang="en-US" sz="1700" b="1" dirty="0">
                <a:solidFill>
                  <a:srgbClr val="14453D"/>
                </a:solidFill>
                <a:highlight>
                  <a:srgbClr val="A9DDF3"/>
                </a:highlight>
              </a:rPr>
              <a:t>a more complex diet that involves </a:t>
            </a:r>
            <a:pPr indent="0" marL="0">
              <a:lnSpc>
                <a:spcPct val="120000"/>
              </a:lnSpc>
              <a:buNone/>
            </a:pPr>
            <a:r>
              <a:rPr lang="en-US" sz="1700" b="1" u="dotted" dirty="0">
                <a:solidFill>
                  <a:srgbClr val="14453D"/>
                </a:solidFill>
                <a:highlight>
                  <a:srgbClr val="A9DDF3"/>
                </a:highlight>
                <a:uFill>
                  <a:solidFill>
                    <a:srgbClr val="1F7A64"/>
                  </a:solidFill>
                </a:uFill>
              </a:rPr>
              <a:t>keeping track of</a:t>
            </a:r>
            <a:pPr indent="0" marL="0">
              <a:lnSpc>
                <a:spcPct val="120000"/>
              </a:lnSpc>
              <a:buNone/>
            </a:pPr>
            <a:r>
              <a:rPr lang="en-US" sz="1700" dirty="0">
                <a:solidFill>
                  <a:srgbClr val="1E2B2A"/>
                </a:solidFill>
                <a:highlight>
                  <a:srgbClr val="FFD45C"/>
                </a:highlight>
              </a:rPr>
              <a:t> quantities and items eaten, their </a:t>
            </a:r>
            <a:pPr indent="0" marL="0">
              <a:lnSpc>
                <a:spcPct val="120000"/>
              </a:lnSpc>
              <a:buNone/>
            </a:pPr>
            <a:r>
              <a:rPr lang="en-US" sz="1700" u="dotted" dirty="0">
                <a:solidFill>
                  <a:srgbClr val="1F7A64"/>
                </a:solidFill>
                <a:highlight>
                  <a:srgbClr val="FFD45C"/>
                </a:highlight>
                <a:uFill>
                  <a:solidFill>
                    <a:srgbClr val="1F7A64"/>
                  </a:solidFill>
                </a:uFill>
              </a:rPr>
              <a:t>subjective</a:t>
            </a:r>
            <a:pPr indent="0" marL="0">
              <a:lnSpc>
                <a:spcPct val="120000"/>
              </a:lnSpc>
              <a:buNone/>
            </a:pPr>
            <a:r>
              <a:rPr lang="en-US" sz="1700" dirty="0">
                <a:solidFill>
                  <a:srgbClr val="1E2B2A"/>
                </a:solidFill>
                <a:highlight>
                  <a:srgbClr val="FFD45C"/>
                </a:highlight>
              </a:rPr>
              <a:t> impression of the difficulty of the diet </a:t>
            </a:r>
            <a:pPr indent="0" marL="0">
              <a:lnSpc>
                <a:spcPct val="120000"/>
              </a:lnSpc>
              <a:buNone/>
            </a:pPr>
            <a:r>
              <a:rPr lang="en-US" sz="1700" b="1" dirty="0">
                <a:solidFill>
                  <a:srgbClr val="14453D"/>
                </a:solidFill>
                <a:highlight>
                  <a:srgbClr val="A9DDF3"/>
                </a:highlight>
              </a:rPr>
              <a:t>can lead them to give up on it</a:t>
            </a:r>
            <a:pPr indent="0" marL="0">
              <a:lnSpc>
                <a:spcPct val="120000"/>
              </a:lnSpc>
              <a:buNone/>
            </a:pPr>
            <a:r>
              <a:rPr lang="en-US" sz="1700" dirty="0">
                <a:solidFill>
                  <a:srgbClr val="1E2B2A"/>
                </a:solidFill>
                <a:highlight>
                  <a:srgbClr val="FFD45C"/>
                </a:highlight>
              </a:rPr>
              <a:t>.</a:t>
            </a:r>
            <a:endParaRPr lang="en-US" sz="1400" dirty="0"/>
          </a:p>
        </p:txBody>
      </p:sp>
      <p:sp>
        <p:nvSpPr>
          <p:cNvPr id="6" name="Shape 4"/>
          <p:cNvSpPr/>
          <p:nvPr/>
        </p:nvSpPr>
        <p:spPr>
          <a:xfrm>
            <a:off x="548640" y="4233672"/>
            <a:ext cx="11064240" cy="978408"/>
          </a:xfrm>
          <a:prstGeom prst="roundRect">
            <a:avLst>
              <a:gd name="adj" fmla="val 9346"/>
            </a:avLst>
          </a:prstGeom>
          <a:solidFill>
            <a:srgbClr val="FFF6D6"/>
          </a:solidFill>
          <a:ln w="15875">
            <a:solidFill>
              <a:srgbClr val="FFD45C"/>
            </a:solidFill>
            <a:prstDash val="solid"/>
          </a:ln>
        </p:spPr>
      </p:sp>
      <p:sp>
        <p:nvSpPr>
          <p:cNvPr id="7" name="Text 5"/>
          <p:cNvSpPr txBox="1"/>
          <p:nvPr/>
        </p:nvSpPr>
        <p:spPr>
          <a:xfrm>
            <a:off x="731520" y="4306824"/>
            <a:ext cx="1051560" cy="274320"/>
          </a:xfrm>
          <a:prstGeom prst="rect">
            <a:avLst/>
          </a:prstGeom>
          <a:solidFill>
            <a:srgbClr val="EF5B3F"/>
          </a:solidFill>
          <a:ln/>
        </p:spPr>
        <p:txBody>
          <a:bodyPr wrap="square" lIns="0" tIns="0" rIns="0" bIns="0" rtlCol="0" anchor="ctr"/>
          <a:lstStyle/>
          <a:p>
            <a:pPr algn="ctr" indent="0" marL="0">
              <a:buNone/>
            </a:pPr>
            <a:r>
              <a:rPr lang="en-US" sz="1200" b="1" dirty="0">
                <a:solidFill>
                  <a:srgbClr val="FFFFFF"/>
                </a:solidFill>
              </a:rPr>
              <a:t> 근거 이유 </a:t>
            </a:r>
            <a:endParaRPr lang="en-US" sz="1200" dirty="0"/>
          </a:p>
        </p:txBody>
      </p:sp>
      <p:sp>
        <p:nvSpPr>
          <p:cNvPr id="8" name="Text 6"/>
          <p:cNvSpPr txBox="1"/>
          <p:nvPr/>
        </p:nvSpPr>
        <p:spPr>
          <a:xfrm>
            <a:off x="1920240" y="4279392"/>
            <a:ext cx="9555480" cy="886968"/>
          </a:xfrm>
          <a:prstGeom prst="rect">
            <a:avLst/>
          </a:prstGeom>
          <a:noFill/>
          <a:ln/>
        </p:spPr>
        <p:txBody>
          <a:bodyPr wrap="square" lIns="0" tIns="0" rIns="0" bIns="0" rtlCol="0" anchor="ctr">
            <a:normAutofit/>
          </a:bodyPr>
          <a:lstStyle/>
          <a:p>
            <a:pPr indent="0" marL="0">
              <a:lnSpc>
                <a:spcPct val="105000"/>
              </a:lnSpc>
              <a:buNone/>
            </a:pPr>
            <a:r>
              <a:rPr lang="en-US" sz="1400" b="1" dirty="0">
                <a:solidFill>
                  <a:srgbClr val="EF5B3F"/>
                </a:solidFill>
              </a:rPr>
              <a:t>(2) </a:t>
            </a:r>
            <a:pPr indent="0" marL="0">
              <a:lnSpc>
                <a:spcPct val="105000"/>
              </a:lnSpc>
              <a:buNone/>
            </a:pPr>
            <a:r>
              <a:rPr lang="en-US" sz="1400" dirty="0">
                <a:solidFill>
                  <a:srgbClr val="14453D"/>
                </a:solidFill>
              </a:rPr>
              <a:t>While: 정신력(=willpower)보다 다이어트 자체의 측면도 중요 → (B) willpower</a:t>
            </a:r>
            <a:endParaRPr lang="en-US" sz="1400" dirty="0"/>
          </a:p>
          <a:p>
            <a:pPr indent="0" marL="0">
              <a:lnSpc>
                <a:spcPct val="105000"/>
              </a:lnSpc>
              <a:buNone/>
            </a:pPr>
            <a:r>
              <a:rPr lang="en-US" sz="1400" b="1" dirty="0">
                <a:solidFill>
                  <a:srgbClr val="EF5B3F"/>
                </a:solidFill>
              </a:rPr>
              <a:t>(4) </a:t>
            </a:r>
            <a:pPr indent="0" marL="0">
              <a:lnSpc>
                <a:spcPct val="105000"/>
              </a:lnSpc>
              <a:buNone/>
            </a:pPr>
            <a:r>
              <a:rPr lang="en-US" sz="1400" dirty="0">
                <a:solidFill>
                  <a:srgbClr val="14453D"/>
                </a:solidFill>
              </a:rPr>
              <a:t>복잡하다고 생각할수록 빨리 포기 → (A) simplicity</a:t>
            </a:r>
            <a:endParaRPr lang="en-US" sz="1400" dirty="0"/>
          </a:p>
          <a:p>
            <a:pPr indent="0" marL="0">
              <a:lnSpc>
                <a:spcPct val="105000"/>
              </a:lnSpc>
              <a:buNone/>
            </a:pPr>
            <a:r>
              <a:rPr lang="en-US" sz="1400" b="1" dirty="0">
                <a:solidFill>
                  <a:srgbClr val="EF5B3F"/>
                </a:solidFill>
              </a:rPr>
              <a:t>(5) </a:t>
            </a:r>
            <a:pPr indent="0" marL="0">
              <a:lnSpc>
                <a:spcPct val="105000"/>
              </a:lnSpc>
              <a:buNone/>
            </a:pPr>
            <a:r>
              <a:rPr lang="en-US" sz="1400" dirty="0">
                <a:solidFill>
                  <a:srgbClr val="14453D"/>
                </a:solidFill>
              </a:rPr>
              <a:t>복잡하다는 주관적 인상이 포기를 부름 → 단순함이 핵심</a:t>
            </a:r>
            <a:endParaRPr lang="en-US" sz="1400" dirty="0"/>
          </a:p>
        </p:txBody>
      </p:sp>
      <p:sp>
        <p:nvSpPr>
          <p:cNvPr id="9" name="Shape 7"/>
          <p:cNvSpPr/>
          <p:nvPr/>
        </p:nvSpPr>
        <p:spPr>
          <a:xfrm>
            <a:off x="548640" y="5303520"/>
            <a:ext cx="11064240" cy="731520"/>
          </a:xfrm>
          <a:prstGeom prst="roundRect">
            <a:avLst>
              <a:gd name="adj" fmla="val 12500"/>
            </a:avLst>
          </a:prstGeom>
          <a:solidFill>
            <a:srgbClr val="EAF5EF"/>
          </a:solidFill>
          <a:ln w="12700">
            <a:solidFill>
              <a:srgbClr val="CFE6D9"/>
            </a:solidFill>
            <a:prstDash val="solid"/>
          </a:ln>
        </p:spPr>
      </p:sp>
      <p:sp>
        <p:nvSpPr>
          <p:cNvPr id="10" name="Text 8"/>
          <p:cNvSpPr txBox="1"/>
          <p:nvPr/>
        </p:nvSpPr>
        <p:spPr>
          <a:xfrm>
            <a:off x="731520" y="5349240"/>
            <a:ext cx="10698480" cy="640080"/>
          </a:xfrm>
          <a:prstGeom prst="rect">
            <a:avLst/>
          </a:prstGeom>
          <a:noFill/>
          <a:ln/>
        </p:spPr>
        <p:txBody>
          <a:bodyPr wrap="square" lIns="0" tIns="0" rIns="0" bIns="0" rtlCol="0" anchor="ctr">
            <a:normAutofit/>
          </a:bodyPr>
          <a:lstStyle/>
          <a:p>
            <a:pPr indent="0" marL="0">
              <a:lnSpc>
                <a:spcPct val="110000"/>
              </a:lnSpc>
              <a:buNone/>
            </a:pPr>
            <a:r>
              <a:rPr lang="en-US" sz="1400" b="1" dirty="0">
                <a:solidFill>
                  <a:srgbClr val="FFFFFF"/>
                </a:solidFill>
                <a:highlight>
                  <a:srgbClr val="1F7A64"/>
                </a:highlight>
              </a:rPr>
              <a:t> 어휘 </a:t>
            </a:r>
            <a:pPr indent="0" marL="0">
              <a:lnSpc>
                <a:spcPct val="110000"/>
              </a:lnSpc>
              <a:buNone/>
            </a:pPr>
            <a:r>
              <a:rPr lang="en-US" sz="1400" dirty="0">
                <a:solidFill>
                  <a:srgbClr val="000000"/>
                </a:solidFill>
              </a:rPr>
              <a:t>   </a:t>
            </a:r>
            <a:pPr indent="0" marL="0">
              <a:lnSpc>
                <a:spcPct val="110000"/>
              </a:lnSpc>
              <a:buNone/>
            </a:pPr>
            <a:r>
              <a:rPr lang="en-US" sz="1400" b="1" dirty="0">
                <a:solidFill>
                  <a:srgbClr val="1F7A64"/>
                </a:solidFill>
              </a:rPr>
              <a:t>determination </a:t>
            </a:r>
            <a:pPr indent="0" marL="0">
              <a:lnSpc>
                <a:spcPct val="110000"/>
              </a:lnSpc>
              <a:buNone/>
            </a:pPr>
            <a:r>
              <a:rPr lang="en-US" sz="1400" dirty="0">
                <a:solidFill>
                  <a:srgbClr val="1E2B2A"/>
                </a:solidFill>
              </a:rPr>
              <a:t>결단력   ·   </a:t>
            </a:r>
            <a:pPr indent="0" marL="0">
              <a:lnSpc>
                <a:spcPct val="110000"/>
              </a:lnSpc>
              <a:buNone/>
            </a:pPr>
            <a:r>
              <a:rPr lang="en-US" sz="1400" b="1" dirty="0">
                <a:solidFill>
                  <a:srgbClr val="1F7A64"/>
                </a:solidFill>
              </a:rPr>
              <a:t>persistence </a:t>
            </a:r>
            <a:pPr indent="0" marL="0">
              <a:lnSpc>
                <a:spcPct val="110000"/>
              </a:lnSpc>
              <a:buNone/>
            </a:pPr>
            <a:r>
              <a:rPr lang="en-US" sz="1400" dirty="0">
                <a:solidFill>
                  <a:srgbClr val="1E2B2A"/>
                </a:solidFill>
              </a:rPr>
              <a:t>끈기   ·   </a:t>
            </a:r>
            <a:pPr indent="0" marL="0">
              <a:lnSpc>
                <a:spcPct val="110000"/>
              </a:lnSpc>
              <a:buNone/>
            </a:pPr>
            <a:r>
              <a:rPr lang="en-US" sz="1400" b="1" dirty="0">
                <a:solidFill>
                  <a:srgbClr val="1F7A64"/>
                </a:solidFill>
              </a:rPr>
              <a:t>self-discipline </a:t>
            </a:r>
            <a:pPr indent="0" marL="0">
              <a:lnSpc>
                <a:spcPct val="110000"/>
              </a:lnSpc>
              <a:buNone/>
            </a:pPr>
            <a:r>
              <a:rPr lang="en-US" sz="1400" dirty="0">
                <a:solidFill>
                  <a:srgbClr val="1E2B2A"/>
                </a:solidFill>
              </a:rPr>
              <a:t>자기 절제   ·   </a:t>
            </a:r>
            <a:pPr indent="0" marL="0">
              <a:lnSpc>
                <a:spcPct val="110000"/>
              </a:lnSpc>
              <a:buNone/>
            </a:pPr>
            <a:r>
              <a:rPr lang="en-US" sz="1400" b="1" dirty="0">
                <a:solidFill>
                  <a:srgbClr val="1F7A64"/>
                </a:solidFill>
              </a:rPr>
              <a:t>subtle </a:t>
            </a:r>
            <a:pPr indent="0" marL="0">
              <a:lnSpc>
                <a:spcPct val="110000"/>
              </a:lnSpc>
              <a:buNone/>
            </a:pPr>
            <a:r>
              <a:rPr lang="en-US" sz="1400" dirty="0">
                <a:solidFill>
                  <a:srgbClr val="1E2B2A"/>
                </a:solidFill>
              </a:rPr>
              <a:t>미묘한   ·   </a:t>
            </a:r>
            <a:pPr indent="0" marL="0">
              <a:lnSpc>
                <a:spcPct val="110000"/>
              </a:lnSpc>
              <a:buNone/>
            </a:pPr>
            <a:r>
              <a:rPr lang="en-US" sz="1400" b="1" dirty="0">
                <a:solidFill>
                  <a:srgbClr val="1F7A64"/>
                </a:solidFill>
              </a:rPr>
              <a:t>complicated </a:t>
            </a:r>
            <a:pPr indent="0" marL="0">
              <a:lnSpc>
                <a:spcPct val="110000"/>
              </a:lnSpc>
              <a:buNone/>
            </a:pPr>
            <a:r>
              <a:rPr lang="en-US" sz="1400" dirty="0">
                <a:solidFill>
                  <a:srgbClr val="1E2B2A"/>
                </a:solidFill>
              </a:rPr>
              <a:t>복잡한   ·   </a:t>
            </a:r>
            <a:pPr indent="0" marL="0">
              <a:lnSpc>
                <a:spcPct val="110000"/>
              </a:lnSpc>
              <a:buNone/>
            </a:pPr>
            <a:r>
              <a:rPr lang="en-US" sz="1400" b="1" dirty="0">
                <a:solidFill>
                  <a:srgbClr val="1F7A64"/>
                </a:solidFill>
              </a:rPr>
              <a:t>keeping track of </a:t>
            </a:r>
            <a:pPr indent="0" marL="0">
              <a:lnSpc>
                <a:spcPct val="110000"/>
              </a:lnSpc>
              <a:buNone/>
            </a:pPr>
            <a:r>
              <a:rPr lang="en-US" sz="1400" dirty="0">
                <a:solidFill>
                  <a:srgbClr val="1E2B2A"/>
                </a:solidFill>
              </a:rPr>
              <a:t>기록하기   ·   </a:t>
            </a:r>
            <a:pPr indent="0" marL="0">
              <a:lnSpc>
                <a:spcPct val="110000"/>
              </a:lnSpc>
              <a:buNone/>
            </a:pPr>
            <a:r>
              <a:rPr lang="en-US" sz="1400" b="1" dirty="0">
                <a:solidFill>
                  <a:srgbClr val="1F7A64"/>
                </a:solidFill>
              </a:rPr>
              <a:t>subjective </a:t>
            </a:r>
            <a:pPr indent="0" marL="0">
              <a:lnSpc>
                <a:spcPct val="110000"/>
              </a:lnSpc>
              <a:buNone/>
            </a:pPr>
            <a:r>
              <a:rPr lang="en-US" sz="1400" dirty="0">
                <a:solidFill>
                  <a:srgbClr val="1E2B2A"/>
                </a:solidFill>
              </a:rPr>
              <a:t>주관적인</a:t>
            </a:r>
            <a:endParaRPr lang="en-US" sz="1400" dirty="0"/>
          </a:p>
        </p:txBody>
      </p:sp>
      <p:sp>
        <p:nvSpPr>
          <p:cNvPr id="11" name="Text 9"/>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1100" dirty="0">
                <a:solidFill>
                  <a:srgbClr val="FFD45C"/>
                </a:solidFill>
              </a:rPr>
              <a:t>■ </a:t>
            </a:r>
            <a:pPr indent="0" marL="0">
              <a:buNone/>
            </a:pPr>
            <a:r>
              <a:rPr lang="en-US" sz="1100" dirty="0">
                <a:solidFill>
                  <a:srgbClr val="6E7F7C"/>
                </a:solidFill>
              </a:rPr>
              <a:t>형광 = 정답 근거 (이유는 노란 박스)     </a:t>
            </a:r>
            <a:pPr indent="0" marL="0">
              <a:buNone/>
            </a:pPr>
            <a:r>
              <a:rPr lang="en-US" sz="1100" dirty="0">
                <a:solidFill>
                  <a:srgbClr val="A9DDF3"/>
                </a:solidFill>
              </a:rPr>
              <a:t>■ </a:t>
            </a:r>
            <a:pPr indent="0" marL="0">
              <a:buNone/>
            </a:pPr>
            <a:r>
              <a:rPr lang="en-US" sz="1100" dirty="0">
                <a:solidFill>
                  <a:srgbClr val="6E7F7C"/>
                </a:solidFill>
              </a:rPr>
              <a:t>파란 형광 = 문법·내신 포인트     </a:t>
            </a:r>
            <a:pPr indent="0" marL="0">
              <a:buNone/>
            </a:pPr>
            <a:r>
              <a:rPr lang="en-US" sz="1100" b="1" dirty="0">
                <a:solidFill>
                  <a:srgbClr val="1F7A64"/>
                </a:solidFill>
              </a:rPr>
              <a:t>초록 점선 단어 </a:t>
            </a:r>
            <a:pPr indent="0" marL="0">
              <a:buNone/>
            </a:pPr>
            <a:r>
              <a:rPr lang="en-US" sz="1100" dirty="0">
                <a:solidFill>
                  <a:srgbClr val="6E7F7C"/>
                </a:solidFill>
              </a:rPr>
              <a:t>= 하단 어휘     </a:t>
            </a:r>
            <a:pPr indent="0" marL="0">
              <a:buNone/>
            </a:pPr>
            <a:r>
              <a:rPr lang="en-US" sz="1100" b="1" dirty="0">
                <a:solidFill>
                  <a:srgbClr val="1F7A64"/>
                </a:solidFill>
              </a:rPr>
              <a:t>(1) (2) (3) </a:t>
            </a:r>
            <a:pPr indent="0" marL="0">
              <a:buNone/>
            </a:pPr>
            <a:r>
              <a:rPr lang="en-US" sz="1100" dirty="0">
                <a:solidFill>
                  <a:srgbClr val="6E7F7C"/>
                </a:solidFill>
              </a:rPr>
              <a:t>= 문장 번호</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99  </a:t>
            </a:r>
            <a:pPr algn="l" indent="0" marL="0">
              <a:buNone/>
            </a:pPr>
            <a:r>
              <a:rPr lang="en-US" sz="3000" b="1" dirty="0">
                <a:solidFill>
                  <a:srgbClr val="14453D"/>
                </a:solidFill>
              </a:rPr>
              <a:t>다이어트 성공의 조건</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흐름 잡기</a:t>
            </a:r>
            <a:endParaRPr lang="en-US" sz="1200" dirty="0"/>
          </a:p>
        </p:txBody>
      </p:sp>
      <p:sp>
        <p:nvSpPr>
          <p:cNvPr id="4" name="Shape 2"/>
          <p:cNvSpPr/>
          <p:nvPr/>
        </p:nvSpPr>
        <p:spPr>
          <a:xfrm>
            <a:off x="548640" y="1325880"/>
            <a:ext cx="5212080" cy="2423160"/>
          </a:xfrm>
          <a:prstGeom prst="roundRect">
            <a:avLst>
              <a:gd name="adj" fmla="val 4528"/>
            </a:avLst>
          </a:prstGeom>
          <a:solidFill>
            <a:srgbClr val="E6F2ED"/>
          </a:solidFill>
          <a:ln w="12700">
            <a:solidFill>
              <a:srgbClr val="E6F2ED"/>
            </a:solidFill>
            <a:prstDash val="solid"/>
          </a:ln>
        </p:spPr>
      </p:sp>
      <p:sp>
        <p:nvSpPr>
          <p:cNvPr id="5" name="Text 3"/>
          <p:cNvSpPr txBox="1"/>
          <p:nvPr/>
        </p:nvSpPr>
        <p:spPr>
          <a:xfrm>
            <a:off x="822960" y="1463040"/>
            <a:ext cx="4663440" cy="320040"/>
          </a:xfrm>
          <a:prstGeom prst="rect">
            <a:avLst/>
          </a:prstGeom>
          <a:noFill/>
          <a:ln/>
        </p:spPr>
        <p:txBody>
          <a:bodyPr wrap="square" lIns="0" tIns="0" rIns="0" bIns="0" rtlCol="0" anchor="ctr"/>
          <a:lstStyle/>
          <a:p>
            <a:pPr indent="0" marL="0">
              <a:buNone/>
            </a:pPr>
            <a:r>
              <a:rPr lang="en-US" sz="1300" b="1" dirty="0">
                <a:solidFill>
                  <a:srgbClr val="1F7A64"/>
                </a:solidFill>
              </a:rPr>
              <a:t>STEP 1 · 요약문 먼저</a:t>
            </a:r>
            <a:endParaRPr lang="en-US" sz="1300" dirty="0"/>
          </a:p>
        </p:txBody>
      </p:sp>
      <p:sp>
        <p:nvSpPr>
          <p:cNvPr id="6" name="Text 4"/>
          <p:cNvSpPr txBox="1"/>
          <p:nvPr/>
        </p:nvSpPr>
        <p:spPr>
          <a:xfrm>
            <a:off x="822960" y="1828800"/>
            <a:ext cx="4663440" cy="777240"/>
          </a:xfrm>
          <a:prstGeom prst="rect">
            <a:avLst/>
          </a:prstGeom>
          <a:noFill/>
          <a:ln/>
        </p:spPr>
        <p:txBody>
          <a:bodyPr wrap="square" lIns="0" tIns="0" rIns="0" bIns="0" rtlCol="0" anchor="t">
            <a:normAutofit/>
          </a:bodyPr>
          <a:lstStyle/>
          <a:p>
            <a:pPr indent="0" marL="0">
              <a:buNone/>
            </a:pPr>
            <a:r>
              <a:rPr lang="en-US" sz="1600" b="1" i="1" dirty="0">
                <a:solidFill>
                  <a:srgbClr val="14453D"/>
                </a:solidFill>
              </a:rPr>
              <a:t>To succeed in diet, (A) of process for carrying it out is more important than (B).</a:t>
            </a:r>
            <a:endParaRPr lang="en-US" sz="1600" dirty="0"/>
          </a:p>
        </p:txBody>
      </p:sp>
      <p:sp>
        <p:nvSpPr>
          <p:cNvPr id="7" name="Text 5"/>
          <p:cNvSpPr txBox="1"/>
          <p:nvPr/>
        </p:nvSpPr>
        <p:spPr>
          <a:xfrm>
            <a:off x="822960" y="2606040"/>
            <a:ext cx="4663440" cy="502920"/>
          </a:xfrm>
          <a:prstGeom prst="rect">
            <a:avLst/>
          </a:prstGeom>
          <a:noFill/>
          <a:ln/>
        </p:spPr>
        <p:txBody>
          <a:bodyPr wrap="square" lIns="0" tIns="0" rIns="0" bIns="0" rtlCol="0" anchor="t">
            <a:normAutofit/>
          </a:bodyPr>
          <a:lstStyle/>
          <a:p>
            <a:pPr indent="0" marL="0">
              <a:buNone/>
            </a:pPr>
            <a:r>
              <a:rPr lang="en-US" sz="1400" dirty="0">
                <a:solidFill>
                  <a:srgbClr val="1E2B2A"/>
                </a:solidFill>
              </a:rPr>
              <a:t>다이어트에 성공하려면, 그것을 실행하는 과정의 (A)이 (B)보다 더 중요하다.</a:t>
            </a:r>
            <a:endParaRPr lang="en-US" sz="1400" dirty="0"/>
          </a:p>
        </p:txBody>
      </p:sp>
      <p:sp>
        <p:nvSpPr>
          <p:cNvPr id="8" name="Text 6"/>
          <p:cNvSpPr txBox="1"/>
          <p:nvPr/>
        </p:nvSpPr>
        <p:spPr>
          <a:xfrm>
            <a:off x="822960" y="3200400"/>
            <a:ext cx="4663440" cy="411480"/>
          </a:xfrm>
          <a:prstGeom prst="rect">
            <a:avLst/>
          </a:prstGeom>
          <a:noFill/>
          <a:ln/>
        </p:spPr>
        <p:txBody>
          <a:bodyPr wrap="square" lIns="0" tIns="0" rIns="0" bIns="0" rtlCol="0" anchor="ctr"/>
          <a:lstStyle/>
          <a:p>
            <a:pPr indent="0" marL="0">
              <a:buNone/>
            </a:pPr>
            <a:r>
              <a:rPr lang="en-US" sz="1500" b="1" dirty="0">
                <a:solidFill>
                  <a:srgbClr val="EF5B3F"/>
                </a:solidFill>
              </a:rPr>
              <a:t>찾을 것  </a:t>
            </a:r>
            <a:pPr indent="0" marL="0">
              <a:buNone/>
            </a:pPr>
            <a:r>
              <a:rPr lang="en-US" sz="1500" b="1" dirty="0">
                <a:solidFill>
                  <a:srgbClr val="14453D"/>
                </a:solidFill>
              </a:rPr>
              <a:t>(A) 과정의 무엇? / (B) 무엇보다 더 중요?</a:t>
            </a:r>
            <a:endParaRPr lang="en-US" sz="1500" dirty="0"/>
          </a:p>
        </p:txBody>
      </p:sp>
      <p:sp>
        <p:nvSpPr>
          <p:cNvPr id="9" name="Shape 7"/>
          <p:cNvSpPr/>
          <p:nvPr/>
        </p:nvSpPr>
        <p:spPr>
          <a:xfrm>
            <a:off x="548640" y="3931920"/>
            <a:ext cx="5212080" cy="2331720"/>
          </a:xfrm>
          <a:prstGeom prst="roundRect">
            <a:avLst>
              <a:gd name="adj" fmla="val 4706"/>
            </a:avLst>
          </a:prstGeom>
          <a:solidFill>
            <a:srgbClr val="FFFFFF"/>
          </a:solidFill>
          <a:ln w="19050">
            <a:solidFill>
              <a:srgbClr val="EF5B3F"/>
            </a:solidFill>
            <a:prstDash val="solid"/>
          </a:ln>
        </p:spPr>
      </p:sp>
      <p:pic>
        <p:nvPicPr>
          <p:cNvPr id="10" name="Image 0" descr="preencoded.png">    </p:cNvPr>
          <p:cNvPicPr>
            <a:picLocks noChangeAspect="1"/>
          </p:cNvPicPr>
          <p:nvPr/>
        </p:nvPicPr>
        <p:blipFill>
          <a:blip r:embed="rId1"/>
          <a:stretch>
            <a:fillRect/>
          </a:stretch>
        </p:blipFill>
        <p:spPr>
          <a:xfrm>
            <a:off x="822960" y="4096512"/>
            <a:ext cx="274320" cy="274320"/>
          </a:xfrm>
          <a:prstGeom prst="rect">
            <a:avLst/>
          </a:prstGeom>
        </p:spPr>
      </p:pic>
      <p:sp>
        <p:nvSpPr>
          <p:cNvPr id="11" name="Text 8"/>
          <p:cNvSpPr txBox="1"/>
          <p:nvPr/>
        </p:nvSpPr>
        <p:spPr>
          <a:xfrm>
            <a:off x="1188720" y="4069080"/>
            <a:ext cx="4114800" cy="320040"/>
          </a:xfrm>
          <a:prstGeom prst="rect">
            <a:avLst/>
          </a:prstGeom>
          <a:noFill/>
          <a:ln/>
        </p:spPr>
        <p:txBody>
          <a:bodyPr wrap="square" lIns="0" tIns="0" rIns="0" bIns="0" rtlCol="0" anchor="ctr"/>
          <a:lstStyle/>
          <a:p>
            <a:pPr indent="0" marL="0">
              <a:buNone/>
            </a:pPr>
            <a:r>
              <a:rPr lang="en-US" sz="1300" b="1" dirty="0">
                <a:solidFill>
                  <a:srgbClr val="EF5B3F"/>
                </a:solidFill>
              </a:rPr>
              <a:t>STEP 2 · 결정적 단서</a:t>
            </a:r>
            <a:endParaRPr lang="en-US" sz="1300" dirty="0"/>
          </a:p>
        </p:txBody>
      </p:sp>
      <p:sp>
        <p:nvSpPr>
          <p:cNvPr id="12" name="Text 9"/>
          <p:cNvSpPr txBox="1"/>
          <p:nvPr/>
        </p:nvSpPr>
        <p:spPr>
          <a:xfrm>
            <a:off x="822960" y="4480560"/>
            <a:ext cx="4663440" cy="1005840"/>
          </a:xfrm>
          <a:prstGeom prst="rect">
            <a:avLst/>
          </a:prstGeom>
          <a:noFill/>
          <a:ln/>
        </p:spPr>
        <p:txBody>
          <a:bodyPr wrap="square" lIns="0" tIns="0" rIns="0" bIns="0" rtlCol="0" anchor="t"/>
          <a:lstStyle/>
          <a:p>
            <a:pPr indent="0" marL="0">
              <a:buNone/>
            </a:pPr>
            <a:r>
              <a:rPr lang="en-US" sz="1400" i="1" dirty="0">
                <a:solidFill>
                  <a:srgbClr val="14453D"/>
                </a:solidFill>
              </a:rPr>
              <a:t>…the more complicated people thought their diet plan was, the sooner they were likely to drop it.</a:t>
            </a:r>
            <a:endParaRPr lang="en-US" sz="1400" dirty="0"/>
          </a:p>
        </p:txBody>
      </p:sp>
      <p:sp>
        <p:nvSpPr>
          <p:cNvPr id="13" name="Text 10"/>
          <p:cNvSpPr txBox="1"/>
          <p:nvPr/>
        </p:nvSpPr>
        <p:spPr>
          <a:xfrm>
            <a:off x="822960" y="5486400"/>
            <a:ext cx="4663440" cy="685800"/>
          </a:xfrm>
          <a:prstGeom prst="rect">
            <a:avLst/>
          </a:prstGeom>
          <a:noFill/>
          <a:ln/>
        </p:spPr>
        <p:txBody>
          <a:bodyPr wrap="square" lIns="0" tIns="0" rIns="0" bIns="0" rtlCol="0" anchor="t"/>
          <a:lstStyle/>
          <a:p>
            <a:pPr indent="0" marL="0">
              <a:buNone/>
            </a:pPr>
            <a:r>
              <a:rPr lang="en-US" sz="1300" dirty="0">
                <a:solidFill>
                  <a:srgbClr val="6E7F7C"/>
                </a:solidFill>
              </a:rPr>
              <a:t>다이어트 계획이 더 복잡하다고 생각할수록 더 빨리 포기했다 → (A) simplicity</a:t>
            </a:r>
            <a:endParaRPr lang="en-US" sz="1300" dirty="0"/>
          </a:p>
        </p:txBody>
      </p:sp>
      <p:sp>
        <p:nvSpPr>
          <p:cNvPr id="14" name="Text 11"/>
          <p:cNvSpPr txBox="1"/>
          <p:nvPr/>
        </p:nvSpPr>
        <p:spPr>
          <a:xfrm>
            <a:off x="6217920" y="1325880"/>
            <a:ext cx="2743200" cy="320040"/>
          </a:xfrm>
          <a:prstGeom prst="rect">
            <a:avLst/>
          </a:prstGeom>
          <a:noFill/>
          <a:ln/>
        </p:spPr>
        <p:txBody>
          <a:bodyPr wrap="square" lIns="0" tIns="0" rIns="0" bIns="0" rtlCol="0" anchor="ctr"/>
          <a:lstStyle/>
          <a:p>
            <a:pPr indent="0" marL="0">
              <a:buNone/>
            </a:pPr>
            <a:r>
              <a:rPr lang="en-US" sz="1300" b="1" dirty="0">
                <a:solidFill>
                  <a:srgbClr val="1F7A64"/>
                </a:solidFill>
              </a:rPr>
              <a:t>글의 흐름</a:t>
            </a:r>
            <a:endParaRPr lang="en-US" sz="1300" dirty="0"/>
          </a:p>
        </p:txBody>
      </p:sp>
      <p:sp>
        <p:nvSpPr>
          <p:cNvPr id="15" name="Shape 12"/>
          <p:cNvSpPr/>
          <p:nvPr/>
        </p:nvSpPr>
        <p:spPr>
          <a:xfrm>
            <a:off x="6537960" y="2057400"/>
            <a:ext cx="0" cy="3511296"/>
          </a:xfrm>
          <a:prstGeom prst="line">
            <a:avLst/>
          </a:prstGeom>
          <a:noFill/>
          <a:ln w="38100">
            <a:solidFill>
              <a:srgbClr val="E6F2ED"/>
            </a:solidFill>
            <a:prstDash val="solid"/>
          </a:ln>
        </p:spPr>
      </p:sp>
      <p:sp>
        <p:nvSpPr>
          <p:cNvPr id="16" name="Text 13"/>
          <p:cNvSpPr/>
          <p:nvPr/>
        </p:nvSpPr>
        <p:spPr>
          <a:xfrm>
            <a:off x="6263640" y="1783080"/>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7" name="Text 14"/>
          <p:cNvSpPr txBox="1"/>
          <p:nvPr/>
        </p:nvSpPr>
        <p:spPr>
          <a:xfrm>
            <a:off x="7040880" y="1783080"/>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통념</a:t>
            </a:r>
            <a:endParaRPr lang="en-US" sz="1400" dirty="0"/>
          </a:p>
        </p:txBody>
      </p:sp>
      <p:sp>
        <p:nvSpPr>
          <p:cNvPr id="18" name="Text 15"/>
          <p:cNvSpPr txBox="1"/>
          <p:nvPr/>
        </p:nvSpPr>
        <p:spPr>
          <a:xfrm>
            <a:off x="7040880" y="2121408"/>
            <a:ext cx="4572000" cy="667512"/>
          </a:xfrm>
          <a:prstGeom prst="rect">
            <a:avLst/>
          </a:prstGeom>
          <a:noFill/>
          <a:ln/>
        </p:spPr>
        <p:txBody>
          <a:bodyPr wrap="square" lIns="0" tIns="0" rIns="0" bIns="0" rtlCol="0" anchor="t"/>
          <a:lstStyle/>
          <a:p>
            <a:pPr indent="0" marL="0">
              <a:buNone/>
            </a:pPr>
            <a:r>
              <a:rPr lang="en-US" sz="1400" dirty="0">
                <a:solidFill>
                  <a:srgbClr val="1E2B2A"/>
                </a:solidFill>
              </a:rPr>
              <a:t>다이어트 성공 = 결단력·끈기·자기 절제 (정신력)</a:t>
            </a:r>
            <a:endParaRPr lang="en-US" sz="1400" dirty="0"/>
          </a:p>
        </p:txBody>
      </p:sp>
      <p:sp>
        <p:nvSpPr>
          <p:cNvPr id="19" name="Text 16"/>
          <p:cNvSpPr/>
          <p:nvPr/>
        </p:nvSpPr>
        <p:spPr>
          <a:xfrm>
            <a:off x="6263640" y="2953512"/>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20" name="Text 17"/>
          <p:cNvSpPr txBox="1"/>
          <p:nvPr/>
        </p:nvSpPr>
        <p:spPr>
          <a:xfrm>
            <a:off x="7040880" y="2953512"/>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반전</a:t>
            </a:r>
            <a:endParaRPr lang="en-US" sz="1400" dirty="0"/>
          </a:p>
        </p:txBody>
      </p:sp>
      <p:sp>
        <p:nvSpPr>
          <p:cNvPr id="21" name="Text 18"/>
          <p:cNvSpPr txBox="1"/>
          <p:nvPr/>
        </p:nvSpPr>
        <p:spPr>
          <a:xfrm>
            <a:off x="7040880" y="3291840"/>
            <a:ext cx="4572000" cy="667512"/>
          </a:xfrm>
          <a:prstGeom prst="rect">
            <a:avLst/>
          </a:prstGeom>
          <a:noFill/>
          <a:ln/>
        </p:spPr>
        <p:txBody>
          <a:bodyPr wrap="square" lIns="0" tIns="0" rIns="0" bIns="0" rtlCol="0" anchor="t"/>
          <a:lstStyle/>
          <a:p>
            <a:pPr indent="0" marL="0">
              <a:buNone/>
            </a:pPr>
            <a:r>
              <a:rPr lang="en-US" sz="1400" dirty="0">
                <a:solidFill>
                  <a:srgbClr val="1E2B2A"/>
                </a:solidFill>
              </a:rPr>
              <a:t>While 정신력도 중요하지만 → 다이어트 자체의 미묘한 측면도 중요</a:t>
            </a:r>
            <a:endParaRPr lang="en-US" sz="1400" dirty="0"/>
          </a:p>
        </p:txBody>
      </p:sp>
      <p:sp>
        <p:nvSpPr>
          <p:cNvPr id="22" name="Text 19"/>
          <p:cNvSpPr/>
          <p:nvPr/>
        </p:nvSpPr>
        <p:spPr>
          <a:xfrm>
            <a:off x="6263640" y="4123944"/>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3" name="Text 20"/>
          <p:cNvSpPr txBox="1"/>
          <p:nvPr/>
        </p:nvSpPr>
        <p:spPr>
          <a:xfrm>
            <a:off x="7040880" y="4123944"/>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연구</a:t>
            </a:r>
            <a:endParaRPr lang="en-US" sz="1400" dirty="0"/>
          </a:p>
        </p:txBody>
      </p:sp>
      <p:sp>
        <p:nvSpPr>
          <p:cNvPr id="24" name="Text 21"/>
          <p:cNvSpPr txBox="1"/>
          <p:nvPr/>
        </p:nvSpPr>
        <p:spPr>
          <a:xfrm>
            <a:off x="7040880" y="4462272"/>
            <a:ext cx="4572000" cy="667512"/>
          </a:xfrm>
          <a:prstGeom prst="rect">
            <a:avLst/>
          </a:prstGeom>
          <a:noFill/>
          <a:ln/>
        </p:spPr>
        <p:txBody>
          <a:bodyPr wrap="square" lIns="0" tIns="0" rIns="0" bIns="0" rtlCol="0" anchor="t"/>
          <a:lstStyle/>
          <a:p>
            <a:pPr indent="0" marL="0">
              <a:buNone/>
            </a:pPr>
            <a:r>
              <a:rPr lang="en-US" sz="1400" dirty="0">
                <a:solidFill>
                  <a:srgbClr val="1E2B2A"/>
                </a:solidFill>
              </a:rPr>
              <a:t>계획이 복잡하다고 느낄수록 더 빨리 포기</a:t>
            </a:r>
            <a:endParaRPr lang="en-US" sz="1400" dirty="0"/>
          </a:p>
        </p:txBody>
      </p:sp>
      <p:sp>
        <p:nvSpPr>
          <p:cNvPr id="25" name="Text 22"/>
          <p:cNvSpPr/>
          <p:nvPr/>
        </p:nvSpPr>
        <p:spPr>
          <a:xfrm>
            <a:off x="6263640" y="5294376"/>
            <a:ext cx="548640" cy="548640"/>
          </a:xfrm>
          <a:prstGeom prst="ellipse">
            <a:avLst/>
          </a:prstGeom>
          <a:solidFill>
            <a:srgbClr val="EF5B3F"/>
          </a:solid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6" name="Text 23"/>
          <p:cNvSpPr txBox="1"/>
          <p:nvPr/>
        </p:nvSpPr>
        <p:spPr>
          <a:xfrm>
            <a:off x="7040880" y="5294376"/>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결론</a:t>
            </a:r>
            <a:endParaRPr lang="en-US" sz="1400" dirty="0"/>
          </a:p>
        </p:txBody>
      </p:sp>
      <p:sp>
        <p:nvSpPr>
          <p:cNvPr id="27" name="Text 24"/>
          <p:cNvSpPr txBox="1"/>
          <p:nvPr/>
        </p:nvSpPr>
        <p:spPr>
          <a:xfrm>
            <a:off x="7040880" y="5632704"/>
            <a:ext cx="4572000" cy="667512"/>
          </a:xfrm>
          <a:prstGeom prst="rect">
            <a:avLst/>
          </a:prstGeom>
          <a:noFill/>
          <a:ln/>
        </p:spPr>
        <p:txBody>
          <a:bodyPr wrap="square" lIns="0" tIns="0" rIns="0" bIns="0" rtlCol="0" anchor="t"/>
          <a:lstStyle/>
          <a:p>
            <a:pPr indent="0" marL="0">
              <a:buNone/>
            </a:pPr>
            <a:r>
              <a:rPr lang="en-US" sz="1400" dirty="0">
                <a:solidFill>
                  <a:srgbClr val="1E2B2A"/>
                </a:solidFill>
              </a:rPr>
              <a:t>복잡하다는 주관적 인상이 포기를 부른다 → 단순함이 핵심</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99  </a:t>
            </a:r>
            <a:pPr algn="l" indent="0" marL="0">
              <a:buNone/>
            </a:pPr>
            <a:r>
              <a:rPr lang="en-US" sz="3000" b="1" dirty="0">
                <a:solidFill>
                  <a:srgbClr val="14453D"/>
                </a:solidFill>
              </a:rPr>
              <a:t>정답 &amp; 해설</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정답</a:t>
            </a:r>
            <a:endParaRPr lang="en-US" sz="1200" dirty="0"/>
          </a:p>
        </p:txBody>
      </p:sp>
      <p:sp>
        <p:nvSpPr>
          <p:cNvPr id="4" name="Shape 2"/>
          <p:cNvSpPr/>
          <p:nvPr/>
        </p:nvSpPr>
        <p:spPr>
          <a:xfrm>
            <a:off x="548640" y="1325880"/>
            <a:ext cx="3749040" cy="4983480"/>
          </a:xfrm>
          <a:prstGeom prst="roundRect">
            <a:avLst>
              <a:gd name="adj" fmla="val 3659"/>
            </a:avLst>
          </a:prstGeom>
          <a:solidFill>
            <a:srgbClr val="14453D"/>
          </a:solidFill>
          <a:ln w="12700">
            <a:solidFill>
              <a:srgbClr val="14453D"/>
            </a:solidFill>
            <a:prstDash val="solid"/>
          </a:ln>
        </p:spPr>
      </p:sp>
      <p:sp>
        <p:nvSpPr>
          <p:cNvPr id="5" name="Text 3"/>
          <p:cNvSpPr txBox="1"/>
          <p:nvPr/>
        </p:nvSpPr>
        <p:spPr>
          <a:xfrm>
            <a:off x="868680" y="1554480"/>
            <a:ext cx="3108960" cy="365760"/>
          </a:xfrm>
          <a:prstGeom prst="rect">
            <a:avLst/>
          </a:prstGeom>
          <a:noFill/>
          <a:ln/>
        </p:spPr>
        <p:txBody>
          <a:bodyPr wrap="square" lIns="0" tIns="0" rIns="0" bIns="0" rtlCol="0" anchor="ctr"/>
          <a:lstStyle/>
          <a:p>
            <a:pPr indent="0" marL="0">
              <a:buNone/>
            </a:pPr>
            <a:r>
              <a:rPr lang="en-US" sz="1600" b="1" dirty="0">
                <a:solidFill>
                  <a:srgbClr val="FFD45C"/>
                </a:solidFill>
              </a:rPr>
              <a:t>정답</a:t>
            </a:r>
            <a:endParaRPr lang="en-US" sz="1600" dirty="0"/>
          </a:p>
        </p:txBody>
      </p:sp>
      <p:sp>
        <p:nvSpPr>
          <p:cNvPr id="6" name="Text 4"/>
          <p:cNvSpPr txBox="1"/>
          <p:nvPr/>
        </p:nvSpPr>
        <p:spPr>
          <a:xfrm>
            <a:off x="868680" y="1920240"/>
            <a:ext cx="3108960" cy="1188720"/>
          </a:xfrm>
          <a:prstGeom prst="rect">
            <a:avLst/>
          </a:prstGeom>
          <a:noFill/>
          <a:ln/>
        </p:spPr>
        <p:txBody>
          <a:bodyPr wrap="square" lIns="0" tIns="0" rIns="0" bIns="0" rtlCol="0" anchor="ctr"/>
          <a:lstStyle/>
          <a:p>
            <a:pPr indent="0" marL="0">
              <a:buNone/>
            </a:pPr>
            <a:r>
              <a:rPr lang="en-US" sz="7200" b="1" dirty="0">
                <a:solidFill>
                  <a:srgbClr val="FFFFFF"/>
                </a:solidFill>
              </a:rPr>
              <a:t>②</a:t>
            </a:r>
            <a:endParaRPr lang="en-US" sz="7200" dirty="0"/>
          </a:p>
        </p:txBody>
      </p:sp>
      <p:sp>
        <p:nvSpPr>
          <p:cNvPr id="7" name="Text 5"/>
          <p:cNvSpPr txBox="1"/>
          <p:nvPr/>
        </p:nvSpPr>
        <p:spPr>
          <a:xfrm>
            <a:off x="868680" y="3337560"/>
            <a:ext cx="3154680" cy="1280160"/>
          </a:xfrm>
          <a:prstGeom prst="rect">
            <a:avLst/>
          </a:prstGeom>
          <a:noFill/>
          <a:ln/>
        </p:spPr>
        <p:txBody>
          <a:bodyPr wrap="square" lIns="0" tIns="0" rIns="0" bIns="0" rtlCol="0" anchor="t"/>
          <a:lstStyle/>
          <a:p>
            <a:pPr indent="0" marL="0">
              <a:buNone/>
            </a:pPr>
            <a:r>
              <a:rPr lang="en-US" sz="1700" b="1" i="1" dirty="0">
                <a:solidFill>
                  <a:srgbClr val="FFFFFF"/>
                </a:solidFill>
              </a:rPr>
              <a:t>simplicity ----- willpower</a:t>
            </a:r>
            <a:endParaRPr lang="en-US" sz="1700" dirty="0"/>
          </a:p>
        </p:txBody>
      </p:sp>
      <p:sp>
        <p:nvSpPr>
          <p:cNvPr id="8" name="Text 6"/>
          <p:cNvSpPr txBox="1"/>
          <p:nvPr/>
        </p:nvSpPr>
        <p:spPr>
          <a:xfrm>
            <a:off x="868680" y="4663440"/>
            <a:ext cx="3154680" cy="1463040"/>
          </a:xfrm>
          <a:prstGeom prst="rect">
            <a:avLst/>
          </a:prstGeom>
          <a:noFill/>
          <a:ln/>
        </p:spPr>
        <p:txBody>
          <a:bodyPr wrap="square" lIns="0" tIns="0" rIns="0" bIns="0" rtlCol="0" anchor="t"/>
          <a:lstStyle/>
          <a:p>
            <a:pPr indent="0" marL="0">
              <a:buNone/>
            </a:pPr>
            <a:r>
              <a:rPr lang="en-US" sz="1400" dirty="0">
                <a:solidFill>
                  <a:srgbClr val="E6F2ED"/>
                </a:solidFill>
              </a:rPr>
              <a:t>단순성 = 복잡함의 반대 / 의지력 = determination·persistence</a:t>
            </a:r>
            <a:endParaRPr lang="en-US" sz="1400" dirty="0"/>
          </a:p>
        </p:txBody>
      </p:sp>
      <p:sp>
        <p:nvSpPr>
          <p:cNvPr id="9" name="Shape 7"/>
          <p:cNvSpPr/>
          <p:nvPr/>
        </p:nvSpPr>
        <p:spPr>
          <a:xfrm>
            <a:off x="4572000" y="1325880"/>
            <a:ext cx="7040880" cy="905256"/>
          </a:xfrm>
          <a:prstGeom prst="roundRect">
            <a:avLst>
              <a:gd name="adj" fmla="val 10101"/>
            </a:avLst>
          </a:prstGeom>
          <a:solidFill>
            <a:srgbClr val="FFFFFF"/>
          </a:solidFill>
          <a:ln w="12700">
            <a:solidFill>
              <a:srgbClr val="E6F2ED"/>
            </a:solidFill>
            <a:prstDash val="solid"/>
          </a:ln>
        </p:spPr>
      </p:sp>
      <p:sp>
        <p:nvSpPr>
          <p:cNvPr id="10" name="Text 8"/>
          <p:cNvSpPr txBox="1"/>
          <p:nvPr/>
        </p:nvSpPr>
        <p:spPr>
          <a:xfrm>
            <a:off x="4754880" y="1435608"/>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①</a:t>
            </a:r>
            <a:endParaRPr lang="en-US" sz="2000" dirty="0"/>
          </a:p>
        </p:txBody>
      </p:sp>
      <p:sp>
        <p:nvSpPr>
          <p:cNvPr id="11" name="Text 9"/>
          <p:cNvSpPr txBox="1"/>
          <p:nvPr/>
        </p:nvSpPr>
        <p:spPr>
          <a:xfrm>
            <a:off x="5257800" y="1399032"/>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simplicity ----- necessity</a:t>
            </a:r>
            <a:endParaRPr lang="en-US" sz="1500" dirty="0"/>
          </a:p>
        </p:txBody>
      </p:sp>
      <p:sp>
        <p:nvSpPr>
          <p:cNvPr id="12" name="Text 10"/>
          <p:cNvSpPr txBox="1"/>
          <p:nvPr/>
        </p:nvSpPr>
        <p:spPr>
          <a:xfrm>
            <a:off x="5257800" y="1801368"/>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단순성 ✔ / 필요성 ✘</a:t>
            </a:r>
            <a:endParaRPr lang="en-US" sz="1300" dirty="0"/>
          </a:p>
        </p:txBody>
      </p:sp>
      <p:sp>
        <p:nvSpPr>
          <p:cNvPr id="13" name="Shape 11"/>
          <p:cNvSpPr/>
          <p:nvPr/>
        </p:nvSpPr>
        <p:spPr>
          <a:xfrm>
            <a:off x="4572000" y="2340864"/>
            <a:ext cx="7040880" cy="905256"/>
          </a:xfrm>
          <a:prstGeom prst="roundRect">
            <a:avLst>
              <a:gd name="adj" fmla="val 10101"/>
            </a:avLst>
          </a:prstGeom>
          <a:solidFill>
            <a:srgbClr val="F7E9E4"/>
          </a:solidFill>
          <a:ln w="25400">
            <a:solidFill>
              <a:srgbClr val="EF5B3F"/>
            </a:solidFill>
            <a:prstDash val="solid"/>
          </a:ln>
        </p:spPr>
      </p:sp>
      <p:sp>
        <p:nvSpPr>
          <p:cNvPr id="14" name="Text 12"/>
          <p:cNvSpPr txBox="1"/>
          <p:nvPr/>
        </p:nvSpPr>
        <p:spPr>
          <a:xfrm>
            <a:off x="4754880" y="2450592"/>
            <a:ext cx="411480" cy="411480"/>
          </a:xfrm>
          <a:prstGeom prst="rect">
            <a:avLst/>
          </a:prstGeom>
          <a:noFill/>
          <a:ln/>
        </p:spPr>
        <p:txBody>
          <a:bodyPr wrap="square" lIns="0" tIns="0" rIns="0" bIns="0" rtlCol="0" anchor="ctr"/>
          <a:lstStyle/>
          <a:p>
            <a:pPr indent="0" marL="0">
              <a:buNone/>
            </a:pPr>
            <a:r>
              <a:rPr lang="en-US" sz="2000" b="1" dirty="0">
                <a:solidFill>
                  <a:srgbClr val="EF5B3F"/>
                </a:solidFill>
              </a:rPr>
              <a:t>②</a:t>
            </a:r>
            <a:endParaRPr lang="en-US" sz="2000" dirty="0"/>
          </a:p>
        </p:txBody>
      </p:sp>
      <p:sp>
        <p:nvSpPr>
          <p:cNvPr id="15" name="Text 13"/>
          <p:cNvSpPr txBox="1"/>
          <p:nvPr/>
        </p:nvSpPr>
        <p:spPr>
          <a:xfrm>
            <a:off x="5257800" y="2414016"/>
            <a:ext cx="6172200" cy="411480"/>
          </a:xfrm>
          <a:prstGeom prst="rect">
            <a:avLst/>
          </a:prstGeom>
          <a:noFill/>
          <a:ln/>
        </p:spPr>
        <p:txBody>
          <a:bodyPr wrap="square" lIns="0" tIns="0" rIns="0" bIns="0" rtlCol="0" anchor="ctr">
            <a:normAutofit/>
          </a:bodyPr>
          <a:lstStyle/>
          <a:p>
            <a:pPr indent="0" marL="0">
              <a:buNone/>
            </a:pPr>
            <a:r>
              <a:rPr lang="en-US" sz="1500" b="1" dirty="0">
                <a:solidFill>
                  <a:srgbClr val="14453D"/>
                </a:solidFill>
              </a:rPr>
              <a:t>simplicity ----- willpower</a:t>
            </a:r>
            <a:endParaRPr lang="en-US" sz="1500" dirty="0"/>
          </a:p>
        </p:txBody>
      </p:sp>
      <p:sp>
        <p:nvSpPr>
          <p:cNvPr id="16" name="Text 14"/>
          <p:cNvSpPr txBox="1"/>
          <p:nvPr/>
        </p:nvSpPr>
        <p:spPr>
          <a:xfrm>
            <a:off x="5257800" y="2816352"/>
            <a:ext cx="6172200" cy="365760"/>
          </a:xfrm>
          <a:prstGeom prst="rect">
            <a:avLst/>
          </a:prstGeom>
          <a:noFill/>
          <a:ln/>
        </p:spPr>
        <p:txBody>
          <a:bodyPr wrap="square" lIns="0" tIns="0" rIns="0" bIns="0" rtlCol="0" anchor="ctr">
            <a:normAutofit/>
          </a:bodyPr>
          <a:lstStyle/>
          <a:p>
            <a:pPr indent="0" marL="0">
              <a:buNone/>
            </a:pPr>
            <a:r>
              <a:rPr lang="en-US" sz="1300" dirty="0">
                <a:solidFill>
                  <a:srgbClr val="EF5B3F"/>
                </a:solidFill>
              </a:rPr>
              <a:t>✔ 단순성 = 복잡함의 반대 / 의지력 = determination·persistence</a:t>
            </a:r>
            <a:endParaRPr lang="en-US" sz="1300" dirty="0"/>
          </a:p>
        </p:txBody>
      </p:sp>
      <p:sp>
        <p:nvSpPr>
          <p:cNvPr id="17" name="Shape 15"/>
          <p:cNvSpPr/>
          <p:nvPr/>
        </p:nvSpPr>
        <p:spPr>
          <a:xfrm>
            <a:off x="4572000" y="3355848"/>
            <a:ext cx="7040880" cy="905256"/>
          </a:xfrm>
          <a:prstGeom prst="roundRect">
            <a:avLst>
              <a:gd name="adj" fmla="val 10101"/>
            </a:avLst>
          </a:prstGeom>
          <a:solidFill>
            <a:srgbClr val="FFFFFF"/>
          </a:solidFill>
          <a:ln w="12700">
            <a:solidFill>
              <a:srgbClr val="E6F2ED"/>
            </a:solidFill>
            <a:prstDash val="solid"/>
          </a:ln>
        </p:spPr>
      </p:sp>
      <p:sp>
        <p:nvSpPr>
          <p:cNvPr id="18" name="Text 16"/>
          <p:cNvSpPr txBox="1"/>
          <p:nvPr/>
        </p:nvSpPr>
        <p:spPr>
          <a:xfrm>
            <a:off x="4754880" y="3465576"/>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③</a:t>
            </a:r>
            <a:endParaRPr lang="en-US" sz="2000" dirty="0"/>
          </a:p>
        </p:txBody>
      </p:sp>
      <p:sp>
        <p:nvSpPr>
          <p:cNvPr id="19" name="Text 17"/>
          <p:cNvSpPr txBox="1"/>
          <p:nvPr/>
        </p:nvSpPr>
        <p:spPr>
          <a:xfrm>
            <a:off x="5257800" y="3429000"/>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popularity ----- necessity</a:t>
            </a:r>
            <a:endParaRPr lang="en-US" sz="1500" dirty="0"/>
          </a:p>
        </p:txBody>
      </p:sp>
      <p:sp>
        <p:nvSpPr>
          <p:cNvPr id="20" name="Text 18"/>
          <p:cNvSpPr txBox="1"/>
          <p:nvPr/>
        </p:nvSpPr>
        <p:spPr>
          <a:xfrm>
            <a:off x="5257800" y="3831336"/>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인기 ✘ / 필요성 ✘</a:t>
            </a:r>
            <a:endParaRPr lang="en-US" sz="1300" dirty="0"/>
          </a:p>
        </p:txBody>
      </p:sp>
      <p:sp>
        <p:nvSpPr>
          <p:cNvPr id="21" name="Shape 19"/>
          <p:cNvSpPr/>
          <p:nvPr/>
        </p:nvSpPr>
        <p:spPr>
          <a:xfrm>
            <a:off x="4572000" y="4370832"/>
            <a:ext cx="7040880" cy="905256"/>
          </a:xfrm>
          <a:prstGeom prst="roundRect">
            <a:avLst>
              <a:gd name="adj" fmla="val 10101"/>
            </a:avLst>
          </a:prstGeom>
          <a:solidFill>
            <a:srgbClr val="FFFFFF"/>
          </a:solidFill>
          <a:ln w="12700">
            <a:solidFill>
              <a:srgbClr val="E6F2ED"/>
            </a:solidFill>
            <a:prstDash val="solid"/>
          </a:ln>
        </p:spPr>
      </p:sp>
      <p:sp>
        <p:nvSpPr>
          <p:cNvPr id="22" name="Text 20"/>
          <p:cNvSpPr txBox="1"/>
          <p:nvPr/>
        </p:nvSpPr>
        <p:spPr>
          <a:xfrm>
            <a:off x="4754880" y="4480560"/>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④</a:t>
            </a:r>
            <a:endParaRPr lang="en-US" sz="2000" dirty="0"/>
          </a:p>
        </p:txBody>
      </p:sp>
      <p:sp>
        <p:nvSpPr>
          <p:cNvPr id="23" name="Text 21"/>
          <p:cNvSpPr txBox="1"/>
          <p:nvPr/>
        </p:nvSpPr>
        <p:spPr>
          <a:xfrm>
            <a:off x="5257800" y="4443984"/>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consistency ----- willpower</a:t>
            </a:r>
            <a:endParaRPr lang="en-US" sz="1500" dirty="0"/>
          </a:p>
        </p:txBody>
      </p:sp>
      <p:sp>
        <p:nvSpPr>
          <p:cNvPr id="24" name="Text 22"/>
          <p:cNvSpPr txBox="1"/>
          <p:nvPr/>
        </p:nvSpPr>
        <p:spPr>
          <a:xfrm>
            <a:off x="5257800" y="4846320"/>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일관성 ✘ / 의지력 ✔ → persistence(끈기)와 혼동</a:t>
            </a:r>
            <a:endParaRPr lang="en-US" sz="1300" dirty="0"/>
          </a:p>
        </p:txBody>
      </p:sp>
      <p:sp>
        <p:nvSpPr>
          <p:cNvPr id="25" name="Shape 23"/>
          <p:cNvSpPr/>
          <p:nvPr/>
        </p:nvSpPr>
        <p:spPr>
          <a:xfrm>
            <a:off x="4572000" y="5385816"/>
            <a:ext cx="7040880" cy="905256"/>
          </a:xfrm>
          <a:prstGeom prst="roundRect">
            <a:avLst>
              <a:gd name="adj" fmla="val 10101"/>
            </a:avLst>
          </a:prstGeom>
          <a:solidFill>
            <a:srgbClr val="FFFFFF"/>
          </a:solidFill>
          <a:ln w="12700">
            <a:solidFill>
              <a:srgbClr val="E6F2ED"/>
            </a:solidFill>
            <a:prstDash val="solid"/>
          </a:ln>
        </p:spPr>
      </p:sp>
      <p:sp>
        <p:nvSpPr>
          <p:cNvPr id="26" name="Text 24"/>
          <p:cNvSpPr txBox="1"/>
          <p:nvPr/>
        </p:nvSpPr>
        <p:spPr>
          <a:xfrm>
            <a:off x="4754880" y="5495544"/>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⑤</a:t>
            </a:r>
            <a:endParaRPr lang="en-US" sz="2000" dirty="0"/>
          </a:p>
        </p:txBody>
      </p:sp>
      <p:sp>
        <p:nvSpPr>
          <p:cNvPr id="27" name="Text 25"/>
          <p:cNvSpPr txBox="1"/>
          <p:nvPr/>
        </p:nvSpPr>
        <p:spPr>
          <a:xfrm>
            <a:off x="5257800" y="5458968"/>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consistency ----- expense</a:t>
            </a:r>
            <a:endParaRPr lang="en-US" sz="1500" dirty="0"/>
          </a:p>
        </p:txBody>
      </p:sp>
      <p:sp>
        <p:nvSpPr>
          <p:cNvPr id="28" name="Text 26"/>
          <p:cNvSpPr txBox="1"/>
          <p:nvPr/>
        </p:nvSpPr>
        <p:spPr>
          <a:xfrm>
            <a:off x="5257800" y="5861304"/>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일관성 ✘ / 비용 ✘</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99  </a:t>
            </a:r>
            <a:pPr algn="l" indent="0" marL="0">
              <a:buNone/>
            </a:pPr>
            <a:r>
              <a:rPr lang="en-US" sz="3000" b="1" dirty="0">
                <a:solidFill>
                  <a:srgbClr val="14453D"/>
                </a:solidFill>
              </a:rPr>
              <a:t>내신 어법 체크: 알맞은 것은?</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어법</a:t>
            </a:r>
            <a:endParaRPr lang="en-US" sz="1200" dirty="0"/>
          </a:p>
        </p:txBody>
      </p:sp>
      <p:sp>
        <p:nvSpPr>
          <p:cNvPr id="4" name="Shape 2"/>
          <p:cNvSpPr/>
          <p:nvPr/>
        </p:nvSpPr>
        <p:spPr>
          <a:xfrm>
            <a:off x="548640" y="1325880"/>
            <a:ext cx="11064240" cy="1143000"/>
          </a:xfrm>
          <a:prstGeom prst="roundRect">
            <a:avLst>
              <a:gd name="adj" fmla="val 8000"/>
            </a:avLst>
          </a:prstGeom>
          <a:solidFill>
            <a:srgbClr val="F2F8FB"/>
          </a:solidFill>
          <a:ln w="12700">
            <a:solidFill>
              <a:srgbClr val="D3E5EE"/>
            </a:solidFill>
            <a:prstDash val="solid"/>
          </a:ln>
        </p:spPr>
      </p:sp>
      <p:sp>
        <p:nvSpPr>
          <p:cNvPr id="5" name="Text 3"/>
          <p:cNvSpPr/>
          <p:nvPr/>
        </p:nvSpPr>
        <p:spPr>
          <a:xfrm>
            <a:off x="777240" y="162306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1554480" y="132588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Many people think the success of dieting </a:t>
            </a:r>
            <a:pPr indent="0" marL="0">
              <a:buNone/>
            </a:pPr>
            <a:r>
              <a:rPr lang="en-US" sz="1900" b="1" dirty="0">
                <a:solidFill>
                  <a:srgbClr val="EF5B3F"/>
                </a:solidFill>
              </a:rPr>
              <a:t>[depends / depend]</a:t>
            </a:r>
            <a:pPr indent="0" marL="0">
              <a:buNone/>
            </a:pPr>
            <a:r>
              <a:rPr lang="en-US" sz="1900" dirty="0">
                <a:solidFill>
                  <a:srgbClr val="1E2B2A"/>
                </a:solidFill>
              </a:rPr>
              <a:t> mostly on determination.</a:t>
            </a:r>
            <a:endParaRPr lang="en-US" sz="1900" dirty="0"/>
          </a:p>
        </p:txBody>
      </p:sp>
      <p:sp>
        <p:nvSpPr>
          <p:cNvPr id="7" name="Shape 5"/>
          <p:cNvSpPr/>
          <p:nvPr/>
        </p:nvSpPr>
        <p:spPr>
          <a:xfrm>
            <a:off x="548640" y="2606040"/>
            <a:ext cx="11064240" cy="1143000"/>
          </a:xfrm>
          <a:prstGeom prst="roundRect">
            <a:avLst>
              <a:gd name="adj" fmla="val 8000"/>
            </a:avLst>
          </a:prstGeom>
          <a:solidFill>
            <a:srgbClr val="FFFFFF"/>
          </a:solidFill>
          <a:ln w="12700">
            <a:solidFill>
              <a:srgbClr val="D3E5EE"/>
            </a:solidFill>
            <a:prstDash val="solid"/>
          </a:ln>
        </p:spPr>
      </p:sp>
      <p:sp>
        <p:nvSpPr>
          <p:cNvPr id="8" name="Text 6"/>
          <p:cNvSpPr/>
          <p:nvPr/>
        </p:nvSpPr>
        <p:spPr>
          <a:xfrm>
            <a:off x="777240" y="290322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9" name="Text 7"/>
          <p:cNvSpPr txBox="1"/>
          <p:nvPr/>
        </p:nvSpPr>
        <p:spPr>
          <a:xfrm>
            <a:off x="1554480" y="260604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The more complicated people thought their diet plan was, </a:t>
            </a:r>
            <a:pPr indent="0" marL="0">
              <a:buNone/>
            </a:pPr>
            <a:r>
              <a:rPr lang="en-US" sz="1900" b="1" dirty="0">
                <a:solidFill>
                  <a:srgbClr val="EF5B3F"/>
                </a:solidFill>
              </a:rPr>
              <a:t>[the sooner / sooner]</a:t>
            </a:r>
            <a:pPr indent="0" marL="0">
              <a:buNone/>
            </a:pPr>
            <a:r>
              <a:rPr lang="en-US" sz="1900" dirty="0">
                <a:solidFill>
                  <a:srgbClr val="1E2B2A"/>
                </a:solidFill>
              </a:rPr>
              <a:t> they were likely to drop it.</a:t>
            </a:r>
            <a:endParaRPr lang="en-US" sz="1900" dirty="0"/>
          </a:p>
        </p:txBody>
      </p:sp>
      <p:sp>
        <p:nvSpPr>
          <p:cNvPr id="10" name="Shape 8"/>
          <p:cNvSpPr/>
          <p:nvPr/>
        </p:nvSpPr>
        <p:spPr>
          <a:xfrm>
            <a:off x="548640" y="3886200"/>
            <a:ext cx="11064240" cy="1143000"/>
          </a:xfrm>
          <a:prstGeom prst="roundRect">
            <a:avLst>
              <a:gd name="adj" fmla="val 8000"/>
            </a:avLst>
          </a:prstGeom>
          <a:solidFill>
            <a:srgbClr val="F2F8FB"/>
          </a:solidFill>
          <a:ln w="12700">
            <a:solidFill>
              <a:srgbClr val="D3E5EE"/>
            </a:solidFill>
            <a:prstDash val="solid"/>
          </a:ln>
        </p:spPr>
      </p:sp>
      <p:sp>
        <p:nvSpPr>
          <p:cNvPr id="11" name="Text 9"/>
          <p:cNvSpPr/>
          <p:nvPr/>
        </p:nvSpPr>
        <p:spPr>
          <a:xfrm>
            <a:off x="777240" y="418338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2" name="Text 10"/>
          <p:cNvSpPr txBox="1"/>
          <p:nvPr/>
        </p:nvSpPr>
        <p:spPr>
          <a:xfrm>
            <a:off x="1554480" y="388620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…a more complex diet that involves </a:t>
            </a:r>
            <a:pPr indent="0" marL="0">
              <a:buNone/>
            </a:pPr>
            <a:r>
              <a:rPr lang="en-US" sz="1900" b="1" dirty="0">
                <a:solidFill>
                  <a:srgbClr val="EF5B3F"/>
                </a:solidFill>
              </a:rPr>
              <a:t>[keeping / to keep]</a:t>
            </a:r>
            <a:pPr indent="0" marL="0">
              <a:buNone/>
            </a:pPr>
            <a:r>
              <a:rPr lang="en-US" sz="1900" dirty="0">
                <a:solidFill>
                  <a:srgbClr val="1E2B2A"/>
                </a:solidFill>
              </a:rPr>
              <a:t> track of quantities.</a:t>
            </a:r>
            <a:endParaRPr lang="en-US" sz="19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100  </a:t>
            </a:r>
            <a:pPr algn="l" indent="0" marL="0">
              <a:buNone/>
            </a:pPr>
            <a:r>
              <a:rPr lang="en-US" sz="3000" b="1" dirty="0">
                <a:solidFill>
                  <a:srgbClr val="14453D"/>
                </a:solidFill>
              </a:rPr>
              <a:t>훈련된 무능</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Hook</a:t>
            </a:r>
            <a:endParaRPr lang="en-US" sz="1200" dirty="0"/>
          </a:p>
        </p:txBody>
      </p:sp>
      <p:sp>
        <p:nvSpPr>
          <p:cNvPr id="4" name="Shape 2"/>
          <p:cNvSpPr/>
          <p:nvPr/>
        </p:nvSpPr>
        <p:spPr>
          <a:xfrm>
            <a:off x="1280160" y="1737360"/>
            <a:ext cx="9601200" cy="3291840"/>
          </a:xfrm>
          <a:prstGeom prst="roundRect">
            <a:avLst>
              <a:gd name="adj" fmla="val 6944"/>
            </a:avLst>
          </a:prstGeom>
          <a:solidFill>
            <a:srgbClr val="E6F2ED"/>
          </a:solidFill>
          <a:ln w="12700">
            <a:solidFill>
              <a:srgbClr val="E6F2ED"/>
            </a:solidFill>
            <a:prstDash val="solid"/>
          </a:ln>
        </p:spPr>
      </p:sp>
      <p:sp>
        <p:nvSpPr>
          <p:cNvPr id="5" name="Shape 3"/>
          <p:cNvSpPr/>
          <p:nvPr/>
        </p:nvSpPr>
        <p:spPr>
          <a:xfrm>
            <a:off x="1737360" y="2148840"/>
            <a:ext cx="1005840" cy="1005840"/>
          </a:xfrm>
          <a:prstGeom prst="ellipse">
            <a:avLst/>
          </a:prstGeom>
          <a:solidFill>
            <a:srgbClr val="1F7A64"/>
          </a:solidFill>
          <a:ln w="12700">
            <a:solidFill>
              <a:srgbClr val="1F7A64"/>
            </a:solidFill>
            <a:prstDash val="solid"/>
          </a:ln>
        </p:spPr>
      </p:sp>
      <p:pic>
        <p:nvPicPr>
          <p:cNvPr id="6" name="Image 0" descr="preencoded.png">    </p:cNvPr>
          <p:cNvPicPr>
            <a:picLocks noChangeAspect="1"/>
          </p:cNvPicPr>
          <p:nvPr/>
        </p:nvPicPr>
        <p:blipFill>
          <a:blip r:embed="rId1"/>
          <a:stretch>
            <a:fillRect/>
          </a:stretch>
        </p:blipFill>
        <p:spPr>
          <a:xfrm>
            <a:off x="1984248" y="2395728"/>
            <a:ext cx="512064" cy="512064"/>
          </a:xfrm>
          <a:prstGeom prst="rect">
            <a:avLst/>
          </a:prstGeom>
        </p:spPr>
      </p:pic>
      <p:sp>
        <p:nvSpPr>
          <p:cNvPr id="7" name="Text 4"/>
          <p:cNvSpPr txBox="1"/>
          <p:nvPr/>
        </p:nvSpPr>
        <p:spPr>
          <a:xfrm>
            <a:off x="3017520" y="2194560"/>
            <a:ext cx="5486400" cy="457200"/>
          </a:xfrm>
          <a:prstGeom prst="rect">
            <a:avLst/>
          </a:prstGeom>
          <a:noFill/>
          <a:ln/>
        </p:spPr>
        <p:txBody>
          <a:bodyPr wrap="square" lIns="0" tIns="0" rIns="0" bIns="0" rtlCol="0" anchor="ctr"/>
          <a:lstStyle/>
          <a:p>
            <a:pPr indent="0" marL="0">
              <a:buNone/>
            </a:pPr>
            <a:r>
              <a:rPr lang="en-US" sz="1800" b="1" dirty="0">
                <a:solidFill>
                  <a:srgbClr val="1F7A64"/>
                </a:solidFill>
              </a:rPr>
              <a:t>생각해 볼까?</a:t>
            </a:r>
            <a:endParaRPr lang="en-US" sz="1800" dirty="0"/>
          </a:p>
        </p:txBody>
      </p:sp>
      <p:sp>
        <p:nvSpPr>
          <p:cNvPr id="8" name="Text 5"/>
          <p:cNvSpPr txBox="1"/>
          <p:nvPr/>
        </p:nvSpPr>
        <p:spPr>
          <a:xfrm>
            <a:off x="3017520" y="2697480"/>
            <a:ext cx="7498080" cy="2011680"/>
          </a:xfrm>
          <a:prstGeom prst="rect">
            <a:avLst/>
          </a:prstGeom>
          <a:noFill/>
          <a:ln/>
        </p:spPr>
        <p:txBody>
          <a:bodyPr wrap="square" lIns="0" tIns="0" rIns="0" bIns="0" rtlCol="0" anchor="t">
            <a:normAutofit/>
          </a:bodyPr>
          <a:lstStyle/>
          <a:p>
            <a:pPr indent="0" marL="0">
              <a:buNone/>
            </a:pPr>
            <a:r>
              <a:rPr lang="en-US" sz="2800" b="1" dirty="0">
                <a:solidFill>
                  <a:srgbClr val="14453D"/>
                </a:solidFill>
              </a:rPr>
              <a:t>매뉴얼대로만 일하던 알바생이 처음 보는 상황을 만나면?</a:t>
            </a:r>
            <a:endParaRPr lang="en-US" sz="2800" dirty="0"/>
          </a:p>
        </p:txBody>
      </p:sp>
      <p:sp>
        <p:nvSpPr>
          <p:cNvPr id="9" name="Text 6"/>
          <p:cNvSpPr/>
          <p:nvPr/>
        </p:nvSpPr>
        <p:spPr>
          <a:xfrm>
            <a:off x="4251960" y="5349240"/>
            <a:ext cx="3657600" cy="329184"/>
          </a:xfrm>
          <a:prstGeom prst="roundRect">
            <a:avLst>
              <a:gd name="adj" fmla="val 41667"/>
            </a:avLst>
          </a:prstGeom>
          <a:solidFill>
            <a:srgbClr val="EF5B3F"/>
          </a:solidFill>
          <a:ln/>
        </p:spPr>
        <p:txBody>
          <a:bodyPr wrap="square" lIns="0" tIns="0" rIns="0" bIns="0" rtlCol="0" anchor="ctr"/>
          <a:lstStyle/>
          <a:p>
            <a:pPr algn="ctr" indent="0" marL="0">
              <a:buNone/>
            </a:pPr>
            <a:r>
              <a:rPr lang="en-US" sz="1400" b="1" dirty="0">
                <a:solidFill>
                  <a:srgbClr val="FFFFFF"/>
                </a:solidFill>
              </a:rPr>
              <a:t>짝과 30초 이야기 → 2~3명 발표</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100  </a:t>
            </a:r>
            <a:pPr algn="l" indent="0" marL="0">
              <a:buNone/>
            </a:pPr>
            <a:r>
              <a:rPr lang="en-US" sz="2400" b="1" dirty="0">
                <a:solidFill>
                  <a:srgbClr val="14453D"/>
                </a:solidFill>
              </a:rPr>
              <a:t>(A)·(B)에 들어갈 말로 가장 적절한 것은?</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a:t>
            </a:r>
            <a:endParaRPr lang="en-US" sz="1200" dirty="0"/>
          </a:p>
        </p:txBody>
      </p:sp>
      <p:sp>
        <p:nvSpPr>
          <p:cNvPr id="4" name="Shape 2"/>
          <p:cNvSpPr/>
          <p:nvPr/>
        </p:nvSpPr>
        <p:spPr>
          <a:xfrm>
            <a:off x="548640" y="1234440"/>
            <a:ext cx="11064240" cy="5074920"/>
          </a:xfrm>
          <a:prstGeom prst="roundRect">
            <a:avLst>
              <a:gd name="adj" fmla="val 1802"/>
            </a:avLst>
          </a:prstGeom>
          <a:solidFill>
            <a:srgbClr val="FFFFFF"/>
          </a:solidFill>
          <a:ln w="19050">
            <a:solidFill>
              <a:srgbClr val="E6F2ED"/>
            </a:solidFill>
            <a:prstDash val="solid"/>
          </a:ln>
        </p:spPr>
      </p:sp>
      <p:sp>
        <p:nvSpPr>
          <p:cNvPr id="5" name="Text 3"/>
          <p:cNvSpPr txBox="1"/>
          <p:nvPr/>
        </p:nvSpPr>
        <p:spPr>
          <a:xfrm>
            <a:off x="777240" y="1371600"/>
            <a:ext cx="10607040" cy="4846320"/>
          </a:xfrm>
          <a:prstGeom prst="rect">
            <a:avLst/>
          </a:prstGeom>
          <a:noFill/>
          <a:ln/>
        </p:spPr>
        <p:txBody>
          <a:bodyPr wrap="square" lIns="0" tIns="0" rIns="0" bIns="0" rtlCol="0" anchor="t"/>
          <a:lstStyle/>
          <a:p>
            <a:pPr indent="0" marL="0">
              <a:lnSpc>
                <a:spcPct val="115000"/>
              </a:lnSpc>
              <a:buNone/>
            </a:pPr>
            <a:r>
              <a:rPr lang="en-US" sz="1550" dirty="0">
                <a:solidFill>
                  <a:srgbClr val="1E2B2A"/>
                </a:solidFill>
              </a:rPr>
              <a:t>Formal organizations such as multinational corporations train workers to perform their jobs in a certain way and reward them for good performance.</a:t>
            </a:r>
            <a:pPr indent="0" marL="0">
              <a:lnSpc>
                <a:spcPct val="115000"/>
              </a:lnSpc>
              <a:buNone/>
            </a:pPr>
            <a:r>
              <a:rPr lang="en-US" sz="1550" dirty="0">
                <a:solidFill>
                  <a:srgbClr val="000000"/>
                </a:solidFill>
              </a:rPr>
              <a:t> </a:t>
            </a:r>
            <a:pPr indent="0" marL="0">
              <a:lnSpc>
                <a:spcPct val="115000"/>
              </a:lnSpc>
              <a:buNone/>
            </a:pPr>
            <a:r>
              <a:rPr lang="en-US" sz="1550" dirty="0">
                <a:solidFill>
                  <a:srgbClr val="1E2B2A"/>
                </a:solidFill>
              </a:rPr>
              <a:t>When workers are trained to respond mindlessly to the dictates of the job, however, they risk developing trained incapacity—the inability to respond to new or unusual circumstances or to recognize when official rules or procedures do not apply or may be doing harm.</a:t>
            </a:r>
            <a:pPr indent="0" marL="0">
              <a:lnSpc>
                <a:spcPct val="115000"/>
              </a:lnSpc>
              <a:buNone/>
            </a:pPr>
            <a:r>
              <a:rPr lang="en-US" sz="1550" dirty="0">
                <a:solidFill>
                  <a:srgbClr val="000000"/>
                </a:solidFill>
              </a:rPr>
              <a:t> </a:t>
            </a:r>
            <a:pPr indent="0" marL="0">
              <a:lnSpc>
                <a:spcPct val="115000"/>
              </a:lnSpc>
              <a:buNone/>
            </a:pPr>
            <a:r>
              <a:rPr lang="en-US" sz="1550" dirty="0">
                <a:solidFill>
                  <a:srgbClr val="1E2B2A"/>
                </a:solidFill>
              </a:rPr>
              <a:t>In other words, workers are trained to do their jobs in an efficient way to meet organizational goals while ignoring other important matters related to their health, the community, and the environment.</a:t>
            </a:r>
            <a:pPr indent="0" marL="0">
              <a:lnSpc>
                <a:spcPct val="115000"/>
              </a:lnSpc>
              <a:buNone/>
            </a:pPr>
            <a:r>
              <a:rPr lang="en-US" sz="1550" dirty="0">
                <a:solidFill>
                  <a:srgbClr val="000000"/>
                </a:solidFill>
              </a:rPr>
              <a:t> </a:t>
            </a:r>
            <a:pPr indent="0" marL="0">
              <a:lnSpc>
                <a:spcPct val="115000"/>
              </a:lnSpc>
              <a:buNone/>
            </a:pPr>
            <a:r>
              <a:rPr lang="en-US" sz="1550" dirty="0">
                <a:solidFill>
                  <a:srgbClr val="1E2B2A"/>
                </a:solidFill>
              </a:rPr>
              <a:t>At the root of trained incapacity is a job with little variety and repetitive tasks.</a:t>
            </a:r>
            <a:pPr indent="0" marL="0">
              <a:lnSpc>
                <a:spcPct val="115000"/>
              </a:lnSpc>
              <a:buNone/>
            </a:pPr>
            <a:r>
              <a:rPr lang="en-US" sz="1550" dirty="0">
                <a:solidFill>
                  <a:srgbClr val="000000"/>
                </a:solidFill>
              </a:rPr>
              <a:t> </a:t>
            </a:r>
            <a:pPr indent="0" marL="0">
              <a:lnSpc>
                <a:spcPct val="115000"/>
              </a:lnSpc>
              <a:buNone/>
            </a:pPr>
            <a:r>
              <a:rPr lang="en-US" sz="1550" dirty="0">
                <a:solidFill>
                  <a:srgbClr val="1E2B2A"/>
                </a:solidFill>
              </a:rPr>
              <a:t>Economist Thorstein Veblen argues that as variety in work decreases, the amount of thought and time needed to perform a job also decreases.</a:t>
            </a:r>
            <a:endParaRPr lang="en-US" sz="1550" dirty="0"/>
          </a:p>
          <a:p>
            <a:pPr indent="0" marL="0">
              <a:lnSpc>
                <a:spcPct val="115000"/>
              </a:lnSpc>
              <a:spcBef>
                <a:spcPts val="800"/>
              </a:spcBef>
              <a:buNone/>
            </a:pPr>
            <a:r>
              <a:rPr lang="en-US" sz="1550" b="1" dirty="0">
                <a:solidFill>
                  <a:srgbClr val="1F7A64"/>
                </a:solidFill>
              </a:rPr>
              <a:t>↓  </a:t>
            </a:r>
            <a:pPr indent="0" marL="0">
              <a:lnSpc>
                <a:spcPct val="115000"/>
              </a:lnSpc>
              <a:buNone/>
            </a:pPr>
            <a:r>
              <a:rPr lang="en-US" sz="1550" dirty="0">
                <a:solidFill>
                  <a:srgbClr val="14453D"/>
                </a:solidFill>
              </a:rPr>
              <a:t>When the workers of organizations are trained to do </a:t>
            </a:r>
            <a:pPr indent="0" marL="0">
              <a:lnSpc>
                <a:spcPct val="115000"/>
              </a:lnSpc>
              <a:buNone/>
            </a:pPr>
            <a:r>
              <a:rPr lang="en-US" sz="1550" b="1" dirty="0">
                <a:solidFill>
                  <a:srgbClr val="EF5B3F"/>
                </a:solidFill>
              </a:rPr>
              <a:t>(A)</a:t>
            </a:r>
            <a:pPr indent="0" marL="0">
              <a:lnSpc>
                <a:spcPct val="115000"/>
              </a:lnSpc>
              <a:buNone/>
            </a:pPr>
            <a:r>
              <a:rPr lang="en-US" sz="1550" dirty="0">
                <a:solidFill>
                  <a:srgbClr val="14453D"/>
                </a:solidFill>
              </a:rPr>
              <a:t> jobs, they possibly end up being </a:t>
            </a:r>
            <a:pPr indent="0" marL="0">
              <a:lnSpc>
                <a:spcPct val="115000"/>
              </a:lnSpc>
              <a:buNone/>
            </a:pPr>
            <a:r>
              <a:rPr lang="en-US" sz="1550" b="1" dirty="0">
                <a:solidFill>
                  <a:srgbClr val="EF5B3F"/>
                </a:solidFill>
              </a:rPr>
              <a:t>(B)</a:t>
            </a:r>
            <a:pPr indent="0" marL="0">
              <a:lnSpc>
                <a:spcPct val="115000"/>
              </a:lnSpc>
              <a:buNone/>
            </a:pPr>
            <a:r>
              <a:rPr lang="en-US" sz="1550" dirty="0">
                <a:solidFill>
                  <a:srgbClr val="14453D"/>
                </a:solidFill>
              </a:rPr>
              <a:t> to deal with new or changing situations.</a:t>
            </a:r>
            <a:endParaRPr lang="en-US" sz="1550" dirty="0"/>
          </a:p>
          <a:p>
            <a:pPr indent="0" marL="0">
              <a:lnSpc>
                <a:spcPct val="115000"/>
              </a:lnSpc>
              <a:spcBef>
                <a:spcPts val="1000"/>
              </a:spcBef>
              <a:buNone/>
            </a:pPr>
            <a:r>
              <a:rPr lang="en-US" sz="1550" dirty="0">
                <a:solidFill>
                  <a:srgbClr val="14453D"/>
                </a:solidFill>
              </a:rPr>
              <a:t>①  complex ----- afraid</a:t>
            </a:r>
            <a:endParaRPr lang="en-US" sz="1550" dirty="0"/>
          </a:p>
          <a:p>
            <a:pPr indent="0" marL="0">
              <a:lnSpc>
                <a:spcPct val="115000"/>
              </a:lnSpc>
              <a:spcBef>
                <a:spcPts val="200"/>
              </a:spcBef>
              <a:buNone/>
            </a:pPr>
            <a:r>
              <a:rPr lang="en-US" sz="1550" dirty="0">
                <a:solidFill>
                  <a:srgbClr val="14453D"/>
                </a:solidFill>
              </a:rPr>
              <a:t>②  repetitive ----- eager</a:t>
            </a:r>
            <a:endParaRPr lang="en-US" sz="1550" dirty="0"/>
          </a:p>
          <a:p>
            <a:pPr indent="0" marL="0">
              <a:lnSpc>
                <a:spcPct val="115000"/>
              </a:lnSpc>
              <a:spcBef>
                <a:spcPts val="200"/>
              </a:spcBef>
              <a:buNone/>
            </a:pPr>
            <a:r>
              <a:rPr lang="en-US" sz="1550" dirty="0">
                <a:solidFill>
                  <a:srgbClr val="14453D"/>
                </a:solidFill>
              </a:rPr>
              <a:t>③  demanding ----- prompt</a:t>
            </a:r>
            <a:endParaRPr lang="en-US" sz="1550" dirty="0"/>
          </a:p>
          <a:p>
            <a:pPr indent="0" marL="0">
              <a:lnSpc>
                <a:spcPct val="115000"/>
              </a:lnSpc>
              <a:spcBef>
                <a:spcPts val="200"/>
              </a:spcBef>
              <a:buNone/>
            </a:pPr>
            <a:r>
              <a:rPr lang="en-US" sz="1550" dirty="0">
                <a:solidFill>
                  <a:srgbClr val="14453D"/>
                </a:solidFill>
              </a:rPr>
              <a:t>④  monotonous ----- unable</a:t>
            </a:r>
            <a:endParaRPr lang="en-US" sz="1550" dirty="0"/>
          </a:p>
          <a:p>
            <a:pPr indent="0" marL="0">
              <a:lnSpc>
                <a:spcPct val="115000"/>
              </a:lnSpc>
              <a:spcBef>
                <a:spcPts val="200"/>
              </a:spcBef>
              <a:buNone/>
            </a:pPr>
            <a:r>
              <a:rPr lang="en-US" sz="1550" dirty="0">
                <a:solidFill>
                  <a:srgbClr val="14453D"/>
                </a:solidFill>
              </a:rPr>
              <a:t>⑤  professional ----- willing</a:t>
            </a:r>
            <a:endParaRPr lang="en-US" sz="15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100  </a:t>
            </a:r>
            <a:pPr algn="l" indent="0" marL="0">
              <a:buNone/>
            </a:pPr>
            <a:r>
              <a:rPr lang="en-US" sz="3000" b="1" dirty="0">
                <a:solidFill>
                  <a:srgbClr val="14453D"/>
                </a:solidFill>
              </a:rPr>
              <a:t>정답 근거 &amp; 문법 포인트</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근거</a:t>
            </a:r>
            <a:endParaRPr lang="en-US" sz="1200" dirty="0"/>
          </a:p>
        </p:txBody>
      </p:sp>
      <p:sp>
        <p:nvSpPr>
          <p:cNvPr id="4" name="Shape 2"/>
          <p:cNvSpPr/>
          <p:nvPr/>
        </p:nvSpPr>
        <p:spPr>
          <a:xfrm>
            <a:off x="548640" y="1234440"/>
            <a:ext cx="11064240" cy="3172968"/>
          </a:xfrm>
          <a:prstGeom prst="roundRect">
            <a:avLst>
              <a:gd name="adj" fmla="val 2882"/>
            </a:avLst>
          </a:prstGeom>
          <a:solidFill>
            <a:srgbClr val="FFFFFF"/>
          </a:solidFill>
          <a:ln w="19050">
            <a:solidFill>
              <a:srgbClr val="E6F2ED"/>
            </a:solidFill>
            <a:prstDash val="solid"/>
          </a:ln>
        </p:spPr>
      </p:sp>
      <p:sp>
        <p:nvSpPr>
          <p:cNvPr id="5" name="Text 3"/>
          <p:cNvSpPr txBox="1"/>
          <p:nvPr/>
        </p:nvSpPr>
        <p:spPr>
          <a:xfrm>
            <a:off x="777240" y="1371600"/>
            <a:ext cx="10607040" cy="2944368"/>
          </a:xfrm>
          <a:prstGeom prst="rect">
            <a:avLst/>
          </a:prstGeom>
          <a:noFill/>
          <a:ln/>
        </p:spPr>
        <p:txBody>
          <a:bodyPr wrap="square" lIns="0" tIns="0" rIns="0" bIns="0" rtlCol="0" anchor="t">
            <a:normAutofit/>
          </a:bodyPr>
          <a:lstStyle/>
          <a:p>
            <a:pPr indent="0" marL="0">
              <a:lnSpc>
                <a:spcPct val="120000"/>
              </a:lnSpc>
              <a:buNone/>
            </a:pPr>
            <a:r>
              <a:rPr lang="en-US" sz="1300" b="1" dirty="0">
                <a:solidFill>
                  <a:srgbClr val="1F7A64"/>
                </a:solidFill>
              </a:rPr>
              <a:t>(1) </a:t>
            </a:r>
            <a:pPr indent="0" marL="0">
              <a:lnSpc>
                <a:spcPct val="120000"/>
              </a:lnSpc>
              <a:buNone/>
            </a:pPr>
            <a:r>
              <a:rPr lang="en-US" sz="1600" dirty="0">
                <a:solidFill>
                  <a:srgbClr val="1E2B2A"/>
                </a:solidFill>
              </a:rPr>
              <a:t>Formal organizations such as </a:t>
            </a:r>
            <a:pPr indent="0" marL="0">
              <a:lnSpc>
                <a:spcPct val="120000"/>
              </a:lnSpc>
              <a:buNone/>
            </a:pPr>
            <a:r>
              <a:rPr lang="en-US" sz="1600" u="dotted" dirty="0">
                <a:solidFill>
                  <a:srgbClr val="1F7A64"/>
                </a:solidFill>
                <a:uFill>
                  <a:solidFill>
                    <a:srgbClr val="1F7A64"/>
                  </a:solidFill>
                </a:uFill>
              </a:rPr>
              <a:t>multinational</a:t>
            </a:r>
            <a:pPr indent="0" marL="0">
              <a:lnSpc>
                <a:spcPct val="120000"/>
              </a:lnSpc>
              <a:buNone/>
            </a:pPr>
            <a:r>
              <a:rPr lang="en-US" sz="1600" dirty="0">
                <a:solidFill>
                  <a:srgbClr val="1E2B2A"/>
                </a:solidFill>
              </a:rPr>
              <a:t> corporations </a:t>
            </a:r>
            <a:pPr indent="0" marL="0">
              <a:lnSpc>
                <a:spcPct val="120000"/>
              </a:lnSpc>
              <a:buNone/>
            </a:pPr>
            <a:r>
              <a:rPr lang="en-US" sz="1600" b="1" dirty="0">
                <a:solidFill>
                  <a:srgbClr val="14453D"/>
                </a:solidFill>
                <a:highlight>
                  <a:srgbClr val="A9DDF3"/>
                </a:highlight>
              </a:rPr>
              <a:t>train workers to perform their jobs</a:t>
            </a:r>
            <a:pPr indent="0" marL="0">
              <a:lnSpc>
                <a:spcPct val="120000"/>
              </a:lnSpc>
              <a:buNone/>
            </a:pPr>
            <a:r>
              <a:rPr lang="en-US" sz="1600" dirty="0">
                <a:solidFill>
                  <a:srgbClr val="1E2B2A"/>
                </a:solidFill>
              </a:rPr>
              <a:t> in a certain way and reward them for good performance.</a:t>
            </a:r>
            <a:pPr indent="0" marL="0">
              <a:lnSpc>
                <a:spcPct val="120000"/>
              </a:lnSpc>
              <a:buNone/>
            </a:pPr>
            <a:r>
              <a:rPr lang="en-US" sz="1600" dirty="0">
                <a:solidFill>
                  <a:srgbClr val="000000"/>
                </a:solidFill>
              </a:rPr>
              <a:t> </a:t>
            </a:r>
            <a:pPr indent="0" marL="0">
              <a:lnSpc>
                <a:spcPct val="120000"/>
              </a:lnSpc>
              <a:buNone/>
            </a:pPr>
            <a:r>
              <a:rPr lang="en-US" sz="1300" b="1" dirty="0">
                <a:solidFill>
                  <a:srgbClr val="1F7A64"/>
                </a:solidFill>
              </a:rPr>
              <a:t>(2) </a:t>
            </a:r>
            <a:pPr indent="0" marL="0">
              <a:lnSpc>
                <a:spcPct val="120000"/>
              </a:lnSpc>
              <a:buNone/>
            </a:pPr>
            <a:r>
              <a:rPr lang="en-US" sz="1600" dirty="0">
                <a:solidFill>
                  <a:srgbClr val="1E2B2A"/>
                </a:solidFill>
                <a:highlight>
                  <a:srgbClr val="FFD45C"/>
                </a:highlight>
              </a:rPr>
              <a:t>When workers are trained to respond </a:t>
            </a:r>
            <a:pPr indent="0" marL="0">
              <a:lnSpc>
                <a:spcPct val="120000"/>
              </a:lnSpc>
              <a:buNone/>
            </a:pPr>
            <a:r>
              <a:rPr lang="en-US" sz="1600" u="dotted" dirty="0">
                <a:solidFill>
                  <a:srgbClr val="1F7A64"/>
                </a:solidFill>
                <a:highlight>
                  <a:srgbClr val="FFD45C"/>
                </a:highlight>
                <a:uFill>
                  <a:solidFill>
                    <a:srgbClr val="1F7A64"/>
                  </a:solidFill>
                </a:uFill>
              </a:rPr>
              <a:t>mindlessly</a:t>
            </a:r>
            <a:pPr indent="0" marL="0">
              <a:lnSpc>
                <a:spcPct val="120000"/>
              </a:lnSpc>
              <a:buNone/>
            </a:pPr>
            <a:r>
              <a:rPr lang="en-US" sz="1600" dirty="0">
                <a:solidFill>
                  <a:srgbClr val="1E2B2A"/>
                </a:solidFill>
                <a:highlight>
                  <a:srgbClr val="FFD45C"/>
                </a:highlight>
              </a:rPr>
              <a:t> to the </a:t>
            </a:r>
            <a:pPr indent="0" marL="0">
              <a:lnSpc>
                <a:spcPct val="120000"/>
              </a:lnSpc>
              <a:buNone/>
            </a:pPr>
            <a:r>
              <a:rPr lang="en-US" sz="1600" u="dotted" dirty="0">
                <a:solidFill>
                  <a:srgbClr val="1F7A64"/>
                </a:solidFill>
                <a:highlight>
                  <a:srgbClr val="FFD45C"/>
                </a:highlight>
                <a:uFill>
                  <a:solidFill>
                    <a:srgbClr val="1F7A64"/>
                  </a:solidFill>
                </a:uFill>
              </a:rPr>
              <a:t>dictates</a:t>
            </a:r>
            <a:pPr indent="0" marL="0">
              <a:lnSpc>
                <a:spcPct val="120000"/>
              </a:lnSpc>
              <a:buNone/>
            </a:pPr>
            <a:r>
              <a:rPr lang="en-US" sz="1600" dirty="0">
                <a:solidFill>
                  <a:srgbClr val="1E2B2A"/>
                </a:solidFill>
                <a:highlight>
                  <a:srgbClr val="FFD45C"/>
                </a:highlight>
              </a:rPr>
              <a:t> of the job, however, </a:t>
            </a:r>
            <a:pPr indent="0" marL="0">
              <a:lnSpc>
                <a:spcPct val="120000"/>
              </a:lnSpc>
              <a:buNone/>
            </a:pPr>
            <a:r>
              <a:rPr lang="en-US" sz="1600" b="1" dirty="0">
                <a:solidFill>
                  <a:srgbClr val="14453D"/>
                </a:solidFill>
                <a:highlight>
                  <a:srgbClr val="A9DDF3"/>
                </a:highlight>
              </a:rPr>
              <a:t>they risk developing trained </a:t>
            </a:r>
            <a:pPr indent="0" marL="0">
              <a:lnSpc>
                <a:spcPct val="120000"/>
              </a:lnSpc>
              <a:buNone/>
            </a:pPr>
            <a:r>
              <a:rPr lang="en-US" sz="1600" b="1" u="dotted" dirty="0">
                <a:solidFill>
                  <a:srgbClr val="14453D"/>
                </a:solidFill>
                <a:highlight>
                  <a:srgbClr val="A9DDF3"/>
                </a:highlight>
                <a:uFill>
                  <a:solidFill>
                    <a:srgbClr val="1F7A64"/>
                  </a:solidFill>
                </a:uFill>
              </a:rPr>
              <a:t>incapacity</a:t>
            </a:r>
            <a:pPr indent="0" marL="0">
              <a:lnSpc>
                <a:spcPct val="120000"/>
              </a:lnSpc>
              <a:buNone/>
            </a:pPr>
            <a:r>
              <a:rPr lang="en-US" sz="1600" dirty="0">
                <a:solidFill>
                  <a:srgbClr val="1E2B2A"/>
                </a:solidFill>
                <a:highlight>
                  <a:srgbClr val="FFD45C"/>
                </a:highlight>
              </a:rPr>
              <a:t>—the inability to respond to new or unusual circumstances or to recognize when official rules or </a:t>
            </a:r>
            <a:pPr indent="0" marL="0">
              <a:lnSpc>
                <a:spcPct val="120000"/>
              </a:lnSpc>
              <a:buNone/>
            </a:pPr>
            <a:r>
              <a:rPr lang="en-US" sz="1600" u="dotted" dirty="0">
                <a:solidFill>
                  <a:srgbClr val="1F7A64"/>
                </a:solidFill>
                <a:highlight>
                  <a:srgbClr val="FFD45C"/>
                </a:highlight>
                <a:uFill>
                  <a:solidFill>
                    <a:srgbClr val="1F7A64"/>
                  </a:solidFill>
                </a:uFill>
              </a:rPr>
              <a:t>procedures</a:t>
            </a:r>
            <a:pPr indent="0" marL="0">
              <a:lnSpc>
                <a:spcPct val="120000"/>
              </a:lnSpc>
              <a:buNone/>
            </a:pPr>
            <a:r>
              <a:rPr lang="en-US" sz="1600" dirty="0">
                <a:solidFill>
                  <a:srgbClr val="1E2B2A"/>
                </a:solidFill>
                <a:highlight>
                  <a:srgbClr val="FFD45C"/>
                </a:highlight>
              </a:rPr>
              <a:t> do not apply or may be doing harm.</a:t>
            </a:r>
            <a:pPr indent="0" marL="0">
              <a:lnSpc>
                <a:spcPct val="120000"/>
              </a:lnSpc>
              <a:buNone/>
            </a:pPr>
            <a:r>
              <a:rPr lang="en-US" sz="1600" dirty="0">
                <a:solidFill>
                  <a:srgbClr val="000000"/>
                </a:solidFill>
              </a:rPr>
              <a:t> </a:t>
            </a:r>
            <a:pPr indent="0" marL="0">
              <a:lnSpc>
                <a:spcPct val="120000"/>
              </a:lnSpc>
              <a:buNone/>
            </a:pPr>
            <a:r>
              <a:rPr lang="en-US" sz="1300" b="1" dirty="0">
                <a:solidFill>
                  <a:srgbClr val="1F7A64"/>
                </a:solidFill>
              </a:rPr>
              <a:t>(3) </a:t>
            </a:r>
            <a:pPr indent="0" marL="0">
              <a:lnSpc>
                <a:spcPct val="120000"/>
              </a:lnSpc>
              <a:buNone/>
            </a:pPr>
            <a:r>
              <a:rPr lang="en-US" sz="1600" dirty="0">
                <a:solidFill>
                  <a:srgbClr val="1E2B2A"/>
                </a:solidFill>
              </a:rPr>
              <a:t>In other words, workers are trained to do their jobs in an </a:t>
            </a:r>
            <a:pPr indent="0" marL="0">
              <a:lnSpc>
                <a:spcPct val="120000"/>
              </a:lnSpc>
              <a:buNone/>
            </a:pPr>
            <a:r>
              <a:rPr lang="en-US" sz="1600" u="dotted" dirty="0">
                <a:solidFill>
                  <a:srgbClr val="1F7A64"/>
                </a:solidFill>
                <a:uFill>
                  <a:solidFill>
                    <a:srgbClr val="1F7A64"/>
                  </a:solidFill>
                </a:uFill>
              </a:rPr>
              <a:t>efficient</a:t>
            </a:r>
            <a:pPr indent="0" marL="0">
              <a:lnSpc>
                <a:spcPct val="120000"/>
              </a:lnSpc>
              <a:buNone/>
            </a:pPr>
            <a:r>
              <a:rPr lang="en-US" sz="1600" dirty="0">
                <a:solidFill>
                  <a:srgbClr val="1E2B2A"/>
                </a:solidFill>
              </a:rPr>
              <a:t> way to meet organizational goals </a:t>
            </a:r>
            <a:pPr indent="0" marL="0">
              <a:lnSpc>
                <a:spcPct val="120000"/>
              </a:lnSpc>
              <a:buNone/>
            </a:pPr>
            <a:r>
              <a:rPr lang="en-US" sz="1600" b="1" dirty="0">
                <a:solidFill>
                  <a:srgbClr val="14453D"/>
                </a:solidFill>
                <a:highlight>
                  <a:srgbClr val="A9DDF3"/>
                </a:highlight>
              </a:rPr>
              <a:t>while ignoring other important matters</a:t>
            </a:r>
            <a:pPr indent="0" marL="0">
              <a:lnSpc>
                <a:spcPct val="120000"/>
              </a:lnSpc>
              <a:buNone/>
            </a:pPr>
            <a:r>
              <a:rPr lang="en-US" sz="1600" dirty="0">
                <a:solidFill>
                  <a:srgbClr val="1E2B2A"/>
                </a:solidFill>
              </a:rPr>
              <a:t> related to their health, the community, and the environment.</a:t>
            </a:r>
            <a:pPr indent="0" marL="0">
              <a:lnSpc>
                <a:spcPct val="120000"/>
              </a:lnSpc>
              <a:buNone/>
            </a:pPr>
            <a:r>
              <a:rPr lang="en-US" sz="1600" dirty="0">
                <a:solidFill>
                  <a:srgbClr val="000000"/>
                </a:solidFill>
              </a:rPr>
              <a:t> </a:t>
            </a:r>
            <a:pPr indent="0" marL="0">
              <a:lnSpc>
                <a:spcPct val="120000"/>
              </a:lnSpc>
              <a:buNone/>
            </a:pPr>
            <a:r>
              <a:rPr lang="en-US" sz="1300" b="1" dirty="0">
                <a:solidFill>
                  <a:srgbClr val="1F7A64"/>
                </a:solidFill>
              </a:rPr>
              <a:t>(4) </a:t>
            </a:r>
            <a:pPr indent="0" marL="0">
              <a:lnSpc>
                <a:spcPct val="120000"/>
              </a:lnSpc>
              <a:buNone/>
            </a:pPr>
            <a:r>
              <a:rPr lang="en-US" sz="1600" b="1" dirty="0">
                <a:solidFill>
                  <a:srgbClr val="14453D"/>
                </a:solidFill>
                <a:highlight>
                  <a:srgbClr val="A9DDF3"/>
                </a:highlight>
              </a:rPr>
              <a:t>At the root of trained incapacity is a job</a:t>
            </a:r>
            <a:pPr indent="0" marL="0">
              <a:lnSpc>
                <a:spcPct val="120000"/>
              </a:lnSpc>
              <a:buNone/>
            </a:pPr>
            <a:r>
              <a:rPr lang="en-US" sz="1600" dirty="0">
                <a:solidFill>
                  <a:srgbClr val="1E2B2A"/>
                </a:solidFill>
                <a:highlight>
                  <a:srgbClr val="FFD45C"/>
                </a:highlight>
              </a:rPr>
              <a:t> with little variety and </a:t>
            </a:r>
            <a:pPr indent="0" marL="0">
              <a:lnSpc>
                <a:spcPct val="120000"/>
              </a:lnSpc>
              <a:buNone/>
            </a:pPr>
            <a:r>
              <a:rPr lang="en-US" sz="1600" u="dotted" dirty="0">
                <a:solidFill>
                  <a:srgbClr val="1F7A64"/>
                </a:solidFill>
                <a:highlight>
                  <a:srgbClr val="FFD45C"/>
                </a:highlight>
                <a:uFill>
                  <a:solidFill>
                    <a:srgbClr val="1F7A64"/>
                  </a:solidFill>
                </a:uFill>
              </a:rPr>
              <a:t>repetitive</a:t>
            </a:r>
            <a:pPr indent="0" marL="0">
              <a:lnSpc>
                <a:spcPct val="120000"/>
              </a:lnSpc>
              <a:buNone/>
            </a:pPr>
            <a:r>
              <a:rPr lang="en-US" sz="1600" dirty="0">
                <a:solidFill>
                  <a:srgbClr val="1E2B2A"/>
                </a:solidFill>
                <a:highlight>
                  <a:srgbClr val="FFD45C"/>
                </a:highlight>
              </a:rPr>
              <a:t> tasks.</a:t>
            </a:r>
            <a:pPr indent="0" marL="0">
              <a:lnSpc>
                <a:spcPct val="120000"/>
              </a:lnSpc>
              <a:buNone/>
            </a:pPr>
            <a:r>
              <a:rPr lang="en-US" sz="1600" dirty="0">
                <a:solidFill>
                  <a:srgbClr val="000000"/>
                </a:solidFill>
              </a:rPr>
              <a:t> </a:t>
            </a:r>
            <a:pPr indent="0" marL="0">
              <a:lnSpc>
                <a:spcPct val="120000"/>
              </a:lnSpc>
              <a:buNone/>
            </a:pPr>
            <a:r>
              <a:rPr lang="en-US" sz="1300" b="1" dirty="0">
                <a:solidFill>
                  <a:srgbClr val="1F7A64"/>
                </a:solidFill>
              </a:rPr>
              <a:t>(5) </a:t>
            </a:r>
            <a:pPr indent="0" marL="0">
              <a:lnSpc>
                <a:spcPct val="120000"/>
              </a:lnSpc>
              <a:buNone/>
            </a:pPr>
            <a:r>
              <a:rPr lang="en-US" sz="1600" dirty="0">
                <a:solidFill>
                  <a:srgbClr val="1E2B2A"/>
                </a:solidFill>
              </a:rPr>
              <a:t>Economist Thorstein Veblen argues that </a:t>
            </a:r>
            <a:pPr indent="0" marL="0">
              <a:lnSpc>
                <a:spcPct val="120000"/>
              </a:lnSpc>
              <a:buNone/>
            </a:pPr>
            <a:r>
              <a:rPr lang="en-US" sz="1600" b="1" dirty="0">
                <a:solidFill>
                  <a:srgbClr val="14453D"/>
                </a:solidFill>
                <a:highlight>
                  <a:srgbClr val="A9DDF3"/>
                </a:highlight>
              </a:rPr>
              <a:t>as variety in work decreases</a:t>
            </a:r>
            <a:pPr indent="0" marL="0">
              <a:lnSpc>
                <a:spcPct val="120000"/>
              </a:lnSpc>
              <a:buNone/>
            </a:pPr>
            <a:r>
              <a:rPr lang="en-US" sz="1600" dirty="0">
                <a:solidFill>
                  <a:srgbClr val="1E2B2A"/>
                </a:solidFill>
              </a:rPr>
              <a:t>, the amount of thought and time needed to perform a job also decreases.</a:t>
            </a:r>
            <a:endParaRPr lang="en-US" sz="1300" dirty="0"/>
          </a:p>
        </p:txBody>
      </p:sp>
      <p:sp>
        <p:nvSpPr>
          <p:cNvPr id="6" name="Shape 4"/>
          <p:cNvSpPr/>
          <p:nvPr/>
        </p:nvSpPr>
        <p:spPr>
          <a:xfrm>
            <a:off x="548640" y="4498848"/>
            <a:ext cx="11064240" cy="713232"/>
          </a:xfrm>
          <a:prstGeom prst="roundRect">
            <a:avLst>
              <a:gd name="adj" fmla="val 12821"/>
            </a:avLst>
          </a:prstGeom>
          <a:solidFill>
            <a:srgbClr val="FFF6D6"/>
          </a:solidFill>
          <a:ln w="15875">
            <a:solidFill>
              <a:srgbClr val="FFD45C"/>
            </a:solidFill>
            <a:prstDash val="solid"/>
          </a:ln>
        </p:spPr>
      </p:sp>
      <p:sp>
        <p:nvSpPr>
          <p:cNvPr id="7" name="Text 5"/>
          <p:cNvSpPr txBox="1"/>
          <p:nvPr/>
        </p:nvSpPr>
        <p:spPr>
          <a:xfrm>
            <a:off x="731520" y="4572000"/>
            <a:ext cx="1051560" cy="274320"/>
          </a:xfrm>
          <a:prstGeom prst="rect">
            <a:avLst/>
          </a:prstGeom>
          <a:solidFill>
            <a:srgbClr val="EF5B3F"/>
          </a:solidFill>
          <a:ln/>
        </p:spPr>
        <p:txBody>
          <a:bodyPr wrap="square" lIns="0" tIns="0" rIns="0" bIns="0" rtlCol="0" anchor="ctr"/>
          <a:lstStyle/>
          <a:p>
            <a:pPr algn="ctr" indent="0" marL="0">
              <a:buNone/>
            </a:pPr>
            <a:r>
              <a:rPr lang="en-US" sz="1200" b="1" dirty="0">
                <a:solidFill>
                  <a:srgbClr val="FFFFFF"/>
                </a:solidFill>
              </a:rPr>
              <a:t> 근거 이유 </a:t>
            </a:r>
            <a:endParaRPr lang="en-US" sz="1200" dirty="0"/>
          </a:p>
        </p:txBody>
      </p:sp>
      <p:sp>
        <p:nvSpPr>
          <p:cNvPr id="8" name="Text 6"/>
          <p:cNvSpPr txBox="1"/>
          <p:nvPr/>
        </p:nvSpPr>
        <p:spPr>
          <a:xfrm>
            <a:off x="1920240" y="4544568"/>
            <a:ext cx="9555480" cy="621792"/>
          </a:xfrm>
          <a:prstGeom prst="rect">
            <a:avLst/>
          </a:prstGeom>
          <a:noFill/>
          <a:ln/>
        </p:spPr>
        <p:txBody>
          <a:bodyPr wrap="square" lIns="0" tIns="0" rIns="0" bIns="0" rtlCol="0" anchor="ctr">
            <a:normAutofit/>
          </a:bodyPr>
          <a:lstStyle/>
          <a:p>
            <a:pPr indent="0" marL="0">
              <a:lnSpc>
                <a:spcPct val="105000"/>
              </a:lnSpc>
              <a:buNone/>
            </a:pPr>
            <a:r>
              <a:rPr lang="en-US" sz="1400" b="1" dirty="0">
                <a:solidFill>
                  <a:srgbClr val="EF5B3F"/>
                </a:solidFill>
              </a:rPr>
              <a:t>(2) </a:t>
            </a:r>
            <a:pPr indent="0" marL="0">
              <a:lnSpc>
                <a:spcPct val="105000"/>
              </a:lnSpc>
              <a:buNone/>
            </a:pPr>
            <a:r>
              <a:rPr lang="en-US" sz="1400" dirty="0">
                <a:solidFill>
                  <a:srgbClr val="14453D"/>
                </a:solidFill>
              </a:rPr>
              <a:t>새로운 상황에 대응하지 못하는 '훈련된 무능' → (B) unable</a:t>
            </a:r>
            <a:endParaRPr lang="en-US" sz="1400" dirty="0"/>
          </a:p>
          <a:p>
            <a:pPr indent="0" marL="0">
              <a:lnSpc>
                <a:spcPct val="105000"/>
              </a:lnSpc>
              <a:buNone/>
            </a:pPr>
            <a:r>
              <a:rPr lang="en-US" sz="1400" b="1" dirty="0">
                <a:solidFill>
                  <a:srgbClr val="EF5B3F"/>
                </a:solidFill>
              </a:rPr>
              <a:t>(4) </a:t>
            </a:r>
            <a:pPr indent="0" marL="0">
              <a:lnSpc>
                <a:spcPct val="105000"/>
              </a:lnSpc>
              <a:buNone/>
            </a:pPr>
            <a:r>
              <a:rPr lang="en-US" sz="1400" dirty="0">
                <a:solidFill>
                  <a:srgbClr val="14453D"/>
                </a:solidFill>
              </a:rPr>
              <a:t>다양성이 거의 없고 반복적인 업무 → (A) monotonous</a:t>
            </a:r>
            <a:endParaRPr lang="en-US" sz="1400" dirty="0"/>
          </a:p>
        </p:txBody>
      </p:sp>
      <p:sp>
        <p:nvSpPr>
          <p:cNvPr id="9" name="Shape 7"/>
          <p:cNvSpPr/>
          <p:nvPr/>
        </p:nvSpPr>
        <p:spPr>
          <a:xfrm>
            <a:off x="548640" y="5303520"/>
            <a:ext cx="11064240" cy="731520"/>
          </a:xfrm>
          <a:prstGeom prst="roundRect">
            <a:avLst>
              <a:gd name="adj" fmla="val 12500"/>
            </a:avLst>
          </a:prstGeom>
          <a:solidFill>
            <a:srgbClr val="EAF5EF"/>
          </a:solidFill>
          <a:ln w="12700">
            <a:solidFill>
              <a:srgbClr val="CFE6D9"/>
            </a:solidFill>
            <a:prstDash val="solid"/>
          </a:ln>
        </p:spPr>
      </p:sp>
      <p:sp>
        <p:nvSpPr>
          <p:cNvPr id="10" name="Text 8"/>
          <p:cNvSpPr txBox="1"/>
          <p:nvPr/>
        </p:nvSpPr>
        <p:spPr>
          <a:xfrm>
            <a:off x="731520" y="5349240"/>
            <a:ext cx="10698480" cy="640080"/>
          </a:xfrm>
          <a:prstGeom prst="rect">
            <a:avLst/>
          </a:prstGeom>
          <a:noFill/>
          <a:ln/>
        </p:spPr>
        <p:txBody>
          <a:bodyPr wrap="square" lIns="0" tIns="0" rIns="0" bIns="0" rtlCol="0" anchor="ctr">
            <a:normAutofit/>
          </a:bodyPr>
          <a:lstStyle/>
          <a:p>
            <a:pPr indent="0" marL="0">
              <a:lnSpc>
                <a:spcPct val="110000"/>
              </a:lnSpc>
              <a:buNone/>
            </a:pPr>
            <a:r>
              <a:rPr lang="en-US" sz="1400" b="1" dirty="0">
                <a:solidFill>
                  <a:srgbClr val="FFFFFF"/>
                </a:solidFill>
                <a:highlight>
                  <a:srgbClr val="1F7A64"/>
                </a:highlight>
              </a:rPr>
              <a:t> 어휘 </a:t>
            </a:r>
            <a:pPr indent="0" marL="0">
              <a:lnSpc>
                <a:spcPct val="110000"/>
              </a:lnSpc>
              <a:buNone/>
            </a:pPr>
            <a:r>
              <a:rPr lang="en-US" sz="1400" dirty="0">
                <a:solidFill>
                  <a:srgbClr val="000000"/>
                </a:solidFill>
              </a:rPr>
              <a:t>   </a:t>
            </a:r>
            <a:pPr indent="0" marL="0">
              <a:lnSpc>
                <a:spcPct val="110000"/>
              </a:lnSpc>
              <a:buNone/>
            </a:pPr>
            <a:r>
              <a:rPr lang="en-US" sz="1400" b="1" dirty="0">
                <a:solidFill>
                  <a:srgbClr val="1F7A64"/>
                </a:solidFill>
              </a:rPr>
              <a:t>multinational </a:t>
            </a:r>
            <a:pPr indent="0" marL="0">
              <a:lnSpc>
                <a:spcPct val="110000"/>
              </a:lnSpc>
              <a:buNone/>
            </a:pPr>
            <a:r>
              <a:rPr lang="en-US" sz="1400" dirty="0">
                <a:solidFill>
                  <a:srgbClr val="1E2B2A"/>
                </a:solidFill>
              </a:rPr>
              <a:t>다국적의   ·   </a:t>
            </a:r>
            <a:pPr indent="0" marL="0">
              <a:lnSpc>
                <a:spcPct val="110000"/>
              </a:lnSpc>
              <a:buNone/>
            </a:pPr>
            <a:r>
              <a:rPr lang="en-US" sz="1400" b="1" dirty="0">
                <a:solidFill>
                  <a:srgbClr val="1F7A64"/>
                </a:solidFill>
              </a:rPr>
              <a:t>mindlessly </a:t>
            </a:r>
            <a:pPr indent="0" marL="0">
              <a:lnSpc>
                <a:spcPct val="110000"/>
              </a:lnSpc>
              <a:buNone/>
            </a:pPr>
            <a:r>
              <a:rPr lang="en-US" sz="1400" dirty="0">
                <a:solidFill>
                  <a:srgbClr val="1E2B2A"/>
                </a:solidFill>
              </a:rPr>
              <a:t>아무 생각 없이   ·   </a:t>
            </a:r>
            <a:pPr indent="0" marL="0">
              <a:lnSpc>
                <a:spcPct val="110000"/>
              </a:lnSpc>
              <a:buNone/>
            </a:pPr>
            <a:r>
              <a:rPr lang="en-US" sz="1400" b="1" dirty="0">
                <a:solidFill>
                  <a:srgbClr val="1F7A64"/>
                </a:solidFill>
              </a:rPr>
              <a:t>dictates </a:t>
            </a:r>
            <a:pPr indent="0" marL="0">
              <a:lnSpc>
                <a:spcPct val="110000"/>
              </a:lnSpc>
              <a:buNone/>
            </a:pPr>
            <a:r>
              <a:rPr lang="en-US" sz="1400" dirty="0">
                <a:solidFill>
                  <a:srgbClr val="1E2B2A"/>
                </a:solidFill>
              </a:rPr>
              <a:t>지시   ·   </a:t>
            </a:r>
            <a:pPr indent="0" marL="0">
              <a:lnSpc>
                <a:spcPct val="110000"/>
              </a:lnSpc>
              <a:buNone/>
            </a:pPr>
            <a:r>
              <a:rPr lang="en-US" sz="1400" b="1" dirty="0">
                <a:solidFill>
                  <a:srgbClr val="1F7A64"/>
                </a:solidFill>
              </a:rPr>
              <a:t>incapacity </a:t>
            </a:r>
            <a:pPr indent="0" marL="0">
              <a:lnSpc>
                <a:spcPct val="110000"/>
              </a:lnSpc>
              <a:buNone/>
            </a:pPr>
            <a:r>
              <a:rPr lang="en-US" sz="1400" dirty="0">
                <a:solidFill>
                  <a:srgbClr val="1E2B2A"/>
                </a:solidFill>
              </a:rPr>
              <a:t>무능   ·   </a:t>
            </a:r>
            <a:pPr indent="0" marL="0">
              <a:lnSpc>
                <a:spcPct val="110000"/>
              </a:lnSpc>
              <a:buNone/>
            </a:pPr>
            <a:r>
              <a:rPr lang="en-US" sz="1400" b="1" dirty="0">
                <a:solidFill>
                  <a:srgbClr val="1F7A64"/>
                </a:solidFill>
              </a:rPr>
              <a:t>procedures </a:t>
            </a:r>
            <a:pPr indent="0" marL="0">
              <a:lnSpc>
                <a:spcPct val="110000"/>
              </a:lnSpc>
              <a:buNone/>
            </a:pPr>
            <a:r>
              <a:rPr lang="en-US" sz="1400" dirty="0">
                <a:solidFill>
                  <a:srgbClr val="1E2B2A"/>
                </a:solidFill>
              </a:rPr>
              <a:t>절차   ·   </a:t>
            </a:r>
            <a:pPr indent="0" marL="0">
              <a:lnSpc>
                <a:spcPct val="110000"/>
              </a:lnSpc>
              <a:buNone/>
            </a:pPr>
            <a:r>
              <a:rPr lang="en-US" sz="1400" b="1" dirty="0">
                <a:solidFill>
                  <a:srgbClr val="1F7A64"/>
                </a:solidFill>
              </a:rPr>
              <a:t>efficient </a:t>
            </a:r>
            <a:pPr indent="0" marL="0">
              <a:lnSpc>
                <a:spcPct val="110000"/>
              </a:lnSpc>
              <a:buNone/>
            </a:pPr>
            <a:r>
              <a:rPr lang="en-US" sz="1400" dirty="0">
                <a:solidFill>
                  <a:srgbClr val="1E2B2A"/>
                </a:solidFill>
              </a:rPr>
              <a:t>효율적인   ·   </a:t>
            </a:r>
            <a:pPr indent="0" marL="0">
              <a:lnSpc>
                <a:spcPct val="110000"/>
              </a:lnSpc>
              <a:buNone/>
            </a:pPr>
            <a:r>
              <a:rPr lang="en-US" sz="1400" b="1" dirty="0">
                <a:solidFill>
                  <a:srgbClr val="1F7A64"/>
                </a:solidFill>
              </a:rPr>
              <a:t>repetitive </a:t>
            </a:r>
            <a:pPr indent="0" marL="0">
              <a:lnSpc>
                <a:spcPct val="110000"/>
              </a:lnSpc>
              <a:buNone/>
            </a:pPr>
            <a:r>
              <a:rPr lang="en-US" sz="1400" dirty="0">
                <a:solidFill>
                  <a:srgbClr val="1E2B2A"/>
                </a:solidFill>
              </a:rPr>
              <a:t>반복적인</a:t>
            </a:r>
            <a:endParaRPr lang="en-US" sz="1400" dirty="0"/>
          </a:p>
        </p:txBody>
      </p:sp>
      <p:sp>
        <p:nvSpPr>
          <p:cNvPr id="11" name="Text 9"/>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1100" dirty="0">
                <a:solidFill>
                  <a:srgbClr val="FFD45C"/>
                </a:solidFill>
              </a:rPr>
              <a:t>■ </a:t>
            </a:r>
            <a:pPr indent="0" marL="0">
              <a:buNone/>
            </a:pPr>
            <a:r>
              <a:rPr lang="en-US" sz="1100" dirty="0">
                <a:solidFill>
                  <a:srgbClr val="6E7F7C"/>
                </a:solidFill>
              </a:rPr>
              <a:t>형광 = 정답 근거 (이유는 노란 박스)     </a:t>
            </a:r>
            <a:pPr indent="0" marL="0">
              <a:buNone/>
            </a:pPr>
            <a:r>
              <a:rPr lang="en-US" sz="1100" dirty="0">
                <a:solidFill>
                  <a:srgbClr val="A9DDF3"/>
                </a:solidFill>
              </a:rPr>
              <a:t>■ </a:t>
            </a:r>
            <a:pPr indent="0" marL="0">
              <a:buNone/>
            </a:pPr>
            <a:r>
              <a:rPr lang="en-US" sz="1100" dirty="0">
                <a:solidFill>
                  <a:srgbClr val="6E7F7C"/>
                </a:solidFill>
              </a:rPr>
              <a:t>파란 형광 = 문법·내신 포인트     </a:t>
            </a:r>
            <a:pPr indent="0" marL="0">
              <a:buNone/>
            </a:pPr>
            <a:r>
              <a:rPr lang="en-US" sz="1100" b="1" dirty="0">
                <a:solidFill>
                  <a:srgbClr val="1F7A64"/>
                </a:solidFill>
              </a:rPr>
              <a:t>초록 점선 단어 </a:t>
            </a:r>
            <a:pPr indent="0" marL="0">
              <a:buNone/>
            </a:pPr>
            <a:r>
              <a:rPr lang="en-US" sz="1100" dirty="0">
                <a:solidFill>
                  <a:srgbClr val="6E7F7C"/>
                </a:solidFill>
              </a:rPr>
              <a:t>= 하단 어휘     </a:t>
            </a:r>
            <a:pPr indent="0" marL="0">
              <a:buNone/>
            </a:pPr>
            <a:r>
              <a:rPr lang="en-US" sz="1100" b="1" dirty="0">
                <a:solidFill>
                  <a:srgbClr val="1F7A64"/>
                </a:solidFill>
              </a:rPr>
              <a:t>(1) (2) (3) </a:t>
            </a:r>
            <a:pPr indent="0" marL="0">
              <a:buNone/>
            </a:pPr>
            <a:r>
              <a:rPr lang="en-US" sz="1100" dirty="0">
                <a:solidFill>
                  <a:srgbClr val="6E7F7C"/>
                </a:solidFill>
              </a:rPr>
              <a:t>= 문장 번호</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100  </a:t>
            </a:r>
            <a:pPr algn="l" indent="0" marL="0">
              <a:buNone/>
            </a:pPr>
            <a:r>
              <a:rPr lang="en-US" sz="3000" b="1" dirty="0">
                <a:solidFill>
                  <a:srgbClr val="14453D"/>
                </a:solidFill>
              </a:rPr>
              <a:t>훈련된 무능</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흐름 잡기</a:t>
            </a:r>
            <a:endParaRPr lang="en-US" sz="1200" dirty="0"/>
          </a:p>
        </p:txBody>
      </p:sp>
      <p:sp>
        <p:nvSpPr>
          <p:cNvPr id="4" name="Shape 2"/>
          <p:cNvSpPr/>
          <p:nvPr/>
        </p:nvSpPr>
        <p:spPr>
          <a:xfrm>
            <a:off x="548640" y="1325880"/>
            <a:ext cx="5212080" cy="2423160"/>
          </a:xfrm>
          <a:prstGeom prst="roundRect">
            <a:avLst>
              <a:gd name="adj" fmla="val 4528"/>
            </a:avLst>
          </a:prstGeom>
          <a:solidFill>
            <a:srgbClr val="E6F2ED"/>
          </a:solidFill>
          <a:ln w="12700">
            <a:solidFill>
              <a:srgbClr val="E6F2ED"/>
            </a:solidFill>
            <a:prstDash val="solid"/>
          </a:ln>
        </p:spPr>
      </p:sp>
      <p:sp>
        <p:nvSpPr>
          <p:cNvPr id="5" name="Text 3"/>
          <p:cNvSpPr txBox="1"/>
          <p:nvPr/>
        </p:nvSpPr>
        <p:spPr>
          <a:xfrm>
            <a:off x="822960" y="1463040"/>
            <a:ext cx="4663440" cy="320040"/>
          </a:xfrm>
          <a:prstGeom prst="rect">
            <a:avLst/>
          </a:prstGeom>
          <a:noFill/>
          <a:ln/>
        </p:spPr>
        <p:txBody>
          <a:bodyPr wrap="square" lIns="0" tIns="0" rIns="0" bIns="0" rtlCol="0" anchor="ctr"/>
          <a:lstStyle/>
          <a:p>
            <a:pPr indent="0" marL="0">
              <a:buNone/>
            </a:pPr>
            <a:r>
              <a:rPr lang="en-US" sz="1300" b="1" dirty="0">
                <a:solidFill>
                  <a:srgbClr val="1F7A64"/>
                </a:solidFill>
              </a:rPr>
              <a:t>STEP 1 · 요약문 먼저</a:t>
            </a:r>
            <a:endParaRPr lang="en-US" sz="1300" dirty="0"/>
          </a:p>
        </p:txBody>
      </p:sp>
      <p:sp>
        <p:nvSpPr>
          <p:cNvPr id="6" name="Text 4"/>
          <p:cNvSpPr txBox="1"/>
          <p:nvPr/>
        </p:nvSpPr>
        <p:spPr>
          <a:xfrm>
            <a:off x="822960" y="1828800"/>
            <a:ext cx="4663440" cy="868680"/>
          </a:xfrm>
          <a:prstGeom prst="rect">
            <a:avLst/>
          </a:prstGeom>
          <a:noFill/>
          <a:ln/>
        </p:spPr>
        <p:txBody>
          <a:bodyPr wrap="square" lIns="0" tIns="0" rIns="0" bIns="0" rtlCol="0" anchor="t">
            <a:normAutofit/>
          </a:bodyPr>
          <a:lstStyle/>
          <a:p>
            <a:pPr indent="0" marL="0">
              <a:buNone/>
            </a:pPr>
            <a:r>
              <a:rPr lang="en-US" sz="1300" b="1" i="1" dirty="0">
                <a:solidFill>
                  <a:srgbClr val="14453D"/>
                </a:solidFill>
              </a:rPr>
              <a:t>When the workers of organizations are trained to do (A) jobs, they possibly end up being (B) to deal with new or changing situations.</a:t>
            </a:r>
            <a:endParaRPr lang="en-US" sz="1300" dirty="0"/>
          </a:p>
        </p:txBody>
      </p:sp>
      <p:sp>
        <p:nvSpPr>
          <p:cNvPr id="7" name="Text 5"/>
          <p:cNvSpPr txBox="1"/>
          <p:nvPr/>
        </p:nvSpPr>
        <p:spPr>
          <a:xfrm>
            <a:off x="822960" y="2715768"/>
            <a:ext cx="4663440" cy="457200"/>
          </a:xfrm>
          <a:prstGeom prst="rect">
            <a:avLst/>
          </a:prstGeom>
          <a:noFill/>
          <a:ln/>
        </p:spPr>
        <p:txBody>
          <a:bodyPr wrap="square" lIns="0" tIns="0" rIns="0" bIns="0" rtlCol="0" anchor="t">
            <a:normAutofit/>
          </a:bodyPr>
          <a:lstStyle/>
          <a:p>
            <a:pPr indent="0" marL="0">
              <a:buNone/>
            </a:pPr>
            <a:r>
              <a:rPr lang="en-US" sz="1100" dirty="0">
                <a:solidFill>
                  <a:srgbClr val="1E2B2A"/>
                </a:solidFill>
              </a:rPr>
              <a:t>조직의 직원들이 (A) 일을 하도록 훈련받으면, 결국 새롭거나 변화하는 상황에 대처할 수 (B) 될 수 있다.</a:t>
            </a:r>
            <a:endParaRPr lang="en-US" sz="1100" dirty="0"/>
          </a:p>
        </p:txBody>
      </p:sp>
      <p:sp>
        <p:nvSpPr>
          <p:cNvPr id="8" name="Text 6"/>
          <p:cNvSpPr txBox="1"/>
          <p:nvPr/>
        </p:nvSpPr>
        <p:spPr>
          <a:xfrm>
            <a:off x="822960" y="3200400"/>
            <a:ext cx="4663440" cy="411480"/>
          </a:xfrm>
          <a:prstGeom prst="rect">
            <a:avLst/>
          </a:prstGeom>
          <a:noFill/>
          <a:ln/>
        </p:spPr>
        <p:txBody>
          <a:bodyPr wrap="square" lIns="0" tIns="0" rIns="0" bIns="0" rtlCol="0" anchor="ctr"/>
          <a:lstStyle/>
          <a:p>
            <a:pPr indent="0" marL="0">
              <a:buNone/>
            </a:pPr>
            <a:r>
              <a:rPr lang="en-US" sz="1500" b="1" dirty="0">
                <a:solidFill>
                  <a:srgbClr val="EF5B3F"/>
                </a:solidFill>
              </a:rPr>
              <a:t>찾을 것  </a:t>
            </a:r>
            <a:pPr indent="0" marL="0">
              <a:buNone/>
            </a:pPr>
            <a:r>
              <a:rPr lang="en-US" sz="1500" b="1" dirty="0">
                <a:solidFill>
                  <a:srgbClr val="14453D"/>
                </a:solidFill>
              </a:rPr>
              <a:t>(A) 어떤 일? / (B) 새 상황에 대처할 수 있나?</a:t>
            </a:r>
            <a:endParaRPr lang="en-US" sz="1500" dirty="0"/>
          </a:p>
        </p:txBody>
      </p:sp>
      <p:sp>
        <p:nvSpPr>
          <p:cNvPr id="9" name="Shape 7"/>
          <p:cNvSpPr/>
          <p:nvPr/>
        </p:nvSpPr>
        <p:spPr>
          <a:xfrm>
            <a:off x="548640" y="3931920"/>
            <a:ext cx="5212080" cy="2331720"/>
          </a:xfrm>
          <a:prstGeom prst="roundRect">
            <a:avLst>
              <a:gd name="adj" fmla="val 4706"/>
            </a:avLst>
          </a:prstGeom>
          <a:solidFill>
            <a:srgbClr val="FFFFFF"/>
          </a:solidFill>
          <a:ln w="19050">
            <a:solidFill>
              <a:srgbClr val="EF5B3F"/>
            </a:solidFill>
            <a:prstDash val="solid"/>
          </a:ln>
        </p:spPr>
      </p:sp>
      <p:pic>
        <p:nvPicPr>
          <p:cNvPr id="10" name="Image 0" descr="preencoded.png">    </p:cNvPr>
          <p:cNvPicPr>
            <a:picLocks noChangeAspect="1"/>
          </p:cNvPicPr>
          <p:nvPr/>
        </p:nvPicPr>
        <p:blipFill>
          <a:blip r:embed="rId1"/>
          <a:stretch>
            <a:fillRect/>
          </a:stretch>
        </p:blipFill>
        <p:spPr>
          <a:xfrm>
            <a:off x="822960" y="4096512"/>
            <a:ext cx="274320" cy="274320"/>
          </a:xfrm>
          <a:prstGeom prst="rect">
            <a:avLst/>
          </a:prstGeom>
        </p:spPr>
      </p:pic>
      <p:sp>
        <p:nvSpPr>
          <p:cNvPr id="11" name="Text 8"/>
          <p:cNvSpPr txBox="1"/>
          <p:nvPr/>
        </p:nvSpPr>
        <p:spPr>
          <a:xfrm>
            <a:off x="1188720" y="4069080"/>
            <a:ext cx="4114800" cy="320040"/>
          </a:xfrm>
          <a:prstGeom prst="rect">
            <a:avLst/>
          </a:prstGeom>
          <a:noFill/>
          <a:ln/>
        </p:spPr>
        <p:txBody>
          <a:bodyPr wrap="square" lIns="0" tIns="0" rIns="0" bIns="0" rtlCol="0" anchor="ctr"/>
          <a:lstStyle/>
          <a:p>
            <a:pPr indent="0" marL="0">
              <a:buNone/>
            </a:pPr>
            <a:r>
              <a:rPr lang="en-US" sz="1300" b="1" dirty="0">
                <a:solidFill>
                  <a:srgbClr val="EF5B3F"/>
                </a:solidFill>
              </a:rPr>
              <a:t>STEP 2 · 결정적 단서</a:t>
            </a:r>
            <a:endParaRPr lang="en-US" sz="1300" dirty="0"/>
          </a:p>
        </p:txBody>
      </p:sp>
      <p:sp>
        <p:nvSpPr>
          <p:cNvPr id="12" name="Text 9"/>
          <p:cNvSpPr txBox="1"/>
          <p:nvPr/>
        </p:nvSpPr>
        <p:spPr>
          <a:xfrm>
            <a:off x="822960" y="4480560"/>
            <a:ext cx="4663440" cy="1005840"/>
          </a:xfrm>
          <a:prstGeom prst="rect">
            <a:avLst/>
          </a:prstGeom>
          <a:noFill/>
          <a:ln/>
        </p:spPr>
        <p:txBody>
          <a:bodyPr wrap="square" lIns="0" tIns="0" rIns="0" bIns="0" rtlCol="0" anchor="t"/>
          <a:lstStyle/>
          <a:p>
            <a:pPr indent="0" marL="0">
              <a:buNone/>
            </a:pPr>
            <a:r>
              <a:rPr lang="en-US" sz="1400" i="1" dirty="0">
                <a:solidFill>
                  <a:srgbClr val="14453D"/>
                </a:solidFill>
              </a:rPr>
              <a:t>At the root of trained incapacity is a job with little variety and repetitive tasks.</a:t>
            </a:r>
            <a:endParaRPr lang="en-US" sz="1400" dirty="0"/>
          </a:p>
        </p:txBody>
      </p:sp>
      <p:sp>
        <p:nvSpPr>
          <p:cNvPr id="13" name="Text 10"/>
          <p:cNvSpPr txBox="1"/>
          <p:nvPr/>
        </p:nvSpPr>
        <p:spPr>
          <a:xfrm>
            <a:off x="822960" y="5486400"/>
            <a:ext cx="4663440" cy="685800"/>
          </a:xfrm>
          <a:prstGeom prst="rect">
            <a:avLst/>
          </a:prstGeom>
          <a:noFill/>
          <a:ln/>
        </p:spPr>
        <p:txBody>
          <a:bodyPr wrap="square" lIns="0" tIns="0" rIns="0" bIns="0" rtlCol="0" anchor="t"/>
          <a:lstStyle/>
          <a:p>
            <a:pPr indent="0" marL="0">
              <a:buNone/>
            </a:pPr>
            <a:r>
              <a:rPr lang="en-US" sz="1300" dirty="0">
                <a:solidFill>
                  <a:srgbClr val="6E7F7C"/>
                </a:solidFill>
              </a:rPr>
              <a:t>훈련된 무능의 근원에는 다양성이 거의 없고 반복적인 업무가 있다 → (A) monotonous</a:t>
            </a:r>
            <a:endParaRPr lang="en-US" sz="1300" dirty="0"/>
          </a:p>
        </p:txBody>
      </p:sp>
      <p:sp>
        <p:nvSpPr>
          <p:cNvPr id="14" name="Text 11"/>
          <p:cNvSpPr txBox="1"/>
          <p:nvPr/>
        </p:nvSpPr>
        <p:spPr>
          <a:xfrm>
            <a:off x="6217920" y="1325880"/>
            <a:ext cx="2743200" cy="320040"/>
          </a:xfrm>
          <a:prstGeom prst="rect">
            <a:avLst/>
          </a:prstGeom>
          <a:noFill/>
          <a:ln/>
        </p:spPr>
        <p:txBody>
          <a:bodyPr wrap="square" lIns="0" tIns="0" rIns="0" bIns="0" rtlCol="0" anchor="ctr"/>
          <a:lstStyle/>
          <a:p>
            <a:pPr indent="0" marL="0">
              <a:buNone/>
            </a:pPr>
            <a:r>
              <a:rPr lang="en-US" sz="1300" b="1" dirty="0">
                <a:solidFill>
                  <a:srgbClr val="1F7A64"/>
                </a:solidFill>
              </a:rPr>
              <a:t>글의 흐름</a:t>
            </a:r>
            <a:endParaRPr lang="en-US" sz="1300" dirty="0"/>
          </a:p>
        </p:txBody>
      </p:sp>
      <p:sp>
        <p:nvSpPr>
          <p:cNvPr id="15" name="Shape 12"/>
          <p:cNvSpPr/>
          <p:nvPr/>
        </p:nvSpPr>
        <p:spPr>
          <a:xfrm>
            <a:off x="6537960" y="2057400"/>
            <a:ext cx="0" cy="3511296"/>
          </a:xfrm>
          <a:prstGeom prst="line">
            <a:avLst/>
          </a:prstGeom>
          <a:noFill/>
          <a:ln w="38100">
            <a:solidFill>
              <a:srgbClr val="E6F2ED"/>
            </a:solidFill>
            <a:prstDash val="solid"/>
          </a:ln>
        </p:spPr>
      </p:sp>
      <p:sp>
        <p:nvSpPr>
          <p:cNvPr id="16" name="Text 13"/>
          <p:cNvSpPr/>
          <p:nvPr/>
        </p:nvSpPr>
        <p:spPr>
          <a:xfrm>
            <a:off x="6263640" y="1783080"/>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7" name="Text 14"/>
          <p:cNvSpPr txBox="1"/>
          <p:nvPr/>
        </p:nvSpPr>
        <p:spPr>
          <a:xfrm>
            <a:off x="7040880" y="1783080"/>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도입</a:t>
            </a:r>
            <a:endParaRPr lang="en-US" sz="1400" dirty="0"/>
          </a:p>
        </p:txBody>
      </p:sp>
      <p:sp>
        <p:nvSpPr>
          <p:cNvPr id="18" name="Text 15"/>
          <p:cNvSpPr txBox="1"/>
          <p:nvPr/>
        </p:nvSpPr>
        <p:spPr>
          <a:xfrm>
            <a:off x="7040880" y="2121408"/>
            <a:ext cx="4572000" cy="667512"/>
          </a:xfrm>
          <a:prstGeom prst="rect">
            <a:avLst/>
          </a:prstGeom>
          <a:noFill/>
          <a:ln/>
        </p:spPr>
        <p:txBody>
          <a:bodyPr wrap="square" lIns="0" tIns="0" rIns="0" bIns="0" rtlCol="0" anchor="t"/>
          <a:lstStyle/>
          <a:p>
            <a:pPr indent="0" marL="0">
              <a:buNone/>
            </a:pPr>
            <a:r>
              <a:rPr lang="en-US" sz="1400" dirty="0">
                <a:solidFill>
                  <a:srgbClr val="1E2B2A"/>
                </a:solidFill>
              </a:rPr>
              <a:t>조직은 직원을 일정한 방식으로 훈련하고 보상한다</a:t>
            </a:r>
            <a:endParaRPr lang="en-US" sz="1400" dirty="0"/>
          </a:p>
        </p:txBody>
      </p:sp>
      <p:sp>
        <p:nvSpPr>
          <p:cNvPr id="19" name="Text 16"/>
          <p:cNvSpPr/>
          <p:nvPr/>
        </p:nvSpPr>
        <p:spPr>
          <a:xfrm>
            <a:off x="6263640" y="2953512"/>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20" name="Text 17"/>
          <p:cNvSpPr txBox="1"/>
          <p:nvPr/>
        </p:nvSpPr>
        <p:spPr>
          <a:xfrm>
            <a:off x="7040880" y="2953512"/>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문제</a:t>
            </a:r>
            <a:endParaRPr lang="en-US" sz="1400" dirty="0"/>
          </a:p>
        </p:txBody>
      </p:sp>
      <p:sp>
        <p:nvSpPr>
          <p:cNvPr id="21" name="Text 18"/>
          <p:cNvSpPr txBox="1"/>
          <p:nvPr/>
        </p:nvSpPr>
        <p:spPr>
          <a:xfrm>
            <a:off x="7040880" y="3291840"/>
            <a:ext cx="4572000" cy="667512"/>
          </a:xfrm>
          <a:prstGeom prst="rect">
            <a:avLst/>
          </a:prstGeom>
          <a:noFill/>
          <a:ln/>
        </p:spPr>
        <p:txBody>
          <a:bodyPr wrap="square" lIns="0" tIns="0" rIns="0" bIns="0" rtlCol="0" anchor="t"/>
          <a:lstStyle/>
          <a:p>
            <a:pPr indent="0" marL="0">
              <a:buNone/>
            </a:pPr>
            <a:r>
              <a:rPr lang="en-US" sz="1400" dirty="0">
                <a:solidFill>
                  <a:srgbClr val="1E2B2A"/>
                </a:solidFill>
              </a:rPr>
              <a:t>생각 없이 반응하도록 훈련 → 훈련된 무능 (새 상황 대응 불가)</a:t>
            </a:r>
            <a:endParaRPr lang="en-US" sz="1400" dirty="0"/>
          </a:p>
        </p:txBody>
      </p:sp>
      <p:sp>
        <p:nvSpPr>
          <p:cNvPr id="22" name="Text 19"/>
          <p:cNvSpPr/>
          <p:nvPr/>
        </p:nvSpPr>
        <p:spPr>
          <a:xfrm>
            <a:off x="6263640" y="4123944"/>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3" name="Text 20"/>
          <p:cNvSpPr txBox="1"/>
          <p:nvPr/>
        </p:nvSpPr>
        <p:spPr>
          <a:xfrm>
            <a:off x="7040880" y="4123944"/>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재진술</a:t>
            </a:r>
            <a:endParaRPr lang="en-US" sz="1400" dirty="0"/>
          </a:p>
        </p:txBody>
      </p:sp>
      <p:sp>
        <p:nvSpPr>
          <p:cNvPr id="24" name="Text 21"/>
          <p:cNvSpPr txBox="1"/>
          <p:nvPr/>
        </p:nvSpPr>
        <p:spPr>
          <a:xfrm>
            <a:off x="7040880" y="4462272"/>
            <a:ext cx="4572000" cy="667512"/>
          </a:xfrm>
          <a:prstGeom prst="rect">
            <a:avLst/>
          </a:prstGeom>
          <a:noFill/>
          <a:ln/>
        </p:spPr>
        <p:txBody>
          <a:bodyPr wrap="square" lIns="0" tIns="0" rIns="0" bIns="0" rtlCol="0" anchor="t"/>
          <a:lstStyle/>
          <a:p>
            <a:pPr indent="0" marL="0">
              <a:buNone/>
            </a:pPr>
            <a:r>
              <a:rPr lang="en-US" sz="1400" dirty="0">
                <a:solidFill>
                  <a:srgbClr val="1E2B2A"/>
                </a:solidFill>
              </a:rPr>
              <a:t>In other words: 효율만 좇다 다른 중요한 문제를 무시</a:t>
            </a:r>
            <a:endParaRPr lang="en-US" sz="1400" dirty="0"/>
          </a:p>
        </p:txBody>
      </p:sp>
      <p:sp>
        <p:nvSpPr>
          <p:cNvPr id="25" name="Text 22"/>
          <p:cNvSpPr/>
          <p:nvPr/>
        </p:nvSpPr>
        <p:spPr>
          <a:xfrm>
            <a:off x="6263640" y="5294376"/>
            <a:ext cx="548640" cy="548640"/>
          </a:xfrm>
          <a:prstGeom prst="ellipse">
            <a:avLst/>
          </a:prstGeom>
          <a:solidFill>
            <a:srgbClr val="EF5B3F"/>
          </a:solid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6" name="Text 23"/>
          <p:cNvSpPr txBox="1"/>
          <p:nvPr/>
        </p:nvSpPr>
        <p:spPr>
          <a:xfrm>
            <a:off x="7040880" y="5294376"/>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원인</a:t>
            </a:r>
            <a:endParaRPr lang="en-US" sz="1400" dirty="0"/>
          </a:p>
        </p:txBody>
      </p:sp>
      <p:sp>
        <p:nvSpPr>
          <p:cNvPr id="27" name="Text 24"/>
          <p:cNvSpPr txBox="1"/>
          <p:nvPr/>
        </p:nvSpPr>
        <p:spPr>
          <a:xfrm>
            <a:off x="7040880" y="5632704"/>
            <a:ext cx="4572000" cy="667512"/>
          </a:xfrm>
          <a:prstGeom prst="rect">
            <a:avLst/>
          </a:prstGeom>
          <a:noFill/>
          <a:ln/>
        </p:spPr>
        <p:txBody>
          <a:bodyPr wrap="square" lIns="0" tIns="0" rIns="0" bIns="0" rtlCol="0" anchor="t"/>
          <a:lstStyle/>
          <a:p>
            <a:pPr indent="0" marL="0">
              <a:buNone/>
            </a:pPr>
            <a:r>
              <a:rPr lang="en-US" sz="1400" dirty="0">
                <a:solidFill>
                  <a:srgbClr val="1E2B2A"/>
                </a:solidFill>
              </a:rPr>
              <a:t>다양성 없는 반복 업무 = 훈련된 무능의 근원</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100  </a:t>
            </a:r>
            <a:pPr algn="l" indent="0" marL="0">
              <a:buNone/>
            </a:pPr>
            <a:r>
              <a:rPr lang="en-US" sz="3000" b="1" dirty="0">
                <a:solidFill>
                  <a:srgbClr val="14453D"/>
                </a:solidFill>
              </a:rPr>
              <a:t>정답 &amp; 해설</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정답</a:t>
            </a:r>
            <a:endParaRPr lang="en-US" sz="1200" dirty="0"/>
          </a:p>
        </p:txBody>
      </p:sp>
      <p:sp>
        <p:nvSpPr>
          <p:cNvPr id="4" name="Shape 2"/>
          <p:cNvSpPr/>
          <p:nvPr/>
        </p:nvSpPr>
        <p:spPr>
          <a:xfrm>
            <a:off x="548640" y="1325880"/>
            <a:ext cx="3749040" cy="4983480"/>
          </a:xfrm>
          <a:prstGeom prst="roundRect">
            <a:avLst>
              <a:gd name="adj" fmla="val 3659"/>
            </a:avLst>
          </a:prstGeom>
          <a:solidFill>
            <a:srgbClr val="14453D"/>
          </a:solidFill>
          <a:ln w="12700">
            <a:solidFill>
              <a:srgbClr val="14453D"/>
            </a:solidFill>
            <a:prstDash val="solid"/>
          </a:ln>
        </p:spPr>
      </p:sp>
      <p:sp>
        <p:nvSpPr>
          <p:cNvPr id="5" name="Text 3"/>
          <p:cNvSpPr txBox="1"/>
          <p:nvPr/>
        </p:nvSpPr>
        <p:spPr>
          <a:xfrm>
            <a:off x="868680" y="1554480"/>
            <a:ext cx="3108960" cy="365760"/>
          </a:xfrm>
          <a:prstGeom prst="rect">
            <a:avLst/>
          </a:prstGeom>
          <a:noFill/>
          <a:ln/>
        </p:spPr>
        <p:txBody>
          <a:bodyPr wrap="square" lIns="0" tIns="0" rIns="0" bIns="0" rtlCol="0" anchor="ctr"/>
          <a:lstStyle/>
          <a:p>
            <a:pPr indent="0" marL="0">
              <a:buNone/>
            </a:pPr>
            <a:r>
              <a:rPr lang="en-US" sz="1600" b="1" dirty="0">
                <a:solidFill>
                  <a:srgbClr val="FFD45C"/>
                </a:solidFill>
              </a:rPr>
              <a:t>정답</a:t>
            </a:r>
            <a:endParaRPr lang="en-US" sz="1600" dirty="0"/>
          </a:p>
        </p:txBody>
      </p:sp>
      <p:sp>
        <p:nvSpPr>
          <p:cNvPr id="6" name="Text 4"/>
          <p:cNvSpPr txBox="1"/>
          <p:nvPr/>
        </p:nvSpPr>
        <p:spPr>
          <a:xfrm>
            <a:off x="868680" y="1920240"/>
            <a:ext cx="3108960" cy="1188720"/>
          </a:xfrm>
          <a:prstGeom prst="rect">
            <a:avLst/>
          </a:prstGeom>
          <a:noFill/>
          <a:ln/>
        </p:spPr>
        <p:txBody>
          <a:bodyPr wrap="square" lIns="0" tIns="0" rIns="0" bIns="0" rtlCol="0" anchor="ctr"/>
          <a:lstStyle/>
          <a:p>
            <a:pPr indent="0" marL="0">
              <a:buNone/>
            </a:pPr>
            <a:r>
              <a:rPr lang="en-US" sz="7200" b="1" dirty="0">
                <a:solidFill>
                  <a:srgbClr val="FFFFFF"/>
                </a:solidFill>
              </a:rPr>
              <a:t>④</a:t>
            </a:r>
            <a:endParaRPr lang="en-US" sz="7200" dirty="0"/>
          </a:p>
        </p:txBody>
      </p:sp>
      <p:sp>
        <p:nvSpPr>
          <p:cNvPr id="7" name="Text 5"/>
          <p:cNvSpPr txBox="1"/>
          <p:nvPr/>
        </p:nvSpPr>
        <p:spPr>
          <a:xfrm>
            <a:off x="868680" y="3337560"/>
            <a:ext cx="3154680" cy="1280160"/>
          </a:xfrm>
          <a:prstGeom prst="rect">
            <a:avLst/>
          </a:prstGeom>
          <a:noFill/>
          <a:ln/>
        </p:spPr>
        <p:txBody>
          <a:bodyPr wrap="square" lIns="0" tIns="0" rIns="0" bIns="0" rtlCol="0" anchor="t"/>
          <a:lstStyle/>
          <a:p>
            <a:pPr indent="0" marL="0">
              <a:buNone/>
            </a:pPr>
            <a:r>
              <a:rPr lang="en-US" sz="1700" b="1" i="1" dirty="0">
                <a:solidFill>
                  <a:srgbClr val="FFFFFF"/>
                </a:solidFill>
              </a:rPr>
              <a:t>monotonous ----- unable</a:t>
            </a:r>
            <a:endParaRPr lang="en-US" sz="1700" dirty="0"/>
          </a:p>
        </p:txBody>
      </p:sp>
      <p:sp>
        <p:nvSpPr>
          <p:cNvPr id="8" name="Text 6"/>
          <p:cNvSpPr txBox="1"/>
          <p:nvPr/>
        </p:nvSpPr>
        <p:spPr>
          <a:xfrm>
            <a:off x="868680" y="4663440"/>
            <a:ext cx="3154680" cy="1463040"/>
          </a:xfrm>
          <a:prstGeom prst="rect">
            <a:avLst/>
          </a:prstGeom>
          <a:noFill/>
          <a:ln/>
        </p:spPr>
        <p:txBody>
          <a:bodyPr wrap="square" lIns="0" tIns="0" rIns="0" bIns="0" rtlCol="0" anchor="t"/>
          <a:lstStyle/>
          <a:p>
            <a:pPr indent="0" marL="0">
              <a:buNone/>
            </a:pPr>
            <a:r>
              <a:rPr lang="en-US" sz="1400" dirty="0">
                <a:solidFill>
                  <a:srgbClr val="E6F2ED"/>
                </a:solidFill>
              </a:rPr>
              <a:t>단조로운 = little variety, repetitive / 할 수 없는 = incapacity</a:t>
            </a:r>
            <a:endParaRPr lang="en-US" sz="1400" dirty="0"/>
          </a:p>
        </p:txBody>
      </p:sp>
      <p:sp>
        <p:nvSpPr>
          <p:cNvPr id="9" name="Shape 7"/>
          <p:cNvSpPr/>
          <p:nvPr/>
        </p:nvSpPr>
        <p:spPr>
          <a:xfrm>
            <a:off x="4572000" y="1325880"/>
            <a:ext cx="7040880" cy="905256"/>
          </a:xfrm>
          <a:prstGeom prst="roundRect">
            <a:avLst>
              <a:gd name="adj" fmla="val 10101"/>
            </a:avLst>
          </a:prstGeom>
          <a:solidFill>
            <a:srgbClr val="FFFFFF"/>
          </a:solidFill>
          <a:ln w="12700">
            <a:solidFill>
              <a:srgbClr val="E6F2ED"/>
            </a:solidFill>
            <a:prstDash val="solid"/>
          </a:ln>
        </p:spPr>
      </p:sp>
      <p:sp>
        <p:nvSpPr>
          <p:cNvPr id="10" name="Text 8"/>
          <p:cNvSpPr txBox="1"/>
          <p:nvPr/>
        </p:nvSpPr>
        <p:spPr>
          <a:xfrm>
            <a:off x="4754880" y="1435608"/>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①</a:t>
            </a:r>
            <a:endParaRPr lang="en-US" sz="2000" dirty="0"/>
          </a:p>
        </p:txBody>
      </p:sp>
      <p:sp>
        <p:nvSpPr>
          <p:cNvPr id="11" name="Text 9"/>
          <p:cNvSpPr txBox="1"/>
          <p:nvPr/>
        </p:nvSpPr>
        <p:spPr>
          <a:xfrm>
            <a:off x="5257800" y="1399032"/>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complex ----- afraid</a:t>
            </a:r>
            <a:endParaRPr lang="en-US" sz="1500" dirty="0"/>
          </a:p>
        </p:txBody>
      </p:sp>
      <p:sp>
        <p:nvSpPr>
          <p:cNvPr id="12" name="Text 10"/>
          <p:cNvSpPr txBox="1"/>
          <p:nvPr/>
        </p:nvSpPr>
        <p:spPr>
          <a:xfrm>
            <a:off x="5257800" y="1801368"/>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복잡한 ✘ / 두려워하는 ✘ → 단순 반복 업무가 원인</a:t>
            </a:r>
            <a:endParaRPr lang="en-US" sz="1300" dirty="0"/>
          </a:p>
        </p:txBody>
      </p:sp>
      <p:sp>
        <p:nvSpPr>
          <p:cNvPr id="13" name="Shape 11"/>
          <p:cNvSpPr/>
          <p:nvPr/>
        </p:nvSpPr>
        <p:spPr>
          <a:xfrm>
            <a:off x="4572000" y="2340864"/>
            <a:ext cx="7040880" cy="905256"/>
          </a:xfrm>
          <a:prstGeom prst="roundRect">
            <a:avLst>
              <a:gd name="adj" fmla="val 10101"/>
            </a:avLst>
          </a:prstGeom>
          <a:solidFill>
            <a:srgbClr val="FFFFFF"/>
          </a:solidFill>
          <a:ln w="12700">
            <a:solidFill>
              <a:srgbClr val="E6F2ED"/>
            </a:solidFill>
            <a:prstDash val="solid"/>
          </a:ln>
        </p:spPr>
      </p:sp>
      <p:sp>
        <p:nvSpPr>
          <p:cNvPr id="14" name="Text 12"/>
          <p:cNvSpPr txBox="1"/>
          <p:nvPr/>
        </p:nvSpPr>
        <p:spPr>
          <a:xfrm>
            <a:off x="4754880" y="2450592"/>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②</a:t>
            </a:r>
            <a:endParaRPr lang="en-US" sz="2000" dirty="0"/>
          </a:p>
        </p:txBody>
      </p:sp>
      <p:sp>
        <p:nvSpPr>
          <p:cNvPr id="15" name="Text 13"/>
          <p:cNvSpPr txBox="1"/>
          <p:nvPr/>
        </p:nvSpPr>
        <p:spPr>
          <a:xfrm>
            <a:off x="5257800" y="2414016"/>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repetitive ----- eager</a:t>
            </a:r>
            <a:endParaRPr lang="en-US" sz="1500" dirty="0"/>
          </a:p>
        </p:txBody>
      </p:sp>
      <p:sp>
        <p:nvSpPr>
          <p:cNvPr id="16" name="Text 14"/>
          <p:cNvSpPr txBox="1"/>
          <p:nvPr/>
        </p:nvSpPr>
        <p:spPr>
          <a:xfrm>
            <a:off x="5257800" y="2816352"/>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반복적인 ✔ / 열망하는 ✘</a:t>
            </a:r>
            <a:endParaRPr lang="en-US" sz="1300" dirty="0"/>
          </a:p>
        </p:txBody>
      </p:sp>
      <p:sp>
        <p:nvSpPr>
          <p:cNvPr id="17" name="Shape 15"/>
          <p:cNvSpPr/>
          <p:nvPr/>
        </p:nvSpPr>
        <p:spPr>
          <a:xfrm>
            <a:off x="4572000" y="3355848"/>
            <a:ext cx="7040880" cy="905256"/>
          </a:xfrm>
          <a:prstGeom prst="roundRect">
            <a:avLst>
              <a:gd name="adj" fmla="val 10101"/>
            </a:avLst>
          </a:prstGeom>
          <a:solidFill>
            <a:srgbClr val="FFFFFF"/>
          </a:solidFill>
          <a:ln w="12700">
            <a:solidFill>
              <a:srgbClr val="E6F2ED"/>
            </a:solidFill>
            <a:prstDash val="solid"/>
          </a:ln>
        </p:spPr>
      </p:sp>
      <p:sp>
        <p:nvSpPr>
          <p:cNvPr id="18" name="Text 16"/>
          <p:cNvSpPr txBox="1"/>
          <p:nvPr/>
        </p:nvSpPr>
        <p:spPr>
          <a:xfrm>
            <a:off x="4754880" y="3465576"/>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③</a:t>
            </a:r>
            <a:endParaRPr lang="en-US" sz="2000" dirty="0"/>
          </a:p>
        </p:txBody>
      </p:sp>
      <p:sp>
        <p:nvSpPr>
          <p:cNvPr id="19" name="Text 17"/>
          <p:cNvSpPr txBox="1"/>
          <p:nvPr/>
        </p:nvSpPr>
        <p:spPr>
          <a:xfrm>
            <a:off x="5257800" y="3429000"/>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demanding ----- prompt</a:t>
            </a:r>
            <a:endParaRPr lang="en-US" sz="1500" dirty="0"/>
          </a:p>
        </p:txBody>
      </p:sp>
      <p:sp>
        <p:nvSpPr>
          <p:cNvPr id="20" name="Text 18"/>
          <p:cNvSpPr txBox="1"/>
          <p:nvPr/>
        </p:nvSpPr>
        <p:spPr>
          <a:xfrm>
            <a:off x="5257800" y="3831336"/>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힘든 ✘ / 신속한 ✘ → 대처를 '못 함'</a:t>
            </a:r>
            <a:endParaRPr lang="en-US" sz="1300" dirty="0"/>
          </a:p>
        </p:txBody>
      </p:sp>
      <p:sp>
        <p:nvSpPr>
          <p:cNvPr id="21" name="Shape 19"/>
          <p:cNvSpPr/>
          <p:nvPr/>
        </p:nvSpPr>
        <p:spPr>
          <a:xfrm>
            <a:off x="4572000" y="4370832"/>
            <a:ext cx="7040880" cy="905256"/>
          </a:xfrm>
          <a:prstGeom prst="roundRect">
            <a:avLst>
              <a:gd name="adj" fmla="val 10101"/>
            </a:avLst>
          </a:prstGeom>
          <a:solidFill>
            <a:srgbClr val="F7E9E4"/>
          </a:solidFill>
          <a:ln w="25400">
            <a:solidFill>
              <a:srgbClr val="EF5B3F"/>
            </a:solidFill>
            <a:prstDash val="solid"/>
          </a:ln>
        </p:spPr>
      </p:sp>
      <p:sp>
        <p:nvSpPr>
          <p:cNvPr id="22" name="Text 20"/>
          <p:cNvSpPr txBox="1"/>
          <p:nvPr/>
        </p:nvSpPr>
        <p:spPr>
          <a:xfrm>
            <a:off x="4754880" y="4480560"/>
            <a:ext cx="411480" cy="411480"/>
          </a:xfrm>
          <a:prstGeom prst="rect">
            <a:avLst/>
          </a:prstGeom>
          <a:noFill/>
          <a:ln/>
        </p:spPr>
        <p:txBody>
          <a:bodyPr wrap="square" lIns="0" tIns="0" rIns="0" bIns="0" rtlCol="0" anchor="ctr"/>
          <a:lstStyle/>
          <a:p>
            <a:pPr indent="0" marL="0">
              <a:buNone/>
            </a:pPr>
            <a:r>
              <a:rPr lang="en-US" sz="2000" b="1" dirty="0">
                <a:solidFill>
                  <a:srgbClr val="EF5B3F"/>
                </a:solidFill>
              </a:rPr>
              <a:t>④</a:t>
            </a:r>
            <a:endParaRPr lang="en-US" sz="2000" dirty="0"/>
          </a:p>
        </p:txBody>
      </p:sp>
      <p:sp>
        <p:nvSpPr>
          <p:cNvPr id="23" name="Text 21"/>
          <p:cNvSpPr txBox="1"/>
          <p:nvPr/>
        </p:nvSpPr>
        <p:spPr>
          <a:xfrm>
            <a:off x="5257800" y="4443984"/>
            <a:ext cx="6172200" cy="411480"/>
          </a:xfrm>
          <a:prstGeom prst="rect">
            <a:avLst/>
          </a:prstGeom>
          <a:noFill/>
          <a:ln/>
        </p:spPr>
        <p:txBody>
          <a:bodyPr wrap="square" lIns="0" tIns="0" rIns="0" bIns="0" rtlCol="0" anchor="ctr">
            <a:normAutofit/>
          </a:bodyPr>
          <a:lstStyle/>
          <a:p>
            <a:pPr indent="0" marL="0">
              <a:buNone/>
            </a:pPr>
            <a:r>
              <a:rPr lang="en-US" sz="1500" b="1" dirty="0">
                <a:solidFill>
                  <a:srgbClr val="14453D"/>
                </a:solidFill>
              </a:rPr>
              <a:t>monotonous ----- unable</a:t>
            </a:r>
            <a:endParaRPr lang="en-US" sz="1500" dirty="0"/>
          </a:p>
        </p:txBody>
      </p:sp>
      <p:sp>
        <p:nvSpPr>
          <p:cNvPr id="24" name="Text 22"/>
          <p:cNvSpPr txBox="1"/>
          <p:nvPr/>
        </p:nvSpPr>
        <p:spPr>
          <a:xfrm>
            <a:off x="5257800" y="4846320"/>
            <a:ext cx="6172200" cy="365760"/>
          </a:xfrm>
          <a:prstGeom prst="rect">
            <a:avLst/>
          </a:prstGeom>
          <a:noFill/>
          <a:ln/>
        </p:spPr>
        <p:txBody>
          <a:bodyPr wrap="square" lIns="0" tIns="0" rIns="0" bIns="0" rtlCol="0" anchor="ctr">
            <a:normAutofit/>
          </a:bodyPr>
          <a:lstStyle/>
          <a:p>
            <a:pPr indent="0" marL="0">
              <a:buNone/>
            </a:pPr>
            <a:r>
              <a:rPr lang="en-US" sz="1300" dirty="0">
                <a:solidFill>
                  <a:srgbClr val="EF5B3F"/>
                </a:solidFill>
              </a:rPr>
              <a:t>✔ 단조로운 = little variety, repetitive / 할 수 없는 = incapacity</a:t>
            </a:r>
            <a:endParaRPr lang="en-US" sz="1300" dirty="0"/>
          </a:p>
        </p:txBody>
      </p:sp>
      <p:sp>
        <p:nvSpPr>
          <p:cNvPr id="25" name="Shape 23"/>
          <p:cNvSpPr/>
          <p:nvPr/>
        </p:nvSpPr>
        <p:spPr>
          <a:xfrm>
            <a:off x="4572000" y="5385816"/>
            <a:ext cx="7040880" cy="905256"/>
          </a:xfrm>
          <a:prstGeom prst="roundRect">
            <a:avLst>
              <a:gd name="adj" fmla="val 10101"/>
            </a:avLst>
          </a:prstGeom>
          <a:solidFill>
            <a:srgbClr val="FFFFFF"/>
          </a:solidFill>
          <a:ln w="12700">
            <a:solidFill>
              <a:srgbClr val="E6F2ED"/>
            </a:solidFill>
            <a:prstDash val="solid"/>
          </a:ln>
        </p:spPr>
      </p:sp>
      <p:sp>
        <p:nvSpPr>
          <p:cNvPr id="26" name="Text 24"/>
          <p:cNvSpPr txBox="1"/>
          <p:nvPr/>
        </p:nvSpPr>
        <p:spPr>
          <a:xfrm>
            <a:off x="4754880" y="5495544"/>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⑤</a:t>
            </a:r>
            <a:endParaRPr lang="en-US" sz="2000" dirty="0"/>
          </a:p>
        </p:txBody>
      </p:sp>
      <p:sp>
        <p:nvSpPr>
          <p:cNvPr id="27" name="Text 25"/>
          <p:cNvSpPr txBox="1"/>
          <p:nvPr/>
        </p:nvSpPr>
        <p:spPr>
          <a:xfrm>
            <a:off x="5257800" y="5458968"/>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professional ----- willing</a:t>
            </a:r>
            <a:endParaRPr lang="en-US" sz="1500" dirty="0"/>
          </a:p>
        </p:txBody>
      </p:sp>
      <p:sp>
        <p:nvSpPr>
          <p:cNvPr id="28" name="Text 26"/>
          <p:cNvSpPr txBox="1"/>
          <p:nvPr/>
        </p:nvSpPr>
        <p:spPr>
          <a:xfrm>
            <a:off x="5257800" y="5861304"/>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전문적인 ✘ / 기꺼이 하는 ✘</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100  </a:t>
            </a:r>
            <a:pPr algn="l" indent="0" marL="0">
              <a:buNone/>
            </a:pPr>
            <a:r>
              <a:rPr lang="en-US" sz="3000" b="1" dirty="0">
                <a:solidFill>
                  <a:srgbClr val="14453D"/>
                </a:solidFill>
              </a:rPr>
              <a:t>내신 어법 체크: 알맞은 것은?</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어법</a:t>
            </a:r>
            <a:endParaRPr lang="en-US" sz="1200" dirty="0"/>
          </a:p>
        </p:txBody>
      </p:sp>
      <p:sp>
        <p:nvSpPr>
          <p:cNvPr id="4" name="Shape 2"/>
          <p:cNvSpPr/>
          <p:nvPr/>
        </p:nvSpPr>
        <p:spPr>
          <a:xfrm>
            <a:off x="548640" y="1325880"/>
            <a:ext cx="11064240" cy="1143000"/>
          </a:xfrm>
          <a:prstGeom prst="roundRect">
            <a:avLst>
              <a:gd name="adj" fmla="val 8000"/>
            </a:avLst>
          </a:prstGeom>
          <a:solidFill>
            <a:srgbClr val="F2F8FB"/>
          </a:solidFill>
          <a:ln w="12700">
            <a:solidFill>
              <a:srgbClr val="D3E5EE"/>
            </a:solidFill>
            <a:prstDash val="solid"/>
          </a:ln>
        </p:spPr>
      </p:sp>
      <p:sp>
        <p:nvSpPr>
          <p:cNvPr id="5" name="Text 3"/>
          <p:cNvSpPr/>
          <p:nvPr/>
        </p:nvSpPr>
        <p:spPr>
          <a:xfrm>
            <a:off x="777240" y="162306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1554480" y="132588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…they risk </a:t>
            </a:r>
            <a:pPr indent="0" marL="0">
              <a:buNone/>
            </a:pPr>
            <a:r>
              <a:rPr lang="en-US" sz="1900" b="1" dirty="0">
                <a:solidFill>
                  <a:srgbClr val="EF5B3F"/>
                </a:solidFill>
              </a:rPr>
              <a:t>[developing / to develop]</a:t>
            </a:r>
            <a:pPr indent="0" marL="0">
              <a:buNone/>
            </a:pPr>
            <a:r>
              <a:rPr lang="en-US" sz="1900" dirty="0">
                <a:solidFill>
                  <a:srgbClr val="1E2B2A"/>
                </a:solidFill>
              </a:rPr>
              <a:t> trained incapacity.</a:t>
            </a:r>
            <a:endParaRPr lang="en-US" sz="1900" dirty="0"/>
          </a:p>
        </p:txBody>
      </p:sp>
      <p:sp>
        <p:nvSpPr>
          <p:cNvPr id="7" name="Shape 5"/>
          <p:cNvSpPr/>
          <p:nvPr/>
        </p:nvSpPr>
        <p:spPr>
          <a:xfrm>
            <a:off x="548640" y="2606040"/>
            <a:ext cx="11064240" cy="1143000"/>
          </a:xfrm>
          <a:prstGeom prst="roundRect">
            <a:avLst>
              <a:gd name="adj" fmla="val 8000"/>
            </a:avLst>
          </a:prstGeom>
          <a:solidFill>
            <a:srgbClr val="FFFFFF"/>
          </a:solidFill>
          <a:ln w="12700">
            <a:solidFill>
              <a:srgbClr val="D3E5EE"/>
            </a:solidFill>
            <a:prstDash val="solid"/>
          </a:ln>
        </p:spPr>
      </p:sp>
      <p:sp>
        <p:nvSpPr>
          <p:cNvPr id="8" name="Text 6"/>
          <p:cNvSpPr/>
          <p:nvPr/>
        </p:nvSpPr>
        <p:spPr>
          <a:xfrm>
            <a:off x="777240" y="290322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9" name="Text 7"/>
          <p:cNvSpPr txBox="1"/>
          <p:nvPr/>
        </p:nvSpPr>
        <p:spPr>
          <a:xfrm>
            <a:off x="1554480" y="260604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At the root of trained incapacity </a:t>
            </a:r>
            <a:pPr indent="0" marL="0">
              <a:buNone/>
            </a:pPr>
            <a:r>
              <a:rPr lang="en-US" sz="1900" b="1" dirty="0">
                <a:solidFill>
                  <a:srgbClr val="EF5B3F"/>
                </a:solidFill>
              </a:rPr>
              <a:t>[is / are]</a:t>
            </a:r>
            <a:pPr indent="0" marL="0">
              <a:buNone/>
            </a:pPr>
            <a:r>
              <a:rPr lang="en-US" sz="1900" dirty="0">
                <a:solidFill>
                  <a:srgbClr val="1E2B2A"/>
                </a:solidFill>
              </a:rPr>
              <a:t> a job with little variety and repetitive tasks.</a:t>
            </a:r>
            <a:endParaRPr lang="en-US" sz="1900" dirty="0"/>
          </a:p>
        </p:txBody>
      </p:sp>
      <p:sp>
        <p:nvSpPr>
          <p:cNvPr id="10" name="Shape 8"/>
          <p:cNvSpPr/>
          <p:nvPr/>
        </p:nvSpPr>
        <p:spPr>
          <a:xfrm>
            <a:off x="548640" y="3886200"/>
            <a:ext cx="11064240" cy="1143000"/>
          </a:xfrm>
          <a:prstGeom prst="roundRect">
            <a:avLst>
              <a:gd name="adj" fmla="val 8000"/>
            </a:avLst>
          </a:prstGeom>
          <a:solidFill>
            <a:srgbClr val="F2F8FB"/>
          </a:solidFill>
          <a:ln w="12700">
            <a:solidFill>
              <a:srgbClr val="D3E5EE"/>
            </a:solidFill>
            <a:prstDash val="solid"/>
          </a:ln>
        </p:spPr>
      </p:sp>
      <p:sp>
        <p:nvSpPr>
          <p:cNvPr id="11" name="Text 9"/>
          <p:cNvSpPr/>
          <p:nvPr/>
        </p:nvSpPr>
        <p:spPr>
          <a:xfrm>
            <a:off x="777240" y="418338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2" name="Text 10"/>
          <p:cNvSpPr txBox="1"/>
          <p:nvPr/>
        </p:nvSpPr>
        <p:spPr>
          <a:xfrm>
            <a:off x="1554480" y="388620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…to meet organizational goals while </a:t>
            </a:r>
            <a:pPr indent="0" marL="0">
              <a:buNone/>
            </a:pPr>
            <a:r>
              <a:rPr lang="en-US" sz="1900" b="1" dirty="0">
                <a:solidFill>
                  <a:srgbClr val="EF5B3F"/>
                </a:solidFill>
              </a:rPr>
              <a:t>[ignoring / ignored]</a:t>
            </a:r>
            <a:pPr indent="0" marL="0">
              <a:buNone/>
            </a:pPr>
            <a:r>
              <a:rPr lang="en-US" sz="1900" dirty="0">
                <a:solidFill>
                  <a:srgbClr val="1E2B2A"/>
                </a:solidFill>
              </a:rPr>
              <a:t> other important matters.</a:t>
            </a:r>
            <a:endParaRPr lang="en-US" sz="19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101  </a:t>
            </a:r>
            <a:pPr algn="l" indent="0" marL="0">
              <a:buNone/>
            </a:pPr>
            <a:r>
              <a:rPr lang="en-US" sz="3000" b="1" dirty="0">
                <a:solidFill>
                  <a:srgbClr val="14453D"/>
                </a:solidFill>
              </a:rPr>
              <a:t>한 명 vs 대중</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Hook</a:t>
            </a:r>
            <a:endParaRPr lang="en-US" sz="1200" dirty="0"/>
          </a:p>
        </p:txBody>
      </p:sp>
      <p:sp>
        <p:nvSpPr>
          <p:cNvPr id="4" name="Shape 2"/>
          <p:cNvSpPr/>
          <p:nvPr/>
        </p:nvSpPr>
        <p:spPr>
          <a:xfrm>
            <a:off x="1280160" y="1737360"/>
            <a:ext cx="9601200" cy="3291840"/>
          </a:xfrm>
          <a:prstGeom prst="roundRect">
            <a:avLst>
              <a:gd name="adj" fmla="val 6944"/>
            </a:avLst>
          </a:prstGeom>
          <a:solidFill>
            <a:srgbClr val="E6F2ED"/>
          </a:solidFill>
          <a:ln w="12700">
            <a:solidFill>
              <a:srgbClr val="E6F2ED"/>
            </a:solidFill>
            <a:prstDash val="solid"/>
          </a:ln>
        </p:spPr>
      </p:sp>
      <p:sp>
        <p:nvSpPr>
          <p:cNvPr id="5" name="Shape 3"/>
          <p:cNvSpPr/>
          <p:nvPr/>
        </p:nvSpPr>
        <p:spPr>
          <a:xfrm>
            <a:off x="1737360" y="2148840"/>
            <a:ext cx="1005840" cy="1005840"/>
          </a:xfrm>
          <a:prstGeom prst="ellipse">
            <a:avLst/>
          </a:prstGeom>
          <a:solidFill>
            <a:srgbClr val="1F7A64"/>
          </a:solidFill>
          <a:ln w="12700">
            <a:solidFill>
              <a:srgbClr val="1F7A64"/>
            </a:solidFill>
            <a:prstDash val="solid"/>
          </a:ln>
        </p:spPr>
      </p:sp>
      <p:pic>
        <p:nvPicPr>
          <p:cNvPr id="6" name="Image 0" descr="preencoded.png">    </p:cNvPr>
          <p:cNvPicPr>
            <a:picLocks noChangeAspect="1"/>
          </p:cNvPicPr>
          <p:nvPr/>
        </p:nvPicPr>
        <p:blipFill>
          <a:blip r:embed="rId1"/>
          <a:stretch>
            <a:fillRect/>
          </a:stretch>
        </p:blipFill>
        <p:spPr>
          <a:xfrm>
            <a:off x="1984248" y="2395728"/>
            <a:ext cx="512064" cy="512064"/>
          </a:xfrm>
          <a:prstGeom prst="rect">
            <a:avLst/>
          </a:prstGeom>
        </p:spPr>
      </p:pic>
      <p:sp>
        <p:nvSpPr>
          <p:cNvPr id="7" name="Text 4"/>
          <p:cNvSpPr txBox="1"/>
          <p:nvPr/>
        </p:nvSpPr>
        <p:spPr>
          <a:xfrm>
            <a:off x="3017520" y="2194560"/>
            <a:ext cx="5486400" cy="457200"/>
          </a:xfrm>
          <a:prstGeom prst="rect">
            <a:avLst/>
          </a:prstGeom>
          <a:noFill/>
          <a:ln/>
        </p:spPr>
        <p:txBody>
          <a:bodyPr wrap="square" lIns="0" tIns="0" rIns="0" bIns="0" rtlCol="0" anchor="ctr"/>
          <a:lstStyle/>
          <a:p>
            <a:pPr indent="0" marL="0">
              <a:buNone/>
            </a:pPr>
            <a:r>
              <a:rPr lang="en-US" sz="1800" b="1" dirty="0">
                <a:solidFill>
                  <a:srgbClr val="1F7A64"/>
                </a:solidFill>
              </a:rPr>
              <a:t>생각해 볼까?</a:t>
            </a:r>
            <a:endParaRPr lang="en-US" sz="1800" dirty="0"/>
          </a:p>
        </p:txBody>
      </p:sp>
      <p:sp>
        <p:nvSpPr>
          <p:cNvPr id="8" name="Text 5"/>
          <p:cNvSpPr txBox="1"/>
          <p:nvPr/>
        </p:nvSpPr>
        <p:spPr>
          <a:xfrm>
            <a:off x="3017520" y="2697480"/>
            <a:ext cx="7498080" cy="2011680"/>
          </a:xfrm>
          <a:prstGeom prst="rect">
            <a:avLst/>
          </a:prstGeom>
          <a:noFill/>
          <a:ln/>
        </p:spPr>
        <p:txBody>
          <a:bodyPr wrap="square" lIns="0" tIns="0" rIns="0" bIns="0" rtlCol="0" anchor="t">
            <a:normAutofit/>
          </a:bodyPr>
          <a:lstStyle/>
          <a:p>
            <a:pPr indent="0" marL="0">
              <a:buNone/>
            </a:pPr>
            <a:r>
              <a:rPr lang="en-US" sz="2800" b="1" dirty="0">
                <a:solidFill>
                  <a:srgbClr val="14453D"/>
                </a:solidFill>
              </a:rPr>
              <a:t>광고에서 '굶주리는 아이 1억 명' vs '7살 Rokia의 사진', 어느 쪽에 더 기부하고 싶어?</a:t>
            </a:r>
            <a:endParaRPr lang="en-US" sz="2800" dirty="0"/>
          </a:p>
        </p:txBody>
      </p:sp>
      <p:sp>
        <p:nvSpPr>
          <p:cNvPr id="9" name="Text 6"/>
          <p:cNvSpPr/>
          <p:nvPr/>
        </p:nvSpPr>
        <p:spPr>
          <a:xfrm>
            <a:off x="4251960" y="5349240"/>
            <a:ext cx="3657600" cy="329184"/>
          </a:xfrm>
          <a:prstGeom prst="roundRect">
            <a:avLst>
              <a:gd name="adj" fmla="val 41667"/>
            </a:avLst>
          </a:prstGeom>
          <a:solidFill>
            <a:srgbClr val="EF5B3F"/>
          </a:solidFill>
          <a:ln/>
        </p:spPr>
        <p:txBody>
          <a:bodyPr wrap="square" lIns="0" tIns="0" rIns="0" bIns="0" rtlCol="0" anchor="ctr"/>
          <a:lstStyle/>
          <a:p>
            <a:pPr algn="ctr" indent="0" marL="0">
              <a:buNone/>
            </a:pPr>
            <a:r>
              <a:rPr lang="en-US" sz="1400" b="1" dirty="0">
                <a:solidFill>
                  <a:srgbClr val="FFFFFF"/>
                </a:solidFill>
              </a:rPr>
              <a:t>짝과 30초 이야기 → 2~3명 발표</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101  </a:t>
            </a:r>
            <a:pPr algn="l" indent="0" marL="0">
              <a:buNone/>
            </a:pPr>
            <a:r>
              <a:rPr lang="en-US" sz="2400" b="1" dirty="0">
                <a:solidFill>
                  <a:srgbClr val="14453D"/>
                </a:solidFill>
              </a:rPr>
              <a:t>(A)·(B)에 들어갈 말로 가장 적절한 것은?</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a:t>
            </a:r>
            <a:endParaRPr lang="en-US" sz="1200" dirty="0"/>
          </a:p>
        </p:txBody>
      </p:sp>
      <p:sp>
        <p:nvSpPr>
          <p:cNvPr id="4" name="Shape 2"/>
          <p:cNvSpPr/>
          <p:nvPr/>
        </p:nvSpPr>
        <p:spPr>
          <a:xfrm>
            <a:off x="548640" y="1234440"/>
            <a:ext cx="11064240" cy="5074920"/>
          </a:xfrm>
          <a:prstGeom prst="roundRect">
            <a:avLst>
              <a:gd name="adj" fmla="val 1802"/>
            </a:avLst>
          </a:prstGeom>
          <a:solidFill>
            <a:srgbClr val="FFFFFF"/>
          </a:solidFill>
          <a:ln w="19050">
            <a:solidFill>
              <a:srgbClr val="E6F2ED"/>
            </a:solidFill>
            <a:prstDash val="solid"/>
          </a:ln>
        </p:spPr>
      </p:sp>
      <p:sp>
        <p:nvSpPr>
          <p:cNvPr id="5" name="Text 3"/>
          <p:cNvSpPr txBox="1"/>
          <p:nvPr/>
        </p:nvSpPr>
        <p:spPr>
          <a:xfrm>
            <a:off x="777240" y="1371600"/>
            <a:ext cx="10607040" cy="4846320"/>
          </a:xfrm>
          <a:prstGeom prst="rect">
            <a:avLst/>
          </a:prstGeom>
          <a:noFill/>
          <a:ln/>
        </p:spPr>
        <p:txBody>
          <a:bodyPr wrap="square" lIns="0" tIns="0" rIns="0" bIns="0" rtlCol="0" anchor="t"/>
          <a:lstStyle/>
          <a:p>
            <a:pPr indent="0" marL="0">
              <a:lnSpc>
                <a:spcPct val="115000"/>
              </a:lnSpc>
              <a:buNone/>
            </a:pPr>
            <a:r>
              <a:rPr lang="en-US" sz="1450" dirty="0">
                <a:solidFill>
                  <a:srgbClr val="1E2B2A"/>
                </a:solidFill>
              </a:rPr>
              <a:t>Research by Paul Slovic of Decision Research and the University of Oregon shows that people who are otherwise caring and would go out of their way to help another individual become indifferent to the suffering of the masses.</a:t>
            </a:r>
            <a:pPr indent="0" marL="0">
              <a:lnSpc>
                <a:spcPct val="115000"/>
              </a:lnSpc>
              <a:buNone/>
            </a:pPr>
            <a:r>
              <a:rPr lang="en-US" sz="1450" dirty="0">
                <a:solidFill>
                  <a:srgbClr val="000000"/>
                </a:solidFill>
              </a:rPr>
              <a:t> </a:t>
            </a:r>
            <a:pPr indent="0" marL="0">
              <a:lnSpc>
                <a:spcPct val="115000"/>
              </a:lnSpc>
              <a:buNone/>
            </a:pPr>
            <a:r>
              <a:rPr lang="en-US" sz="1450" dirty="0">
                <a:solidFill>
                  <a:srgbClr val="1E2B2A"/>
                </a:solidFill>
              </a:rPr>
              <a:t>In one experiment, people were given $5 to donate to lessen hunger overseas.</a:t>
            </a:r>
            <a:pPr indent="0" marL="0">
              <a:lnSpc>
                <a:spcPct val="115000"/>
              </a:lnSpc>
              <a:buNone/>
            </a:pPr>
            <a:r>
              <a:rPr lang="en-US" sz="1450" dirty="0">
                <a:solidFill>
                  <a:srgbClr val="000000"/>
                </a:solidFill>
              </a:rPr>
              <a:t> </a:t>
            </a:r>
            <a:pPr indent="0" marL="0">
              <a:lnSpc>
                <a:spcPct val="115000"/>
              </a:lnSpc>
              <a:buNone/>
            </a:pPr>
            <a:r>
              <a:rPr lang="en-US" sz="1450" dirty="0">
                <a:solidFill>
                  <a:srgbClr val="1E2B2A"/>
                </a:solidFill>
              </a:rPr>
              <a:t>The first choice was to give the money to a particular child, Rokia, a seven-year-old in Mali.</a:t>
            </a:r>
            <a:pPr indent="0" marL="0">
              <a:lnSpc>
                <a:spcPct val="115000"/>
              </a:lnSpc>
              <a:buNone/>
            </a:pPr>
            <a:r>
              <a:rPr lang="en-US" sz="1450" dirty="0">
                <a:solidFill>
                  <a:srgbClr val="000000"/>
                </a:solidFill>
              </a:rPr>
              <a:t> </a:t>
            </a:r>
            <a:pPr indent="0" marL="0">
              <a:lnSpc>
                <a:spcPct val="115000"/>
              </a:lnSpc>
              <a:buNone/>
            </a:pPr>
            <a:r>
              <a:rPr lang="en-US" sz="1450" dirty="0">
                <a:solidFill>
                  <a:srgbClr val="1E2B2A"/>
                </a:solidFill>
              </a:rPr>
              <a:t>The second choice was to help twenty-one million hungry Africans.</a:t>
            </a:r>
            <a:pPr indent="0" marL="0">
              <a:lnSpc>
                <a:spcPct val="115000"/>
              </a:lnSpc>
              <a:buNone/>
            </a:pPr>
            <a:r>
              <a:rPr lang="en-US" sz="1450" dirty="0">
                <a:solidFill>
                  <a:srgbClr val="000000"/>
                </a:solidFill>
              </a:rPr>
              <a:t> </a:t>
            </a:r>
            <a:pPr indent="0" marL="0">
              <a:lnSpc>
                <a:spcPct val="115000"/>
              </a:lnSpc>
              <a:buNone/>
            </a:pPr>
            <a:r>
              <a:rPr lang="en-US" sz="1450" dirty="0">
                <a:solidFill>
                  <a:srgbClr val="1E2B2A"/>
                </a:solidFill>
              </a:rPr>
              <a:t>The third choice was to help Rokia, but as just one of many victims of hunger.</a:t>
            </a:r>
            <a:pPr indent="0" marL="0">
              <a:lnSpc>
                <a:spcPct val="115000"/>
              </a:lnSpc>
              <a:buNone/>
            </a:pPr>
            <a:r>
              <a:rPr lang="en-US" sz="1450" dirty="0">
                <a:solidFill>
                  <a:srgbClr val="000000"/>
                </a:solidFill>
              </a:rPr>
              <a:t> </a:t>
            </a:r>
            <a:pPr indent="0" marL="0">
              <a:lnSpc>
                <a:spcPct val="115000"/>
              </a:lnSpc>
              <a:buNone/>
            </a:pPr>
            <a:r>
              <a:rPr lang="en-US" sz="1450" dirty="0">
                <a:solidFill>
                  <a:srgbClr val="1E2B2A"/>
                </a:solidFill>
              </a:rPr>
              <a:t>Can you guess which choice was most popular?</a:t>
            </a:r>
            <a:pPr indent="0" marL="0">
              <a:lnSpc>
                <a:spcPct val="115000"/>
              </a:lnSpc>
              <a:buNone/>
            </a:pPr>
            <a:r>
              <a:rPr lang="en-US" sz="1450" dirty="0">
                <a:solidFill>
                  <a:srgbClr val="000000"/>
                </a:solidFill>
              </a:rPr>
              <a:t> </a:t>
            </a:r>
            <a:pPr indent="0" marL="0">
              <a:lnSpc>
                <a:spcPct val="115000"/>
              </a:lnSpc>
              <a:buNone/>
            </a:pPr>
            <a:r>
              <a:rPr lang="en-US" sz="1450" dirty="0">
                <a:solidFill>
                  <a:srgbClr val="1E2B2A"/>
                </a:solidFill>
              </a:rPr>
              <a:t>Slovic reported that donations to the individual, Rokia, were far greater than donations to the second choice, the statistical portrayal of the hunger crisis.</a:t>
            </a:r>
            <a:pPr indent="0" marL="0">
              <a:lnSpc>
                <a:spcPct val="115000"/>
              </a:lnSpc>
              <a:buNone/>
            </a:pPr>
            <a:r>
              <a:rPr lang="en-US" sz="1450" dirty="0">
                <a:solidFill>
                  <a:srgbClr val="000000"/>
                </a:solidFill>
              </a:rPr>
              <a:t> </a:t>
            </a:r>
            <a:pPr indent="0" marL="0">
              <a:lnSpc>
                <a:spcPct val="115000"/>
              </a:lnSpc>
              <a:buNone/>
            </a:pPr>
            <a:r>
              <a:rPr lang="en-US" sz="1450" dirty="0">
                <a:solidFill>
                  <a:srgbClr val="1E2B2A"/>
                </a:solidFill>
              </a:rPr>
              <a:t>That’s not particularly surprising.</a:t>
            </a:r>
            <a:pPr indent="0" marL="0">
              <a:lnSpc>
                <a:spcPct val="115000"/>
              </a:lnSpc>
              <a:buNone/>
            </a:pPr>
            <a:r>
              <a:rPr lang="en-US" sz="1450" dirty="0">
                <a:solidFill>
                  <a:srgbClr val="000000"/>
                </a:solidFill>
              </a:rPr>
              <a:t> </a:t>
            </a:r>
            <a:pPr indent="0" marL="0">
              <a:lnSpc>
                <a:spcPct val="115000"/>
              </a:lnSpc>
              <a:buNone/>
            </a:pPr>
            <a:r>
              <a:rPr lang="en-US" sz="1450" dirty="0">
                <a:solidFill>
                  <a:srgbClr val="1E2B2A"/>
                </a:solidFill>
              </a:rPr>
              <a:t>But what is surprising, and some would say discouraging, is that adding the statistical realities of the larger hunger problem to Rokia’s story significantly reduced the contributions to Rokia.</a:t>
            </a:r>
            <a:endParaRPr lang="en-US" sz="1450" dirty="0"/>
          </a:p>
          <a:p>
            <a:pPr indent="0" marL="0">
              <a:lnSpc>
                <a:spcPct val="115000"/>
              </a:lnSpc>
              <a:spcBef>
                <a:spcPts val="800"/>
              </a:spcBef>
              <a:buNone/>
            </a:pPr>
            <a:r>
              <a:rPr lang="en-US" sz="1450" b="1" dirty="0">
                <a:solidFill>
                  <a:srgbClr val="1F7A64"/>
                </a:solidFill>
              </a:rPr>
              <a:t>↓  </a:t>
            </a:r>
            <a:pPr indent="0" marL="0">
              <a:lnSpc>
                <a:spcPct val="115000"/>
              </a:lnSpc>
              <a:buNone/>
            </a:pPr>
            <a:r>
              <a:rPr lang="en-US" sz="1450" dirty="0">
                <a:solidFill>
                  <a:srgbClr val="14453D"/>
                </a:solidFill>
              </a:rPr>
              <a:t>An experiment shows that while people are more willing to help </a:t>
            </a:r>
            <a:pPr indent="0" marL="0">
              <a:lnSpc>
                <a:spcPct val="115000"/>
              </a:lnSpc>
              <a:buNone/>
            </a:pPr>
            <a:r>
              <a:rPr lang="en-US" sz="1450" b="1" dirty="0">
                <a:solidFill>
                  <a:srgbClr val="EF5B3F"/>
                </a:solidFill>
              </a:rPr>
              <a:t>(A)</a:t>
            </a:r>
            <a:pPr indent="0" marL="0">
              <a:lnSpc>
                <a:spcPct val="115000"/>
              </a:lnSpc>
              <a:buNone/>
            </a:pPr>
            <a:r>
              <a:rPr lang="en-US" sz="1450" dirty="0">
                <a:solidFill>
                  <a:srgbClr val="14453D"/>
                </a:solidFill>
              </a:rPr>
              <a:t> in need, they become indifferent when given the </a:t>
            </a:r>
            <a:pPr indent="0" marL="0">
              <a:lnSpc>
                <a:spcPct val="115000"/>
              </a:lnSpc>
              <a:buNone/>
            </a:pPr>
            <a:r>
              <a:rPr lang="en-US" sz="1450" b="1" dirty="0">
                <a:solidFill>
                  <a:srgbClr val="EF5B3F"/>
                </a:solidFill>
              </a:rPr>
              <a:t>(B)</a:t>
            </a:r>
            <a:pPr indent="0" marL="0">
              <a:lnSpc>
                <a:spcPct val="115000"/>
              </a:lnSpc>
              <a:buNone/>
            </a:pPr>
            <a:r>
              <a:rPr lang="en-US" sz="1450" dirty="0">
                <a:solidFill>
                  <a:srgbClr val="14453D"/>
                </a:solidFill>
              </a:rPr>
              <a:t> perspective of hunger.</a:t>
            </a:r>
            <a:endParaRPr lang="en-US" sz="1450" dirty="0"/>
          </a:p>
          <a:p>
            <a:pPr indent="0" marL="0">
              <a:lnSpc>
                <a:spcPct val="115000"/>
              </a:lnSpc>
              <a:spcBef>
                <a:spcPts val="1000"/>
              </a:spcBef>
              <a:buNone/>
            </a:pPr>
            <a:r>
              <a:rPr lang="en-US" sz="1450" dirty="0">
                <a:solidFill>
                  <a:srgbClr val="14453D"/>
                </a:solidFill>
              </a:rPr>
              <a:t>①  an individual ----- larger</a:t>
            </a:r>
            <a:endParaRPr lang="en-US" sz="1450" dirty="0"/>
          </a:p>
          <a:p>
            <a:pPr indent="0" marL="0">
              <a:lnSpc>
                <a:spcPct val="115000"/>
              </a:lnSpc>
              <a:spcBef>
                <a:spcPts val="200"/>
              </a:spcBef>
              <a:buNone/>
            </a:pPr>
            <a:r>
              <a:rPr lang="en-US" sz="1450" dirty="0">
                <a:solidFill>
                  <a:srgbClr val="14453D"/>
                </a:solidFill>
              </a:rPr>
              <a:t>②  an individual ----- simpler</a:t>
            </a:r>
            <a:endParaRPr lang="en-US" sz="1450" dirty="0"/>
          </a:p>
          <a:p>
            <a:pPr indent="0" marL="0">
              <a:lnSpc>
                <a:spcPct val="115000"/>
              </a:lnSpc>
              <a:spcBef>
                <a:spcPts val="200"/>
              </a:spcBef>
              <a:buNone/>
            </a:pPr>
            <a:r>
              <a:rPr lang="en-US" sz="1450" dirty="0">
                <a:solidFill>
                  <a:srgbClr val="14453D"/>
                </a:solidFill>
              </a:rPr>
              <a:t>③  the masses ----- broader</a:t>
            </a:r>
            <a:endParaRPr lang="en-US" sz="1450" dirty="0"/>
          </a:p>
          <a:p>
            <a:pPr indent="0" marL="0">
              <a:lnSpc>
                <a:spcPct val="115000"/>
              </a:lnSpc>
              <a:spcBef>
                <a:spcPts val="200"/>
              </a:spcBef>
              <a:buNone/>
            </a:pPr>
            <a:r>
              <a:rPr lang="en-US" sz="1450" dirty="0">
                <a:solidFill>
                  <a:srgbClr val="14453D"/>
                </a:solidFill>
              </a:rPr>
              <a:t>④  the masses ----- fairer</a:t>
            </a:r>
            <a:endParaRPr lang="en-US" sz="1450" dirty="0"/>
          </a:p>
          <a:p>
            <a:pPr indent="0" marL="0">
              <a:lnSpc>
                <a:spcPct val="115000"/>
              </a:lnSpc>
              <a:spcBef>
                <a:spcPts val="200"/>
              </a:spcBef>
              <a:buNone/>
            </a:pPr>
            <a:r>
              <a:rPr lang="en-US" sz="1450" dirty="0">
                <a:solidFill>
                  <a:srgbClr val="14453D"/>
                </a:solidFill>
              </a:rPr>
              <a:t>⑤  a nation ----- clearer</a:t>
            </a:r>
            <a:endParaRPr lang="en-US" sz="14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101  </a:t>
            </a:r>
            <a:pPr algn="l" indent="0" marL="0">
              <a:buNone/>
            </a:pPr>
            <a:r>
              <a:rPr lang="en-US" sz="3000" b="1" dirty="0">
                <a:solidFill>
                  <a:srgbClr val="14453D"/>
                </a:solidFill>
              </a:rPr>
              <a:t>정답 근거 &amp; 문법 포인트</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근거</a:t>
            </a:r>
            <a:endParaRPr lang="en-US" sz="1200" dirty="0"/>
          </a:p>
        </p:txBody>
      </p:sp>
      <p:sp>
        <p:nvSpPr>
          <p:cNvPr id="4" name="Shape 2"/>
          <p:cNvSpPr/>
          <p:nvPr/>
        </p:nvSpPr>
        <p:spPr>
          <a:xfrm>
            <a:off x="548640" y="1234440"/>
            <a:ext cx="11064240" cy="2907792"/>
          </a:xfrm>
          <a:prstGeom prst="roundRect">
            <a:avLst>
              <a:gd name="adj" fmla="val 3145"/>
            </a:avLst>
          </a:prstGeom>
          <a:solidFill>
            <a:srgbClr val="FFFFFF"/>
          </a:solidFill>
          <a:ln w="19050">
            <a:solidFill>
              <a:srgbClr val="E6F2ED"/>
            </a:solidFill>
            <a:prstDash val="solid"/>
          </a:ln>
        </p:spPr>
      </p:sp>
      <p:sp>
        <p:nvSpPr>
          <p:cNvPr id="5" name="Text 3"/>
          <p:cNvSpPr txBox="1"/>
          <p:nvPr/>
        </p:nvSpPr>
        <p:spPr>
          <a:xfrm>
            <a:off x="777240" y="1371600"/>
            <a:ext cx="10607040" cy="2679192"/>
          </a:xfrm>
          <a:prstGeom prst="rect">
            <a:avLst/>
          </a:prstGeom>
          <a:noFill/>
          <a:ln/>
        </p:spPr>
        <p:txBody>
          <a:bodyPr wrap="square" lIns="0" tIns="0" rIns="0" bIns="0" rtlCol="0" anchor="t">
            <a:normAutofit/>
          </a:bodyPr>
          <a:lstStyle/>
          <a:p>
            <a:pPr indent="0" marL="0">
              <a:lnSpc>
                <a:spcPct val="120000"/>
              </a:lnSpc>
              <a:buNone/>
            </a:pPr>
            <a:r>
              <a:rPr lang="en-US" sz="1100" b="1" dirty="0">
                <a:solidFill>
                  <a:srgbClr val="1F7A64"/>
                </a:solidFill>
              </a:rPr>
              <a:t>(1) </a:t>
            </a:r>
            <a:pPr indent="0" marL="0">
              <a:lnSpc>
                <a:spcPct val="120000"/>
              </a:lnSpc>
              <a:buNone/>
            </a:pPr>
            <a:r>
              <a:rPr lang="en-US" sz="1400" dirty="0">
                <a:solidFill>
                  <a:srgbClr val="1E2B2A"/>
                </a:solidFill>
                <a:highlight>
                  <a:srgbClr val="FFD45C"/>
                </a:highlight>
              </a:rPr>
              <a:t>Research by Paul Slovic of Decision Research and the University of Oregon shows that </a:t>
            </a:r>
            <a:pPr indent="0" marL="0">
              <a:lnSpc>
                <a:spcPct val="120000"/>
              </a:lnSpc>
              <a:buNone/>
            </a:pPr>
            <a:r>
              <a:rPr lang="en-US" sz="1400" b="1" dirty="0">
                <a:solidFill>
                  <a:srgbClr val="14453D"/>
                </a:solidFill>
                <a:highlight>
                  <a:srgbClr val="A9DDF3"/>
                </a:highlight>
              </a:rPr>
              <a:t>people who are </a:t>
            </a:r>
            <a:pPr indent="0" marL="0">
              <a:lnSpc>
                <a:spcPct val="120000"/>
              </a:lnSpc>
              <a:buNone/>
            </a:pPr>
            <a:r>
              <a:rPr lang="en-US" sz="1400" b="1" u="dotted" dirty="0">
                <a:solidFill>
                  <a:srgbClr val="14453D"/>
                </a:solidFill>
                <a:highlight>
                  <a:srgbClr val="A9DDF3"/>
                </a:highlight>
                <a:uFill>
                  <a:solidFill>
                    <a:srgbClr val="1F7A64"/>
                  </a:solidFill>
                </a:uFill>
              </a:rPr>
              <a:t>otherwise</a:t>
            </a:r>
            <a:pPr indent="0" marL="0">
              <a:lnSpc>
                <a:spcPct val="120000"/>
              </a:lnSpc>
              <a:buNone/>
            </a:pPr>
            <a:r>
              <a:rPr lang="en-US" sz="1400" b="1" dirty="0">
                <a:solidFill>
                  <a:srgbClr val="14453D"/>
                </a:solidFill>
                <a:highlight>
                  <a:srgbClr val="A9DDF3"/>
                </a:highlight>
              </a:rPr>
              <a:t> caring and would </a:t>
            </a:r>
            <a:pPr indent="0" marL="0">
              <a:lnSpc>
                <a:spcPct val="120000"/>
              </a:lnSpc>
              <a:buNone/>
            </a:pPr>
            <a:r>
              <a:rPr lang="en-US" sz="1400" b="1" u="dotted" dirty="0">
                <a:solidFill>
                  <a:srgbClr val="14453D"/>
                </a:solidFill>
                <a:highlight>
                  <a:srgbClr val="A9DDF3"/>
                </a:highlight>
                <a:uFill>
                  <a:solidFill>
                    <a:srgbClr val="1F7A64"/>
                  </a:solidFill>
                </a:uFill>
              </a:rPr>
              <a:t>go out of their way</a:t>
            </a:r>
            <a:pPr indent="0" marL="0">
              <a:lnSpc>
                <a:spcPct val="120000"/>
              </a:lnSpc>
              <a:buNone/>
            </a:pPr>
            <a:r>
              <a:rPr lang="en-US" sz="1400" b="1" dirty="0">
                <a:solidFill>
                  <a:srgbClr val="14453D"/>
                </a:solidFill>
                <a:highlight>
                  <a:srgbClr val="A9DDF3"/>
                </a:highlight>
              </a:rPr>
              <a:t> to help another individual become </a:t>
            </a:r>
            <a:pPr indent="0" marL="0">
              <a:lnSpc>
                <a:spcPct val="120000"/>
              </a:lnSpc>
              <a:buNone/>
            </a:pPr>
            <a:r>
              <a:rPr lang="en-US" sz="1400" b="1" u="dotted" dirty="0">
                <a:solidFill>
                  <a:srgbClr val="14453D"/>
                </a:solidFill>
                <a:highlight>
                  <a:srgbClr val="A9DDF3"/>
                </a:highlight>
                <a:uFill>
                  <a:solidFill>
                    <a:srgbClr val="1F7A64"/>
                  </a:solidFill>
                </a:uFill>
              </a:rPr>
              <a:t>indifferent</a:t>
            </a:r>
            <a:pPr indent="0" marL="0">
              <a:lnSpc>
                <a:spcPct val="120000"/>
              </a:lnSpc>
              <a:buNone/>
            </a:pPr>
            <a:r>
              <a:rPr lang="en-US" sz="1400" dirty="0">
                <a:solidFill>
                  <a:srgbClr val="1E2B2A"/>
                </a:solidFill>
                <a:highlight>
                  <a:srgbClr val="FFD45C"/>
                </a:highlight>
              </a:rPr>
              <a:t> to the suffering of </a:t>
            </a:r>
            <a:pPr indent="0" marL="0">
              <a:lnSpc>
                <a:spcPct val="120000"/>
              </a:lnSpc>
              <a:buNone/>
            </a:pPr>
            <a:r>
              <a:rPr lang="en-US" sz="1400" u="dotted" dirty="0">
                <a:solidFill>
                  <a:srgbClr val="1F7A64"/>
                </a:solidFill>
                <a:highlight>
                  <a:srgbClr val="FFD45C"/>
                </a:highlight>
                <a:uFill>
                  <a:solidFill>
                    <a:srgbClr val="1F7A64"/>
                  </a:solidFill>
                </a:uFill>
              </a:rPr>
              <a:t>the masses</a:t>
            </a:r>
            <a:pPr indent="0" marL="0">
              <a:lnSpc>
                <a:spcPct val="120000"/>
              </a:lnSpc>
              <a:buNone/>
            </a:pPr>
            <a:r>
              <a:rPr lang="en-US" sz="1400" dirty="0">
                <a:solidFill>
                  <a:srgbClr val="1E2B2A"/>
                </a:solidFill>
                <a:highlight>
                  <a:srgbClr val="FFD45C"/>
                </a:highlight>
              </a:rPr>
              <a:t>.</a:t>
            </a:r>
            <a:pPr indent="0" marL="0">
              <a:lnSpc>
                <a:spcPct val="120000"/>
              </a:lnSpc>
              <a:buNone/>
            </a:pPr>
            <a:r>
              <a:rPr lang="en-US" sz="1400" dirty="0">
                <a:solidFill>
                  <a:srgbClr val="000000"/>
                </a:solidFill>
              </a:rPr>
              <a:t> </a:t>
            </a:r>
            <a:pPr indent="0" marL="0">
              <a:lnSpc>
                <a:spcPct val="120000"/>
              </a:lnSpc>
              <a:buNone/>
            </a:pPr>
            <a:r>
              <a:rPr lang="en-US" sz="1100" b="1" dirty="0">
                <a:solidFill>
                  <a:srgbClr val="1F7A64"/>
                </a:solidFill>
              </a:rPr>
              <a:t>(2) </a:t>
            </a:r>
            <a:pPr indent="0" marL="0">
              <a:lnSpc>
                <a:spcPct val="120000"/>
              </a:lnSpc>
              <a:buNone/>
            </a:pPr>
            <a:r>
              <a:rPr lang="en-US" sz="1400" dirty="0">
                <a:solidFill>
                  <a:srgbClr val="1E2B2A"/>
                </a:solidFill>
              </a:rPr>
              <a:t>In one experiment, people </a:t>
            </a:r>
            <a:pPr indent="0" marL="0">
              <a:lnSpc>
                <a:spcPct val="120000"/>
              </a:lnSpc>
              <a:buNone/>
            </a:pPr>
            <a:r>
              <a:rPr lang="en-US" sz="1400" b="1" dirty="0">
                <a:solidFill>
                  <a:srgbClr val="14453D"/>
                </a:solidFill>
                <a:highlight>
                  <a:srgbClr val="A9DDF3"/>
                </a:highlight>
              </a:rPr>
              <a:t>were given $5 to donate to lessen hunger</a:t>
            </a:r>
            <a:pPr indent="0" marL="0">
              <a:lnSpc>
                <a:spcPct val="120000"/>
              </a:lnSpc>
              <a:buNone/>
            </a:pPr>
            <a:r>
              <a:rPr lang="en-US" sz="1400" dirty="0">
                <a:solidFill>
                  <a:srgbClr val="1E2B2A"/>
                </a:solidFill>
              </a:rPr>
              <a:t> overseas.</a:t>
            </a:r>
            <a:pPr indent="0" marL="0">
              <a:lnSpc>
                <a:spcPct val="120000"/>
              </a:lnSpc>
              <a:buNone/>
            </a:pPr>
            <a:r>
              <a:rPr lang="en-US" sz="1400" dirty="0">
                <a:solidFill>
                  <a:srgbClr val="000000"/>
                </a:solidFill>
              </a:rPr>
              <a:t> </a:t>
            </a:r>
            <a:pPr indent="0" marL="0">
              <a:lnSpc>
                <a:spcPct val="120000"/>
              </a:lnSpc>
              <a:buNone/>
            </a:pPr>
            <a:r>
              <a:rPr lang="en-US" sz="1100" b="1" dirty="0">
                <a:solidFill>
                  <a:srgbClr val="1F7A64"/>
                </a:solidFill>
              </a:rPr>
              <a:t>(3) </a:t>
            </a:r>
            <a:pPr indent="0" marL="0">
              <a:lnSpc>
                <a:spcPct val="120000"/>
              </a:lnSpc>
              <a:buNone/>
            </a:pPr>
            <a:r>
              <a:rPr lang="en-US" sz="1400" dirty="0">
                <a:solidFill>
                  <a:srgbClr val="1E2B2A"/>
                </a:solidFill>
              </a:rPr>
              <a:t>The first choice was to give the money to a particular child, Rokia, a seven-year-old in Mali.</a:t>
            </a:r>
            <a:pPr indent="0" marL="0">
              <a:lnSpc>
                <a:spcPct val="120000"/>
              </a:lnSpc>
              <a:buNone/>
            </a:pPr>
            <a:r>
              <a:rPr lang="en-US" sz="1400" dirty="0">
                <a:solidFill>
                  <a:srgbClr val="000000"/>
                </a:solidFill>
              </a:rPr>
              <a:t> </a:t>
            </a:r>
            <a:pPr indent="0" marL="0">
              <a:lnSpc>
                <a:spcPct val="120000"/>
              </a:lnSpc>
              <a:buNone/>
            </a:pPr>
            <a:r>
              <a:rPr lang="en-US" sz="1100" b="1" dirty="0">
                <a:solidFill>
                  <a:srgbClr val="1F7A64"/>
                </a:solidFill>
              </a:rPr>
              <a:t>(4) </a:t>
            </a:r>
            <a:pPr indent="0" marL="0">
              <a:lnSpc>
                <a:spcPct val="120000"/>
              </a:lnSpc>
              <a:buNone/>
            </a:pPr>
            <a:r>
              <a:rPr lang="en-US" sz="1400" dirty="0">
                <a:solidFill>
                  <a:srgbClr val="1E2B2A"/>
                </a:solidFill>
              </a:rPr>
              <a:t>The second choice was to help twenty-one million hungry Africans.</a:t>
            </a:r>
            <a:pPr indent="0" marL="0">
              <a:lnSpc>
                <a:spcPct val="120000"/>
              </a:lnSpc>
              <a:buNone/>
            </a:pPr>
            <a:r>
              <a:rPr lang="en-US" sz="1400" dirty="0">
                <a:solidFill>
                  <a:srgbClr val="000000"/>
                </a:solidFill>
              </a:rPr>
              <a:t> </a:t>
            </a:r>
            <a:pPr indent="0" marL="0">
              <a:lnSpc>
                <a:spcPct val="120000"/>
              </a:lnSpc>
              <a:buNone/>
            </a:pPr>
            <a:r>
              <a:rPr lang="en-US" sz="1100" b="1" dirty="0">
                <a:solidFill>
                  <a:srgbClr val="1F7A64"/>
                </a:solidFill>
              </a:rPr>
              <a:t>(5) </a:t>
            </a:r>
            <a:pPr indent="0" marL="0">
              <a:lnSpc>
                <a:spcPct val="120000"/>
              </a:lnSpc>
              <a:buNone/>
            </a:pPr>
            <a:r>
              <a:rPr lang="en-US" sz="1400" dirty="0">
                <a:solidFill>
                  <a:srgbClr val="1E2B2A"/>
                </a:solidFill>
              </a:rPr>
              <a:t>The third choice was to help Rokia, but as just one of many victims of hunger.</a:t>
            </a:r>
            <a:pPr indent="0" marL="0">
              <a:lnSpc>
                <a:spcPct val="120000"/>
              </a:lnSpc>
              <a:buNone/>
            </a:pPr>
            <a:r>
              <a:rPr lang="en-US" sz="1400" dirty="0">
                <a:solidFill>
                  <a:srgbClr val="000000"/>
                </a:solidFill>
              </a:rPr>
              <a:t> </a:t>
            </a:r>
            <a:pPr indent="0" marL="0">
              <a:lnSpc>
                <a:spcPct val="120000"/>
              </a:lnSpc>
              <a:buNone/>
            </a:pPr>
            <a:r>
              <a:rPr lang="en-US" sz="1100" b="1" dirty="0">
                <a:solidFill>
                  <a:srgbClr val="1F7A64"/>
                </a:solidFill>
              </a:rPr>
              <a:t>(6) </a:t>
            </a:r>
            <a:pPr indent="0" marL="0">
              <a:lnSpc>
                <a:spcPct val="120000"/>
              </a:lnSpc>
              <a:buNone/>
            </a:pPr>
            <a:r>
              <a:rPr lang="en-US" sz="1400" dirty="0">
                <a:solidFill>
                  <a:srgbClr val="1E2B2A"/>
                </a:solidFill>
              </a:rPr>
              <a:t>Can you guess which choice was most popular?</a:t>
            </a:r>
            <a:pPr indent="0" marL="0">
              <a:lnSpc>
                <a:spcPct val="120000"/>
              </a:lnSpc>
              <a:buNone/>
            </a:pPr>
            <a:r>
              <a:rPr lang="en-US" sz="1400" dirty="0">
                <a:solidFill>
                  <a:srgbClr val="000000"/>
                </a:solidFill>
              </a:rPr>
              <a:t> </a:t>
            </a:r>
            <a:pPr indent="0" marL="0">
              <a:lnSpc>
                <a:spcPct val="120000"/>
              </a:lnSpc>
              <a:buNone/>
            </a:pPr>
            <a:r>
              <a:rPr lang="en-US" sz="1100" b="1" dirty="0">
                <a:solidFill>
                  <a:srgbClr val="1F7A64"/>
                </a:solidFill>
              </a:rPr>
              <a:t>(7) </a:t>
            </a:r>
            <a:pPr indent="0" marL="0">
              <a:lnSpc>
                <a:spcPct val="120000"/>
              </a:lnSpc>
              <a:buNone/>
            </a:pPr>
            <a:r>
              <a:rPr lang="en-US" sz="1400" dirty="0">
                <a:solidFill>
                  <a:srgbClr val="1E2B2A"/>
                </a:solidFill>
                <a:highlight>
                  <a:srgbClr val="FFD45C"/>
                </a:highlight>
              </a:rPr>
              <a:t>Slovic reported that donations to the individual, Rokia, </a:t>
            </a:r>
            <a:pPr indent="0" marL="0">
              <a:lnSpc>
                <a:spcPct val="120000"/>
              </a:lnSpc>
              <a:buNone/>
            </a:pPr>
            <a:r>
              <a:rPr lang="en-US" sz="1400" b="1" dirty="0">
                <a:solidFill>
                  <a:srgbClr val="14453D"/>
                </a:solidFill>
                <a:highlight>
                  <a:srgbClr val="A9DDF3"/>
                </a:highlight>
              </a:rPr>
              <a:t>were far greater than</a:t>
            </a:r>
            <a:pPr indent="0" marL="0">
              <a:lnSpc>
                <a:spcPct val="120000"/>
              </a:lnSpc>
              <a:buNone/>
            </a:pPr>
            <a:r>
              <a:rPr lang="en-US" sz="1400" dirty="0">
                <a:solidFill>
                  <a:srgbClr val="1E2B2A"/>
                </a:solidFill>
                <a:highlight>
                  <a:srgbClr val="FFD45C"/>
                </a:highlight>
              </a:rPr>
              <a:t> donations to the second choice, the statistical </a:t>
            </a:r>
            <a:pPr indent="0" marL="0">
              <a:lnSpc>
                <a:spcPct val="120000"/>
              </a:lnSpc>
              <a:buNone/>
            </a:pPr>
            <a:r>
              <a:rPr lang="en-US" sz="1400" u="dotted" dirty="0">
                <a:solidFill>
                  <a:srgbClr val="1F7A64"/>
                </a:solidFill>
                <a:highlight>
                  <a:srgbClr val="FFD45C"/>
                </a:highlight>
                <a:uFill>
                  <a:solidFill>
                    <a:srgbClr val="1F7A64"/>
                  </a:solidFill>
                </a:uFill>
              </a:rPr>
              <a:t>portrayal</a:t>
            </a:r>
            <a:pPr indent="0" marL="0">
              <a:lnSpc>
                <a:spcPct val="120000"/>
              </a:lnSpc>
              <a:buNone/>
            </a:pPr>
            <a:r>
              <a:rPr lang="en-US" sz="1400" dirty="0">
                <a:solidFill>
                  <a:srgbClr val="1E2B2A"/>
                </a:solidFill>
                <a:highlight>
                  <a:srgbClr val="FFD45C"/>
                </a:highlight>
              </a:rPr>
              <a:t> of the hunger crisis.</a:t>
            </a:r>
            <a:pPr indent="0" marL="0">
              <a:lnSpc>
                <a:spcPct val="120000"/>
              </a:lnSpc>
              <a:buNone/>
            </a:pPr>
            <a:r>
              <a:rPr lang="en-US" sz="1400" dirty="0">
                <a:solidFill>
                  <a:srgbClr val="000000"/>
                </a:solidFill>
              </a:rPr>
              <a:t> </a:t>
            </a:r>
            <a:pPr indent="0" marL="0">
              <a:lnSpc>
                <a:spcPct val="120000"/>
              </a:lnSpc>
              <a:buNone/>
            </a:pPr>
            <a:r>
              <a:rPr lang="en-US" sz="1100" b="1" dirty="0">
                <a:solidFill>
                  <a:srgbClr val="1F7A64"/>
                </a:solidFill>
              </a:rPr>
              <a:t>(8) </a:t>
            </a:r>
            <a:pPr indent="0" marL="0">
              <a:lnSpc>
                <a:spcPct val="120000"/>
              </a:lnSpc>
              <a:buNone/>
            </a:pPr>
            <a:r>
              <a:rPr lang="en-US" sz="1400" dirty="0">
                <a:solidFill>
                  <a:srgbClr val="1E2B2A"/>
                </a:solidFill>
              </a:rPr>
              <a:t>That’s not particularly surprising.</a:t>
            </a:r>
            <a:pPr indent="0" marL="0">
              <a:lnSpc>
                <a:spcPct val="120000"/>
              </a:lnSpc>
              <a:buNone/>
            </a:pPr>
            <a:r>
              <a:rPr lang="en-US" sz="1400" dirty="0">
                <a:solidFill>
                  <a:srgbClr val="000000"/>
                </a:solidFill>
              </a:rPr>
              <a:t> </a:t>
            </a:r>
            <a:pPr indent="0" marL="0">
              <a:lnSpc>
                <a:spcPct val="120000"/>
              </a:lnSpc>
              <a:buNone/>
            </a:pPr>
            <a:r>
              <a:rPr lang="en-US" sz="1100" b="1" dirty="0">
                <a:solidFill>
                  <a:srgbClr val="1F7A64"/>
                </a:solidFill>
              </a:rPr>
              <a:t>(9) </a:t>
            </a:r>
            <a:pPr indent="0" marL="0">
              <a:lnSpc>
                <a:spcPct val="120000"/>
              </a:lnSpc>
              <a:buNone/>
            </a:pPr>
            <a:r>
              <a:rPr lang="en-US" sz="1400" dirty="0">
                <a:solidFill>
                  <a:srgbClr val="1E2B2A"/>
                </a:solidFill>
                <a:highlight>
                  <a:srgbClr val="FFD45C"/>
                </a:highlight>
              </a:rPr>
              <a:t>But </a:t>
            </a:r>
            <a:pPr indent="0" marL="0">
              <a:lnSpc>
                <a:spcPct val="120000"/>
              </a:lnSpc>
              <a:buNone/>
            </a:pPr>
            <a:r>
              <a:rPr lang="en-US" sz="1400" b="1" dirty="0">
                <a:solidFill>
                  <a:srgbClr val="14453D"/>
                </a:solidFill>
                <a:highlight>
                  <a:srgbClr val="A9DDF3"/>
                </a:highlight>
              </a:rPr>
              <a:t>what is surprising, and some would say </a:t>
            </a:r>
            <a:pPr indent="0" marL="0">
              <a:lnSpc>
                <a:spcPct val="120000"/>
              </a:lnSpc>
              <a:buNone/>
            </a:pPr>
            <a:r>
              <a:rPr lang="en-US" sz="1400" b="1" u="dotted" dirty="0">
                <a:solidFill>
                  <a:srgbClr val="14453D"/>
                </a:solidFill>
                <a:highlight>
                  <a:srgbClr val="A9DDF3"/>
                </a:highlight>
                <a:uFill>
                  <a:solidFill>
                    <a:srgbClr val="1F7A64"/>
                  </a:solidFill>
                </a:uFill>
              </a:rPr>
              <a:t>discouraging</a:t>
            </a:r>
            <a:pPr indent="0" marL="0">
              <a:lnSpc>
                <a:spcPct val="120000"/>
              </a:lnSpc>
              <a:buNone/>
            </a:pPr>
            <a:r>
              <a:rPr lang="en-US" sz="1400" b="1" dirty="0">
                <a:solidFill>
                  <a:srgbClr val="14453D"/>
                </a:solidFill>
                <a:highlight>
                  <a:srgbClr val="A9DDF3"/>
                </a:highlight>
              </a:rPr>
              <a:t>, is that</a:t>
            </a:r>
            <a:pPr indent="0" marL="0">
              <a:lnSpc>
                <a:spcPct val="120000"/>
              </a:lnSpc>
              <a:buNone/>
            </a:pPr>
            <a:r>
              <a:rPr lang="en-US" sz="1400" dirty="0">
                <a:solidFill>
                  <a:srgbClr val="1E2B2A"/>
                </a:solidFill>
                <a:highlight>
                  <a:srgbClr val="FFD45C"/>
                </a:highlight>
              </a:rPr>
              <a:t> </a:t>
            </a:r>
            <a:pPr indent="0" marL="0">
              <a:lnSpc>
                <a:spcPct val="120000"/>
              </a:lnSpc>
              <a:buNone/>
            </a:pPr>
            <a:r>
              <a:rPr lang="en-US" sz="1400" b="1" dirty="0">
                <a:solidFill>
                  <a:srgbClr val="14453D"/>
                </a:solidFill>
                <a:highlight>
                  <a:srgbClr val="A9DDF3"/>
                </a:highlight>
              </a:rPr>
              <a:t>adding the statistical realities of the larger hunger problem to Rokia’s story significantly reduced</a:t>
            </a:r>
            <a:pPr indent="0" marL="0">
              <a:lnSpc>
                <a:spcPct val="120000"/>
              </a:lnSpc>
              <a:buNone/>
            </a:pPr>
            <a:r>
              <a:rPr lang="en-US" sz="1400" dirty="0">
                <a:solidFill>
                  <a:srgbClr val="1E2B2A"/>
                </a:solidFill>
                <a:highlight>
                  <a:srgbClr val="FFD45C"/>
                </a:highlight>
              </a:rPr>
              <a:t> the </a:t>
            </a:r>
            <a:pPr indent="0" marL="0">
              <a:lnSpc>
                <a:spcPct val="120000"/>
              </a:lnSpc>
              <a:buNone/>
            </a:pPr>
            <a:r>
              <a:rPr lang="en-US" sz="1400" u="dotted" dirty="0">
                <a:solidFill>
                  <a:srgbClr val="1F7A64"/>
                </a:solidFill>
                <a:highlight>
                  <a:srgbClr val="FFD45C"/>
                </a:highlight>
                <a:uFill>
                  <a:solidFill>
                    <a:srgbClr val="1F7A64"/>
                  </a:solidFill>
                </a:uFill>
              </a:rPr>
              <a:t>contributions</a:t>
            </a:r>
            <a:pPr indent="0" marL="0">
              <a:lnSpc>
                <a:spcPct val="120000"/>
              </a:lnSpc>
              <a:buNone/>
            </a:pPr>
            <a:r>
              <a:rPr lang="en-US" sz="1400" dirty="0">
                <a:solidFill>
                  <a:srgbClr val="1E2B2A"/>
                </a:solidFill>
                <a:highlight>
                  <a:srgbClr val="FFD45C"/>
                </a:highlight>
              </a:rPr>
              <a:t> to Rokia.</a:t>
            </a:r>
            <a:endParaRPr lang="en-US" sz="1100" dirty="0"/>
          </a:p>
        </p:txBody>
      </p:sp>
      <p:sp>
        <p:nvSpPr>
          <p:cNvPr id="6" name="Shape 4"/>
          <p:cNvSpPr/>
          <p:nvPr/>
        </p:nvSpPr>
        <p:spPr>
          <a:xfrm>
            <a:off x="548640" y="4233672"/>
            <a:ext cx="11064240" cy="978408"/>
          </a:xfrm>
          <a:prstGeom prst="roundRect">
            <a:avLst>
              <a:gd name="adj" fmla="val 9346"/>
            </a:avLst>
          </a:prstGeom>
          <a:solidFill>
            <a:srgbClr val="FFF6D6"/>
          </a:solidFill>
          <a:ln w="15875">
            <a:solidFill>
              <a:srgbClr val="FFD45C"/>
            </a:solidFill>
            <a:prstDash val="solid"/>
          </a:ln>
        </p:spPr>
      </p:sp>
      <p:sp>
        <p:nvSpPr>
          <p:cNvPr id="7" name="Text 5"/>
          <p:cNvSpPr txBox="1"/>
          <p:nvPr/>
        </p:nvSpPr>
        <p:spPr>
          <a:xfrm>
            <a:off x="731520" y="4306824"/>
            <a:ext cx="1051560" cy="274320"/>
          </a:xfrm>
          <a:prstGeom prst="rect">
            <a:avLst/>
          </a:prstGeom>
          <a:solidFill>
            <a:srgbClr val="EF5B3F"/>
          </a:solidFill>
          <a:ln/>
        </p:spPr>
        <p:txBody>
          <a:bodyPr wrap="square" lIns="0" tIns="0" rIns="0" bIns="0" rtlCol="0" anchor="ctr"/>
          <a:lstStyle/>
          <a:p>
            <a:pPr algn="ctr" indent="0" marL="0">
              <a:buNone/>
            </a:pPr>
            <a:r>
              <a:rPr lang="en-US" sz="1200" b="1" dirty="0">
                <a:solidFill>
                  <a:srgbClr val="FFFFFF"/>
                </a:solidFill>
              </a:rPr>
              <a:t> 근거 이유 </a:t>
            </a:r>
            <a:endParaRPr lang="en-US" sz="1200" dirty="0"/>
          </a:p>
        </p:txBody>
      </p:sp>
      <p:sp>
        <p:nvSpPr>
          <p:cNvPr id="8" name="Text 6"/>
          <p:cNvSpPr txBox="1"/>
          <p:nvPr/>
        </p:nvSpPr>
        <p:spPr>
          <a:xfrm>
            <a:off x="1920240" y="4279392"/>
            <a:ext cx="9555480" cy="886968"/>
          </a:xfrm>
          <a:prstGeom prst="rect">
            <a:avLst/>
          </a:prstGeom>
          <a:noFill/>
          <a:ln/>
        </p:spPr>
        <p:txBody>
          <a:bodyPr wrap="square" lIns="0" tIns="0" rIns="0" bIns="0" rtlCol="0" anchor="ctr">
            <a:normAutofit/>
          </a:bodyPr>
          <a:lstStyle/>
          <a:p>
            <a:pPr indent="0" marL="0">
              <a:lnSpc>
                <a:spcPct val="105000"/>
              </a:lnSpc>
              <a:buNone/>
            </a:pPr>
            <a:r>
              <a:rPr lang="en-US" sz="1400" b="1" dirty="0">
                <a:solidFill>
                  <a:srgbClr val="EF5B3F"/>
                </a:solidFill>
              </a:rPr>
              <a:t>(1) </a:t>
            </a:r>
            <a:pPr indent="0" marL="0">
              <a:lnSpc>
                <a:spcPct val="105000"/>
              </a:lnSpc>
              <a:buNone/>
            </a:pPr>
            <a:r>
              <a:rPr lang="en-US" sz="1400" dirty="0">
                <a:solidFill>
                  <a:srgbClr val="14453D"/>
                </a:solidFill>
              </a:rPr>
              <a:t>개인은 돕지만 대중의 고통에는 무관심 → (A) an individual</a:t>
            </a:r>
            <a:endParaRPr lang="en-US" sz="1400" dirty="0"/>
          </a:p>
          <a:p>
            <a:pPr indent="0" marL="0">
              <a:lnSpc>
                <a:spcPct val="105000"/>
              </a:lnSpc>
              <a:buNone/>
            </a:pPr>
            <a:r>
              <a:rPr lang="en-US" sz="1400" b="1" dirty="0">
                <a:solidFill>
                  <a:srgbClr val="EF5B3F"/>
                </a:solidFill>
              </a:rPr>
              <a:t>(7) </a:t>
            </a:r>
            <a:pPr indent="0" marL="0">
              <a:lnSpc>
                <a:spcPct val="105000"/>
              </a:lnSpc>
              <a:buNone/>
            </a:pPr>
            <a:r>
              <a:rPr lang="en-US" sz="1400" dirty="0">
                <a:solidFill>
                  <a:srgbClr val="14453D"/>
                </a:solidFill>
              </a:rPr>
              <a:t>개인 Rokia에 대한 기부가 통계 묘사보다 훨씬 큼</a:t>
            </a:r>
            <a:endParaRPr lang="en-US" sz="1400" dirty="0"/>
          </a:p>
          <a:p>
            <a:pPr indent="0" marL="0">
              <a:lnSpc>
                <a:spcPct val="105000"/>
              </a:lnSpc>
              <a:buNone/>
            </a:pPr>
            <a:r>
              <a:rPr lang="en-US" sz="1400" b="1" dirty="0">
                <a:solidFill>
                  <a:srgbClr val="EF5B3F"/>
                </a:solidFill>
              </a:rPr>
              <a:t>(9) </a:t>
            </a:r>
            <a:pPr indent="0" marL="0">
              <a:lnSpc>
                <a:spcPct val="105000"/>
              </a:lnSpc>
              <a:buNone/>
            </a:pPr>
            <a:r>
              <a:rPr lang="en-US" sz="1400" dirty="0">
                <a:solidFill>
                  <a:srgbClr val="14453D"/>
                </a:solidFill>
              </a:rPr>
              <a:t>더 큰 기아 문제의 통계를 더하자 기부 감소 → (B) larger</a:t>
            </a:r>
            <a:endParaRPr lang="en-US" sz="1400" dirty="0"/>
          </a:p>
        </p:txBody>
      </p:sp>
      <p:sp>
        <p:nvSpPr>
          <p:cNvPr id="9" name="Shape 7"/>
          <p:cNvSpPr/>
          <p:nvPr/>
        </p:nvSpPr>
        <p:spPr>
          <a:xfrm>
            <a:off x="548640" y="5303520"/>
            <a:ext cx="11064240" cy="731520"/>
          </a:xfrm>
          <a:prstGeom prst="roundRect">
            <a:avLst>
              <a:gd name="adj" fmla="val 12500"/>
            </a:avLst>
          </a:prstGeom>
          <a:solidFill>
            <a:srgbClr val="EAF5EF"/>
          </a:solidFill>
          <a:ln w="12700">
            <a:solidFill>
              <a:srgbClr val="CFE6D9"/>
            </a:solidFill>
            <a:prstDash val="solid"/>
          </a:ln>
        </p:spPr>
      </p:sp>
      <p:sp>
        <p:nvSpPr>
          <p:cNvPr id="10" name="Text 8"/>
          <p:cNvSpPr txBox="1"/>
          <p:nvPr/>
        </p:nvSpPr>
        <p:spPr>
          <a:xfrm>
            <a:off x="731520" y="5349240"/>
            <a:ext cx="10698480" cy="640080"/>
          </a:xfrm>
          <a:prstGeom prst="rect">
            <a:avLst/>
          </a:prstGeom>
          <a:noFill/>
          <a:ln/>
        </p:spPr>
        <p:txBody>
          <a:bodyPr wrap="square" lIns="0" tIns="0" rIns="0" bIns="0" rtlCol="0" anchor="ctr">
            <a:normAutofit/>
          </a:bodyPr>
          <a:lstStyle/>
          <a:p>
            <a:pPr indent="0" marL="0">
              <a:lnSpc>
                <a:spcPct val="110000"/>
              </a:lnSpc>
              <a:buNone/>
            </a:pPr>
            <a:r>
              <a:rPr lang="en-US" sz="1400" b="1" dirty="0">
                <a:solidFill>
                  <a:srgbClr val="FFFFFF"/>
                </a:solidFill>
                <a:highlight>
                  <a:srgbClr val="1F7A64"/>
                </a:highlight>
              </a:rPr>
              <a:t> 어휘 </a:t>
            </a:r>
            <a:pPr indent="0" marL="0">
              <a:lnSpc>
                <a:spcPct val="110000"/>
              </a:lnSpc>
              <a:buNone/>
            </a:pPr>
            <a:r>
              <a:rPr lang="en-US" sz="1400" dirty="0">
                <a:solidFill>
                  <a:srgbClr val="000000"/>
                </a:solidFill>
              </a:rPr>
              <a:t>   </a:t>
            </a:r>
            <a:pPr indent="0" marL="0">
              <a:lnSpc>
                <a:spcPct val="110000"/>
              </a:lnSpc>
              <a:buNone/>
            </a:pPr>
            <a:r>
              <a:rPr lang="en-US" sz="1400" b="1" dirty="0">
                <a:solidFill>
                  <a:srgbClr val="1F7A64"/>
                </a:solidFill>
              </a:rPr>
              <a:t>otherwise </a:t>
            </a:r>
            <a:pPr indent="0" marL="0">
              <a:lnSpc>
                <a:spcPct val="110000"/>
              </a:lnSpc>
              <a:buNone/>
            </a:pPr>
            <a:r>
              <a:rPr lang="en-US" sz="1400" dirty="0">
                <a:solidFill>
                  <a:srgbClr val="1E2B2A"/>
                </a:solidFill>
              </a:rPr>
              <a:t>다른 면에서는   ·   </a:t>
            </a:r>
            <a:pPr indent="0" marL="0">
              <a:lnSpc>
                <a:spcPct val="110000"/>
              </a:lnSpc>
              <a:buNone/>
            </a:pPr>
            <a:r>
              <a:rPr lang="en-US" sz="1400" b="1" dirty="0">
                <a:solidFill>
                  <a:srgbClr val="1F7A64"/>
                </a:solidFill>
              </a:rPr>
              <a:t>go out of their way </a:t>
            </a:r>
            <a:pPr indent="0" marL="0">
              <a:lnSpc>
                <a:spcPct val="110000"/>
              </a:lnSpc>
              <a:buNone/>
            </a:pPr>
            <a:r>
              <a:rPr lang="en-US" sz="1400" dirty="0">
                <a:solidFill>
                  <a:srgbClr val="1E2B2A"/>
                </a:solidFill>
              </a:rPr>
              <a:t>일부러 애쓰다   ·   </a:t>
            </a:r>
            <a:pPr indent="0" marL="0">
              <a:lnSpc>
                <a:spcPct val="110000"/>
              </a:lnSpc>
              <a:buNone/>
            </a:pPr>
            <a:r>
              <a:rPr lang="en-US" sz="1400" b="1" dirty="0">
                <a:solidFill>
                  <a:srgbClr val="1F7A64"/>
                </a:solidFill>
              </a:rPr>
              <a:t>indifferent </a:t>
            </a:r>
            <a:pPr indent="0" marL="0">
              <a:lnSpc>
                <a:spcPct val="110000"/>
              </a:lnSpc>
              <a:buNone/>
            </a:pPr>
            <a:r>
              <a:rPr lang="en-US" sz="1400" dirty="0">
                <a:solidFill>
                  <a:srgbClr val="1E2B2A"/>
                </a:solidFill>
              </a:rPr>
              <a:t>무관심한   ·   </a:t>
            </a:r>
            <a:pPr indent="0" marL="0">
              <a:lnSpc>
                <a:spcPct val="110000"/>
              </a:lnSpc>
              <a:buNone/>
            </a:pPr>
            <a:r>
              <a:rPr lang="en-US" sz="1400" b="1" dirty="0">
                <a:solidFill>
                  <a:srgbClr val="1F7A64"/>
                </a:solidFill>
              </a:rPr>
              <a:t>the masses </a:t>
            </a:r>
            <a:pPr indent="0" marL="0">
              <a:lnSpc>
                <a:spcPct val="110000"/>
              </a:lnSpc>
              <a:buNone/>
            </a:pPr>
            <a:r>
              <a:rPr lang="en-US" sz="1400" dirty="0">
                <a:solidFill>
                  <a:srgbClr val="1E2B2A"/>
                </a:solidFill>
              </a:rPr>
              <a:t>대중   ·   </a:t>
            </a:r>
            <a:pPr indent="0" marL="0">
              <a:lnSpc>
                <a:spcPct val="110000"/>
              </a:lnSpc>
              <a:buNone/>
            </a:pPr>
            <a:r>
              <a:rPr lang="en-US" sz="1400" b="1" dirty="0">
                <a:solidFill>
                  <a:srgbClr val="1F7A64"/>
                </a:solidFill>
              </a:rPr>
              <a:t>portrayal </a:t>
            </a:r>
            <a:pPr indent="0" marL="0">
              <a:lnSpc>
                <a:spcPct val="110000"/>
              </a:lnSpc>
              <a:buNone/>
            </a:pPr>
            <a:r>
              <a:rPr lang="en-US" sz="1400" dirty="0">
                <a:solidFill>
                  <a:srgbClr val="1E2B2A"/>
                </a:solidFill>
              </a:rPr>
              <a:t>묘사   ·   </a:t>
            </a:r>
            <a:pPr indent="0" marL="0">
              <a:lnSpc>
                <a:spcPct val="110000"/>
              </a:lnSpc>
              <a:buNone/>
            </a:pPr>
            <a:r>
              <a:rPr lang="en-US" sz="1400" b="1" dirty="0">
                <a:solidFill>
                  <a:srgbClr val="1F7A64"/>
                </a:solidFill>
              </a:rPr>
              <a:t>discouraging </a:t>
            </a:r>
            <a:pPr indent="0" marL="0">
              <a:lnSpc>
                <a:spcPct val="110000"/>
              </a:lnSpc>
              <a:buNone/>
            </a:pPr>
            <a:r>
              <a:rPr lang="en-US" sz="1400" dirty="0">
                <a:solidFill>
                  <a:srgbClr val="1E2B2A"/>
                </a:solidFill>
              </a:rPr>
              <a:t>낙담시키는   ·   </a:t>
            </a:r>
            <a:pPr indent="0" marL="0">
              <a:lnSpc>
                <a:spcPct val="110000"/>
              </a:lnSpc>
              <a:buNone/>
            </a:pPr>
            <a:r>
              <a:rPr lang="en-US" sz="1400" b="1" dirty="0">
                <a:solidFill>
                  <a:srgbClr val="1F7A64"/>
                </a:solidFill>
              </a:rPr>
              <a:t>contributions </a:t>
            </a:r>
            <a:pPr indent="0" marL="0">
              <a:lnSpc>
                <a:spcPct val="110000"/>
              </a:lnSpc>
              <a:buNone/>
            </a:pPr>
            <a:r>
              <a:rPr lang="en-US" sz="1400" dirty="0">
                <a:solidFill>
                  <a:srgbClr val="1E2B2A"/>
                </a:solidFill>
              </a:rPr>
              <a:t>기부금</a:t>
            </a:r>
            <a:endParaRPr lang="en-US" sz="1400" dirty="0"/>
          </a:p>
        </p:txBody>
      </p:sp>
      <p:sp>
        <p:nvSpPr>
          <p:cNvPr id="11" name="Text 9"/>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1100" dirty="0">
                <a:solidFill>
                  <a:srgbClr val="FFD45C"/>
                </a:solidFill>
              </a:rPr>
              <a:t>■ </a:t>
            </a:r>
            <a:pPr indent="0" marL="0">
              <a:buNone/>
            </a:pPr>
            <a:r>
              <a:rPr lang="en-US" sz="1100" dirty="0">
                <a:solidFill>
                  <a:srgbClr val="6E7F7C"/>
                </a:solidFill>
              </a:rPr>
              <a:t>형광 = 정답 근거 (이유는 노란 박스)     </a:t>
            </a:r>
            <a:pPr indent="0" marL="0">
              <a:buNone/>
            </a:pPr>
            <a:r>
              <a:rPr lang="en-US" sz="1100" dirty="0">
                <a:solidFill>
                  <a:srgbClr val="A9DDF3"/>
                </a:solidFill>
              </a:rPr>
              <a:t>■ </a:t>
            </a:r>
            <a:pPr indent="0" marL="0">
              <a:buNone/>
            </a:pPr>
            <a:r>
              <a:rPr lang="en-US" sz="1100" dirty="0">
                <a:solidFill>
                  <a:srgbClr val="6E7F7C"/>
                </a:solidFill>
              </a:rPr>
              <a:t>파란 형광 = 문법·내신 포인트     </a:t>
            </a:r>
            <a:pPr indent="0" marL="0">
              <a:buNone/>
            </a:pPr>
            <a:r>
              <a:rPr lang="en-US" sz="1100" b="1" dirty="0">
                <a:solidFill>
                  <a:srgbClr val="1F7A64"/>
                </a:solidFill>
              </a:rPr>
              <a:t>초록 점선 단어 </a:t>
            </a:r>
            <a:pPr indent="0" marL="0">
              <a:buNone/>
            </a:pPr>
            <a:r>
              <a:rPr lang="en-US" sz="1100" dirty="0">
                <a:solidFill>
                  <a:srgbClr val="6E7F7C"/>
                </a:solidFill>
              </a:rPr>
              <a:t>= 하단 어휘     </a:t>
            </a:r>
            <a:pPr indent="0" marL="0">
              <a:buNone/>
            </a:pPr>
            <a:r>
              <a:rPr lang="en-US" sz="1100" b="1" dirty="0">
                <a:solidFill>
                  <a:srgbClr val="1F7A64"/>
                </a:solidFill>
              </a:rPr>
              <a:t>(1) (2) (3) </a:t>
            </a:r>
            <a:pPr indent="0" marL="0">
              <a:buNone/>
            </a:pPr>
            <a:r>
              <a:rPr lang="en-US" sz="1100" dirty="0">
                <a:solidFill>
                  <a:srgbClr val="6E7F7C"/>
                </a:solidFill>
              </a:rPr>
              <a:t>= 문장 번호</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101  </a:t>
            </a:r>
            <a:pPr algn="l" indent="0" marL="0">
              <a:buNone/>
            </a:pPr>
            <a:r>
              <a:rPr lang="en-US" sz="3000" b="1" dirty="0">
                <a:solidFill>
                  <a:srgbClr val="14453D"/>
                </a:solidFill>
              </a:rPr>
              <a:t>한 명 vs 대중</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흐름 잡기</a:t>
            </a:r>
            <a:endParaRPr lang="en-US" sz="1200" dirty="0"/>
          </a:p>
        </p:txBody>
      </p:sp>
      <p:sp>
        <p:nvSpPr>
          <p:cNvPr id="4" name="Shape 2"/>
          <p:cNvSpPr/>
          <p:nvPr/>
        </p:nvSpPr>
        <p:spPr>
          <a:xfrm>
            <a:off x="548640" y="1325880"/>
            <a:ext cx="5212080" cy="2423160"/>
          </a:xfrm>
          <a:prstGeom prst="roundRect">
            <a:avLst>
              <a:gd name="adj" fmla="val 4528"/>
            </a:avLst>
          </a:prstGeom>
          <a:solidFill>
            <a:srgbClr val="E6F2ED"/>
          </a:solidFill>
          <a:ln w="12700">
            <a:solidFill>
              <a:srgbClr val="E6F2ED"/>
            </a:solidFill>
            <a:prstDash val="solid"/>
          </a:ln>
        </p:spPr>
      </p:sp>
      <p:sp>
        <p:nvSpPr>
          <p:cNvPr id="5" name="Text 3"/>
          <p:cNvSpPr txBox="1"/>
          <p:nvPr/>
        </p:nvSpPr>
        <p:spPr>
          <a:xfrm>
            <a:off x="822960" y="1463040"/>
            <a:ext cx="4663440" cy="320040"/>
          </a:xfrm>
          <a:prstGeom prst="rect">
            <a:avLst/>
          </a:prstGeom>
          <a:noFill/>
          <a:ln/>
        </p:spPr>
        <p:txBody>
          <a:bodyPr wrap="square" lIns="0" tIns="0" rIns="0" bIns="0" rtlCol="0" anchor="ctr"/>
          <a:lstStyle/>
          <a:p>
            <a:pPr indent="0" marL="0">
              <a:buNone/>
            </a:pPr>
            <a:r>
              <a:rPr lang="en-US" sz="1300" b="1" dirty="0">
                <a:solidFill>
                  <a:srgbClr val="1F7A64"/>
                </a:solidFill>
              </a:rPr>
              <a:t>STEP 1 · 요약문 먼저</a:t>
            </a:r>
            <a:endParaRPr lang="en-US" sz="1300" dirty="0"/>
          </a:p>
        </p:txBody>
      </p:sp>
      <p:sp>
        <p:nvSpPr>
          <p:cNvPr id="6" name="Text 4"/>
          <p:cNvSpPr txBox="1"/>
          <p:nvPr/>
        </p:nvSpPr>
        <p:spPr>
          <a:xfrm>
            <a:off x="822960" y="1828800"/>
            <a:ext cx="4663440" cy="868680"/>
          </a:xfrm>
          <a:prstGeom prst="rect">
            <a:avLst/>
          </a:prstGeom>
          <a:noFill/>
          <a:ln/>
        </p:spPr>
        <p:txBody>
          <a:bodyPr wrap="square" lIns="0" tIns="0" rIns="0" bIns="0" rtlCol="0" anchor="t">
            <a:normAutofit/>
          </a:bodyPr>
          <a:lstStyle/>
          <a:p>
            <a:pPr indent="0" marL="0">
              <a:buNone/>
            </a:pPr>
            <a:r>
              <a:rPr lang="en-US" sz="1300" b="1" i="1" dirty="0">
                <a:solidFill>
                  <a:srgbClr val="14453D"/>
                </a:solidFill>
              </a:rPr>
              <a:t>An experiment shows that while people are more willing to help (A) in need, they become indifferent when given the (B) perspective of hunger.</a:t>
            </a:r>
            <a:endParaRPr lang="en-US" sz="1300" dirty="0"/>
          </a:p>
        </p:txBody>
      </p:sp>
      <p:sp>
        <p:nvSpPr>
          <p:cNvPr id="7" name="Text 5"/>
          <p:cNvSpPr txBox="1"/>
          <p:nvPr/>
        </p:nvSpPr>
        <p:spPr>
          <a:xfrm>
            <a:off x="822960" y="2715768"/>
            <a:ext cx="4663440" cy="457200"/>
          </a:xfrm>
          <a:prstGeom prst="rect">
            <a:avLst/>
          </a:prstGeom>
          <a:noFill/>
          <a:ln/>
        </p:spPr>
        <p:txBody>
          <a:bodyPr wrap="square" lIns="0" tIns="0" rIns="0" bIns="0" rtlCol="0" anchor="t">
            <a:normAutofit/>
          </a:bodyPr>
          <a:lstStyle/>
          <a:p>
            <a:pPr indent="0" marL="0">
              <a:buNone/>
            </a:pPr>
            <a:r>
              <a:rPr lang="en-US" sz="1100" dirty="0">
                <a:solidFill>
                  <a:srgbClr val="1E2B2A"/>
                </a:solidFill>
              </a:rPr>
              <a:t>한 실험은 사람들이 어려움에 처한 (A)을 돕는 데는 더 적극적이지만, 기아에 대한 (B) 관점이 주어지면 무관심해진다는 것을 보여 준다.</a:t>
            </a:r>
            <a:endParaRPr lang="en-US" sz="1100" dirty="0"/>
          </a:p>
        </p:txBody>
      </p:sp>
      <p:sp>
        <p:nvSpPr>
          <p:cNvPr id="8" name="Text 6"/>
          <p:cNvSpPr txBox="1"/>
          <p:nvPr/>
        </p:nvSpPr>
        <p:spPr>
          <a:xfrm>
            <a:off x="822960" y="3200400"/>
            <a:ext cx="4663440" cy="411480"/>
          </a:xfrm>
          <a:prstGeom prst="rect">
            <a:avLst/>
          </a:prstGeom>
          <a:noFill/>
          <a:ln/>
        </p:spPr>
        <p:txBody>
          <a:bodyPr wrap="square" lIns="0" tIns="0" rIns="0" bIns="0" rtlCol="0" anchor="ctr"/>
          <a:lstStyle/>
          <a:p>
            <a:pPr indent="0" marL="0">
              <a:buNone/>
            </a:pPr>
            <a:r>
              <a:rPr lang="en-US" sz="1500" b="1" dirty="0">
                <a:solidFill>
                  <a:srgbClr val="EF5B3F"/>
                </a:solidFill>
              </a:rPr>
              <a:t>찾을 것  </a:t>
            </a:r>
            <a:pPr indent="0" marL="0">
              <a:buNone/>
            </a:pPr>
            <a:r>
              <a:rPr lang="en-US" sz="1500" b="1" dirty="0">
                <a:solidFill>
                  <a:srgbClr val="14453D"/>
                </a:solidFill>
              </a:rPr>
              <a:t>(A) 누구를 더 돕나? / (B) 어떤 관점이 주어지면 무관심?</a:t>
            </a:r>
            <a:endParaRPr lang="en-US" sz="1500" dirty="0"/>
          </a:p>
        </p:txBody>
      </p:sp>
      <p:sp>
        <p:nvSpPr>
          <p:cNvPr id="9" name="Shape 7"/>
          <p:cNvSpPr/>
          <p:nvPr/>
        </p:nvSpPr>
        <p:spPr>
          <a:xfrm>
            <a:off x="548640" y="3931920"/>
            <a:ext cx="5212080" cy="2331720"/>
          </a:xfrm>
          <a:prstGeom prst="roundRect">
            <a:avLst>
              <a:gd name="adj" fmla="val 4706"/>
            </a:avLst>
          </a:prstGeom>
          <a:solidFill>
            <a:srgbClr val="FFFFFF"/>
          </a:solidFill>
          <a:ln w="19050">
            <a:solidFill>
              <a:srgbClr val="EF5B3F"/>
            </a:solidFill>
            <a:prstDash val="solid"/>
          </a:ln>
        </p:spPr>
      </p:sp>
      <p:pic>
        <p:nvPicPr>
          <p:cNvPr id="10" name="Image 0" descr="preencoded.png">    </p:cNvPr>
          <p:cNvPicPr>
            <a:picLocks noChangeAspect="1"/>
          </p:cNvPicPr>
          <p:nvPr/>
        </p:nvPicPr>
        <p:blipFill>
          <a:blip r:embed="rId1"/>
          <a:stretch>
            <a:fillRect/>
          </a:stretch>
        </p:blipFill>
        <p:spPr>
          <a:xfrm>
            <a:off x="822960" y="4096512"/>
            <a:ext cx="274320" cy="274320"/>
          </a:xfrm>
          <a:prstGeom prst="rect">
            <a:avLst/>
          </a:prstGeom>
        </p:spPr>
      </p:pic>
      <p:sp>
        <p:nvSpPr>
          <p:cNvPr id="11" name="Text 8"/>
          <p:cNvSpPr txBox="1"/>
          <p:nvPr/>
        </p:nvSpPr>
        <p:spPr>
          <a:xfrm>
            <a:off x="1188720" y="4069080"/>
            <a:ext cx="4114800" cy="320040"/>
          </a:xfrm>
          <a:prstGeom prst="rect">
            <a:avLst/>
          </a:prstGeom>
          <a:noFill/>
          <a:ln/>
        </p:spPr>
        <p:txBody>
          <a:bodyPr wrap="square" lIns="0" tIns="0" rIns="0" bIns="0" rtlCol="0" anchor="ctr"/>
          <a:lstStyle/>
          <a:p>
            <a:pPr indent="0" marL="0">
              <a:buNone/>
            </a:pPr>
            <a:r>
              <a:rPr lang="en-US" sz="1300" b="1" dirty="0">
                <a:solidFill>
                  <a:srgbClr val="EF5B3F"/>
                </a:solidFill>
              </a:rPr>
              <a:t>STEP 2 · 결정적 단서</a:t>
            </a:r>
            <a:endParaRPr lang="en-US" sz="1300" dirty="0"/>
          </a:p>
        </p:txBody>
      </p:sp>
      <p:sp>
        <p:nvSpPr>
          <p:cNvPr id="12" name="Text 9"/>
          <p:cNvSpPr txBox="1"/>
          <p:nvPr/>
        </p:nvSpPr>
        <p:spPr>
          <a:xfrm>
            <a:off x="822960" y="4480560"/>
            <a:ext cx="4663440" cy="1005840"/>
          </a:xfrm>
          <a:prstGeom prst="rect">
            <a:avLst/>
          </a:prstGeom>
          <a:noFill/>
          <a:ln/>
        </p:spPr>
        <p:txBody>
          <a:bodyPr wrap="square" lIns="0" tIns="0" rIns="0" bIns="0" rtlCol="0" anchor="t"/>
          <a:lstStyle/>
          <a:p>
            <a:pPr indent="0" marL="0">
              <a:buNone/>
            </a:pPr>
            <a:r>
              <a:rPr lang="en-US" sz="1400" i="1" dirty="0">
                <a:solidFill>
                  <a:srgbClr val="14453D"/>
                </a:solidFill>
              </a:rPr>
              <a:t>…adding the statistical realities of the larger hunger problem to Rokia’s story significantly reduced the contributions to Rokia.</a:t>
            </a:r>
            <a:endParaRPr lang="en-US" sz="1400" dirty="0"/>
          </a:p>
        </p:txBody>
      </p:sp>
      <p:sp>
        <p:nvSpPr>
          <p:cNvPr id="13" name="Text 10"/>
          <p:cNvSpPr txBox="1"/>
          <p:nvPr/>
        </p:nvSpPr>
        <p:spPr>
          <a:xfrm>
            <a:off x="822960" y="5486400"/>
            <a:ext cx="4663440" cy="685800"/>
          </a:xfrm>
          <a:prstGeom prst="rect">
            <a:avLst/>
          </a:prstGeom>
          <a:noFill/>
          <a:ln/>
        </p:spPr>
        <p:txBody>
          <a:bodyPr wrap="square" lIns="0" tIns="0" rIns="0" bIns="0" rtlCol="0" anchor="t"/>
          <a:lstStyle/>
          <a:p>
            <a:pPr indent="0" marL="0">
              <a:buNone/>
            </a:pPr>
            <a:r>
              <a:rPr lang="en-US" sz="1300" dirty="0">
                <a:solidFill>
                  <a:srgbClr val="6E7F7C"/>
                </a:solidFill>
              </a:rPr>
              <a:t>Rokia 이야기에 더 큰 기아 문제의 통계를 더하자 기부가 크게 줄었다 → (B) larger</a:t>
            </a:r>
            <a:endParaRPr lang="en-US" sz="1300" dirty="0"/>
          </a:p>
        </p:txBody>
      </p:sp>
      <p:sp>
        <p:nvSpPr>
          <p:cNvPr id="14" name="Text 11"/>
          <p:cNvSpPr txBox="1"/>
          <p:nvPr/>
        </p:nvSpPr>
        <p:spPr>
          <a:xfrm>
            <a:off x="6217920" y="1325880"/>
            <a:ext cx="2743200" cy="320040"/>
          </a:xfrm>
          <a:prstGeom prst="rect">
            <a:avLst/>
          </a:prstGeom>
          <a:noFill/>
          <a:ln/>
        </p:spPr>
        <p:txBody>
          <a:bodyPr wrap="square" lIns="0" tIns="0" rIns="0" bIns="0" rtlCol="0" anchor="ctr"/>
          <a:lstStyle/>
          <a:p>
            <a:pPr indent="0" marL="0">
              <a:buNone/>
            </a:pPr>
            <a:r>
              <a:rPr lang="en-US" sz="1300" b="1" dirty="0">
                <a:solidFill>
                  <a:srgbClr val="1F7A64"/>
                </a:solidFill>
              </a:rPr>
              <a:t>글의 흐름</a:t>
            </a:r>
            <a:endParaRPr lang="en-US" sz="1300" dirty="0"/>
          </a:p>
        </p:txBody>
      </p:sp>
      <p:sp>
        <p:nvSpPr>
          <p:cNvPr id="15" name="Shape 12"/>
          <p:cNvSpPr/>
          <p:nvPr/>
        </p:nvSpPr>
        <p:spPr>
          <a:xfrm>
            <a:off x="6537960" y="2057400"/>
            <a:ext cx="0" cy="3511296"/>
          </a:xfrm>
          <a:prstGeom prst="line">
            <a:avLst/>
          </a:prstGeom>
          <a:noFill/>
          <a:ln w="38100">
            <a:solidFill>
              <a:srgbClr val="E6F2ED"/>
            </a:solidFill>
            <a:prstDash val="solid"/>
          </a:ln>
        </p:spPr>
      </p:sp>
      <p:sp>
        <p:nvSpPr>
          <p:cNvPr id="16" name="Text 13"/>
          <p:cNvSpPr/>
          <p:nvPr/>
        </p:nvSpPr>
        <p:spPr>
          <a:xfrm>
            <a:off x="6263640" y="1783080"/>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7" name="Text 14"/>
          <p:cNvSpPr txBox="1"/>
          <p:nvPr/>
        </p:nvSpPr>
        <p:spPr>
          <a:xfrm>
            <a:off x="7040880" y="1783080"/>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주장</a:t>
            </a:r>
            <a:endParaRPr lang="en-US" sz="1400" dirty="0"/>
          </a:p>
        </p:txBody>
      </p:sp>
      <p:sp>
        <p:nvSpPr>
          <p:cNvPr id="18" name="Text 15"/>
          <p:cNvSpPr txBox="1"/>
          <p:nvPr/>
        </p:nvSpPr>
        <p:spPr>
          <a:xfrm>
            <a:off x="7040880" y="2121408"/>
            <a:ext cx="4572000" cy="667512"/>
          </a:xfrm>
          <a:prstGeom prst="rect">
            <a:avLst/>
          </a:prstGeom>
          <a:noFill/>
          <a:ln/>
        </p:spPr>
        <p:txBody>
          <a:bodyPr wrap="square" lIns="0" tIns="0" rIns="0" bIns="0" rtlCol="0" anchor="t"/>
          <a:lstStyle/>
          <a:p>
            <a:pPr indent="0" marL="0">
              <a:buNone/>
            </a:pPr>
            <a:r>
              <a:rPr lang="en-US" sz="1400" dirty="0">
                <a:solidFill>
                  <a:srgbClr val="1E2B2A"/>
                </a:solidFill>
              </a:rPr>
              <a:t>개인은 열심히 돕는 사람들도 대중의 고통에는 무관심해진다</a:t>
            </a:r>
            <a:endParaRPr lang="en-US" sz="1400" dirty="0"/>
          </a:p>
        </p:txBody>
      </p:sp>
      <p:sp>
        <p:nvSpPr>
          <p:cNvPr id="19" name="Text 16"/>
          <p:cNvSpPr/>
          <p:nvPr/>
        </p:nvSpPr>
        <p:spPr>
          <a:xfrm>
            <a:off x="6263640" y="2953512"/>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20" name="Text 17"/>
          <p:cNvSpPr txBox="1"/>
          <p:nvPr/>
        </p:nvSpPr>
        <p:spPr>
          <a:xfrm>
            <a:off x="7040880" y="2953512"/>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실험</a:t>
            </a:r>
            <a:endParaRPr lang="en-US" sz="1400" dirty="0"/>
          </a:p>
        </p:txBody>
      </p:sp>
      <p:sp>
        <p:nvSpPr>
          <p:cNvPr id="21" name="Text 18"/>
          <p:cNvSpPr txBox="1"/>
          <p:nvPr/>
        </p:nvSpPr>
        <p:spPr>
          <a:xfrm>
            <a:off x="7040880" y="3291840"/>
            <a:ext cx="4572000" cy="667512"/>
          </a:xfrm>
          <a:prstGeom prst="rect">
            <a:avLst/>
          </a:prstGeom>
          <a:noFill/>
          <a:ln/>
        </p:spPr>
        <p:txBody>
          <a:bodyPr wrap="square" lIns="0" tIns="0" rIns="0" bIns="0" rtlCol="0" anchor="t"/>
          <a:lstStyle/>
          <a:p>
            <a:pPr indent="0" marL="0">
              <a:buNone/>
            </a:pPr>
            <a:r>
              <a:rPr lang="en-US" sz="1400" dirty="0">
                <a:solidFill>
                  <a:srgbClr val="1E2B2A"/>
                </a:solidFill>
              </a:rPr>
              <a:t>5달러 기부: ① Rokia 개인 ② 2,100만 아프리카인 ③ 희생자 중 하나인 Rokia</a:t>
            </a:r>
            <a:endParaRPr lang="en-US" sz="1400" dirty="0"/>
          </a:p>
        </p:txBody>
      </p:sp>
      <p:sp>
        <p:nvSpPr>
          <p:cNvPr id="22" name="Text 19"/>
          <p:cNvSpPr/>
          <p:nvPr/>
        </p:nvSpPr>
        <p:spPr>
          <a:xfrm>
            <a:off x="6263640" y="4123944"/>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3" name="Text 20"/>
          <p:cNvSpPr txBox="1"/>
          <p:nvPr/>
        </p:nvSpPr>
        <p:spPr>
          <a:xfrm>
            <a:off x="7040880" y="4123944"/>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결과 ①</a:t>
            </a:r>
            <a:endParaRPr lang="en-US" sz="1400" dirty="0"/>
          </a:p>
        </p:txBody>
      </p:sp>
      <p:sp>
        <p:nvSpPr>
          <p:cNvPr id="24" name="Text 21"/>
          <p:cNvSpPr txBox="1"/>
          <p:nvPr/>
        </p:nvSpPr>
        <p:spPr>
          <a:xfrm>
            <a:off x="7040880" y="4462272"/>
            <a:ext cx="4572000" cy="667512"/>
          </a:xfrm>
          <a:prstGeom prst="rect">
            <a:avLst/>
          </a:prstGeom>
          <a:noFill/>
          <a:ln/>
        </p:spPr>
        <p:txBody>
          <a:bodyPr wrap="square" lIns="0" tIns="0" rIns="0" bIns="0" rtlCol="0" anchor="t"/>
          <a:lstStyle/>
          <a:p>
            <a:pPr indent="0" marL="0">
              <a:buNone/>
            </a:pPr>
            <a:r>
              <a:rPr lang="en-US" sz="1400" dirty="0">
                <a:solidFill>
                  <a:srgbClr val="1E2B2A"/>
                </a:solidFill>
              </a:rPr>
              <a:t>개인 Rokia에 대한 기부 &gt; 통계적 묘사(②)에 대한 기부</a:t>
            </a:r>
            <a:endParaRPr lang="en-US" sz="1400" dirty="0"/>
          </a:p>
        </p:txBody>
      </p:sp>
      <p:sp>
        <p:nvSpPr>
          <p:cNvPr id="25" name="Text 22"/>
          <p:cNvSpPr/>
          <p:nvPr/>
        </p:nvSpPr>
        <p:spPr>
          <a:xfrm>
            <a:off x="6263640" y="5294376"/>
            <a:ext cx="548640" cy="548640"/>
          </a:xfrm>
          <a:prstGeom prst="ellipse">
            <a:avLst/>
          </a:prstGeom>
          <a:solidFill>
            <a:srgbClr val="EF5B3F"/>
          </a:solid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6" name="Text 23"/>
          <p:cNvSpPr txBox="1"/>
          <p:nvPr/>
        </p:nvSpPr>
        <p:spPr>
          <a:xfrm>
            <a:off x="7040880" y="5294376"/>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결과 ②</a:t>
            </a:r>
            <a:endParaRPr lang="en-US" sz="1400" dirty="0"/>
          </a:p>
        </p:txBody>
      </p:sp>
      <p:sp>
        <p:nvSpPr>
          <p:cNvPr id="27" name="Text 24"/>
          <p:cNvSpPr txBox="1"/>
          <p:nvPr/>
        </p:nvSpPr>
        <p:spPr>
          <a:xfrm>
            <a:off x="7040880" y="5632704"/>
            <a:ext cx="4572000" cy="667512"/>
          </a:xfrm>
          <a:prstGeom prst="rect">
            <a:avLst/>
          </a:prstGeom>
          <a:noFill/>
          <a:ln/>
        </p:spPr>
        <p:txBody>
          <a:bodyPr wrap="square" lIns="0" tIns="0" rIns="0" bIns="0" rtlCol="0" anchor="t"/>
          <a:lstStyle/>
          <a:p>
            <a:pPr indent="0" marL="0">
              <a:buNone/>
            </a:pPr>
            <a:r>
              <a:rPr lang="en-US" sz="1400" dirty="0">
                <a:solidFill>
                  <a:srgbClr val="1E2B2A"/>
                </a:solidFill>
              </a:rPr>
              <a:t>Rokia 이야기에 '더 큰 기아 문제' 통계를 더하자 기부 급감</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101  </a:t>
            </a:r>
            <a:pPr algn="l" indent="0" marL="0">
              <a:buNone/>
            </a:pPr>
            <a:r>
              <a:rPr lang="en-US" sz="3000" b="1" dirty="0">
                <a:solidFill>
                  <a:srgbClr val="14453D"/>
                </a:solidFill>
              </a:rPr>
              <a:t>정답 &amp; 해설</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정답</a:t>
            </a:r>
            <a:endParaRPr lang="en-US" sz="1200" dirty="0"/>
          </a:p>
        </p:txBody>
      </p:sp>
      <p:sp>
        <p:nvSpPr>
          <p:cNvPr id="4" name="Shape 2"/>
          <p:cNvSpPr/>
          <p:nvPr/>
        </p:nvSpPr>
        <p:spPr>
          <a:xfrm>
            <a:off x="548640" y="1325880"/>
            <a:ext cx="3749040" cy="4983480"/>
          </a:xfrm>
          <a:prstGeom prst="roundRect">
            <a:avLst>
              <a:gd name="adj" fmla="val 3659"/>
            </a:avLst>
          </a:prstGeom>
          <a:solidFill>
            <a:srgbClr val="14453D"/>
          </a:solidFill>
          <a:ln w="12700">
            <a:solidFill>
              <a:srgbClr val="14453D"/>
            </a:solidFill>
            <a:prstDash val="solid"/>
          </a:ln>
        </p:spPr>
      </p:sp>
      <p:sp>
        <p:nvSpPr>
          <p:cNvPr id="5" name="Text 3"/>
          <p:cNvSpPr txBox="1"/>
          <p:nvPr/>
        </p:nvSpPr>
        <p:spPr>
          <a:xfrm>
            <a:off x="868680" y="1554480"/>
            <a:ext cx="3108960" cy="365760"/>
          </a:xfrm>
          <a:prstGeom prst="rect">
            <a:avLst/>
          </a:prstGeom>
          <a:noFill/>
          <a:ln/>
        </p:spPr>
        <p:txBody>
          <a:bodyPr wrap="square" lIns="0" tIns="0" rIns="0" bIns="0" rtlCol="0" anchor="ctr"/>
          <a:lstStyle/>
          <a:p>
            <a:pPr indent="0" marL="0">
              <a:buNone/>
            </a:pPr>
            <a:r>
              <a:rPr lang="en-US" sz="1600" b="1" dirty="0">
                <a:solidFill>
                  <a:srgbClr val="FFD45C"/>
                </a:solidFill>
              </a:rPr>
              <a:t>정답</a:t>
            </a:r>
            <a:endParaRPr lang="en-US" sz="1600" dirty="0"/>
          </a:p>
        </p:txBody>
      </p:sp>
      <p:sp>
        <p:nvSpPr>
          <p:cNvPr id="6" name="Text 4"/>
          <p:cNvSpPr txBox="1"/>
          <p:nvPr/>
        </p:nvSpPr>
        <p:spPr>
          <a:xfrm>
            <a:off x="868680" y="1920240"/>
            <a:ext cx="3108960" cy="1188720"/>
          </a:xfrm>
          <a:prstGeom prst="rect">
            <a:avLst/>
          </a:prstGeom>
          <a:noFill/>
          <a:ln/>
        </p:spPr>
        <p:txBody>
          <a:bodyPr wrap="square" lIns="0" tIns="0" rIns="0" bIns="0" rtlCol="0" anchor="ctr"/>
          <a:lstStyle/>
          <a:p>
            <a:pPr indent="0" marL="0">
              <a:buNone/>
            </a:pPr>
            <a:r>
              <a:rPr lang="en-US" sz="7200" b="1" dirty="0">
                <a:solidFill>
                  <a:srgbClr val="FFFFFF"/>
                </a:solidFill>
              </a:rPr>
              <a:t>①</a:t>
            </a:r>
            <a:endParaRPr lang="en-US" sz="7200" dirty="0"/>
          </a:p>
        </p:txBody>
      </p:sp>
      <p:sp>
        <p:nvSpPr>
          <p:cNvPr id="7" name="Text 5"/>
          <p:cNvSpPr txBox="1"/>
          <p:nvPr/>
        </p:nvSpPr>
        <p:spPr>
          <a:xfrm>
            <a:off x="868680" y="3337560"/>
            <a:ext cx="3154680" cy="1280160"/>
          </a:xfrm>
          <a:prstGeom prst="rect">
            <a:avLst/>
          </a:prstGeom>
          <a:noFill/>
          <a:ln/>
        </p:spPr>
        <p:txBody>
          <a:bodyPr wrap="square" lIns="0" tIns="0" rIns="0" bIns="0" rtlCol="0" anchor="t"/>
          <a:lstStyle/>
          <a:p>
            <a:pPr indent="0" marL="0">
              <a:buNone/>
            </a:pPr>
            <a:r>
              <a:rPr lang="en-US" sz="1700" b="1" i="1" dirty="0">
                <a:solidFill>
                  <a:srgbClr val="FFFFFF"/>
                </a:solidFill>
              </a:rPr>
              <a:t>an individual ----- larger</a:t>
            </a:r>
            <a:endParaRPr lang="en-US" sz="1700" dirty="0"/>
          </a:p>
        </p:txBody>
      </p:sp>
      <p:sp>
        <p:nvSpPr>
          <p:cNvPr id="8" name="Text 6"/>
          <p:cNvSpPr txBox="1"/>
          <p:nvPr/>
        </p:nvSpPr>
        <p:spPr>
          <a:xfrm>
            <a:off x="868680" y="4663440"/>
            <a:ext cx="3154680" cy="1463040"/>
          </a:xfrm>
          <a:prstGeom prst="rect">
            <a:avLst/>
          </a:prstGeom>
          <a:noFill/>
          <a:ln/>
        </p:spPr>
        <p:txBody>
          <a:bodyPr wrap="square" lIns="0" tIns="0" rIns="0" bIns="0" rtlCol="0" anchor="t"/>
          <a:lstStyle/>
          <a:p>
            <a:pPr indent="0" marL="0">
              <a:buNone/>
            </a:pPr>
            <a:r>
              <a:rPr lang="en-US" sz="1400" dirty="0">
                <a:solidFill>
                  <a:srgbClr val="E6F2ED"/>
                </a:solidFill>
              </a:rPr>
              <a:t>한 개인 = Rokia / 더 큰 = the larger hunger problem</a:t>
            </a:r>
            <a:endParaRPr lang="en-US" sz="1400" dirty="0"/>
          </a:p>
        </p:txBody>
      </p:sp>
      <p:sp>
        <p:nvSpPr>
          <p:cNvPr id="9" name="Shape 7"/>
          <p:cNvSpPr/>
          <p:nvPr/>
        </p:nvSpPr>
        <p:spPr>
          <a:xfrm>
            <a:off x="4572000" y="1325880"/>
            <a:ext cx="7040880" cy="905256"/>
          </a:xfrm>
          <a:prstGeom prst="roundRect">
            <a:avLst>
              <a:gd name="adj" fmla="val 10101"/>
            </a:avLst>
          </a:prstGeom>
          <a:solidFill>
            <a:srgbClr val="F7E9E4"/>
          </a:solidFill>
          <a:ln w="25400">
            <a:solidFill>
              <a:srgbClr val="EF5B3F"/>
            </a:solidFill>
            <a:prstDash val="solid"/>
          </a:ln>
        </p:spPr>
      </p:sp>
      <p:sp>
        <p:nvSpPr>
          <p:cNvPr id="10" name="Text 8"/>
          <p:cNvSpPr txBox="1"/>
          <p:nvPr/>
        </p:nvSpPr>
        <p:spPr>
          <a:xfrm>
            <a:off x="4754880" y="1435608"/>
            <a:ext cx="411480" cy="411480"/>
          </a:xfrm>
          <a:prstGeom prst="rect">
            <a:avLst/>
          </a:prstGeom>
          <a:noFill/>
          <a:ln/>
        </p:spPr>
        <p:txBody>
          <a:bodyPr wrap="square" lIns="0" tIns="0" rIns="0" bIns="0" rtlCol="0" anchor="ctr"/>
          <a:lstStyle/>
          <a:p>
            <a:pPr indent="0" marL="0">
              <a:buNone/>
            </a:pPr>
            <a:r>
              <a:rPr lang="en-US" sz="2000" b="1" dirty="0">
                <a:solidFill>
                  <a:srgbClr val="EF5B3F"/>
                </a:solidFill>
              </a:rPr>
              <a:t>①</a:t>
            </a:r>
            <a:endParaRPr lang="en-US" sz="2000" dirty="0"/>
          </a:p>
        </p:txBody>
      </p:sp>
      <p:sp>
        <p:nvSpPr>
          <p:cNvPr id="11" name="Text 9"/>
          <p:cNvSpPr txBox="1"/>
          <p:nvPr/>
        </p:nvSpPr>
        <p:spPr>
          <a:xfrm>
            <a:off x="5257800" y="1399032"/>
            <a:ext cx="6172200" cy="411480"/>
          </a:xfrm>
          <a:prstGeom prst="rect">
            <a:avLst/>
          </a:prstGeom>
          <a:noFill/>
          <a:ln/>
        </p:spPr>
        <p:txBody>
          <a:bodyPr wrap="square" lIns="0" tIns="0" rIns="0" bIns="0" rtlCol="0" anchor="ctr">
            <a:normAutofit/>
          </a:bodyPr>
          <a:lstStyle/>
          <a:p>
            <a:pPr indent="0" marL="0">
              <a:buNone/>
            </a:pPr>
            <a:r>
              <a:rPr lang="en-US" sz="1500" b="1" dirty="0">
                <a:solidFill>
                  <a:srgbClr val="14453D"/>
                </a:solidFill>
              </a:rPr>
              <a:t>an individual ----- larger</a:t>
            </a:r>
            <a:endParaRPr lang="en-US" sz="1500" dirty="0"/>
          </a:p>
        </p:txBody>
      </p:sp>
      <p:sp>
        <p:nvSpPr>
          <p:cNvPr id="12" name="Text 10"/>
          <p:cNvSpPr txBox="1"/>
          <p:nvPr/>
        </p:nvSpPr>
        <p:spPr>
          <a:xfrm>
            <a:off x="5257800" y="1801368"/>
            <a:ext cx="6172200" cy="365760"/>
          </a:xfrm>
          <a:prstGeom prst="rect">
            <a:avLst/>
          </a:prstGeom>
          <a:noFill/>
          <a:ln/>
        </p:spPr>
        <p:txBody>
          <a:bodyPr wrap="square" lIns="0" tIns="0" rIns="0" bIns="0" rtlCol="0" anchor="ctr">
            <a:normAutofit/>
          </a:bodyPr>
          <a:lstStyle/>
          <a:p>
            <a:pPr indent="0" marL="0">
              <a:buNone/>
            </a:pPr>
            <a:r>
              <a:rPr lang="en-US" sz="1300" dirty="0">
                <a:solidFill>
                  <a:srgbClr val="EF5B3F"/>
                </a:solidFill>
              </a:rPr>
              <a:t>✔ 한 개인 = Rokia / 더 큰 = the larger hunger problem</a:t>
            </a:r>
            <a:endParaRPr lang="en-US" sz="1300" dirty="0"/>
          </a:p>
        </p:txBody>
      </p:sp>
      <p:sp>
        <p:nvSpPr>
          <p:cNvPr id="13" name="Shape 11"/>
          <p:cNvSpPr/>
          <p:nvPr/>
        </p:nvSpPr>
        <p:spPr>
          <a:xfrm>
            <a:off x="4572000" y="2340864"/>
            <a:ext cx="7040880" cy="905256"/>
          </a:xfrm>
          <a:prstGeom prst="roundRect">
            <a:avLst>
              <a:gd name="adj" fmla="val 10101"/>
            </a:avLst>
          </a:prstGeom>
          <a:solidFill>
            <a:srgbClr val="FFFFFF"/>
          </a:solidFill>
          <a:ln w="12700">
            <a:solidFill>
              <a:srgbClr val="E6F2ED"/>
            </a:solidFill>
            <a:prstDash val="solid"/>
          </a:ln>
        </p:spPr>
      </p:sp>
      <p:sp>
        <p:nvSpPr>
          <p:cNvPr id="14" name="Text 12"/>
          <p:cNvSpPr txBox="1"/>
          <p:nvPr/>
        </p:nvSpPr>
        <p:spPr>
          <a:xfrm>
            <a:off x="4754880" y="2450592"/>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②</a:t>
            </a:r>
            <a:endParaRPr lang="en-US" sz="2000" dirty="0"/>
          </a:p>
        </p:txBody>
      </p:sp>
      <p:sp>
        <p:nvSpPr>
          <p:cNvPr id="15" name="Text 13"/>
          <p:cNvSpPr txBox="1"/>
          <p:nvPr/>
        </p:nvSpPr>
        <p:spPr>
          <a:xfrm>
            <a:off x="5257800" y="2414016"/>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an individual ----- simpler</a:t>
            </a:r>
            <a:endParaRPr lang="en-US" sz="1500" dirty="0"/>
          </a:p>
        </p:txBody>
      </p:sp>
      <p:sp>
        <p:nvSpPr>
          <p:cNvPr id="16" name="Text 14"/>
          <p:cNvSpPr txBox="1"/>
          <p:nvPr/>
        </p:nvSpPr>
        <p:spPr>
          <a:xfrm>
            <a:off x="5257800" y="2816352"/>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한 개인 ✔ / 더 단순한 ✘</a:t>
            </a:r>
            <a:endParaRPr lang="en-US" sz="1300" dirty="0"/>
          </a:p>
        </p:txBody>
      </p:sp>
      <p:sp>
        <p:nvSpPr>
          <p:cNvPr id="17" name="Shape 15"/>
          <p:cNvSpPr/>
          <p:nvPr/>
        </p:nvSpPr>
        <p:spPr>
          <a:xfrm>
            <a:off x="4572000" y="3355848"/>
            <a:ext cx="7040880" cy="905256"/>
          </a:xfrm>
          <a:prstGeom prst="roundRect">
            <a:avLst>
              <a:gd name="adj" fmla="val 10101"/>
            </a:avLst>
          </a:prstGeom>
          <a:solidFill>
            <a:srgbClr val="FFFFFF"/>
          </a:solidFill>
          <a:ln w="12700">
            <a:solidFill>
              <a:srgbClr val="E6F2ED"/>
            </a:solidFill>
            <a:prstDash val="solid"/>
          </a:ln>
        </p:spPr>
      </p:sp>
      <p:sp>
        <p:nvSpPr>
          <p:cNvPr id="18" name="Text 16"/>
          <p:cNvSpPr txBox="1"/>
          <p:nvPr/>
        </p:nvSpPr>
        <p:spPr>
          <a:xfrm>
            <a:off x="4754880" y="3465576"/>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③</a:t>
            </a:r>
            <a:endParaRPr lang="en-US" sz="2000" dirty="0"/>
          </a:p>
        </p:txBody>
      </p:sp>
      <p:sp>
        <p:nvSpPr>
          <p:cNvPr id="19" name="Text 17"/>
          <p:cNvSpPr txBox="1"/>
          <p:nvPr/>
        </p:nvSpPr>
        <p:spPr>
          <a:xfrm>
            <a:off x="5257800" y="3429000"/>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the masses ----- broader</a:t>
            </a:r>
            <a:endParaRPr lang="en-US" sz="1500" dirty="0"/>
          </a:p>
        </p:txBody>
      </p:sp>
      <p:sp>
        <p:nvSpPr>
          <p:cNvPr id="20" name="Text 18"/>
          <p:cNvSpPr txBox="1"/>
          <p:nvPr/>
        </p:nvSpPr>
        <p:spPr>
          <a:xfrm>
            <a:off x="5257800" y="3831336"/>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대중 ✘ / 더 넓은 △ → 대중에겐 무관심</a:t>
            </a:r>
            <a:endParaRPr lang="en-US" sz="1300" dirty="0"/>
          </a:p>
        </p:txBody>
      </p:sp>
      <p:sp>
        <p:nvSpPr>
          <p:cNvPr id="21" name="Shape 19"/>
          <p:cNvSpPr/>
          <p:nvPr/>
        </p:nvSpPr>
        <p:spPr>
          <a:xfrm>
            <a:off x="4572000" y="4370832"/>
            <a:ext cx="7040880" cy="905256"/>
          </a:xfrm>
          <a:prstGeom prst="roundRect">
            <a:avLst>
              <a:gd name="adj" fmla="val 10101"/>
            </a:avLst>
          </a:prstGeom>
          <a:solidFill>
            <a:srgbClr val="FFFFFF"/>
          </a:solidFill>
          <a:ln w="12700">
            <a:solidFill>
              <a:srgbClr val="E6F2ED"/>
            </a:solidFill>
            <a:prstDash val="solid"/>
          </a:ln>
        </p:spPr>
      </p:sp>
      <p:sp>
        <p:nvSpPr>
          <p:cNvPr id="22" name="Text 20"/>
          <p:cNvSpPr txBox="1"/>
          <p:nvPr/>
        </p:nvSpPr>
        <p:spPr>
          <a:xfrm>
            <a:off x="4754880" y="4480560"/>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④</a:t>
            </a:r>
            <a:endParaRPr lang="en-US" sz="2000" dirty="0"/>
          </a:p>
        </p:txBody>
      </p:sp>
      <p:sp>
        <p:nvSpPr>
          <p:cNvPr id="23" name="Text 21"/>
          <p:cNvSpPr txBox="1"/>
          <p:nvPr/>
        </p:nvSpPr>
        <p:spPr>
          <a:xfrm>
            <a:off x="5257800" y="4443984"/>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the masses ----- fairer</a:t>
            </a:r>
            <a:endParaRPr lang="en-US" sz="1500" dirty="0"/>
          </a:p>
        </p:txBody>
      </p:sp>
      <p:sp>
        <p:nvSpPr>
          <p:cNvPr id="24" name="Text 22"/>
          <p:cNvSpPr txBox="1"/>
          <p:nvPr/>
        </p:nvSpPr>
        <p:spPr>
          <a:xfrm>
            <a:off x="5257800" y="4846320"/>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대중 ✘ / 더 공정한 ✘</a:t>
            </a:r>
            <a:endParaRPr lang="en-US" sz="1300" dirty="0"/>
          </a:p>
        </p:txBody>
      </p:sp>
      <p:sp>
        <p:nvSpPr>
          <p:cNvPr id="25" name="Shape 23"/>
          <p:cNvSpPr/>
          <p:nvPr/>
        </p:nvSpPr>
        <p:spPr>
          <a:xfrm>
            <a:off x="4572000" y="5385816"/>
            <a:ext cx="7040880" cy="905256"/>
          </a:xfrm>
          <a:prstGeom prst="roundRect">
            <a:avLst>
              <a:gd name="adj" fmla="val 10101"/>
            </a:avLst>
          </a:prstGeom>
          <a:solidFill>
            <a:srgbClr val="FFFFFF"/>
          </a:solidFill>
          <a:ln w="12700">
            <a:solidFill>
              <a:srgbClr val="E6F2ED"/>
            </a:solidFill>
            <a:prstDash val="solid"/>
          </a:ln>
        </p:spPr>
      </p:sp>
      <p:sp>
        <p:nvSpPr>
          <p:cNvPr id="26" name="Text 24"/>
          <p:cNvSpPr txBox="1"/>
          <p:nvPr/>
        </p:nvSpPr>
        <p:spPr>
          <a:xfrm>
            <a:off x="4754880" y="5495544"/>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⑤</a:t>
            </a:r>
            <a:endParaRPr lang="en-US" sz="2000" dirty="0"/>
          </a:p>
        </p:txBody>
      </p:sp>
      <p:sp>
        <p:nvSpPr>
          <p:cNvPr id="27" name="Text 25"/>
          <p:cNvSpPr txBox="1"/>
          <p:nvPr/>
        </p:nvSpPr>
        <p:spPr>
          <a:xfrm>
            <a:off x="5257800" y="5458968"/>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a nation ----- clearer</a:t>
            </a:r>
            <a:endParaRPr lang="en-US" sz="1500" dirty="0"/>
          </a:p>
        </p:txBody>
      </p:sp>
      <p:sp>
        <p:nvSpPr>
          <p:cNvPr id="28" name="Text 26"/>
          <p:cNvSpPr txBox="1"/>
          <p:nvPr/>
        </p:nvSpPr>
        <p:spPr>
          <a:xfrm>
            <a:off x="5257800" y="5861304"/>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한 국가 ✘ / 더 분명한 ✘</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101  </a:t>
            </a:r>
            <a:pPr algn="l" indent="0" marL="0">
              <a:buNone/>
            </a:pPr>
            <a:r>
              <a:rPr lang="en-US" sz="3000" b="1" dirty="0">
                <a:solidFill>
                  <a:srgbClr val="14453D"/>
                </a:solidFill>
              </a:rPr>
              <a:t>내신 어법 체크: 알맞은 것은?</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요약문 완성 · 어법</a:t>
            </a:r>
            <a:endParaRPr lang="en-US" sz="1200" dirty="0"/>
          </a:p>
        </p:txBody>
      </p:sp>
      <p:sp>
        <p:nvSpPr>
          <p:cNvPr id="4" name="Shape 2"/>
          <p:cNvSpPr/>
          <p:nvPr/>
        </p:nvSpPr>
        <p:spPr>
          <a:xfrm>
            <a:off x="548640" y="1325880"/>
            <a:ext cx="11064240" cy="1143000"/>
          </a:xfrm>
          <a:prstGeom prst="roundRect">
            <a:avLst>
              <a:gd name="adj" fmla="val 8000"/>
            </a:avLst>
          </a:prstGeom>
          <a:solidFill>
            <a:srgbClr val="F2F8FB"/>
          </a:solidFill>
          <a:ln w="12700">
            <a:solidFill>
              <a:srgbClr val="D3E5EE"/>
            </a:solidFill>
            <a:prstDash val="solid"/>
          </a:ln>
        </p:spPr>
      </p:sp>
      <p:sp>
        <p:nvSpPr>
          <p:cNvPr id="5" name="Text 3"/>
          <p:cNvSpPr/>
          <p:nvPr/>
        </p:nvSpPr>
        <p:spPr>
          <a:xfrm>
            <a:off x="777240" y="162306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1554480" y="132588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People who are otherwise caring and would go out of their way to help another individual </a:t>
            </a:r>
            <a:pPr indent="0" marL="0">
              <a:buNone/>
            </a:pPr>
            <a:r>
              <a:rPr lang="en-US" sz="1900" b="1" dirty="0">
                <a:solidFill>
                  <a:srgbClr val="EF5B3F"/>
                </a:solidFill>
              </a:rPr>
              <a:t>[become / becomes]</a:t>
            </a:r>
            <a:pPr indent="0" marL="0">
              <a:buNone/>
            </a:pPr>
            <a:r>
              <a:rPr lang="en-US" sz="1900" dirty="0">
                <a:solidFill>
                  <a:srgbClr val="1E2B2A"/>
                </a:solidFill>
              </a:rPr>
              <a:t> indifferent.</a:t>
            </a:r>
            <a:endParaRPr lang="en-US" sz="1900" dirty="0"/>
          </a:p>
        </p:txBody>
      </p:sp>
      <p:sp>
        <p:nvSpPr>
          <p:cNvPr id="7" name="Shape 5"/>
          <p:cNvSpPr/>
          <p:nvPr/>
        </p:nvSpPr>
        <p:spPr>
          <a:xfrm>
            <a:off x="548640" y="2606040"/>
            <a:ext cx="11064240" cy="1143000"/>
          </a:xfrm>
          <a:prstGeom prst="roundRect">
            <a:avLst>
              <a:gd name="adj" fmla="val 8000"/>
            </a:avLst>
          </a:prstGeom>
          <a:solidFill>
            <a:srgbClr val="FFFFFF"/>
          </a:solidFill>
          <a:ln w="12700">
            <a:solidFill>
              <a:srgbClr val="D3E5EE"/>
            </a:solidFill>
            <a:prstDash val="solid"/>
          </a:ln>
        </p:spPr>
      </p:sp>
      <p:sp>
        <p:nvSpPr>
          <p:cNvPr id="8" name="Text 6"/>
          <p:cNvSpPr/>
          <p:nvPr/>
        </p:nvSpPr>
        <p:spPr>
          <a:xfrm>
            <a:off x="777240" y="290322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9" name="Text 7"/>
          <p:cNvSpPr txBox="1"/>
          <p:nvPr/>
        </p:nvSpPr>
        <p:spPr>
          <a:xfrm>
            <a:off x="1554480" y="260604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Donations to the individual, Rokia, were </a:t>
            </a:r>
            <a:pPr indent="0" marL="0">
              <a:buNone/>
            </a:pPr>
            <a:r>
              <a:rPr lang="en-US" sz="1900" b="1" dirty="0">
                <a:solidFill>
                  <a:srgbClr val="EF5B3F"/>
                </a:solidFill>
              </a:rPr>
              <a:t>[far / very]</a:t>
            </a:r>
            <a:pPr indent="0" marL="0">
              <a:buNone/>
            </a:pPr>
            <a:r>
              <a:rPr lang="en-US" sz="1900" dirty="0">
                <a:solidFill>
                  <a:srgbClr val="1E2B2A"/>
                </a:solidFill>
              </a:rPr>
              <a:t> greater than donations to the second choice.</a:t>
            </a:r>
            <a:endParaRPr lang="en-US" sz="1900" dirty="0"/>
          </a:p>
        </p:txBody>
      </p:sp>
      <p:sp>
        <p:nvSpPr>
          <p:cNvPr id="10" name="Shape 8"/>
          <p:cNvSpPr/>
          <p:nvPr/>
        </p:nvSpPr>
        <p:spPr>
          <a:xfrm>
            <a:off x="548640" y="3886200"/>
            <a:ext cx="11064240" cy="1143000"/>
          </a:xfrm>
          <a:prstGeom prst="roundRect">
            <a:avLst>
              <a:gd name="adj" fmla="val 8000"/>
            </a:avLst>
          </a:prstGeom>
          <a:solidFill>
            <a:srgbClr val="F2F8FB"/>
          </a:solidFill>
          <a:ln w="12700">
            <a:solidFill>
              <a:srgbClr val="D3E5EE"/>
            </a:solidFill>
            <a:prstDash val="solid"/>
          </a:ln>
        </p:spPr>
      </p:sp>
      <p:sp>
        <p:nvSpPr>
          <p:cNvPr id="11" name="Text 9"/>
          <p:cNvSpPr/>
          <p:nvPr/>
        </p:nvSpPr>
        <p:spPr>
          <a:xfrm>
            <a:off x="777240" y="418338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2" name="Text 10"/>
          <p:cNvSpPr txBox="1"/>
          <p:nvPr/>
        </p:nvSpPr>
        <p:spPr>
          <a:xfrm>
            <a:off x="1554480" y="388620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What is surprising is </a:t>
            </a:r>
            <a:pPr indent="0" marL="0">
              <a:buNone/>
            </a:pPr>
            <a:r>
              <a:rPr lang="en-US" sz="1900" b="1" dirty="0">
                <a:solidFill>
                  <a:srgbClr val="EF5B3F"/>
                </a:solidFill>
              </a:rPr>
              <a:t>[that / what]</a:t>
            </a:r>
            <a:pPr indent="0" marL="0">
              <a:buNone/>
            </a:pPr>
            <a:r>
              <a:rPr lang="en-US" sz="1900" dirty="0">
                <a:solidFill>
                  <a:srgbClr val="1E2B2A"/>
                </a:solidFill>
              </a:rPr>
              <a:t> adding the statistical realities significantly reduced the contributions.</a:t>
            </a:r>
            <a:endParaRPr lang="en-US" sz="19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102  </a:t>
            </a:r>
            <a:pPr algn="l" indent="0" marL="0">
              <a:buNone/>
            </a:pPr>
            <a:r>
              <a:rPr lang="en-US" sz="2400" b="1" dirty="0">
                <a:solidFill>
                  <a:srgbClr val="14453D"/>
                </a:solidFill>
              </a:rPr>
              <a:t>다음 빈칸에 들어갈 말로 가장 적절한 것은?</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빈칸 변형</a:t>
            </a:r>
            <a:endParaRPr lang="en-US" sz="1200" dirty="0"/>
          </a:p>
        </p:txBody>
      </p:sp>
      <p:sp>
        <p:nvSpPr>
          <p:cNvPr id="4" name="Shape 2"/>
          <p:cNvSpPr/>
          <p:nvPr/>
        </p:nvSpPr>
        <p:spPr>
          <a:xfrm>
            <a:off x="548640" y="1234440"/>
            <a:ext cx="11064240" cy="5074920"/>
          </a:xfrm>
          <a:prstGeom prst="roundRect">
            <a:avLst>
              <a:gd name="adj" fmla="val 1802"/>
            </a:avLst>
          </a:prstGeom>
          <a:solidFill>
            <a:srgbClr val="FFFFFF"/>
          </a:solidFill>
          <a:ln w="19050">
            <a:solidFill>
              <a:srgbClr val="E6F2ED"/>
            </a:solidFill>
            <a:prstDash val="solid"/>
          </a:ln>
        </p:spPr>
      </p:sp>
      <p:sp>
        <p:nvSpPr>
          <p:cNvPr id="5" name="Text 3"/>
          <p:cNvSpPr txBox="1"/>
          <p:nvPr/>
        </p:nvSpPr>
        <p:spPr>
          <a:xfrm>
            <a:off x="777240" y="1371600"/>
            <a:ext cx="10607040" cy="4846320"/>
          </a:xfrm>
          <a:prstGeom prst="rect">
            <a:avLst/>
          </a:prstGeom>
          <a:noFill/>
          <a:ln/>
        </p:spPr>
        <p:txBody>
          <a:bodyPr wrap="square" lIns="0" tIns="0" rIns="0" bIns="0" rtlCol="0" anchor="t"/>
          <a:lstStyle/>
          <a:p>
            <a:pPr indent="0" marL="0">
              <a:lnSpc>
                <a:spcPct val="115000"/>
              </a:lnSpc>
              <a:buNone/>
            </a:pPr>
            <a:r>
              <a:rPr lang="en-US" sz="1650" dirty="0">
                <a:solidFill>
                  <a:srgbClr val="1E2B2A"/>
                </a:solidFill>
              </a:rPr>
              <a:t>In 2006, Benedetto De Martino conducted a famous psychology experiment.</a:t>
            </a:r>
            <a:pPr indent="0" marL="0">
              <a:lnSpc>
                <a:spcPct val="115000"/>
              </a:lnSpc>
              <a:buNone/>
            </a:pPr>
            <a:r>
              <a:rPr lang="en-US" sz="1650" dirty="0">
                <a:solidFill>
                  <a:srgbClr val="000000"/>
                </a:solidFill>
              </a:rPr>
              <a:t> </a:t>
            </a:r>
            <a:pPr indent="0" marL="0">
              <a:lnSpc>
                <a:spcPct val="115000"/>
              </a:lnSpc>
              <a:buNone/>
            </a:pPr>
            <a:r>
              <a:rPr lang="en-US" sz="1650" dirty="0">
                <a:solidFill>
                  <a:srgbClr val="1E2B2A"/>
                </a:solidFill>
              </a:rPr>
              <a:t>The participants were each given $50 and separated into two groups—group A and B.</a:t>
            </a:r>
            <a:pPr indent="0" marL="0">
              <a:lnSpc>
                <a:spcPct val="115000"/>
              </a:lnSpc>
              <a:buNone/>
            </a:pPr>
            <a:r>
              <a:rPr lang="en-US" sz="1650" dirty="0">
                <a:solidFill>
                  <a:srgbClr val="000000"/>
                </a:solidFill>
              </a:rPr>
              <a:t> </a:t>
            </a:r>
            <a:pPr indent="0" marL="0">
              <a:lnSpc>
                <a:spcPct val="115000"/>
              </a:lnSpc>
              <a:buNone/>
            </a:pPr>
            <a:r>
              <a:rPr lang="en-US" sz="1650" dirty="0">
                <a:solidFill>
                  <a:srgbClr val="1E2B2A"/>
                </a:solidFill>
              </a:rPr>
              <a:t>Group A was given two options, “You can either gamble with that money or lose $30 of it.”</a:t>
            </a:r>
            <a:pPr indent="0" marL="0">
              <a:lnSpc>
                <a:spcPct val="115000"/>
              </a:lnSpc>
              <a:buNone/>
            </a:pPr>
            <a:r>
              <a:rPr lang="en-US" sz="1650" dirty="0">
                <a:solidFill>
                  <a:srgbClr val="000000"/>
                </a:solidFill>
              </a:rPr>
              <a:t> </a:t>
            </a:r>
            <a:pPr indent="0" marL="0">
              <a:lnSpc>
                <a:spcPct val="115000"/>
              </a:lnSpc>
              <a:buNone/>
            </a:pPr>
            <a:r>
              <a:rPr lang="en-US" sz="1650" dirty="0">
                <a:solidFill>
                  <a:srgbClr val="1E2B2A"/>
                </a:solidFill>
              </a:rPr>
              <a:t>Group B was also given two options: “You can either gamble with that money or keep $20 of it.”</a:t>
            </a:r>
            <a:pPr indent="0" marL="0">
              <a:lnSpc>
                <a:spcPct val="115000"/>
              </a:lnSpc>
              <a:buNone/>
            </a:pPr>
            <a:r>
              <a:rPr lang="en-US" sz="1650" dirty="0">
                <a:solidFill>
                  <a:srgbClr val="000000"/>
                </a:solidFill>
              </a:rPr>
              <a:t> </a:t>
            </a:r>
            <a:pPr indent="0" marL="0">
              <a:lnSpc>
                <a:spcPct val="115000"/>
              </a:lnSpc>
              <a:buNone/>
            </a:pPr>
            <a:r>
              <a:rPr lang="en-US" sz="1650" dirty="0">
                <a:solidFill>
                  <a:srgbClr val="1E2B2A"/>
                </a:solidFill>
              </a:rPr>
              <a:t>Having heard these options, 61.9% of participants in group A chose to gamble, while only 42.9% of participants in group B chose to gamble.</a:t>
            </a:r>
            <a:pPr indent="0" marL="0">
              <a:lnSpc>
                <a:spcPct val="115000"/>
              </a:lnSpc>
              <a:buNone/>
            </a:pPr>
            <a:r>
              <a:rPr lang="en-US" sz="1650" dirty="0">
                <a:solidFill>
                  <a:srgbClr val="000000"/>
                </a:solidFill>
              </a:rPr>
              <a:t> </a:t>
            </a:r>
            <a:pPr indent="0" marL="0">
              <a:lnSpc>
                <a:spcPct val="115000"/>
              </a:lnSpc>
              <a:buNone/>
            </a:pPr>
            <a:r>
              <a:rPr lang="en-US" sz="1650" dirty="0">
                <a:solidFill>
                  <a:srgbClr val="1E2B2A"/>
                </a:solidFill>
              </a:rPr>
              <a:t>As you may have noticed, the two groups were given options that actually led to </a:t>
            </a:r>
            <a:pPr indent="0" marL="0">
              <a:lnSpc>
                <a:spcPct val="115000"/>
              </a:lnSpc>
              <a:buNone/>
            </a:pPr>
            <a:r>
              <a:rPr lang="en-US" sz="1650" b="1" dirty="0">
                <a:solidFill>
                  <a:srgbClr val="EF5B3F"/>
                </a:solidFill>
              </a:rPr>
              <a:t>____________</a:t>
            </a:r>
            <a:pPr indent="0" marL="0">
              <a:lnSpc>
                <a:spcPct val="115000"/>
              </a:lnSpc>
              <a:buNone/>
            </a:pPr>
            <a:r>
              <a:rPr lang="en-US" sz="1650" dirty="0">
                <a:solidFill>
                  <a:srgbClr val="1E2B2A"/>
                </a:solidFill>
              </a:rPr>
              <a:t>.</a:t>
            </a:r>
            <a:pPr indent="0" marL="0">
              <a:lnSpc>
                <a:spcPct val="115000"/>
              </a:lnSpc>
              <a:buNone/>
            </a:pPr>
            <a:r>
              <a:rPr lang="en-US" sz="1650" dirty="0">
                <a:solidFill>
                  <a:srgbClr val="000000"/>
                </a:solidFill>
              </a:rPr>
              <a:t> </a:t>
            </a:r>
            <a:pPr indent="0" marL="0">
              <a:lnSpc>
                <a:spcPct val="115000"/>
              </a:lnSpc>
              <a:buNone/>
            </a:pPr>
            <a:r>
              <a:rPr lang="en-US" sz="1650" dirty="0">
                <a:solidFill>
                  <a:srgbClr val="1E2B2A"/>
                </a:solidFill>
              </a:rPr>
              <a:t>However, because the choices were framed using two different terms, ‘lose’ versus ‘keep’, the participants came to different decisions.</a:t>
            </a:r>
            <a:pPr indent="0" marL="0">
              <a:lnSpc>
                <a:spcPct val="115000"/>
              </a:lnSpc>
              <a:buNone/>
            </a:pPr>
            <a:r>
              <a:rPr lang="en-US" sz="1650" dirty="0">
                <a:solidFill>
                  <a:srgbClr val="000000"/>
                </a:solidFill>
              </a:rPr>
              <a:t> </a:t>
            </a:r>
            <a:pPr indent="0" marL="0">
              <a:lnSpc>
                <a:spcPct val="115000"/>
              </a:lnSpc>
              <a:buNone/>
            </a:pPr>
            <a:r>
              <a:rPr lang="en-US" sz="1650" dirty="0">
                <a:solidFill>
                  <a:srgbClr val="1E2B2A"/>
                </a:solidFill>
              </a:rPr>
              <a:t>This is called the “framing effect”.</a:t>
            </a:r>
            <a:pPr indent="0" marL="0">
              <a:lnSpc>
                <a:spcPct val="115000"/>
              </a:lnSpc>
              <a:buNone/>
            </a:pPr>
            <a:r>
              <a:rPr lang="en-US" sz="1650" dirty="0">
                <a:solidFill>
                  <a:srgbClr val="000000"/>
                </a:solidFill>
              </a:rPr>
              <a:t> </a:t>
            </a:r>
            <a:pPr indent="0" marL="0">
              <a:lnSpc>
                <a:spcPct val="115000"/>
              </a:lnSpc>
              <a:buNone/>
            </a:pPr>
            <a:r>
              <a:rPr lang="en-US" sz="1650" dirty="0">
                <a:solidFill>
                  <a:srgbClr val="1E2B2A"/>
                </a:solidFill>
              </a:rPr>
              <a:t>Using words that make people think of a negative outcome will yield different behavioral results than using words that make them think of a positive outcome.</a:t>
            </a:r>
            <a:endParaRPr lang="en-US" sz="1650" dirty="0"/>
          </a:p>
          <a:p>
            <a:pPr algn="r" indent="0" marL="0">
              <a:lnSpc>
                <a:spcPct val="115000"/>
              </a:lnSpc>
              <a:spcBef>
                <a:spcPts val="200"/>
              </a:spcBef>
              <a:buNone/>
            </a:pPr>
            <a:r>
              <a:rPr lang="en-US" sz="1100" i="1" dirty="0">
                <a:solidFill>
                  <a:srgbClr val="6E7F7C"/>
                </a:solidFill>
              </a:rPr>
              <a:t>*frame (특정한 방식으로) 표현하다</a:t>
            </a:r>
            <a:endParaRPr lang="en-US" sz="1650" dirty="0"/>
          </a:p>
          <a:p>
            <a:pPr indent="0" marL="0">
              <a:lnSpc>
                <a:spcPct val="115000"/>
              </a:lnSpc>
              <a:spcBef>
                <a:spcPts val="1000"/>
              </a:spcBef>
              <a:buNone/>
            </a:pPr>
            <a:r>
              <a:rPr lang="en-US" sz="1650" dirty="0">
                <a:solidFill>
                  <a:srgbClr val="14453D"/>
                </a:solidFill>
              </a:rPr>
              <a:t>①  serious financial loss</a:t>
            </a:r>
            <a:endParaRPr lang="en-US" sz="1650" dirty="0"/>
          </a:p>
          <a:p>
            <a:pPr indent="0" marL="0">
              <a:lnSpc>
                <a:spcPct val="115000"/>
              </a:lnSpc>
              <a:spcBef>
                <a:spcPts val="200"/>
              </a:spcBef>
              <a:buNone/>
            </a:pPr>
            <a:r>
              <a:rPr lang="en-US" sz="1650" dirty="0">
                <a:solidFill>
                  <a:srgbClr val="14453D"/>
                </a:solidFill>
              </a:rPr>
              <a:t>②  an identical outcome</a:t>
            </a:r>
            <a:endParaRPr lang="en-US" sz="1650" dirty="0"/>
          </a:p>
          <a:p>
            <a:pPr indent="0" marL="0">
              <a:lnSpc>
                <a:spcPct val="115000"/>
              </a:lnSpc>
              <a:spcBef>
                <a:spcPts val="200"/>
              </a:spcBef>
              <a:buNone/>
            </a:pPr>
            <a:r>
              <a:rPr lang="en-US" sz="1650" dirty="0">
                <a:solidFill>
                  <a:srgbClr val="14453D"/>
                </a:solidFill>
              </a:rPr>
              <a:t>③  avoiding gambling in any form</a:t>
            </a:r>
            <a:endParaRPr lang="en-US" sz="1650" dirty="0"/>
          </a:p>
          <a:p>
            <a:pPr indent="0" marL="0">
              <a:lnSpc>
                <a:spcPct val="115000"/>
              </a:lnSpc>
              <a:spcBef>
                <a:spcPts val="200"/>
              </a:spcBef>
              <a:buNone/>
            </a:pPr>
            <a:r>
              <a:rPr lang="en-US" sz="1650" dirty="0">
                <a:solidFill>
                  <a:srgbClr val="14453D"/>
                </a:solidFill>
              </a:rPr>
              <a:t>④  a huge burden of decision making</a:t>
            </a:r>
            <a:endParaRPr lang="en-US" sz="1650" dirty="0"/>
          </a:p>
          <a:p>
            <a:pPr indent="0" marL="0">
              <a:lnSpc>
                <a:spcPct val="115000"/>
              </a:lnSpc>
              <a:spcBef>
                <a:spcPts val="200"/>
              </a:spcBef>
              <a:buNone/>
            </a:pPr>
            <a:r>
              <a:rPr lang="en-US" sz="1650" dirty="0">
                <a:solidFill>
                  <a:srgbClr val="14453D"/>
                </a:solidFill>
              </a:rPr>
              <a:t>⑤  misunderstanding economic values</a:t>
            </a:r>
            <a:endParaRPr lang="en-US" sz="16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102  </a:t>
            </a:r>
            <a:pPr algn="l" indent="0" marL="0">
              <a:buNone/>
            </a:pPr>
            <a:r>
              <a:rPr lang="en-US" sz="3000" b="1" dirty="0">
                <a:solidFill>
                  <a:srgbClr val="14453D"/>
                </a:solidFill>
              </a:rPr>
              <a:t>정답 근거 &amp; 문법 포인트</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빈칸 변형 · 근거</a:t>
            </a:r>
            <a:endParaRPr lang="en-US" sz="1200" dirty="0"/>
          </a:p>
        </p:txBody>
      </p:sp>
      <p:sp>
        <p:nvSpPr>
          <p:cNvPr id="4" name="Shape 2"/>
          <p:cNvSpPr/>
          <p:nvPr/>
        </p:nvSpPr>
        <p:spPr>
          <a:xfrm>
            <a:off x="548640" y="1234440"/>
            <a:ext cx="11064240" cy="2907792"/>
          </a:xfrm>
          <a:prstGeom prst="roundRect">
            <a:avLst>
              <a:gd name="adj" fmla="val 3145"/>
            </a:avLst>
          </a:prstGeom>
          <a:solidFill>
            <a:srgbClr val="FFFFFF"/>
          </a:solidFill>
          <a:ln w="19050">
            <a:solidFill>
              <a:srgbClr val="E6F2ED"/>
            </a:solidFill>
            <a:prstDash val="solid"/>
          </a:ln>
        </p:spPr>
      </p:sp>
      <p:sp>
        <p:nvSpPr>
          <p:cNvPr id="5" name="Text 3"/>
          <p:cNvSpPr txBox="1"/>
          <p:nvPr/>
        </p:nvSpPr>
        <p:spPr>
          <a:xfrm>
            <a:off x="777240" y="1371600"/>
            <a:ext cx="10607040" cy="2679192"/>
          </a:xfrm>
          <a:prstGeom prst="rect">
            <a:avLst/>
          </a:prstGeom>
          <a:noFill/>
          <a:ln/>
        </p:spPr>
        <p:txBody>
          <a:bodyPr wrap="square" lIns="0" tIns="0" rIns="0" bIns="0" rtlCol="0" anchor="t">
            <a:normAutofit/>
          </a:bodyPr>
          <a:lstStyle/>
          <a:p>
            <a:pPr indent="0" marL="0">
              <a:lnSpc>
                <a:spcPct val="120000"/>
              </a:lnSpc>
              <a:buNone/>
            </a:pPr>
            <a:r>
              <a:rPr lang="en-US" sz="1200" b="1" dirty="0">
                <a:solidFill>
                  <a:srgbClr val="1F7A64"/>
                </a:solidFill>
              </a:rPr>
              <a:t>(1) </a:t>
            </a:r>
            <a:pPr indent="0" marL="0">
              <a:lnSpc>
                <a:spcPct val="120000"/>
              </a:lnSpc>
              <a:buNone/>
            </a:pPr>
            <a:r>
              <a:rPr lang="en-US" sz="1500" dirty="0">
                <a:solidFill>
                  <a:srgbClr val="1E2B2A"/>
                </a:solidFill>
              </a:rPr>
              <a:t>In 2006, Benedetto De Martino </a:t>
            </a:r>
            <a:pPr indent="0" marL="0">
              <a:lnSpc>
                <a:spcPct val="120000"/>
              </a:lnSpc>
              <a:buNone/>
            </a:pPr>
            <a:r>
              <a:rPr lang="en-US" sz="1500" u="dotted" dirty="0">
                <a:solidFill>
                  <a:srgbClr val="1F7A64"/>
                </a:solidFill>
                <a:uFill>
                  <a:solidFill>
                    <a:srgbClr val="1F7A64"/>
                  </a:solidFill>
                </a:uFill>
              </a:rPr>
              <a:t>conducted</a:t>
            </a:r>
            <a:pPr indent="0" marL="0">
              <a:lnSpc>
                <a:spcPct val="120000"/>
              </a:lnSpc>
              <a:buNone/>
            </a:pPr>
            <a:r>
              <a:rPr lang="en-US" sz="1500" dirty="0">
                <a:solidFill>
                  <a:srgbClr val="1E2B2A"/>
                </a:solidFill>
              </a:rPr>
              <a:t> a famous psychology experiment.</a:t>
            </a:r>
            <a:pPr indent="0" marL="0">
              <a:lnSpc>
                <a:spcPct val="120000"/>
              </a:lnSpc>
              <a:buNone/>
            </a:pPr>
            <a:r>
              <a:rPr lang="en-US" sz="1500" dirty="0">
                <a:solidFill>
                  <a:srgbClr val="000000"/>
                </a:solidFill>
              </a:rPr>
              <a:t> </a:t>
            </a:r>
            <a:pPr indent="0" marL="0">
              <a:lnSpc>
                <a:spcPct val="120000"/>
              </a:lnSpc>
              <a:buNone/>
            </a:pPr>
            <a:r>
              <a:rPr lang="en-US" sz="1200" b="1" dirty="0">
                <a:solidFill>
                  <a:srgbClr val="1F7A64"/>
                </a:solidFill>
              </a:rPr>
              <a:t>(2) </a:t>
            </a:r>
            <a:pPr indent="0" marL="0">
              <a:lnSpc>
                <a:spcPct val="120000"/>
              </a:lnSpc>
              <a:buNone/>
            </a:pPr>
            <a:r>
              <a:rPr lang="en-US" sz="1500" dirty="0">
                <a:solidFill>
                  <a:srgbClr val="1E2B2A"/>
                </a:solidFill>
              </a:rPr>
              <a:t>The </a:t>
            </a:r>
            <a:pPr indent="0" marL="0">
              <a:lnSpc>
                <a:spcPct val="120000"/>
              </a:lnSpc>
              <a:buNone/>
            </a:pPr>
            <a:r>
              <a:rPr lang="en-US" sz="1500" u="dotted" dirty="0">
                <a:solidFill>
                  <a:srgbClr val="1F7A64"/>
                </a:solidFill>
                <a:uFill>
                  <a:solidFill>
                    <a:srgbClr val="1F7A64"/>
                  </a:solidFill>
                </a:uFill>
              </a:rPr>
              <a:t>participants</a:t>
            </a:r>
            <a:pPr indent="0" marL="0">
              <a:lnSpc>
                <a:spcPct val="120000"/>
              </a:lnSpc>
              <a:buNone/>
            </a:pPr>
            <a:r>
              <a:rPr lang="en-US" sz="1500" dirty="0">
                <a:solidFill>
                  <a:srgbClr val="1E2B2A"/>
                </a:solidFill>
              </a:rPr>
              <a:t> </a:t>
            </a:r>
            <a:pPr indent="0" marL="0">
              <a:lnSpc>
                <a:spcPct val="120000"/>
              </a:lnSpc>
              <a:buNone/>
            </a:pPr>
            <a:r>
              <a:rPr lang="en-US" sz="1500" b="1" dirty="0">
                <a:solidFill>
                  <a:srgbClr val="14453D"/>
                </a:solidFill>
                <a:highlight>
                  <a:srgbClr val="A9DDF3"/>
                </a:highlight>
              </a:rPr>
              <a:t>were each given $50 and separated into</a:t>
            </a:r>
            <a:pPr indent="0" marL="0">
              <a:lnSpc>
                <a:spcPct val="120000"/>
              </a:lnSpc>
              <a:buNone/>
            </a:pPr>
            <a:r>
              <a:rPr lang="en-US" sz="1500" dirty="0">
                <a:solidFill>
                  <a:srgbClr val="1E2B2A"/>
                </a:solidFill>
              </a:rPr>
              <a:t> two groups—group A and B.</a:t>
            </a:r>
            <a:pPr indent="0" marL="0">
              <a:lnSpc>
                <a:spcPct val="120000"/>
              </a:lnSpc>
              <a:buNone/>
            </a:pPr>
            <a:r>
              <a:rPr lang="en-US" sz="1500" dirty="0">
                <a:solidFill>
                  <a:srgbClr val="000000"/>
                </a:solidFill>
              </a:rPr>
              <a:t> </a:t>
            </a:r>
            <a:pPr indent="0" marL="0">
              <a:lnSpc>
                <a:spcPct val="120000"/>
              </a:lnSpc>
              <a:buNone/>
            </a:pPr>
            <a:r>
              <a:rPr lang="en-US" sz="1200" b="1" dirty="0">
                <a:solidFill>
                  <a:srgbClr val="1F7A64"/>
                </a:solidFill>
              </a:rPr>
              <a:t>(3) </a:t>
            </a:r>
            <a:pPr indent="0" marL="0">
              <a:lnSpc>
                <a:spcPct val="120000"/>
              </a:lnSpc>
              <a:buNone/>
            </a:pPr>
            <a:r>
              <a:rPr lang="en-US" sz="1500" dirty="0">
                <a:solidFill>
                  <a:srgbClr val="1E2B2A"/>
                </a:solidFill>
                <a:highlight>
                  <a:srgbClr val="FFD45C"/>
                </a:highlight>
              </a:rPr>
              <a:t>Group A was given two options, “You can either </a:t>
            </a:r>
            <a:pPr indent="0" marL="0">
              <a:lnSpc>
                <a:spcPct val="120000"/>
              </a:lnSpc>
              <a:buNone/>
            </a:pPr>
            <a:r>
              <a:rPr lang="en-US" sz="1500" u="dotted" dirty="0">
                <a:solidFill>
                  <a:srgbClr val="1F7A64"/>
                </a:solidFill>
                <a:highlight>
                  <a:srgbClr val="FFD45C"/>
                </a:highlight>
                <a:uFill>
                  <a:solidFill>
                    <a:srgbClr val="1F7A64"/>
                  </a:solidFill>
                </a:uFill>
              </a:rPr>
              <a:t>gamble</a:t>
            </a:r>
            <a:pPr indent="0" marL="0">
              <a:lnSpc>
                <a:spcPct val="120000"/>
              </a:lnSpc>
              <a:buNone/>
            </a:pPr>
            <a:r>
              <a:rPr lang="en-US" sz="1500" dirty="0">
                <a:solidFill>
                  <a:srgbClr val="1E2B2A"/>
                </a:solidFill>
                <a:highlight>
                  <a:srgbClr val="FFD45C"/>
                </a:highlight>
              </a:rPr>
              <a:t> with that money or lose $30 of it.”</a:t>
            </a:r>
            <a:pPr indent="0" marL="0">
              <a:lnSpc>
                <a:spcPct val="120000"/>
              </a:lnSpc>
              <a:buNone/>
            </a:pPr>
            <a:r>
              <a:rPr lang="en-US" sz="1500" dirty="0">
                <a:solidFill>
                  <a:srgbClr val="000000"/>
                </a:solidFill>
              </a:rPr>
              <a:t> </a:t>
            </a:r>
            <a:pPr indent="0" marL="0">
              <a:lnSpc>
                <a:spcPct val="120000"/>
              </a:lnSpc>
              <a:buNone/>
            </a:pPr>
            <a:r>
              <a:rPr lang="en-US" sz="1200" b="1" dirty="0">
                <a:solidFill>
                  <a:srgbClr val="1F7A64"/>
                </a:solidFill>
              </a:rPr>
              <a:t>(4) </a:t>
            </a:r>
            <a:pPr indent="0" marL="0">
              <a:lnSpc>
                <a:spcPct val="120000"/>
              </a:lnSpc>
              <a:buNone/>
            </a:pPr>
            <a:r>
              <a:rPr lang="en-US" sz="1500" dirty="0">
                <a:solidFill>
                  <a:srgbClr val="1E2B2A"/>
                </a:solidFill>
                <a:highlight>
                  <a:srgbClr val="FFD45C"/>
                </a:highlight>
              </a:rPr>
              <a:t>Group B was also given two options: “You can either gamble with that money or keep $20 of it.”</a:t>
            </a:r>
            <a:pPr indent="0" marL="0">
              <a:lnSpc>
                <a:spcPct val="120000"/>
              </a:lnSpc>
              <a:buNone/>
            </a:pPr>
            <a:r>
              <a:rPr lang="en-US" sz="1500" dirty="0">
                <a:solidFill>
                  <a:srgbClr val="000000"/>
                </a:solidFill>
              </a:rPr>
              <a:t> </a:t>
            </a:r>
            <a:pPr indent="0" marL="0">
              <a:lnSpc>
                <a:spcPct val="120000"/>
              </a:lnSpc>
              <a:buNone/>
            </a:pPr>
            <a:r>
              <a:rPr lang="en-US" sz="1200" b="1" dirty="0">
                <a:solidFill>
                  <a:srgbClr val="1F7A64"/>
                </a:solidFill>
              </a:rPr>
              <a:t>(5) </a:t>
            </a:r>
            <a:pPr indent="0" marL="0">
              <a:lnSpc>
                <a:spcPct val="120000"/>
              </a:lnSpc>
              <a:buNone/>
            </a:pPr>
            <a:r>
              <a:rPr lang="en-US" sz="1500" b="1" dirty="0">
                <a:solidFill>
                  <a:srgbClr val="14453D"/>
                </a:solidFill>
                <a:highlight>
                  <a:srgbClr val="A9DDF3"/>
                </a:highlight>
              </a:rPr>
              <a:t>Having heard these options</a:t>
            </a:r>
            <a:pPr indent="0" marL="0">
              <a:lnSpc>
                <a:spcPct val="120000"/>
              </a:lnSpc>
              <a:buNone/>
            </a:pPr>
            <a:r>
              <a:rPr lang="en-US" sz="1500" dirty="0">
                <a:solidFill>
                  <a:srgbClr val="1E2B2A"/>
                </a:solidFill>
              </a:rPr>
              <a:t>, 61.9% of participants in group A chose to gamble, while only 42.9% of participants in group B chose to gamble.</a:t>
            </a:r>
            <a:pPr indent="0" marL="0">
              <a:lnSpc>
                <a:spcPct val="120000"/>
              </a:lnSpc>
              <a:buNone/>
            </a:pPr>
            <a:r>
              <a:rPr lang="en-US" sz="1500" dirty="0">
                <a:solidFill>
                  <a:srgbClr val="000000"/>
                </a:solidFill>
              </a:rPr>
              <a:t> </a:t>
            </a:r>
            <a:pPr indent="0" marL="0">
              <a:lnSpc>
                <a:spcPct val="120000"/>
              </a:lnSpc>
              <a:buNone/>
            </a:pPr>
            <a:r>
              <a:rPr lang="en-US" sz="1200" b="1" dirty="0">
                <a:solidFill>
                  <a:srgbClr val="1F7A64"/>
                </a:solidFill>
              </a:rPr>
              <a:t>(6) </a:t>
            </a:r>
            <a:pPr indent="0" marL="0">
              <a:lnSpc>
                <a:spcPct val="120000"/>
              </a:lnSpc>
              <a:buNone/>
            </a:pPr>
            <a:r>
              <a:rPr lang="en-US" sz="1500" dirty="0">
                <a:solidFill>
                  <a:srgbClr val="1E2B2A"/>
                </a:solidFill>
              </a:rPr>
              <a:t>As you may have noticed, the two groups were given options that actually led to </a:t>
            </a:r>
            <a:pPr indent="0" marL="0">
              <a:lnSpc>
                <a:spcPct val="120000"/>
              </a:lnSpc>
              <a:buNone/>
            </a:pPr>
            <a:r>
              <a:rPr lang="en-US" sz="1500" b="1" dirty="0">
                <a:solidFill>
                  <a:srgbClr val="EF5B3F"/>
                </a:solidFill>
              </a:rPr>
              <a:t>____________</a:t>
            </a:r>
            <a:pPr indent="0" marL="0">
              <a:lnSpc>
                <a:spcPct val="120000"/>
              </a:lnSpc>
              <a:buNone/>
            </a:pPr>
            <a:r>
              <a:rPr lang="en-US" sz="1500" dirty="0">
                <a:solidFill>
                  <a:srgbClr val="1E2B2A"/>
                </a:solidFill>
              </a:rPr>
              <a:t>.</a:t>
            </a:r>
            <a:pPr indent="0" marL="0">
              <a:lnSpc>
                <a:spcPct val="120000"/>
              </a:lnSpc>
              <a:buNone/>
            </a:pPr>
            <a:r>
              <a:rPr lang="en-US" sz="1500" dirty="0">
                <a:solidFill>
                  <a:srgbClr val="000000"/>
                </a:solidFill>
              </a:rPr>
              <a:t> </a:t>
            </a:r>
            <a:pPr indent="0" marL="0">
              <a:lnSpc>
                <a:spcPct val="120000"/>
              </a:lnSpc>
              <a:buNone/>
            </a:pPr>
            <a:r>
              <a:rPr lang="en-US" sz="1200" b="1" dirty="0">
                <a:solidFill>
                  <a:srgbClr val="1F7A64"/>
                </a:solidFill>
              </a:rPr>
              <a:t>(7) </a:t>
            </a:r>
            <a:pPr indent="0" marL="0">
              <a:lnSpc>
                <a:spcPct val="120000"/>
              </a:lnSpc>
              <a:buNone/>
            </a:pPr>
            <a:r>
              <a:rPr lang="en-US" sz="1500" dirty="0">
                <a:solidFill>
                  <a:srgbClr val="1E2B2A"/>
                </a:solidFill>
                <a:highlight>
                  <a:srgbClr val="FFD45C"/>
                </a:highlight>
              </a:rPr>
              <a:t>However, </a:t>
            </a:r>
            <a:pPr indent="0" marL="0">
              <a:lnSpc>
                <a:spcPct val="120000"/>
              </a:lnSpc>
              <a:buNone/>
            </a:pPr>
            <a:r>
              <a:rPr lang="en-US" sz="1500" b="1" dirty="0">
                <a:solidFill>
                  <a:srgbClr val="14453D"/>
                </a:solidFill>
                <a:highlight>
                  <a:srgbClr val="A9DDF3"/>
                </a:highlight>
              </a:rPr>
              <a:t>because the choices were </a:t>
            </a:r>
            <a:pPr indent="0" marL="0">
              <a:lnSpc>
                <a:spcPct val="120000"/>
              </a:lnSpc>
              <a:buNone/>
            </a:pPr>
            <a:r>
              <a:rPr lang="en-US" sz="1500" b="1" u="dotted" dirty="0">
                <a:solidFill>
                  <a:srgbClr val="14453D"/>
                </a:solidFill>
                <a:highlight>
                  <a:srgbClr val="A9DDF3"/>
                </a:highlight>
                <a:uFill>
                  <a:solidFill>
                    <a:srgbClr val="1F7A64"/>
                  </a:solidFill>
                </a:uFill>
              </a:rPr>
              <a:t>framed</a:t>
            </a:r>
            <a:pPr indent="0" marL="0">
              <a:lnSpc>
                <a:spcPct val="120000"/>
              </a:lnSpc>
              <a:buNone/>
            </a:pPr>
            <a:r>
              <a:rPr lang="en-US" sz="1500" b="1" dirty="0">
                <a:solidFill>
                  <a:srgbClr val="14453D"/>
                </a:solidFill>
                <a:highlight>
                  <a:srgbClr val="A9DDF3"/>
                </a:highlight>
              </a:rPr>
              <a:t> using two different terms</a:t>
            </a:r>
            <a:pPr indent="0" marL="0">
              <a:lnSpc>
                <a:spcPct val="120000"/>
              </a:lnSpc>
              <a:buNone/>
            </a:pPr>
            <a:r>
              <a:rPr lang="en-US" sz="1500" dirty="0">
                <a:solidFill>
                  <a:srgbClr val="1E2B2A"/>
                </a:solidFill>
                <a:highlight>
                  <a:srgbClr val="FFD45C"/>
                </a:highlight>
              </a:rPr>
              <a:t>, ‘lose’ versus ‘keep’, the participants came to different decisions.</a:t>
            </a:r>
            <a:pPr indent="0" marL="0">
              <a:lnSpc>
                <a:spcPct val="120000"/>
              </a:lnSpc>
              <a:buNone/>
            </a:pPr>
            <a:r>
              <a:rPr lang="en-US" sz="1500" dirty="0">
                <a:solidFill>
                  <a:srgbClr val="000000"/>
                </a:solidFill>
              </a:rPr>
              <a:t> </a:t>
            </a:r>
            <a:pPr indent="0" marL="0">
              <a:lnSpc>
                <a:spcPct val="120000"/>
              </a:lnSpc>
              <a:buNone/>
            </a:pPr>
            <a:r>
              <a:rPr lang="en-US" sz="1200" b="1" dirty="0">
                <a:solidFill>
                  <a:srgbClr val="1F7A64"/>
                </a:solidFill>
              </a:rPr>
              <a:t>(8) </a:t>
            </a:r>
            <a:pPr indent="0" marL="0">
              <a:lnSpc>
                <a:spcPct val="120000"/>
              </a:lnSpc>
              <a:buNone/>
            </a:pPr>
            <a:r>
              <a:rPr lang="en-US" sz="1500" b="1" dirty="0">
                <a:solidFill>
                  <a:srgbClr val="14453D"/>
                </a:solidFill>
                <a:highlight>
                  <a:srgbClr val="A9DDF3"/>
                </a:highlight>
              </a:rPr>
              <a:t>This is called the “framing effect”</a:t>
            </a:r>
            <a:pPr indent="0" marL="0">
              <a:lnSpc>
                <a:spcPct val="120000"/>
              </a:lnSpc>
              <a:buNone/>
            </a:pPr>
            <a:r>
              <a:rPr lang="en-US" sz="1500" dirty="0">
                <a:solidFill>
                  <a:srgbClr val="1E2B2A"/>
                </a:solidFill>
              </a:rPr>
              <a:t>.</a:t>
            </a:r>
            <a:pPr indent="0" marL="0">
              <a:lnSpc>
                <a:spcPct val="120000"/>
              </a:lnSpc>
              <a:buNone/>
            </a:pPr>
            <a:r>
              <a:rPr lang="en-US" sz="1500" dirty="0">
                <a:solidFill>
                  <a:srgbClr val="000000"/>
                </a:solidFill>
              </a:rPr>
              <a:t> </a:t>
            </a:r>
            <a:pPr indent="0" marL="0">
              <a:lnSpc>
                <a:spcPct val="120000"/>
              </a:lnSpc>
              <a:buNone/>
            </a:pPr>
            <a:r>
              <a:rPr lang="en-US" sz="1200" b="1" dirty="0">
                <a:solidFill>
                  <a:srgbClr val="1F7A64"/>
                </a:solidFill>
              </a:rPr>
              <a:t>(9) </a:t>
            </a:r>
            <a:pPr indent="0" marL="0">
              <a:lnSpc>
                <a:spcPct val="120000"/>
              </a:lnSpc>
              <a:buNone/>
            </a:pPr>
            <a:r>
              <a:rPr lang="en-US" sz="1500" dirty="0">
                <a:solidFill>
                  <a:srgbClr val="1E2B2A"/>
                </a:solidFill>
              </a:rPr>
              <a:t>Using words that make people think of a negative outcome will </a:t>
            </a:r>
            <a:pPr indent="0" marL="0">
              <a:lnSpc>
                <a:spcPct val="120000"/>
              </a:lnSpc>
              <a:buNone/>
            </a:pPr>
            <a:r>
              <a:rPr lang="en-US" sz="1500" u="dotted" dirty="0">
                <a:solidFill>
                  <a:srgbClr val="1F7A64"/>
                </a:solidFill>
                <a:uFill>
                  <a:solidFill>
                    <a:srgbClr val="1F7A64"/>
                  </a:solidFill>
                </a:uFill>
              </a:rPr>
              <a:t>yield</a:t>
            </a:r>
            <a:pPr indent="0" marL="0">
              <a:lnSpc>
                <a:spcPct val="120000"/>
              </a:lnSpc>
              <a:buNone/>
            </a:pPr>
            <a:r>
              <a:rPr lang="en-US" sz="1500" dirty="0">
                <a:solidFill>
                  <a:srgbClr val="1E2B2A"/>
                </a:solidFill>
              </a:rPr>
              <a:t> different </a:t>
            </a:r>
            <a:pPr indent="0" marL="0">
              <a:lnSpc>
                <a:spcPct val="120000"/>
              </a:lnSpc>
              <a:buNone/>
            </a:pPr>
            <a:r>
              <a:rPr lang="en-US" sz="1500" u="dotted" dirty="0">
                <a:solidFill>
                  <a:srgbClr val="1F7A64"/>
                </a:solidFill>
                <a:uFill>
                  <a:solidFill>
                    <a:srgbClr val="1F7A64"/>
                  </a:solidFill>
                </a:uFill>
              </a:rPr>
              <a:t>behavioral</a:t>
            </a:r>
            <a:pPr indent="0" marL="0">
              <a:lnSpc>
                <a:spcPct val="120000"/>
              </a:lnSpc>
              <a:buNone/>
            </a:pPr>
            <a:r>
              <a:rPr lang="en-US" sz="1500" dirty="0">
                <a:solidFill>
                  <a:srgbClr val="1E2B2A"/>
                </a:solidFill>
              </a:rPr>
              <a:t> results than using words that make them think of a positive outcome.</a:t>
            </a:r>
            <a:endParaRPr lang="en-US" sz="1200" dirty="0"/>
          </a:p>
        </p:txBody>
      </p:sp>
      <p:sp>
        <p:nvSpPr>
          <p:cNvPr id="6" name="Shape 4"/>
          <p:cNvSpPr/>
          <p:nvPr/>
        </p:nvSpPr>
        <p:spPr>
          <a:xfrm>
            <a:off x="548640" y="4233672"/>
            <a:ext cx="11064240" cy="978408"/>
          </a:xfrm>
          <a:prstGeom prst="roundRect">
            <a:avLst>
              <a:gd name="adj" fmla="val 9346"/>
            </a:avLst>
          </a:prstGeom>
          <a:solidFill>
            <a:srgbClr val="FFF6D6"/>
          </a:solidFill>
          <a:ln w="15875">
            <a:solidFill>
              <a:srgbClr val="FFD45C"/>
            </a:solidFill>
            <a:prstDash val="solid"/>
          </a:ln>
        </p:spPr>
      </p:sp>
      <p:sp>
        <p:nvSpPr>
          <p:cNvPr id="7" name="Text 5"/>
          <p:cNvSpPr txBox="1"/>
          <p:nvPr/>
        </p:nvSpPr>
        <p:spPr>
          <a:xfrm>
            <a:off x="731520" y="4306824"/>
            <a:ext cx="1051560" cy="274320"/>
          </a:xfrm>
          <a:prstGeom prst="rect">
            <a:avLst/>
          </a:prstGeom>
          <a:solidFill>
            <a:srgbClr val="EF5B3F"/>
          </a:solidFill>
          <a:ln/>
        </p:spPr>
        <p:txBody>
          <a:bodyPr wrap="square" lIns="0" tIns="0" rIns="0" bIns="0" rtlCol="0" anchor="ctr"/>
          <a:lstStyle/>
          <a:p>
            <a:pPr algn="ctr" indent="0" marL="0">
              <a:buNone/>
            </a:pPr>
            <a:r>
              <a:rPr lang="en-US" sz="1200" b="1" dirty="0">
                <a:solidFill>
                  <a:srgbClr val="FFFFFF"/>
                </a:solidFill>
              </a:rPr>
              <a:t> 근거 이유 </a:t>
            </a:r>
            <a:endParaRPr lang="en-US" sz="1200" dirty="0"/>
          </a:p>
        </p:txBody>
      </p:sp>
      <p:sp>
        <p:nvSpPr>
          <p:cNvPr id="8" name="Text 6"/>
          <p:cNvSpPr txBox="1"/>
          <p:nvPr/>
        </p:nvSpPr>
        <p:spPr>
          <a:xfrm>
            <a:off x="1920240" y="4279392"/>
            <a:ext cx="9555480" cy="886968"/>
          </a:xfrm>
          <a:prstGeom prst="rect">
            <a:avLst/>
          </a:prstGeom>
          <a:noFill/>
          <a:ln/>
        </p:spPr>
        <p:txBody>
          <a:bodyPr wrap="square" lIns="0" tIns="0" rIns="0" bIns="0" rtlCol="0" anchor="ctr">
            <a:normAutofit/>
          </a:bodyPr>
          <a:lstStyle/>
          <a:p>
            <a:pPr indent="0" marL="0">
              <a:lnSpc>
                <a:spcPct val="105000"/>
              </a:lnSpc>
              <a:buNone/>
            </a:pPr>
            <a:r>
              <a:rPr lang="en-US" sz="1400" b="1" dirty="0">
                <a:solidFill>
                  <a:srgbClr val="EF5B3F"/>
                </a:solidFill>
              </a:rPr>
              <a:t>(3) </a:t>
            </a:r>
            <a:pPr indent="0" marL="0">
              <a:lnSpc>
                <a:spcPct val="105000"/>
              </a:lnSpc>
              <a:buNone/>
            </a:pPr>
            <a:r>
              <a:rPr lang="en-US" sz="1400" dirty="0">
                <a:solidFill>
                  <a:srgbClr val="14453D"/>
                </a:solidFill>
              </a:rPr>
              <a:t>50달러 중 30달러를 잃음 → 20달러가 남음</a:t>
            </a:r>
            <a:endParaRPr lang="en-US" sz="1400" dirty="0"/>
          </a:p>
          <a:p>
            <a:pPr indent="0" marL="0">
              <a:lnSpc>
                <a:spcPct val="105000"/>
              </a:lnSpc>
              <a:buNone/>
            </a:pPr>
            <a:r>
              <a:rPr lang="en-US" sz="1400" b="1" dirty="0">
                <a:solidFill>
                  <a:srgbClr val="EF5B3F"/>
                </a:solidFill>
              </a:rPr>
              <a:t>(4) </a:t>
            </a:r>
            <a:pPr indent="0" marL="0">
              <a:lnSpc>
                <a:spcPct val="105000"/>
              </a:lnSpc>
              <a:buNone/>
            </a:pPr>
            <a:r>
              <a:rPr lang="en-US" sz="1400" dirty="0">
                <a:solidFill>
                  <a:srgbClr val="14453D"/>
                </a:solidFill>
              </a:rPr>
              <a:t>20달러를 간직함 → 20달러가 남음 → 결과는 같다</a:t>
            </a:r>
            <a:endParaRPr lang="en-US" sz="1400" dirty="0"/>
          </a:p>
          <a:p>
            <a:pPr indent="0" marL="0">
              <a:lnSpc>
                <a:spcPct val="105000"/>
              </a:lnSpc>
              <a:buNone/>
            </a:pPr>
            <a:r>
              <a:rPr lang="en-US" sz="1400" b="1" dirty="0">
                <a:solidFill>
                  <a:srgbClr val="EF5B3F"/>
                </a:solidFill>
              </a:rPr>
              <a:t>(7) </a:t>
            </a:r>
            <a:pPr indent="0" marL="0">
              <a:lnSpc>
                <a:spcPct val="105000"/>
              </a:lnSpc>
              <a:buNone/>
            </a:pPr>
            <a:r>
              <a:rPr lang="en-US" sz="1400" dirty="0">
                <a:solidFill>
                  <a:srgbClr val="14453D"/>
                </a:solidFill>
              </a:rPr>
              <a:t>However: 결과는 같은데 표현만 달라 다른 결정 → an identical outcome</a:t>
            </a:r>
            <a:endParaRPr lang="en-US" sz="1400" dirty="0"/>
          </a:p>
        </p:txBody>
      </p:sp>
      <p:sp>
        <p:nvSpPr>
          <p:cNvPr id="9" name="Shape 7"/>
          <p:cNvSpPr/>
          <p:nvPr/>
        </p:nvSpPr>
        <p:spPr>
          <a:xfrm>
            <a:off x="548640" y="5303520"/>
            <a:ext cx="11064240" cy="731520"/>
          </a:xfrm>
          <a:prstGeom prst="roundRect">
            <a:avLst>
              <a:gd name="adj" fmla="val 12500"/>
            </a:avLst>
          </a:prstGeom>
          <a:solidFill>
            <a:srgbClr val="EAF5EF"/>
          </a:solidFill>
          <a:ln w="12700">
            <a:solidFill>
              <a:srgbClr val="CFE6D9"/>
            </a:solidFill>
            <a:prstDash val="solid"/>
          </a:ln>
        </p:spPr>
      </p:sp>
      <p:sp>
        <p:nvSpPr>
          <p:cNvPr id="10" name="Text 8"/>
          <p:cNvSpPr txBox="1"/>
          <p:nvPr/>
        </p:nvSpPr>
        <p:spPr>
          <a:xfrm>
            <a:off x="731520" y="5349240"/>
            <a:ext cx="10698480" cy="640080"/>
          </a:xfrm>
          <a:prstGeom prst="rect">
            <a:avLst/>
          </a:prstGeom>
          <a:noFill/>
          <a:ln/>
        </p:spPr>
        <p:txBody>
          <a:bodyPr wrap="square" lIns="0" tIns="0" rIns="0" bIns="0" rtlCol="0" anchor="ctr">
            <a:normAutofit/>
          </a:bodyPr>
          <a:lstStyle/>
          <a:p>
            <a:pPr indent="0" marL="0">
              <a:lnSpc>
                <a:spcPct val="110000"/>
              </a:lnSpc>
              <a:buNone/>
            </a:pPr>
            <a:r>
              <a:rPr lang="en-US" sz="1400" b="1" dirty="0">
                <a:solidFill>
                  <a:srgbClr val="FFFFFF"/>
                </a:solidFill>
                <a:highlight>
                  <a:srgbClr val="1F7A64"/>
                </a:highlight>
              </a:rPr>
              <a:t> 어휘 </a:t>
            </a:r>
            <a:pPr indent="0" marL="0">
              <a:lnSpc>
                <a:spcPct val="110000"/>
              </a:lnSpc>
              <a:buNone/>
            </a:pPr>
            <a:r>
              <a:rPr lang="en-US" sz="1400" dirty="0">
                <a:solidFill>
                  <a:srgbClr val="000000"/>
                </a:solidFill>
              </a:rPr>
              <a:t>   </a:t>
            </a:r>
            <a:pPr indent="0" marL="0">
              <a:lnSpc>
                <a:spcPct val="110000"/>
              </a:lnSpc>
              <a:buNone/>
            </a:pPr>
            <a:r>
              <a:rPr lang="en-US" sz="1400" b="1" dirty="0">
                <a:solidFill>
                  <a:srgbClr val="1F7A64"/>
                </a:solidFill>
              </a:rPr>
              <a:t>conducted </a:t>
            </a:r>
            <a:pPr indent="0" marL="0">
              <a:lnSpc>
                <a:spcPct val="110000"/>
              </a:lnSpc>
              <a:buNone/>
            </a:pPr>
            <a:r>
              <a:rPr lang="en-US" sz="1400" dirty="0">
                <a:solidFill>
                  <a:srgbClr val="1E2B2A"/>
                </a:solidFill>
              </a:rPr>
              <a:t>실시했다   ·   </a:t>
            </a:r>
            <a:pPr indent="0" marL="0">
              <a:lnSpc>
                <a:spcPct val="110000"/>
              </a:lnSpc>
              <a:buNone/>
            </a:pPr>
            <a:r>
              <a:rPr lang="en-US" sz="1400" b="1" dirty="0">
                <a:solidFill>
                  <a:srgbClr val="1F7A64"/>
                </a:solidFill>
              </a:rPr>
              <a:t>participants </a:t>
            </a:r>
            <a:pPr indent="0" marL="0">
              <a:lnSpc>
                <a:spcPct val="110000"/>
              </a:lnSpc>
              <a:buNone/>
            </a:pPr>
            <a:r>
              <a:rPr lang="en-US" sz="1400" dirty="0">
                <a:solidFill>
                  <a:srgbClr val="1E2B2A"/>
                </a:solidFill>
              </a:rPr>
              <a:t>참가자들   ·   </a:t>
            </a:r>
            <a:pPr indent="0" marL="0">
              <a:lnSpc>
                <a:spcPct val="110000"/>
              </a:lnSpc>
              <a:buNone/>
            </a:pPr>
            <a:r>
              <a:rPr lang="en-US" sz="1400" b="1" dirty="0">
                <a:solidFill>
                  <a:srgbClr val="1F7A64"/>
                </a:solidFill>
              </a:rPr>
              <a:t>gamble </a:t>
            </a:r>
            <a:pPr indent="0" marL="0">
              <a:lnSpc>
                <a:spcPct val="110000"/>
              </a:lnSpc>
              <a:buNone/>
            </a:pPr>
            <a:r>
              <a:rPr lang="en-US" sz="1400" dirty="0">
                <a:solidFill>
                  <a:srgbClr val="1E2B2A"/>
                </a:solidFill>
              </a:rPr>
              <a:t>도박하다   ·   </a:t>
            </a:r>
            <a:pPr indent="0" marL="0">
              <a:lnSpc>
                <a:spcPct val="110000"/>
              </a:lnSpc>
              <a:buNone/>
            </a:pPr>
            <a:r>
              <a:rPr lang="en-US" sz="1400" b="1" dirty="0">
                <a:solidFill>
                  <a:srgbClr val="1F7A64"/>
                </a:solidFill>
              </a:rPr>
              <a:t>framed </a:t>
            </a:r>
            <a:pPr indent="0" marL="0">
              <a:lnSpc>
                <a:spcPct val="110000"/>
              </a:lnSpc>
              <a:buNone/>
            </a:pPr>
            <a:r>
              <a:rPr lang="en-US" sz="1400" dirty="0">
                <a:solidFill>
                  <a:srgbClr val="1E2B2A"/>
                </a:solidFill>
              </a:rPr>
              <a:t>표현된   ·   </a:t>
            </a:r>
            <a:pPr indent="0" marL="0">
              <a:lnSpc>
                <a:spcPct val="110000"/>
              </a:lnSpc>
              <a:buNone/>
            </a:pPr>
            <a:r>
              <a:rPr lang="en-US" sz="1400" b="1" dirty="0">
                <a:solidFill>
                  <a:srgbClr val="1F7A64"/>
                </a:solidFill>
              </a:rPr>
              <a:t>yield </a:t>
            </a:r>
            <a:pPr indent="0" marL="0">
              <a:lnSpc>
                <a:spcPct val="110000"/>
              </a:lnSpc>
              <a:buNone/>
            </a:pPr>
            <a:r>
              <a:rPr lang="en-US" sz="1400" dirty="0">
                <a:solidFill>
                  <a:srgbClr val="1E2B2A"/>
                </a:solidFill>
              </a:rPr>
              <a:t>낳다   ·   </a:t>
            </a:r>
            <a:pPr indent="0" marL="0">
              <a:lnSpc>
                <a:spcPct val="110000"/>
              </a:lnSpc>
              <a:buNone/>
            </a:pPr>
            <a:r>
              <a:rPr lang="en-US" sz="1400" b="1" dirty="0">
                <a:solidFill>
                  <a:srgbClr val="1F7A64"/>
                </a:solidFill>
              </a:rPr>
              <a:t>behavioral </a:t>
            </a:r>
            <a:pPr indent="0" marL="0">
              <a:lnSpc>
                <a:spcPct val="110000"/>
              </a:lnSpc>
              <a:buNone/>
            </a:pPr>
            <a:r>
              <a:rPr lang="en-US" sz="1400" dirty="0">
                <a:solidFill>
                  <a:srgbClr val="1E2B2A"/>
                </a:solidFill>
              </a:rPr>
              <a:t>행동의</a:t>
            </a:r>
            <a:endParaRPr lang="en-US" sz="1400" dirty="0"/>
          </a:p>
        </p:txBody>
      </p:sp>
      <p:sp>
        <p:nvSpPr>
          <p:cNvPr id="11" name="Text 9"/>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1100" dirty="0">
                <a:solidFill>
                  <a:srgbClr val="FFD45C"/>
                </a:solidFill>
              </a:rPr>
              <a:t>■ </a:t>
            </a:r>
            <a:pPr indent="0" marL="0">
              <a:buNone/>
            </a:pPr>
            <a:r>
              <a:rPr lang="en-US" sz="1100" dirty="0">
                <a:solidFill>
                  <a:srgbClr val="6E7F7C"/>
                </a:solidFill>
              </a:rPr>
              <a:t>형광 = 정답 근거 (이유는 노란 박스)     </a:t>
            </a:r>
            <a:pPr indent="0" marL="0">
              <a:buNone/>
            </a:pPr>
            <a:r>
              <a:rPr lang="en-US" sz="1100" dirty="0">
                <a:solidFill>
                  <a:srgbClr val="A9DDF3"/>
                </a:solidFill>
              </a:rPr>
              <a:t>■ </a:t>
            </a:r>
            <a:pPr indent="0" marL="0">
              <a:buNone/>
            </a:pPr>
            <a:r>
              <a:rPr lang="en-US" sz="1100" dirty="0">
                <a:solidFill>
                  <a:srgbClr val="6E7F7C"/>
                </a:solidFill>
              </a:rPr>
              <a:t>파란 형광 = 문법·내신 포인트     </a:t>
            </a:r>
            <a:pPr indent="0" marL="0">
              <a:buNone/>
            </a:pPr>
            <a:r>
              <a:rPr lang="en-US" sz="1100" b="1" dirty="0">
                <a:solidFill>
                  <a:srgbClr val="1F7A64"/>
                </a:solidFill>
              </a:rPr>
              <a:t>초록 점선 단어 </a:t>
            </a:r>
            <a:pPr indent="0" marL="0">
              <a:buNone/>
            </a:pPr>
            <a:r>
              <a:rPr lang="en-US" sz="1100" dirty="0">
                <a:solidFill>
                  <a:srgbClr val="6E7F7C"/>
                </a:solidFill>
              </a:rPr>
              <a:t>= 하단 어휘     </a:t>
            </a:r>
            <a:pPr indent="0" marL="0">
              <a:buNone/>
            </a:pPr>
            <a:r>
              <a:rPr lang="en-US" sz="1100" b="1" dirty="0">
                <a:solidFill>
                  <a:srgbClr val="1F7A64"/>
                </a:solidFill>
              </a:rPr>
              <a:t>(1) (2) (3) </a:t>
            </a:r>
            <a:pPr indent="0" marL="0">
              <a:buNone/>
            </a:pPr>
            <a:r>
              <a:rPr lang="en-US" sz="1100" dirty="0">
                <a:solidFill>
                  <a:srgbClr val="6E7F7C"/>
                </a:solidFill>
              </a:rPr>
              <a:t>= 문장 번호</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102  </a:t>
            </a:r>
            <a:pPr algn="l" indent="0" marL="0">
              <a:buNone/>
            </a:pPr>
            <a:r>
              <a:rPr lang="en-US" sz="3000" b="1" dirty="0">
                <a:solidFill>
                  <a:srgbClr val="14453D"/>
                </a:solidFill>
              </a:rPr>
              <a:t>틀 효과 — 빈칸 변형</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빈칸 변형 · 흐름 잡기</a:t>
            </a:r>
            <a:endParaRPr lang="en-US" sz="1200" dirty="0"/>
          </a:p>
        </p:txBody>
      </p:sp>
      <p:sp>
        <p:nvSpPr>
          <p:cNvPr id="4" name="Shape 2"/>
          <p:cNvSpPr/>
          <p:nvPr/>
        </p:nvSpPr>
        <p:spPr>
          <a:xfrm>
            <a:off x="548640" y="1325880"/>
            <a:ext cx="5212080" cy="2423160"/>
          </a:xfrm>
          <a:prstGeom prst="roundRect">
            <a:avLst>
              <a:gd name="adj" fmla="val 4528"/>
            </a:avLst>
          </a:prstGeom>
          <a:solidFill>
            <a:srgbClr val="E6F2ED"/>
          </a:solidFill>
          <a:ln w="12700">
            <a:solidFill>
              <a:srgbClr val="E6F2ED"/>
            </a:solidFill>
            <a:prstDash val="solid"/>
          </a:ln>
        </p:spPr>
      </p:sp>
      <p:sp>
        <p:nvSpPr>
          <p:cNvPr id="5" name="Text 3"/>
          <p:cNvSpPr txBox="1"/>
          <p:nvPr/>
        </p:nvSpPr>
        <p:spPr>
          <a:xfrm>
            <a:off x="822960" y="1463040"/>
            <a:ext cx="4663440" cy="320040"/>
          </a:xfrm>
          <a:prstGeom prst="rect">
            <a:avLst/>
          </a:prstGeom>
          <a:noFill/>
          <a:ln/>
        </p:spPr>
        <p:txBody>
          <a:bodyPr wrap="square" lIns="0" tIns="0" rIns="0" bIns="0" rtlCol="0" anchor="ctr"/>
          <a:lstStyle/>
          <a:p>
            <a:pPr indent="0" marL="0">
              <a:buNone/>
            </a:pPr>
            <a:r>
              <a:rPr lang="en-US" sz="1300" b="1" dirty="0">
                <a:solidFill>
                  <a:srgbClr val="1F7A64"/>
                </a:solidFill>
              </a:rPr>
              <a:t>STEP 1 · 빈칸 문장 먼저</a:t>
            </a:r>
            <a:endParaRPr lang="en-US" sz="1300" dirty="0"/>
          </a:p>
        </p:txBody>
      </p:sp>
      <p:sp>
        <p:nvSpPr>
          <p:cNvPr id="6" name="Text 4"/>
          <p:cNvSpPr txBox="1"/>
          <p:nvPr/>
        </p:nvSpPr>
        <p:spPr>
          <a:xfrm>
            <a:off x="822960" y="1828800"/>
            <a:ext cx="4663440" cy="777240"/>
          </a:xfrm>
          <a:prstGeom prst="rect">
            <a:avLst/>
          </a:prstGeom>
          <a:noFill/>
          <a:ln/>
        </p:spPr>
        <p:txBody>
          <a:bodyPr wrap="square" lIns="0" tIns="0" rIns="0" bIns="0" rtlCol="0" anchor="t">
            <a:normAutofit/>
          </a:bodyPr>
          <a:lstStyle/>
          <a:p>
            <a:pPr indent="0" marL="0">
              <a:buNone/>
            </a:pPr>
            <a:r>
              <a:rPr lang="en-US" sz="1600" b="1" i="1" dirty="0">
                <a:solidFill>
                  <a:srgbClr val="14453D"/>
                </a:solidFill>
              </a:rPr>
              <a:t>…the two groups were given options that actually led to ________.</a:t>
            </a:r>
            <a:endParaRPr lang="en-US" sz="1600" dirty="0"/>
          </a:p>
        </p:txBody>
      </p:sp>
      <p:sp>
        <p:nvSpPr>
          <p:cNvPr id="7" name="Text 5"/>
          <p:cNvSpPr txBox="1"/>
          <p:nvPr/>
        </p:nvSpPr>
        <p:spPr>
          <a:xfrm>
            <a:off x="822960" y="2606040"/>
            <a:ext cx="4663440" cy="502920"/>
          </a:xfrm>
          <a:prstGeom prst="rect">
            <a:avLst/>
          </a:prstGeom>
          <a:noFill/>
          <a:ln/>
        </p:spPr>
        <p:txBody>
          <a:bodyPr wrap="square" lIns="0" tIns="0" rIns="0" bIns="0" rtlCol="0" anchor="t">
            <a:normAutofit/>
          </a:bodyPr>
          <a:lstStyle/>
          <a:p>
            <a:pPr indent="0" marL="0">
              <a:buNone/>
            </a:pPr>
            <a:r>
              <a:rPr lang="en-US" sz="1400" dirty="0">
                <a:solidFill>
                  <a:srgbClr val="1E2B2A"/>
                </a:solidFill>
              </a:rPr>
              <a:t>두 그룹은 사실 ______로 이어지는 선택지를 받았다.</a:t>
            </a:r>
            <a:endParaRPr lang="en-US" sz="1400" dirty="0"/>
          </a:p>
        </p:txBody>
      </p:sp>
      <p:sp>
        <p:nvSpPr>
          <p:cNvPr id="8" name="Text 6"/>
          <p:cNvSpPr txBox="1"/>
          <p:nvPr/>
        </p:nvSpPr>
        <p:spPr>
          <a:xfrm>
            <a:off x="822960" y="3200400"/>
            <a:ext cx="4663440" cy="411480"/>
          </a:xfrm>
          <a:prstGeom prst="rect">
            <a:avLst/>
          </a:prstGeom>
          <a:noFill/>
          <a:ln/>
        </p:spPr>
        <p:txBody>
          <a:bodyPr wrap="square" lIns="0" tIns="0" rIns="0" bIns="0" rtlCol="0" anchor="ctr"/>
          <a:lstStyle/>
          <a:p>
            <a:pPr indent="0" marL="0">
              <a:buNone/>
            </a:pPr>
            <a:r>
              <a:rPr lang="en-US" sz="1500" b="1" dirty="0">
                <a:solidFill>
                  <a:srgbClr val="EF5B3F"/>
                </a:solidFill>
              </a:rPr>
              <a:t>찾을 것  </a:t>
            </a:r>
            <a:pPr indent="0" marL="0">
              <a:buNone/>
            </a:pPr>
            <a:r>
              <a:rPr lang="en-US" sz="1500" b="1" dirty="0">
                <a:solidFill>
                  <a:srgbClr val="14453D"/>
                </a:solidFill>
              </a:rPr>
              <a:t>50 − 30 = 20 → 두 선택지의 결과는?</a:t>
            </a:r>
            <a:endParaRPr lang="en-US" sz="1500" dirty="0"/>
          </a:p>
        </p:txBody>
      </p:sp>
      <p:sp>
        <p:nvSpPr>
          <p:cNvPr id="9" name="Shape 7"/>
          <p:cNvSpPr/>
          <p:nvPr/>
        </p:nvSpPr>
        <p:spPr>
          <a:xfrm>
            <a:off x="548640" y="3931920"/>
            <a:ext cx="5212080" cy="2331720"/>
          </a:xfrm>
          <a:prstGeom prst="roundRect">
            <a:avLst>
              <a:gd name="adj" fmla="val 4706"/>
            </a:avLst>
          </a:prstGeom>
          <a:solidFill>
            <a:srgbClr val="FFFFFF"/>
          </a:solidFill>
          <a:ln w="19050">
            <a:solidFill>
              <a:srgbClr val="EF5B3F"/>
            </a:solidFill>
            <a:prstDash val="solid"/>
          </a:ln>
        </p:spPr>
      </p:sp>
      <p:pic>
        <p:nvPicPr>
          <p:cNvPr id="10" name="Image 0" descr="preencoded.png">    </p:cNvPr>
          <p:cNvPicPr>
            <a:picLocks noChangeAspect="1"/>
          </p:cNvPicPr>
          <p:nvPr/>
        </p:nvPicPr>
        <p:blipFill>
          <a:blip r:embed="rId1"/>
          <a:stretch>
            <a:fillRect/>
          </a:stretch>
        </p:blipFill>
        <p:spPr>
          <a:xfrm>
            <a:off x="822960" y="4096512"/>
            <a:ext cx="274320" cy="274320"/>
          </a:xfrm>
          <a:prstGeom prst="rect">
            <a:avLst/>
          </a:prstGeom>
        </p:spPr>
      </p:pic>
      <p:sp>
        <p:nvSpPr>
          <p:cNvPr id="11" name="Text 8"/>
          <p:cNvSpPr txBox="1"/>
          <p:nvPr/>
        </p:nvSpPr>
        <p:spPr>
          <a:xfrm>
            <a:off x="1188720" y="4069080"/>
            <a:ext cx="4114800" cy="320040"/>
          </a:xfrm>
          <a:prstGeom prst="rect">
            <a:avLst/>
          </a:prstGeom>
          <a:noFill/>
          <a:ln/>
        </p:spPr>
        <p:txBody>
          <a:bodyPr wrap="square" lIns="0" tIns="0" rIns="0" bIns="0" rtlCol="0" anchor="ctr"/>
          <a:lstStyle/>
          <a:p>
            <a:pPr indent="0" marL="0">
              <a:buNone/>
            </a:pPr>
            <a:r>
              <a:rPr lang="en-US" sz="1300" b="1" dirty="0">
                <a:solidFill>
                  <a:srgbClr val="EF5B3F"/>
                </a:solidFill>
              </a:rPr>
              <a:t>STEP 2 · 결정적 단서</a:t>
            </a:r>
            <a:endParaRPr lang="en-US" sz="1300" dirty="0"/>
          </a:p>
        </p:txBody>
      </p:sp>
      <p:sp>
        <p:nvSpPr>
          <p:cNvPr id="12" name="Text 9"/>
          <p:cNvSpPr txBox="1"/>
          <p:nvPr/>
        </p:nvSpPr>
        <p:spPr>
          <a:xfrm>
            <a:off x="822960" y="4480560"/>
            <a:ext cx="4663440" cy="1005840"/>
          </a:xfrm>
          <a:prstGeom prst="rect">
            <a:avLst/>
          </a:prstGeom>
          <a:noFill/>
          <a:ln/>
        </p:spPr>
        <p:txBody>
          <a:bodyPr wrap="square" lIns="0" tIns="0" rIns="0" bIns="0" rtlCol="0" anchor="t"/>
          <a:lstStyle/>
          <a:p>
            <a:pPr indent="0" marL="0">
              <a:buNone/>
            </a:pPr>
            <a:r>
              <a:rPr lang="en-US" sz="1400" i="1" dirty="0">
                <a:solidFill>
                  <a:srgbClr val="14453D"/>
                </a:solidFill>
              </a:rPr>
              <a:t>However, because the choices were framed using two different terms, ‘lose’ versus ‘keep’, the participants came to different decisions.</a:t>
            </a:r>
            <a:endParaRPr lang="en-US" sz="1400" dirty="0"/>
          </a:p>
        </p:txBody>
      </p:sp>
      <p:sp>
        <p:nvSpPr>
          <p:cNvPr id="13" name="Text 10"/>
          <p:cNvSpPr txBox="1"/>
          <p:nvPr/>
        </p:nvSpPr>
        <p:spPr>
          <a:xfrm>
            <a:off x="822960" y="5486400"/>
            <a:ext cx="4663440" cy="685800"/>
          </a:xfrm>
          <a:prstGeom prst="rect">
            <a:avLst/>
          </a:prstGeom>
          <a:noFill/>
          <a:ln/>
        </p:spPr>
        <p:txBody>
          <a:bodyPr wrap="square" lIns="0" tIns="0" rIns="0" bIns="0" rtlCol="0" anchor="t"/>
          <a:lstStyle/>
          <a:p>
            <a:pPr indent="0" marL="0">
              <a:buNone/>
            </a:pPr>
            <a:r>
              <a:rPr lang="en-US" sz="1300" dirty="0">
                <a:solidFill>
                  <a:srgbClr val="6E7F7C"/>
                </a:solidFill>
              </a:rPr>
              <a:t>그러나 '잃다'와 '간직하다'로 다르게 표현되어 다른 결정을 내렸다 → 결과는 같았다는 뜻</a:t>
            </a:r>
            <a:endParaRPr lang="en-US" sz="1300" dirty="0"/>
          </a:p>
        </p:txBody>
      </p:sp>
      <p:sp>
        <p:nvSpPr>
          <p:cNvPr id="14" name="Text 11"/>
          <p:cNvSpPr txBox="1"/>
          <p:nvPr/>
        </p:nvSpPr>
        <p:spPr>
          <a:xfrm>
            <a:off x="6217920" y="1325880"/>
            <a:ext cx="2743200" cy="320040"/>
          </a:xfrm>
          <a:prstGeom prst="rect">
            <a:avLst/>
          </a:prstGeom>
          <a:noFill/>
          <a:ln/>
        </p:spPr>
        <p:txBody>
          <a:bodyPr wrap="square" lIns="0" tIns="0" rIns="0" bIns="0" rtlCol="0" anchor="ctr"/>
          <a:lstStyle/>
          <a:p>
            <a:pPr indent="0" marL="0">
              <a:buNone/>
            </a:pPr>
            <a:r>
              <a:rPr lang="en-US" sz="1300" b="1" dirty="0">
                <a:solidFill>
                  <a:srgbClr val="1F7A64"/>
                </a:solidFill>
              </a:rPr>
              <a:t>글의 흐름</a:t>
            </a:r>
            <a:endParaRPr lang="en-US" sz="1300" dirty="0"/>
          </a:p>
        </p:txBody>
      </p:sp>
      <p:sp>
        <p:nvSpPr>
          <p:cNvPr id="15" name="Shape 12"/>
          <p:cNvSpPr/>
          <p:nvPr/>
        </p:nvSpPr>
        <p:spPr>
          <a:xfrm>
            <a:off x="6537960" y="2057400"/>
            <a:ext cx="0" cy="3511296"/>
          </a:xfrm>
          <a:prstGeom prst="line">
            <a:avLst/>
          </a:prstGeom>
          <a:noFill/>
          <a:ln w="38100">
            <a:solidFill>
              <a:srgbClr val="E6F2ED"/>
            </a:solidFill>
            <a:prstDash val="solid"/>
          </a:ln>
        </p:spPr>
      </p:sp>
      <p:sp>
        <p:nvSpPr>
          <p:cNvPr id="16" name="Text 13"/>
          <p:cNvSpPr/>
          <p:nvPr/>
        </p:nvSpPr>
        <p:spPr>
          <a:xfrm>
            <a:off x="6263640" y="1783080"/>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7" name="Text 14"/>
          <p:cNvSpPr txBox="1"/>
          <p:nvPr/>
        </p:nvSpPr>
        <p:spPr>
          <a:xfrm>
            <a:off x="7040880" y="1783080"/>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실험</a:t>
            </a:r>
            <a:endParaRPr lang="en-US" sz="1400" dirty="0"/>
          </a:p>
        </p:txBody>
      </p:sp>
      <p:sp>
        <p:nvSpPr>
          <p:cNvPr id="18" name="Text 15"/>
          <p:cNvSpPr txBox="1"/>
          <p:nvPr/>
        </p:nvSpPr>
        <p:spPr>
          <a:xfrm>
            <a:off x="7040880" y="2121408"/>
            <a:ext cx="4572000" cy="667512"/>
          </a:xfrm>
          <a:prstGeom prst="rect">
            <a:avLst/>
          </a:prstGeom>
          <a:noFill/>
          <a:ln/>
        </p:spPr>
        <p:txBody>
          <a:bodyPr wrap="square" lIns="0" tIns="0" rIns="0" bIns="0" rtlCol="0" anchor="t"/>
          <a:lstStyle/>
          <a:p>
            <a:pPr indent="0" marL="0">
              <a:buNone/>
            </a:pPr>
            <a:r>
              <a:rPr lang="en-US" sz="1400" dirty="0">
                <a:solidFill>
                  <a:srgbClr val="1E2B2A"/>
                </a:solidFill>
              </a:rPr>
              <a:t>두 그룹 모두 50달러를 받음</a:t>
            </a:r>
            <a:endParaRPr lang="en-US" sz="1400" dirty="0"/>
          </a:p>
        </p:txBody>
      </p:sp>
      <p:sp>
        <p:nvSpPr>
          <p:cNvPr id="19" name="Text 16"/>
          <p:cNvSpPr/>
          <p:nvPr/>
        </p:nvSpPr>
        <p:spPr>
          <a:xfrm>
            <a:off x="6263640" y="2953512"/>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20" name="Text 17"/>
          <p:cNvSpPr txBox="1"/>
          <p:nvPr/>
        </p:nvSpPr>
        <p:spPr>
          <a:xfrm>
            <a:off x="7040880" y="2953512"/>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조건</a:t>
            </a:r>
            <a:endParaRPr lang="en-US" sz="1400" dirty="0"/>
          </a:p>
        </p:txBody>
      </p:sp>
      <p:sp>
        <p:nvSpPr>
          <p:cNvPr id="21" name="Text 18"/>
          <p:cNvSpPr txBox="1"/>
          <p:nvPr/>
        </p:nvSpPr>
        <p:spPr>
          <a:xfrm>
            <a:off x="7040880" y="3291840"/>
            <a:ext cx="4572000" cy="667512"/>
          </a:xfrm>
          <a:prstGeom prst="rect">
            <a:avLst/>
          </a:prstGeom>
          <a:noFill/>
          <a:ln/>
        </p:spPr>
        <p:txBody>
          <a:bodyPr wrap="square" lIns="0" tIns="0" rIns="0" bIns="0" rtlCol="0" anchor="t"/>
          <a:lstStyle/>
          <a:p>
            <a:pPr indent="0" marL="0">
              <a:buNone/>
            </a:pPr>
            <a:r>
              <a:rPr lang="en-US" sz="1400" dirty="0">
                <a:solidFill>
                  <a:srgbClr val="1E2B2A"/>
                </a:solidFill>
              </a:rPr>
              <a:t>A: 30달러를 잃는다 / B: 20달러를 간직한다</a:t>
            </a:r>
            <a:endParaRPr lang="en-US" sz="1400" dirty="0"/>
          </a:p>
        </p:txBody>
      </p:sp>
      <p:sp>
        <p:nvSpPr>
          <p:cNvPr id="22" name="Text 19"/>
          <p:cNvSpPr/>
          <p:nvPr/>
        </p:nvSpPr>
        <p:spPr>
          <a:xfrm>
            <a:off x="6263640" y="4123944"/>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3" name="Text 20"/>
          <p:cNvSpPr txBox="1"/>
          <p:nvPr/>
        </p:nvSpPr>
        <p:spPr>
          <a:xfrm>
            <a:off x="7040880" y="4123944"/>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계산</a:t>
            </a:r>
            <a:endParaRPr lang="en-US" sz="1400" dirty="0"/>
          </a:p>
        </p:txBody>
      </p:sp>
      <p:sp>
        <p:nvSpPr>
          <p:cNvPr id="24" name="Text 21"/>
          <p:cNvSpPr txBox="1"/>
          <p:nvPr/>
        </p:nvSpPr>
        <p:spPr>
          <a:xfrm>
            <a:off x="7040880" y="4462272"/>
            <a:ext cx="4572000" cy="667512"/>
          </a:xfrm>
          <a:prstGeom prst="rect">
            <a:avLst/>
          </a:prstGeom>
          <a:noFill/>
          <a:ln/>
        </p:spPr>
        <p:txBody>
          <a:bodyPr wrap="square" lIns="0" tIns="0" rIns="0" bIns="0" rtlCol="0" anchor="t"/>
          <a:lstStyle/>
          <a:p>
            <a:pPr indent="0" marL="0">
              <a:buNone/>
            </a:pPr>
            <a:r>
              <a:rPr lang="en-US" sz="1400" dirty="0">
                <a:solidFill>
                  <a:srgbClr val="1E2B2A"/>
                </a:solidFill>
              </a:rPr>
              <a:t>50 − 30 = 20 → 둘 다 '20달러가 남는' 같은 결과</a:t>
            </a:r>
            <a:endParaRPr lang="en-US" sz="1400" dirty="0"/>
          </a:p>
        </p:txBody>
      </p:sp>
      <p:sp>
        <p:nvSpPr>
          <p:cNvPr id="25" name="Text 22"/>
          <p:cNvSpPr/>
          <p:nvPr/>
        </p:nvSpPr>
        <p:spPr>
          <a:xfrm>
            <a:off x="6263640" y="5294376"/>
            <a:ext cx="548640" cy="548640"/>
          </a:xfrm>
          <a:prstGeom prst="ellipse">
            <a:avLst/>
          </a:prstGeom>
          <a:solidFill>
            <a:srgbClr val="EF5B3F"/>
          </a:solid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6" name="Text 23"/>
          <p:cNvSpPr txBox="1"/>
          <p:nvPr/>
        </p:nvSpPr>
        <p:spPr>
          <a:xfrm>
            <a:off x="7040880" y="5294376"/>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반전</a:t>
            </a:r>
            <a:endParaRPr lang="en-US" sz="1400" dirty="0"/>
          </a:p>
        </p:txBody>
      </p:sp>
      <p:sp>
        <p:nvSpPr>
          <p:cNvPr id="27" name="Text 24"/>
          <p:cNvSpPr txBox="1"/>
          <p:nvPr/>
        </p:nvSpPr>
        <p:spPr>
          <a:xfrm>
            <a:off x="7040880" y="5632704"/>
            <a:ext cx="4572000" cy="667512"/>
          </a:xfrm>
          <a:prstGeom prst="rect">
            <a:avLst/>
          </a:prstGeom>
          <a:noFill/>
          <a:ln/>
        </p:spPr>
        <p:txBody>
          <a:bodyPr wrap="square" lIns="0" tIns="0" rIns="0" bIns="0" rtlCol="0" anchor="t"/>
          <a:lstStyle/>
          <a:p>
            <a:pPr indent="0" marL="0">
              <a:buNone/>
            </a:pPr>
            <a:r>
              <a:rPr lang="en-US" sz="1400" dirty="0">
                <a:solidFill>
                  <a:srgbClr val="1E2B2A"/>
                </a:solidFill>
              </a:rPr>
              <a:t>However: 표현만 달라서 다른 결정 → 틀 효과</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102  </a:t>
            </a:r>
            <a:pPr algn="l" indent="0" marL="0">
              <a:buNone/>
            </a:pPr>
            <a:r>
              <a:rPr lang="en-US" sz="3000" b="1" dirty="0">
                <a:solidFill>
                  <a:srgbClr val="14453D"/>
                </a:solidFill>
              </a:rPr>
              <a:t>정답 &amp; 해설</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빈칸 변형 · 정답</a:t>
            </a:r>
            <a:endParaRPr lang="en-US" sz="1200" dirty="0"/>
          </a:p>
        </p:txBody>
      </p:sp>
      <p:sp>
        <p:nvSpPr>
          <p:cNvPr id="4" name="Shape 2"/>
          <p:cNvSpPr/>
          <p:nvPr/>
        </p:nvSpPr>
        <p:spPr>
          <a:xfrm>
            <a:off x="548640" y="1325880"/>
            <a:ext cx="3749040" cy="4983480"/>
          </a:xfrm>
          <a:prstGeom prst="roundRect">
            <a:avLst>
              <a:gd name="adj" fmla="val 3659"/>
            </a:avLst>
          </a:prstGeom>
          <a:solidFill>
            <a:srgbClr val="14453D"/>
          </a:solidFill>
          <a:ln w="12700">
            <a:solidFill>
              <a:srgbClr val="14453D"/>
            </a:solidFill>
            <a:prstDash val="solid"/>
          </a:ln>
        </p:spPr>
      </p:sp>
      <p:sp>
        <p:nvSpPr>
          <p:cNvPr id="5" name="Text 3"/>
          <p:cNvSpPr txBox="1"/>
          <p:nvPr/>
        </p:nvSpPr>
        <p:spPr>
          <a:xfrm>
            <a:off x="868680" y="1554480"/>
            <a:ext cx="3108960" cy="365760"/>
          </a:xfrm>
          <a:prstGeom prst="rect">
            <a:avLst/>
          </a:prstGeom>
          <a:noFill/>
          <a:ln/>
        </p:spPr>
        <p:txBody>
          <a:bodyPr wrap="square" lIns="0" tIns="0" rIns="0" bIns="0" rtlCol="0" anchor="ctr"/>
          <a:lstStyle/>
          <a:p>
            <a:pPr indent="0" marL="0">
              <a:buNone/>
            </a:pPr>
            <a:r>
              <a:rPr lang="en-US" sz="1600" b="1" dirty="0">
                <a:solidFill>
                  <a:srgbClr val="FFD45C"/>
                </a:solidFill>
              </a:rPr>
              <a:t>정답</a:t>
            </a:r>
            <a:endParaRPr lang="en-US" sz="1600" dirty="0"/>
          </a:p>
        </p:txBody>
      </p:sp>
      <p:sp>
        <p:nvSpPr>
          <p:cNvPr id="6" name="Text 4"/>
          <p:cNvSpPr txBox="1"/>
          <p:nvPr/>
        </p:nvSpPr>
        <p:spPr>
          <a:xfrm>
            <a:off x="868680" y="1920240"/>
            <a:ext cx="3108960" cy="1188720"/>
          </a:xfrm>
          <a:prstGeom prst="rect">
            <a:avLst/>
          </a:prstGeom>
          <a:noFill/>
          <a:ln/>
        </p:spPr>
        <p:txBody>
          <a:bodyPr wrap="square" lIns="0" tIns="0" rIns="0" bIns="0" rtlCol="0" anchor="ctr"/>
          <a:lstStyle/>
          <a:p>
            <a:pPr indent="0" marL="0">
              <a:buNone/>
            </a:pPr>
            <a:r>
              <a:rPr lang="en-US" sz="7200" b="1" dirty="0">
                <a:solidFill>
                  <a:srgbClr val="FFFFFF"/>
                </a:solidFill>
              </a:rPr>
              <a:t>②</a:t>
            </a:r>
            <a:endParaRPr lang="en-US" sz="7200" dirty="0"/>
          </a:p>
        </p:txBody>
      </p:sp>
      <p:sp>
        <p:nvSpPr>
          <p:cNvPr id="7" name="Text 5"/>
          <p:cNvSpPr txBox="1"/>
          <p:nvPr/>
        </p:nvSpPr>
        <p:spPr>
          <a:xfrm>
            <a:off x="868680" y="3337560"/>
            <a:ext cx="3154680" cy="1280160"/>
          </a:xfrm>
          <a:prstGeom prst="rect">
            <a:avLst/>
          </a:prstGeom>
          <a:noFill/>
          <a:ln/>
        </p:spPr>
        <p:txBody>
          <a:bodyPr wrap="square" lIns="0" tIns="0" rIns="0" bIns="0" rtlCol="0" anchor="t"/>
          <a:lstStyle/>
          <a:p>
            <a:pPr indent="0" marL="0">
              <a:buNone/>
            </a:pPr>
            <a:r>
              <a:rPr lang="en-US" sz="1700" b="1" i="1" dirty="0">
                <a:solidFill>
                  <a:srgbClr val="FFFFFF"/>
                </a:solidFill>
              </a:rPr>
              <a:t>an identical outcome</a:t>
            </a:r>
            <a:endParaRPr lang="en-US" sz="1700" dirty="0"/>
          </a:p>
        </p:txBody>
      </p:sp>
      <p:sp>
        <p:nvSpPr>
          <p:cNvPr id="8" name="Text 6"/>
          <p:cNvSpPr txBox="1"/>
          <p:nvPr/>
        </p:nvSpPr>
        <p:spPr>
          <a:xfrm>
            <a:off x="868680" y="4663440"/>
            <a:ext cx="3154680" cy="1463040"/>
          </a:xfrm>
          <a:prstGeom prst="rect">
            <a:avLst/>
          </a:prstGeom>
          <a:noFill/>
          <a:ln/>
        </p:spPr>
        <p:txBody>
          <a:bodyPr wrap="square" lIns="0" tIns="0" rIns="0" bIns="0" rtlCol="0" anchor="t"/>
          <a:lstStyle/>
          <a:p>
            <a:pPr indent="0" marL="0">
              <a:buNone/>
            </a:pPr>
            <a:r>
              <a:rPr lang="en-US" sz="1400" dirty="0">
                <a:solidFill>
                  <a:srgbClr val="E6F2ED"/>
                </a:solidFill>
              </a:rPr>
              <a:t>동일한 결과 = 50−30 = 20, However로 '표현만 다름' 강조</a:t>
            </a:r>
            <a:endParaRPr lang="en-US" sz="1400" dirty="0"/>
          </a:p>
        </p:txBody>
      </p:sp>
      <p:sp>
        <p:nvSpPr>
          <p:cNvPr id="9" name="Shape 7"/>
          <p:cNvSpPr/>
          <p:nvPr/>
        </p:nvSpPr>
        <p:spPr>
          <a:xfrm>
            <a:off x="4572000" y="1325880"/>
            <a:ext cx="7040880" cy="905256"/>
          </a:xfrm>
          <a:prstGeom prst="roundRect">
            <a:avLst>
              <a:gd name="adj" fmla="val 10101"/>
            </a:avLst>
          </a:prstGeom>
          <a:solidFill>
            <a:srgbClr val="FFFFFF"/>
          </a:solidFill>
          <a:ln w="12700">
            <a:solidFill>
              <a:srgbClr val="E6F2ED"/>
            </a:solidFill>
            <a:prstDash val="solid"/>
          </a:ln>
        </p:spPr>
      </p:sp>
      <p:sp>
        <p:nvSpPr>
          <p:cNvPr id="10" name="Text 8"/>
          <p:cNvSpPr txBox="1"/>
          <p:nvPr/>
        </p:nvSpPr>
        <p:spPr>
          <a:xfrm>
            <a:off x="4754880" y="1435608"/>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①</a:t>
            </a:r>
            <a:endParaRPr lang="en-US" sz="2000" dirty="0"/>
          </a:p>
        </p:txBody>
      </p:sp>
      <p:sp>
        <p:nvSpPr>
          <p:cNvPr id="11" name="Text 9"/>
          <p:cNvSpPr txBox="1"/>
          <p:nvPr/>
        </p:nvSpPr>
        <p:spPr>
          <a:xfrm>
            <a:off x="5257800" y="1399032"/>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serious financial loss</a:t>
            </a:r>
            <a:endParaRPr lang="en-US" sz="1500" dirty="0"/>
          </a:p>
        </p:txBody>
      </p:sp>
      <p:sp>
        <p:nvSpPr>
          <p:cNvPr id="12" name="Text 10"/>
          <p:cNvSpPr txBox="1"/>
          <p:nvPr/>
        </p:nvSpPr>
        <p:spPr>
          <a:xfrm>
            <a:off x="5257800" y="1801368"/>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심각한 금전적 손실 → lose 연상 함정</a:t>
            </a:r>
            <a:endParaRPr lang="en-US" sz="1300" dirty="0"/>
          </a:p>
        </p:txBody>
      </p:sp>
      <p:sp>
        <p:nvSpPr>
          <p:cNvPr id="13" name="Shape 11"/>
          <p:cNvSpPr/>
          <p:nvPr/>
        </p:nvSpPr>
        <p:spPr>
          <a:xfrm>
            <a:off x="4572000" y="2340864"/>
            <a:ext cx="7040880" cy="905256"/>
          </a:xfrm>
          <a:prstGeom prst="roundRect">
            <a:avLst>
              <a:gd name="adj" fmla="val 10101"/>
            </a:avLst>
          </a:prstGeom>
          <a:solidFill>
            <a:srgbClr val="F7E9E4"/>
          </a:solidFill>
          <a:ln w="25400">
            <a:solidFill>
              <a:srgbClr val="EF5B3F"/>
            </a:solidFill>
            <a:prstDash val="solid"/>
          </a:ln>
        </p:spPr>
      </p:sp>
      <p:sp>
        <p:nvSpPr>
          <p:cNvPr id="14" name="Text 12"/>
          <p:cNvSpPr txBox="1"/>
          <p:nvPr/>
        </p:nvSpPr>
        <p:spPr>
          <a:xfrm>
            <a:off x="4754880" y="2450592"/>
            <a:ext cx="411480" cy="411480"/>
          </a:xfrm>
          <a:prstGeom prst="rect">
            <a:avLst/>
          </a:prstGeom>
          <a:noFill/>
          <a:ln/>
        </p:spPr>
        <p:txBody>
          <a:bodyPr wrap="square" lIns="0" tIns="0" rIns="0" bIns="0" rtlCol="0" anchor="ctr"/>
          <a:lstStyle/>
          <a:p>
            <a:pPr indent="0" marL="0">
              <a:buNone/>
            </a:pPr>
            <a:r>
              <a:rPr lang="en-US" sz="2000" b="1" dirty="0">
                <a:solidFill>
                  <a:srgbClr val="EF5B3F"/>
                </a:solidFill>
              </a:rPr>
              <a:t>②</a:t>
            </a:r>
            <a:endParaRPr lang="en-US" sz="2000" dirty="0"/>
          </a:p>
        </p:txBody>
      </p:sp>
      <p:sp>
        <p:nvSpPr>
          <p:cNvPr id="15" name="Text 13"/>
          <p:cNvSpPr txBox="1"/>
          <p:nvPr/>
        </p:nvSpPr>
        <p:spPr>
          <a:xfrm>
            <a:off x="5257800" y="2414016"/>
            <a:ext cx="6172200" cy="411480"/>
          </a:xfrm>
          <a:prstGeom prst="rect">
            <a:avLst/>
          </a:prstGeom>
          <a:noFill/>
          <a:ln/>
        </p:spPr>
        <p:txBody>
          <a:bodyPr wrap="square" lIns="0" tIns="0" rIns="0" bIns="0" rtlCol="0" anchor="ctr">
            <a:normAutofit/>
          </a:bodyPr>
          <a:lstStyle/>
          <a:p>
            <a:pPr indent="0" marL="0">
              <a:buNone/>
            </a:pPr>
            <a:r>
              <a:rPr lang="en-US" sz="1500" b="1" dirty="0">
                <a:solidFill>
                  <a:srgbClr val="14453D"/>
                </a:solidFill>
              </a:rPr>
              <a:t>an identical outcome</a:t>
            </a:r>
            <a:endParaRPr lang="en-US" sz="1500" dirty="0"/>
          </a:p>
        </p:txBody>
      </p:sp>
      <p:sp>
        <p:nvSpPr>
          <p:cNvPr id="16" name="Text 14"/>
          <p:cNvSpPr txBox="1"/>
          <p:nvPr/>
        </p:nvSpPr>
        <p:spPr>
          <a:xfrm>
            <a:off x="5257800" y="2816352"/>
            <a:ext cx="6172200" cy="365760"/>
          </a:xfrm>
          <a:prstGeom prst="rect">
            <a:avLst/>
          </a:prstGeom>
          <a:noFill/>
          <a:ln/>
        </p:spPr>
        <p:txBody>
          <a:bodyPr wrap="square" lIns="0" tIns="0" rIns="0" bIns="0" rtlCol="0" anchor="ctr">
            <a:normAutofit/>
          </a:bodyPr>
          <a:lstStyle/>
          <a:p>
            <a:pPr indent="0" marL="0">
              <a:buNone/>
            </a:pPr>
            <a:r>
              <a:rPr lang="en-US" sz="1300" dirty="0">
                <a:solidFill>
                  <a:srgbClr val="EF5B3F"/>
                </a:solidFill>
              </a:rPr>
              <a:t>✔ 동일한 결과 = 50−30 = 20, However로 '표현만 다름' 강조</a:t>
            </a:r>
            <a:endParaRPr lang="en-US" sz="1300" dirty="0"/>
          </a:p>
        </p:txBody>
      </p:sp>
      <p:sp>
        <p:nvSpPr>
          <p:cNvPr id="17" name="Shape 15"/>
          <p:cNvSpPr/>
          <p:nvPr/>
        </p:nvSpPr>
        <p:spPr>
          <a:xfrm>
            <a:off x="4572000" y="3355848"/>
            <a:ext cx="7040880" cy="905256"/>
          </a:xfrm>
          <a:prstGeom prst="roundRect">
            <a:avLst>
              <a:gd name="adj" fmla="val 10101"/>
            </a:avLst>
          </a:prstGeom>
          <a:solidFill>
            <a:srgbClr val="FFFFFF"/>
          </a:solidFill>
          <a:ln w="12700">
            <a:solidFill>
              <a:srgbClr val="E6F2ED"/>
            </a:solidFill>
            <a:prstDash val="solid"/>
          </a:ln>
        </p:spPr>
      </p:sp>
      <p:sp>
        <p:nvSpPr>
          <p:cNvPr id="18" name="Text 16"/>
          <p:cNvSpPr txBox="1"/>
          <p:nvPr/>
        </p:nvSpPr>
        <p:spPr>
          <a:xfrm>
            <a:off x="4754880" y="3465576"/>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③</a:t>
            </a:r>
            <a:endParaRPr lang="en-US" sz="2000" dirty="0"/>
          </a:p>
        </p:txBody>
      </p:sp>
      <p:sp>
        <p:nvSpPr>
          <p:cNvPr id="19" name="Text 17"/>
          <p:cNvSpPr txBox="1"/>
          <p:nvPr/>
        </p:nvSpPr>
        <p:spPr>
          <a:xfrm>
            <a:off x="5257800" y="3429000"/>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avoiding gambling in any form</a:t>
            </a:r>
            <a:endParaRPr lang="en-US" sz="1500" dirty="0"/>
          </a:p>
        </p:txBody>
      </p:sp>
      <p:sp>
        <p:nvSpPr>
          <p:cNvPr id="20" name="Text 18"/>
          <p:cNvSpPr txBox="1"/>
          <p:nvPr/>
        </p:nvSpPr>
        <p:spPr>
          <a:xfrm>
            <a:off x="5257800" y="3831336"/>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모든 도박 회피 → 실제로 도박을 많이 선택</a:t>
            </a:r>
            <a:endParaRPr lang="en-US" sz="1300" dirty="0"/>
          </a:p>
        </p:txBody>
      </p:sp>
      <p:sp>
        <p:nvSpPr>
          <p:cNvPr id="21" name="Shape 19"/>
          <p:cNvSpPr/>
          <p:nvPr/>
        </p:nvSpPr>
        <p:spPr>
          <a:xfrm>
            <a:off x="4572000" y="4370832"/>
            <a:ext cx="7040880" cy="905256"/>
          </a:xfrm>
          <a:prstGeom prst="roundRect">
            <a:avLst>
              <a:gd name="adj" fmla="val 10101"/>
            </a:avLst>
          </a:prstGeom>
          <a:solidFill>
            <a:srgbClr val="FFFFFF"/>
          </a:solidFill>
          <a:ln w="12700">
            <a:solidFill>
              <a:srgbClr val="E6F2ED"/>
            </a:solidFill>
            <a:prstDash val="solid"/>
          </a:ln>
        </p:spPr>
      </p:sp>
      <p:sp>
        <p:nvSpPr>
          <p:cNvPr id="22" name="Text 20"/>
          <p:cNvSpPr txBox="1"/>
          <p:nvPr/>
        </p:nvSpPr>
        <p:spPr>
          <a:xfrm>
            <a:off x="4754880" y="4480560"/>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④</a:t>
            </a:r>
            <a:endParaRPr lang="en-US" sz="2000" dirty="0"/>
          </a:p>
        </p:txBody>
      </p:sp>
      <p:sp>
        <p:nvSpPr>
          <p:cNvPr id="23" name="Text 21"/>
          <p:cNvSpPr txBox="1"/>
          <p:nvPr/>
        </p:nvSpPr>
        <p:spPr>
          <a:xfrm>
            <a:off x="5257800" y="4443984"/>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a huge burden of decision making</a:t>
            </a:r>
            <a:endParaRPr lang="en-US" sz="1500" dirty="0"/>
          </a:p>
        </p:txBody>
      </p:sp>
      <p:sp>
        <p:nvSpPr>
          <p:cNvPr id="24" name="Text 22"/>
          <p:cNvSpPr txBox="1"/>
          <p:nvPr/>
        </p:nvSpPr>
        <p:spPr>
          <a:xfrm>
            <a:off x="5257800" y="4846320"/>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의사 결정의 큰 부담 → 글에 없음</a:t>
            </a:r>
            <a:endParaRPr lang="en-US" sz="1300" dirty="0"/>
          </a:p>
        </p:txBody>
      </p:sp>
      <p:sp>
        <p:nvSpPr>
          <p:cNvPr id="25" name="Shape 23"/>
          <p:cNvSpPr/>
          <p:nvPr/>
        </p:nvSpPr>
        <p:spPr>
          <a:xfrm>
            <a:off x="4572000" y="5385816"/>
            <a:ext cx="7040880" cy="905256"/>
          </a:xfrm>
          <a:prstGeom prst="roundRect">
            <a:avLst>
              <a:gd name="adj" fmla="val 10101"/>
            </a:avLst>
          </a:prstGeom>
          <a:solidFill>
            <a:srgbClr val="FFFFFF"/>
          </a:solidFill>
          <a:ln w="12700">
            <a:solidFill>
              <a:srgbClr val="E6F2ED"/>
            </a:solidFill>
            <a:prstDash val="solid"/>
          </a:ln>
        </p:spPr>
      </p:sp>
      <p:sp>
        <p:nvSpPr>
          <p:cNvPr id="26" name="Text 24"/>
          <p:cNvSpPr txBox="1"/>
          <p:nvPr/>
        </p:nvSpPr>
        <p:spPr>
          <a:xfrm>
            <a:off x="4754880" y="5495544"/>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⑤</a:t>
            </a:r>
            <a:endParaRPr lang="en-US" sz="2000" dirty="0"/>
          </a:p>
        </p:txBody>
      </p:sp>
      <p:sp>
        <p:nvSpPr>
          <p:cNvPr id="27" name="Text 25"/>
          <p:cNvSpPr txBox="1"/>
          <p:nvPr/>
        </p:nvSpPr>
        <p:spPr>
          <a:xfrm>
            <a:off x="5257800" y="5458968"/>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misunderstanding economic values</a:t>
            </a:r>
            <a:endParaRPr lang="en-US" sz="1500" dirty="0"/>
          </a:p>
        </p:txBody>
      </p:sp>
      <p:sp>
        <p:nvSpPr>
          <p:cNvPr id="28" name="Text 26"/>
          <p:cNvSpPr txBox="1"/>
          <p:nvPr/>
        </p:nvSpPr>
        <p:spPr>
          <a:xfrm>
            <a:off x="5257800" y="5861304"/>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경제적 가치의 오해 → 글에 없음</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102  </a:t>
            </a:r>
            <a:pPr algn="l" indent="0" marL="0">
              <a:buNone/>
            </a:pPr>
            <a:r>
              <a:rPr lang="en-US" sz="3000" b="1" dirty="0">
                <a:solidFill>
                  <a:srgbClr val="14453D"/>
                </a:solidFill>
              </a:rPr>
              <a:t>내신 어법 체크: 알맞은 것은?</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빈칸 변형 · 어법</a:t>
            </a:r>
            <a:endParaRPr lang="en-US" sz="1200" dirty="0"/>
          </a:p>
        </p:txBody>
      </p:sp>
      <p:sp>
        <p:nvSpPr>
          <p:cNvPr id="4" name="Shape 2"/>
          <p:cNvSpPr/>
          <p:nvPr/>
        </p:nvSpPr>
        <p:spPr>
          <a:xfrm>
            <a:off x="548640" y="1325880"/>
            <a:ext cx="11064240" cy="1143000"/>
          </a:xfrm>
          <a:prstGeom prst="roundRect">
            <a:avLst>
              <a:gd name="adj" fmla="val 8000"/>
            </a:avLst>
          </a:prstGeom>
          <a:solidFill>
            <a:srgbClr val="F2F8FB"/>
          </a:solidFill>
          <a:ln w="12700">
            <a:solidFill>
              <a:srgbClr val="D3E5EE"/>
            </a:solidFill>
            <a:prstDash val="solid"/>
          </a:ln>
        </p:spPr>
      </p:sp>
      <p:sp>
        <p:nvSpPr>
          <p:cNvPr id="5" name="Text 3"/>
          <p:cNvSpPr/>
          <p:nvPr/>
        </p:nvSpPr>
        <p:spPr>
          <a:xfrm>
            <a:off x="777240" y="162306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1554480" y="132588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The participants were each </a:t>
            </a:r>
            <a:pPr indent="0" marL="0">
              <a:buNone/>
            </a:pPr>
            <a:r>
              <a:rPr lang="en-US" sz="1900" b="1" dirty="0">
                <a:solidFill>
                  <a:srgbClr val="EF5B3F"/>
                </a:solidFill>
              </a:rPr>
              <a:t>[given / giving]</a:t>
            </a:r>
            <a:pPr indent="0" marL="0">
              <a:buNone/>
            </a:pPr>
            <a:r>
              <a:rPr lang="en-US" sz="1900" dirty="0">
                <a:solidFill>
                  <a:srgbClr val="1E2B2A"/>
                </a:solidFill>
              </a:rPr>
              <a:t> $50 and separated into two groups.</a:t>
            </a:r>
            <a:endParaRPr lang="en-US" sz="1900" dirty="0"/>
          </a:p>
        </p:txBody>
      </p:sp>
      <p:sp>
        <p:nvSpPr>
          <p:cNvPr id="7" name="Shape 5"/>
          <p:cNvSpPr/>
          <p:nvPr/>
        </p:nvSpPr>
        <p:spPr>
          <a:xfrm>
            <a:off x="548640" y="2606040"/>
            <a:ext cx="11064240" cy="1143000"/>
          </a:xfrm>
          <a:prstGeom prst="roundRect">
            <a:avLst>
              <a:gd name="adj" fmla="val 8000"/>
            </a:avLst>
          </a:prstGeom>
          <a:solidFill>
            <a:srgbClr val="FFFFFF"/>
          </a:solidFill>
          <a:ln w="12700">
            <a:solidFill>
              <a:srgbClr val="D3E5EE"/>
            </a:solidFill>
            <a:prstDash val="solid"/>
          </a:ln>
        </p:spPr>
      </p:sp>
      <p:sp>
        <p:nvSpPr>
          <p:cNvPr id="8" name="Text 6"/>
          <p:cNvSpPr/>
          <p:nvPr/>
        </p:nvSpPr>
        <p:spPr>
          <a:xfrm>
            <a:off x="777240" y="290322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9" name="Text 7"/>
          <p:cNvSpPr txBox="1"/>
          <p:nvPr/>
        </p:nvSpPr>
        <p:spPr>
          <a:xfrm>
            <a:off x="1554480" y="260604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…because the choices were </a:t>
            </a:r>
            <a:pPr indent="0" marL="0">
              <a:buNone/>
            </a:pPr>
            <a:r>
              <a:rPr lang="en-US" sz="1900" b="1" dirty="0">
                <a:solidFill>
                  <a:srgbClr val="EF5B3F"/>
                </a:solidFill>
              </a:rPr>
              <a:t>[framed / framing]</a:t>
            </a:r>
            <a:pPr indent="0" marL="0">
              <a:buNone/>
            </a:pPr>
            <a:r>
              <a:rPr lang="en-US" sz="1900" dirty="0">
                <a:solidFill>
                  <a:srgbClr val="1E2B2A"/>
                </a:solidFill>
              </a:rPr>
              <a:t> using two different terms.</a:t>
            </a:r>
            <a:endParaRPr lang="en-US" sz="1900" dirty="0"/>
          </a:p>
        </p:txBody>
      </p:sp>
      <p:sp>
        <p:nvSpPr>
          <p:cNvPr id="10" name="Shape 8"/>
          <p:cNvSpPr/>
          <p:nvPr/>
        </p:nvSpPr>
        <p:spPr>
          <a:xfrm>
            <a:off x="548640" y="3886200"/>
            <a:ext cx="11064240" cy="1143000"/>
          </a:xfrm>
          <a:prstGeom prst="roundRect">
            <a:avLst>
              <a:gd name="adj" fmla="val 8000"/>
            </a:avLst>
          </a:prstGeom>
          <a:solidFill>
            <a:srgbClr val="F2F8FB"/>
          </a:solidFill>
          <a:ln w="12700">
            <a:solidFill>
              <a:srgbClr val="D3E5EE"/>
            </a:solidFill>
            <a:prstDash val="solid"/>
          </a:ln>
        </p:spPr>
      </p:sp>
      <p:sp>
        <p:nvSpPr>
          <p:cNvPr id="11" name="Text 9"/>
          <p:cNvSpPr/>
          <p:nvPr/>
        </p:nvSpPr>
        <p:spPr>
          <a:xfrm>
            <a:off x="777240" y="418338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2" name="Text 10"/>
          <p:cNvSpPr txBox="1"/>
          <p:nvPr/>
        </p:nvSpPr>
        <p:spPr>
          <a:xfrm>
            <a:off x="1554480" y="388620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This is </a:t>
            </a:r>
            <a:pPr indent="0" marL="0">
              <a:buNone/>
            </a:pPr>
            <a:r>
              <a:rPr lang="en-US" sz="1900" b="1" dirty="0">
                <a:solidFill>
                  <a:srgbClr val="EF5B3F"/>
                </a:solidFill>
              </a:rPr>
              <a:t>[called / calling]</a:t>
            </a:r>
            <a:pPr indent="0" marL="0">
              <a:buNone/>
            </a:pPr>
            <a:r>
              <a:rPr lang="en-US" sz="1900" dirty="0">
                <a:solidFill>
                  <a:srgbClr val="1E2B2A"/>
                </a:solidFill>
              </a:rPr>
              <a:t> the “framing effect”.</a:t>
            </a:r>
            <a:endParaRPr lang="en-US" sz="19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103  </a:t>
            </a:r>
            <a:pPr algn="l" indent="0" marL="0">
              <a:buNone/>
            </a:pPr>
            <a:r>
              <a:rPr lang="en-US" sz="2400" b="1" dirty="0">
                <a:solidFill>
                  <a:srgbClr val="14453D"/>
                </a:solidFill>
              </a:rPr>
              <a:t>주어진 문장이 들어가기에 가장 적절한 곳은?</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삽입 변형</a:t>
            </a:r>
            <a:endParaRPr lang="en-US" sz="1200" dirty="0"/>
          </a:p>
        </p:txBody>
      </p:sp>
      <p:sp>
        <p:nvSpPr>
          <p:cNvPr id="4" name="Shape 2"/>
          <p:cNvSpPr/>
          <p:nvPr/>
        </p:nvSpPr>
        <p:spPr>
          <a:xfrm>
            <a:off x="548640" y="1234440"/>
            <a:ext cx="11064240" cy="5074920"/>
          </a:xfrm>
          <a:prstGeom prst="roundRect">
            <a:avLst>
              <a:gd name="adj" fmla="val 1802"/>
            </a:avLst>
          </a:prstGeom>
          <a:solidFill>
            <a:srgbClr val="FFFFFF"/>
          </a:solidFill>
          <a:ln w="19050">
            <a:solidFill>
              <a:srgbClr val="E6F2ED"/>
            </a:solidFill>
            <a:prstDash val="solid"/>
          </a:ln>
        </p:spPr>
      </p:sp>
      <p:sp>
        <p:nvSpPr>
          <p:cNvPr id="5" name="Text 3"/>
          <p:cNvSpPr txBox="1"/>
          <p:nvPr/>
        </p:nvSpPr>
        <p:spPr>
          <a:xfrm>
            <a:off x="777240" y="1371600"/>
            <a:ext cx="10607040" cy="4846320"/>
          </a:xfrm>
          <a:prstGeom prst="rect">
            <a:avLst/>
          </a:prstGeom>
          <a:noFill/>
          <a:ln/>
        </p:spPr>
        <p:txBody>
          <a:bodyPr wrap="square" lIns="0" tIns="0" rIns="0" bIns="0" rtlCol="0" anchor="t"/>
          <a:lstStyle/>
          <a:p>
            <a:pPr indent="0" marL="0">
              <a:lnSpc>
                <a:spcPct val="115000"/>
              </a:lnSpc>
              <a:buNone/>
            </a:pPr>
            <a:r>
              <a:rPr lang="en-US" sz="1900" b="1" dirty="0">
                <a:solidFill>
                  <a:srgbClr val="EF5B3F"/>
                </a:solidFill>
              </a:rPr>
              <a:t>[주어진 문장]  </a:t>
            </a:r>
            <a:pPr indent="0" marL="0">
              <a:lnSpc>
                <a:spcPct val="115000"/>
              </a:lnSpc>
              <a:buNone/>
            </a:pPr>
            <a:r>
              <a:rPr lang="en-US" sz="1900" b="1" dirty="0">
                <a:solidFill>
                  <a:srgbClr val="14453D"/>
                </a:solidFill>
              </a:rPr>
              <a:t>This reflection process enables you to clearly see potential problems and ways to fix them.</a:t>
            </a:r>
            <a:endParaRPr lang="en-US" sz="1900" dirty="0"/>
          </a:p>
          <a:p>
            <a:pPr indent="0" marL="0">
              <a:lnSpc>
                <a:spcPct val="115000"/>
              </a:lnSpc>
              <a:buNone/>
            </a:pPr>
            <a:r>
              <a:rPr lang="en-US" sz="600" dirty="0">
                <a:solidFill>
                  <a:srgbClr val="000000"/>
                </a:solidFill>
              </a:rPr>
              <a:t> </a:t>
            </a:r>
            <a:endParaRPr lang="en-US" sz="1900" dirty="0"/>
          </a:p>
          <a:p>
            <a:pPr indent="0" marL="0">
              <a:lnSpc>
                <a:spcPct val="115000"/>
              </a:lnSpc>
              <a:buNone/>
            </a:pPr>
            <a:r>
              <a:rPr lang="en-US" sz="1900" dirty="0">
                <a:solidFill>
                  <a:srgbClr val="1E2B2A"/>
                </a:solidFill>
              </a:rPr>
              <a:t>Have you ever thought about what you are good at and not so good at during internal conversations with yourself?</a:t>
            </a:r>
            <a:pPr indent="0" marL="0">
              <a:lnSpc>
                <a:spcPct val="115000"/>
              </a:lnSpc>
              <a:buNone/>
            </a:pPr>
            <a:r>
              <a:rPr lang="en-US" sz="1900" dirty="0">
                <a:solidFill>
                  <a:srgbClr val="000000"/>
                </a:solidFill>
              </a:rPr>
              <a:t> </a:t>
            </a:r>
            <a:pPr indent="0" marL="0">
              <a:lnSpc>
                <a:spcPct val="115000"/>
              </a:lnSpc>
              <a:buNone/>
            </a:pPr>
            <a:r>
              <a:rPr lang="en-US" sz="1900" dirty="0">
                <a:solidFill>
                  <a:srgbClr val="1E2B2A"/>
                </a:solidFill>
              </a:rPr>
              <a:t>Inner thought processes like this help you get a clearer picture of your strengths and weaknesses.</a:t>
            </a:r>
            <a:pPr indent="0" marL="0">
              <a:lnSpc>
                <a:spcPct val="115000"/>
              </a:lnSpc>
              <a:buNone/>
            </a:pPr>
            <a:r>
              <a:rPr lang="en-US" sz="1900" dirty="0">
                <a:solidFill>
                  <a:srgbClr val="000000"/>
                </a:solidFill>
              </a:rPr>
              <a:t> </a:t>
            </a:r>
            <a:pPr indent="0" marL="0">
              <a:lnSpc>
                <a:spcPct val="115000"/>
              </a:lnSpc>
              <a:buNone/>
            </a:pPr>
            <a:r>
              <a:rPr lang="en-US" sz="1900" dirty="0">
                <a:solidFill>
                  <a:srgbClr val="1E2B2A"/>
                </a:solidFill>
              </a:rPr>
              <a:t>( ① ) During the process, you may ask yourself a series of questions to identify blind spots that may be blocking you from reaching your goals.</a:t>
            </a:r>
            <a:pPr indent="0" marL="0">
              <a:lnSpc>
                <a:spcPct val="115000"/>
              </a:lnSpc>
              <a:buNone/>
            </a:pPr>
            <a:r>
              <a:rPr lang="en-US" sz="1900" dirty="0">
                <a:solidFill>
                  <a:srgbClr val="000000"/>
                </a:solidFill>
              </a:rPr>
              <a:t> </a:t>
            </a:r>
            <a:pPr indent="0" marL="0">
              <a:lnSpc>
                <a:spcPct val="115000"/>
              </a:lnSpc>
              <a:buNone/>
            </a:pPr>
            <a:r>
              <a:rPr lang="en-US" sz="1900" dirty="0">
                <a:solidFill>
                  <a:srgbClr val="1E2B2A"/>
                </a:solidFill>
              </a:rPr>
              <a:t>( ② ) It is not only essential in personal development but also critical to corporate success.</a:t>
            </a:r>
            <a:pPr indent="0" marL="0">
              <a:lnSpc>
                <a:spcPct val="115000"/>
              </a:lnSpc>
              <a:buNone/>
            </a:pPr>
            <a:r>
              <a:rPr lang="en-US" sz="1900" dirty="0">
                <a:solidFill>
                  <a:srgbClr val="000000"/>
                </a:solidFill>
              </a:rPr>
              <a:t> </a:t>
            </a:r>
            <a:pPr indent="0" marL="0">
              <a:lnSpc>
                <a:spcPct val="115000"/>
              </a:lnSpc>
              <a:buNone/>
            </a:pPr>
            <a:r>
              <a:rPr lang="en-US" sz="1900" dirty="0">
                <a:solidFill>
                  <a:srgbClr val="1E2B2A"/>
                </a:solidFill>
              </a:rPr>
              <a:t>( ③ ) The most consistently innovative companies in the world promote a culture which includes this self-inquiry.</a:t>
            </a:r>
            <a:pPr indent="0" marL="0">
              <a:lnSpc>
                <a:spcPct val="115000"/>
              </a:lnSpc>
              <a:buNone/>
            </a:pPr>
            <a:r>
              <a:rPr lang="en-US" sz="1900" dirty="0">
                <a:solidFill>
                  <a:srgbClr val="000000"/>
                </a:solidFill>
              </a:rPr>
              <a:t> </a:t>
            </a:r>
            <a:pPr indent="0" marL="0">
              <a:lnSpc>
                <a:spcPct val="115000"/>
              </a:lnSpc>
              <a:buNone/>
            </a:pPr>
            <a:r>
              <a:rPr lang="en-US" sz="1900" dirty="0">
                <a:solidFill>
                  <a:srgbClr val="1E2B2A"/>
                </a:solidFill>
              </a:rPr>
              <a:t>( ④ ) For instance, Google gives its employees free time every Friday to reflect on the pros and cons of their current projects and to dream up new possibilities by thinking “what if” type questions.</a:t>
            </a:r>
            <a:pPr indent="0" marL="0">
              <a:lnSpc>
                <a:spcPct val="115000"/>
              </a:lnSpc>
              <a:buNone/>
            </a:pPr>
            <a:r>
              <a:rPr lang="en-US" sz="1900" dirty="0">
                <a:solidFill>
                  <a:srgbClr val="000000"/>
                </a:solidFill>
              </a:rPr>
              <a:t> </a:t>
            </a:r>
            <a:pPr indent="0" marL="0">
              <a:lnSpc>
                <a:spcPct val="115000"/>
              </a:lnSpc>
              <a:buNone/>
            </a:pPr>
            <a:r>
              <a:rPr lang="en-US" sz="1900" dirty="0">
                <a:solidFill>
                  <a:srgbClr val="1E2B2A"/>
                </a:solidFill>
              </a:rPr>
              <a:t>( ⑤ ) It is this self-awareness that allows the company to excel at developing innovative and outstanding products.</a:t>
            </a:r>
            <a:endParaRPr lang="en-US" sz="1900" dirty="0"/>
          </a:p>
          <a:p>
            <a:pPr algn="r" indent="0" marL="0">
              <a:lnSpc>
                <a:spcPct val="115000"/>
              </a:lnSpc>
              <a:spcBef>
                <a:spcPts val="200"/>
              </a:spcBef>
              <a:buNone/>
            </a:pPr>
            <a:r>
              <a:rPr lang="en-US" sz="1100" i="1" dirty="0">
                <a:solidFill>
                  <a:srgbClr val="6E7F7C"/>
                </a:solidFill>
              </a:rPr>
              <a:t>*blind spot 맹점, 약점</a:t>
            </a:r>
            <a:endParaRPr lang="en-US" sz="19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103  </a:t>
            </a:r>
            <a:pPr algn="l" indent="0" marL="0">
              <a:buNone/>
            </a:pPr>
            <a:r>
              <a:rPr lang="en-US" sz="3000" b="1" dirty="0">
                <a:solidFill>
                  <a:srgbClr val="14453D"/>
                </a:solidFill>
              </a:rPr>
              <a:t>정답 근거 &amp; 문법 포인트</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삽입 변형 · 근거</a:t>
            </a:r>
            <a:endParaRPr lang="en-US" sz="1200" dirty="0"/>
          </a:p>
        </p:txBody>
      </p:sp>
      <p:sp>
        <p:nvSpPr>
          <p:cNvPr id="4" name="Shape 2"/>
          <p:cNvSpPr/>
          <p:nvPr/>
        </p:nvSpPr>
        <p:spPr>
          <a:xfrm>
            <a:off x="548640" y="1234440"/>
            <a:ext cx="11064240" cy="3172968"/>
          </a:xfrm>
          <a:prstGeom prst="roundRect">
            <a:avLst>
              <a:gd name="adj" fmla="val 2882"/>
            </a:avLst>
          </a:prstGeom>
          <a:solidFill>
            <a:srgbClr val="FFFFFF"/>
          </a:solidFill>
          <a:ln w="19050">
            <a:solidFill>
              <a:srgbClr val="E6F2ED"/>
            </a:solidFill>
            <a:prstDash val="solid"/>
          </a:ln>
        </p:spPr>
      </p:sp>
      <p:sp>
        <p:nvSpPr>
          <p:cNvPr id="5" name="Text 3"/>
          <p:cNvSpPr txBox="1"/>
          <p:nvPr/>
        </p:nvSpPr>
        <p:spPr>
          <a:xfrm>
            <a:off x="777240" y="1371600"/>
            <a:ext cx="10607040" cy="2944368"/>
          </a:xfrm>
          <a:prstGeom prst="rect">
            <a:avLst/>
          </a:prstGeom>
          <a:noFill/>
          <a:ln/>
        </p:spPr>
        <p:txBody>
          <a:bodyPr wrap="square" lIns="0" tIns="0" rIns="0" bIns="0" rtlCol="0" anchor="t">
            <a:normAutofit/>
          </a:bodyPr>
          <a:lstStyle/>
          <a:p>
            <a:pPr indent="0" marL="0">
              <a:lnSpc>
                <a:spcPct val="120000"/>
              </a:lnSpc>
              <a:buNone/>
            </a:pPr>
            <a:r>
              <a:rPr lang="en-US" sz="1300" b="1" dirty="0">
                <a:solidFill>
                  <a:srgbClr val="1F7A64"/>
                </a:solidFill>
              </a:rPr>
              <a:t>(1) </a:t>
            </a:r>
            <a:pPr indent="0" marL="0">
              <a:lnSpc>
                <a:spcPct val="120000"/>
              </a:lnSpc>
              <a:buNone/>
            </a:pPr>
            <a:r>
              <a:rPr lang="en-US" sz="1600" dirty="0">
                <a:solidFill>
                  <a:srgbClr val="1E2B2A"/>
                </a:solidFill>
              </a:rPr>
              <a:t>Have you ever thought about </a:t>
            </a:r>
            <a:pPr indent="0" marL="0">
              <a:lnSpc>
                <a:spcPct val="120000"/>
              </a:lnSpc>
              <a:buNone/>
            </a:pPr>
            <a:r>
              <a:rPr lang="en-US" sz="1600" b="1" dirty="0">
                <a:solidFill>
                  <a:srgbClr val="14453D"/>
                </a:solidFill>
                <a:highlight>
                  <a:srgbClr val="A9DDF3"/>
                </a:highlight>
              </a:rPr>
              <a:t>what you are good at and not so good at</a:t>
            </a:r>
            <a:pPr indent="0" marL="0">
              <a:lnSpc>
                <a:spcPct val="120000"/>
              </a:lnSpc>
              <a:buNone/>
            </a:pPr>
            <a:r>
              <a:rPr lang="en-US" sz="1600" dirty="0">
                <a:solidFill>
                  <a:srgbClr val="1E2B2A"/>
                </a:solidFill>
              </a:rPr>
              <a:t> during </a:t>
            </a:r>
            <a:pPr indent="0" marL="0">
              <a:lnSpc>
                <a:spcPct val="120000"/>
              </a:lnSpc>
              <a:buNone/>
            </a:pPr>
            <a:r>
              <a:rPr lang="en-US" sz="1600" u="dotted" dirty="0">
                <a:solidFill>
                  <a:srgbClr val="1F7A64"/>
                </a:solidFill>
                <a:uFill>
                  <a:solidFill>
                    <a:srgbClr val="1F7A64"/>
                  </a:solidFill>
                </a:uFill>
              </a:rPr>
              <a:t>internal</a:t>
            </a:r>
            <a:pPr indent="0" marL="0">
              <a:lnSpc>
                <a:spcPct val="120000"/>
              </a:lnSpc>
              <a:buNone/>
            </a:pPr>
            <a:r>
              <a:rPr lang="en-US" sz="1600" dirty="0">
                <a:solidFill>
                  <a:srgbClr val="1E2B2A"/>
                </a:solidFill>
              </a:rPr>
              <a:t> conversations with yourself?</a:t>
            </a:r>
            <a:pPr indent="0" marL="0">
              <a:lnSpc>
                <a:spcPct val="120000"/>
              </a:lnSpc>
              <a:buNone/>
            </a:pPr>
            <a:r>
              <a:rPr lang="en-US" sz="1600" dirty="0">
                <a:solidFill>
                  <a:srgbClr val="000000"/>
                </a:solidFill>
              </a:rPr>
              <a:t> </a:t>
            </a:r>
            <a:pPr indent="0" marL="0">
              <a:lnSpc>
                <a:spcPct val="120000"/>
              </a:lnSpc>
              <a:buNone/>
            </a:pPr>
            <a:r>
              <a:rPr lang="en-US" sz="1300" b="1" dirty="0">
                <a:solidFill>
                  <a:srgbClr val="1F7A64"/>
                </a:solidFill>
              </a:rPr>
              <a:t>(2) </a:t>
            </a:r>
            <a:pPr indent="0" marL="0">
              <a:lnSpc>
                <a:spcPct val="120000"/>
              </a:lnSpc>
              <a:buNone/>
            </a:pPr>
            <a:r>
              <a:rPr lang="en-US" sz="1600" dirty="0">
                <a:solidFill>
                  <a:srgbClr val="1E2B2A"/>
                </a:solidFill>
              </a:rPr>
              <a:t>Inner thought processes like this </a:t>
            </a:r>
            <a:pPr indent="0" marL="0">
              <a:lnSpc>
                <a:spcPct val="120000"/>
              </a:lnSpc>
              <a:buNone/>
            </a:pPr>
            <a:r>
              <a:rPr lang="en-US" sz="1600" b="1" dirty="0">
                <a:solidFill>
                  <a:srgbClr val="14453D"/>
                </a:solidFill>
                <a:highlight>
                  <a:srgbClr val="A9DDF3"/>
                </a:highlight>
              </a:rPr>
              <a:t>help you get a clearer picture</a:t>
            </a:r>
            <a:pPr indent="0" marL="0">
              <a:lnSpc>
                <a:spcPct val="120000"/>
              </a:lnSpc>
              <a:buNone/>
            </a:pPr>
            <a:r>
              <a:rPr lang="en-US" sz="1600" dirty="0">
                <a:solidFill>
                  <a:srgbClr val="1E2B2A"/>
                </a:solidFill>
              </a:rPr>
              <a:t> of your strengths and weaknesses.</a:t>
            </a:r>
            <a:pPr indent="0" marL="0">
              <a:lnSpc>
                <a:spcPct val="120000"/>
              </a:lnSpc>
              <a:buNone/>
            </a:pPr>
            <a:r>
              <a:rPr lang="en-US" sz="1600" dirty="0">
                <a:solidFill>
                  <a:srgbClr val="000000"/>
                </a:solidFill>
              </a:rPr>
              <a:t> </a:t>
            </a:r>
            <a:pPr indent="0" marL="0">
              <a:lnSpc>
                <a:spcPct val="120000"/>
              </a:lnSpc>
              <a:buNone/>
            </a:pPr>
            <a:r>
              <a:rPr lang="en-US" sz="1300" b="1" dirty="0">
                <a:solidFill>
                  <a:srgbClr val="1F7A64"/>
                </a:solidFill>
              </a:rPr>
              <a:t>(3) </a:t>
            </a:r>
            <a:pPr indent="0" marL="0">
              <a:lnSpc>
                <a:spcPct val="120000"/>
              </a:lnSpc>
              <a:buNone/>
            </a:pPr>
            <a:r>
              <a:rPr lang="en-US" sz="1600" dirty="0">
                <a:solidFill>
                  <a:srgbClr val="1E2B2A"/>
                </a:solidFill>
                <a:highlight>
                  <a:srgbClr val="FFD45C"/>
                </a:highlight>
              </a:rPr>
              <a:t>( ① ) During the process, you may ask yourself a series of questions to </a:t>
            </a:r>
            <a:pPr indent="0" marL="0">
              <a:lnSpc>
                <a:spcPct val="120000"/>
              </a:lnSpc>
              <a:buNone/>
            </a:pPr>
            <a:r>
              <a:rPr lang="en-US" sz="1600" u="dotted" dirty="0">
                <a:solidFill>
                  <a:srgbClr val="1F7A64"/>
                </a:solidFill>
                <a:highlight>
                  <a:srgbClr val="FFD45C"/>
                </a:highlight>
                <a:uFill>
                  <a:solidFill>
                    <a:srgbClr val="1F7A64"/>
                  </a:solidFill>
                </a:uFill>
              </a:rPr>
              <a:t>identify</a:t>
            </a:r>
            <a:pPr indent="0" marL="0">
              <a:lnSpc>
                <a:spcPct val="120000"/>
              </a:lnSpc>
              <a:buNone/>
            </a:pPr>
            <a:r>
              <a:rPr lang="en-US" sz="1600" dirty="0">
                <a:solidFill>
                  <a:srgbClr val="1E2B2A"/>
                </a:solidFill>
                <a:highlight>
                  <a:srgbClr val="FFD45C"/>
                </a:highlight>
              </a:rPr>
              <a:t> </a:t>
            </a:r>
            <a:pPr indent="0" marL="0">
              <a:lnSpc>
                <a:spcPct val="120000"/>
              </a:lnSpc>
              <a:buNone/>
            </a:pPr>
            <a:r>
              <a:rPr lang="en-US" sz="1600" b="1" dirty="0">
                <a:solidFill>
                  <a:srgbClr val="14453D"/>
                </a:solidFill>
                <a:highlight>
                  <a:srgbClr val="A9DDF3"/>
                </a:highlight>
              </a:rPr>
              <a:t>blind spots that may be blocking you from reaching</a:t>
            </a:r>
            <a:pPr indent="0" marL="0">
              <a:lnSpc>
                <a:spcPct val="120000"/>
              </a:lnSpc>
              <a:buNone/>
            </a:pPr>
            <a:r>
              <a:rPr lang="en-US" sz="1600" dirty="0">
                <a:solidFill>
                  <a:srgbClr val="1E2B2A"/>
                </a:solidFill>
                <a:highlight>
                  <a:srgbClr val="FFD45C"/>
                </a:highlight>
              </a:rPr>
              <a:t> your goals.</a:t>
            </a:r>
            <a:pPr indent="0" marL="0">
              <a:lnSpc>
                <a:spcPct val="120000"/>
              </a:lnSpc>
              <a:buNone/>
            </a:pPr>
            <a:r>
              <a:rPr lang="en-US" sz="1600" dirty="0">
                <a:solidFill>
                  <a:srgbClr val="000000"/>
                </a:solidFill>
              </a:rPr>
              <a:t> </a:t>
            </a:r>
            <a:pPr indent="0" marL="0">
              <a:lnSpc>
                <a:spcPct val="120000"/>
              </a:lnSpc>
              <a:buNone/>
            </a:pPr>
            <a:r>
              <a:rPr lang="en-US" sz="1300" b="1" dirty="0">
                <a:solidFill>
                  <a:srgbClr val="1F7A64"/>
                </a:solidFill>
              </a:rPr>
              <a:t>(4) </a:t>
            </a:r>
            <a:pPr indent="0" marL="0">
              <a:lnSpc>
                <a:spcPct val="120000"/>
              </a:lnSpc>
              <a:buNone/>
            </a:pPr>
            <a:r>
              <a:rPr lang="en-US" sz="1600" dirty="0">
                <a:solidFill>
                  <a:srgbClr val="1E2B2A"/>
                </a:solidFill>
                <a:highlight>
                  <a:srgbClr val="FFD45C"/>
                </a:highlight>
              </a:rPr>
              <a:t>( ② ) </a:t>
            </a:r>
            <a:pPr indent="0" marL="0">
              <a:lnSpc>
                <a:spcPct val="120000"/>
              </a:lnSpc>
              <a:buNone/>
            </a:pPr>
            <a:r>
              <a:rPr lang="en-US" sz="1600" b="1" dirty="0">
                <a:solidFill>
                  <a:srgbClr val="14453D"/>
                </a:solidFill>
                <a:highlight>
                  <a:srgbClr val="A9DDF3"/>
                </a:highlight>
              </a:rPr>
              <a:t>It is not only essential in personal development but also critical</a:t>
            </a:r>
            <a:pPr indent="0" marL="0">
              <a:lnSpc>
                <a:spcPct val="120000"/>
              </a:lnSpc>
              <a:buNone/>
            </a:pPr>
            <a:r>
              <a:rPr lang="en-US" sz="1600" dirty="0">
                <a:solidFill>
                  <a:srgbClr val="1E2B2A"/>
                </a:solidFill>
                <a:highlight>
                  <a:srgbClr val="FFD45C"/>
                </a:highlight>
              </a:rPr>
              <a:t> to </a:t>
            </a:r>
            <a:pPr indent="0" marL="0">
              <a:lnSpc>
                <a:spcPct val="120000"/>
              </a:lnSpc>
              <a:buNone/>
            </a:pPr>
            <a:r>
              <a:rPr lang="en-US" sz="1600" u="dotted" dirty="0">
                <a:solidFill>
                  <a:srgbClr val="1F7A64"/>
                </a:solidFill>
                <a:highlight>
                  <a:srgbClr val="FFD45C"/>
                </a:highlight>
                <a:uFill>
                  <a:solidFill>
                    <a:srgbClr val="1F7A64"/>
                  </a:solidFill>
                </a:uFill>
              </a:rPr>
              <a:t>corporate</a:t>
            </a:r>
            <a:pPr indent="0" marL="0">
              <a:lnSpc>
                <a:spcPct val="120000"/>
              </a:lnSpc>
              <a:buNone/>
            </a:pPr>
            <a:r>
              <a:rPr lang="en-US" sz="1600" dirty="0">
                <a:solidFill>
                  <a:srgbClr val="1E2B2A"/>
                </a:solidFill>
                <a:highlight>
                  <a:srgbClr val="FFD45C"/>
                </a:highlight>
              </a:rPr>
              <a:t> success.</a:t>
            </a:r>
            <a:pPr indent="0" marL="0">
              <a:lnSpc>
                <a:spcPct val="120000"/>
              </a:lnSpc>
              <a:buNone/>
            </a:pPr>
            <a:r>
              <a:rPr lang="en-US" sz="1600" dirty="0">
                <a:solidFill>
                  <a:srgbClr val="000000"/>
                </a:solidFill>
              </a:rPr>
              <a:t> </a:t>
            </a:r>
            <a:pPr indent="0" marL="0">
              <a:lnSpc>
                <a:spcPct val="120000"/>
              </a:lnSpc>
              <a:buNone/>
            </a:pPr>
            <a:r>
              <a:rPr lang="en-US" sz="1300" b="1" dirty="0">
                <a:solidFill>
                  <a:srgbClr val="1F7A64"/>
                </a:solidFill>
              </a:rPr>
              <a:t>(5) </a:t>
            </a:r>
            <a:pPr indent="0" marL="0">
              <a:lnSpc>
                <a:spcPct val="120000"/>
              </a:lnSpc>
              <a:buNone/>
            </a:pPr>
            <a:r>
              <a:rPr lang="en-US" sz="1600" dirty="0">
                <a:solidFill>
                  <a:srgbClr val="1E2B2A"/>
                </a:solidFill>
              </a:rPr>
              <a:t>( ③ ) The most </a:t>
            </a:r>
            <a:pPr indent="0" marL="0">
              <a:lnSpc>
                <a:spcPct val="120000"/>
              </a:lnSpc>
              <a:buNone/>
            </a:pPr>
            <a:r>
              <a:rPr lang="en-US" sz="1600" u="dotted" dirty="0">
                <a:solidFill>
                  <a:srgbClr val="1F7A64"/>
                </a:solidFill>
                <a:uFill>
                  <a:solidFill>
                    <a:srgbClr val="1F7A64"/>
                  </a:solidFill>
                </a:uFill>
              </a:rPr>
              <a:t>consistently</a:t>
            </a:r>
            <a:pPr indent="0" marL="0">
              <a:lnSpc>
                <a:spcPct val="120000"/>
              </a:lnSpc>
              <a:buNone/>
            </a:pPr>
            <a:r>
              <a:rPr lang="en-US" sz="1600" dirty="0">
                <a:solidFill>
                  <a:srgbClr val="1E2B2A"/>
                </a:solidFill>
              </a:rPr>
              <a:t> </a:t>
            </a:r>
            <a:pPr indent="0" marL="0">
              <a:lnSpc>
                <a:spcPct val="120000"/>
              </a:lnSpc>
              <a:buNone/>
            </a:pPr>
            <a:r>
              <a:rPr lang="en-US" sz="1600" u="dotted" dirty="0">
                <a:solidFill>
                  <a:srgbClr val="1F7A64"/>
                </a:solidFill>
                <a:uFill>
                  <a:solidFill>
                    <a:srgbClr val="1F7A64"/>
                  </a:solidFill>
                </a:uFill>
              </a:rPr>
              <a:t>innovative</a:t>
            </a:r>
            <a:pPr indent="0" marL="0">
              <a:lnSpc>
                <a:spcPct val="120000"/>
              </a:lnSpc>
              <a:buNone/>
            </a:pPr>
            <a:r>
              <a:rPr lang="en-US" sz="1600" dirty="0">
                <a:solidFill>
                  <a:srgbClr val="1E2B2A"/>
                </a:solidFill>
              </a:rPr>
              <a:t> companies in the world promote a culture which includes this </a:t>
            </a:r>
            <a:pPr indent="0" marL="0">
              <a:lnSpc>
                <a:spcPct val="120000"/>
              </a:lnSpc>
              <a:buNone/>
            </a:pPr>
            <a:r>
              <a:rPr lang="en-US" sz="1600" u="dotted" dirty="0">
                <a:solidFill>
                  <a:srgbClr val="1F7A64"/>
                </a:solidFill>
                <a:uFill>
                  <a:solidFill>
                    <a:srgbClr val="1F7A64"/>
                  </a:solidFill>
                </a:uFill>
              </a:rPr>
              <a:t>self-inquiry</a:t>
            </a:r>
            <a:pPr indent="0" marL="0">
              <a:lnSpc>
                <a:spcPct val="120000"/>
              </a:lnSpc>
              <a:buNone/>
            </a:pPr>
            <a:r>
              <a:rPr lang="en-US" sz="1600" dirty="0">
                <a:solidFill>
                  <a:srgbClr val="1E2B2A"/>
                </a:solidFill>
              </a:rPr>
              <a:t>.</a:t>
            </a:r>
            <a:pPr indent="0" marL="0">
              <a:lnSpc>
                <a:spcPct val="120000"/>
              </a:lnSpc>
              <a:buNone/>
            </a:pPr>
            <a:r>
              <a:rPr lang="en-US" sz="1600" dirty="0">
                <a:solidFill>
                  <a:srgbClr val="000000"/>
                </a:solidFill>
              </a:rPr>
              <a:t> </a:t>
            </a:r>
            <a:pPr indent="0" marL="0">
              <a:lnSpc>
                <a:spcPct val="120000"/>
              </a:lnSpc>
              <a:buNone/>
            </a:pPr>
            <a:r>
              <a:rPr lang="en-US" sz="1300" b="1" dirty="0">
                <a:solidFill>
                  <a:srgbClr val="1F7A64"/>
                </a:solidFill>
              </a:rPr>
              <a:t>(6) </a:t>
            </a:r>
            <a:pPr indent="0" marL="0">
              <a:lnSpc>
                <a:spcPct val="120000"/>
              </a:lnSpc>
              <a:buNone/>
            </a:pPr>
            <a:r>
              <a:rPr lang="en-US" sz="1600" dirty="0">
                <a:solidFill>
                  <a:srgbClr val="1E2B2A"/>
                </a:solidFill>
              </a:rPr>
              <a:t>( ④ ) For instance, Google gives its employees free time every Friday to reflect on the pros and cons of their current projects and to dream up new possibilities by thinking “what if” type questions.</a:t>
            </a:r>
            <a:pPr indent="0" marL="0">
              <a:lnSpc>
                <a:spcPct val="120000"/>
              </a:lnSpc>
              <a:buNone/>
            </a:pPr>
            <a:r>
              <a:rPr lang="en-US" sz="1600" dirty="0">
                <a:solidFill>
                  <a:srgbClr val="000000"/>
                </a:solidFill>
              </a:rPr>
              <a:t> </a:t>
            </a:r>
            <a:pPr indent="0" marL="0">
              <a:lnSpc>
                <a:spcPct val="120000"/>
              </a:lnSpc>
              <a:buNone/>
            </a:pPr>
            <a:r>
              <a:rPr lang="en-US" sz="1300" b="1" dirty="0">
                <a:solidFill>
                  <a:srgbClr val="1F7A64"/>
                </a:solidFill>
              </a:rPr>
              <a:t>(7) </a:t>
            </a:r>
            <a:pPr indent="0" marL="0">
              <a:lnSpc>
                <a:spcPct val="120000"/>
              </a:lnSpc>
              <a:buNone/>
            </a:pPr>
            <a:r>
              <a:rPr lang="en-US" sz="1600" dirty="0">
                <a:solidFill>
                  <a:srgbClr val="1E2B2A"/>
                </a:solidFill>
              </a:rPr>
              <a:t>( ⑤ ) </a:t>
            </a:r>
            <a:pPr indent="0" marL="0">
              <a:lnSpc>
                <a:spcPct val="120000"/>
              </a:lnSpc>
              <a:buNone/>
            </a:pPr>
            <a:r>
              <a:rPr lang="en-US" sz="1600" b="1" dirty="0">
                <a:solidFill>
                  <a:srgbClr val="14453D"/>
                </a:solidFill>
                <a:highlight>
                  <a:srgbClr val="A9DDF3"/>
                </a:highlight>
              </a:rPr>
              <a:t>It is this self-awareness that allows</a:t>
            </a:r>
            <a:pPr indent="0" marL="0">
              <a:lnSpc>
                <a:spcPct val="120000"/>
              </a:lnSpc>
              <a:buNone/>
            </a:pPr>
            <a:r>
              <a:rPr lang="en-US" sz="1600" dirty="0">
                <a:solidFill>
                  <a:srgbClr val="1E2B2A"/>
                </a:solidFill>
              </a:rPr>
              <a:t> the company to </a:t>
            </a:r>
            <a:pPr indent="0" marL="0">
              <a:lnSpc>
                <a:spcPct val="120000"/>
              </a:lnSpc>
              <a:buNone/>
            </a:pPr>
            <a:r>
              <a:rPr lang="en-US" sz="1600" u="dotted" dirty="0">
                <a:solidFill>
                  <a:srgbClr val="1F7A64"/>
                </a:solidFill>
                <a:uFill>
                  <a:solidFill>
                    <a:srgbClr val="1F7A64"/>
                  </a:solidFill>
                </a:uFill>
              </a:rPr>
              <a:t>excel</a:t>
            </a:r>
            <a:pPr indent="0" marL="0">
              <a:lnSpc>
                <a:spcPct val="120000"/>
              </a:lnSpc>
              <a:buNone/>
            </a:pPr>
            <a:r>
              <a:rPr lang="en-US" sz="1600" dirty="0">
                <a:solidFill>
                  <a:srgbClr val="1E2B2A"/>
                </a:solidFill>
              </a:rPr>
              <a:t> at developing innovative and outstanding products.</a:t>
            </a:r>
            <a:endParaRPr lang="en-US" sz="1300" dirty="0"/>
          </a:p>
        </p:txBody>
      </p:sp>
      <p:sp>
        <p:nvSpPr>
          <p:cNvPr id="6" name="Shape 4"/>
          <p:cNvSpPr/>
          <p:nvPr/>
        </p:nvSpPr>
        <p:spPr>
          <a:xfrm>
            <a:off x="548640" y="4498848"/>
            <a:ext cx="11064240" cy="713232"/>
          </a:xfrm>
          <a:prstGeom prst="roundRect">
            <a:avLst>
              <a:gd name="adj" fmla="val 12821"/>
            </a:avLst>
          </a:prstGeom>
          <a:solidFill>
            <a:srgbClr val="FFF6D6"/>
          </a:solidFill>
          <a:ln w="15875">
            <a:solidFill>
              <a:srgbClr val="FFD45C"/>
            </a:solidFill>
            <a:prstDash val="solid"/>
          </a:ln>
        </p:spPr>
      </p:sp>
      <p:sp>
        <p:nvSpPr>
          <p:cNvPr id="7" name="Text 5"/>
          <p:cNvSpPr txBox="1"/>
          <p:nvPr/>
        </p:nvSpPr>
        <p:spPr>
          <a:xfrm>
            <a:off x="731520" y="4572000"/>
            <a:ext cx="1051560" cy="274320"/>
          </a:xfrm>
          <a:prstGeom prst="rect">
            <a:avLst/>
          </a:prstGeom>
          <a:solidFill>
            <a:srgbClr val="EF5B3F"/>
          </a:solidFill>
          <a:ln/>
        </p:spPr>
        <p:txBody>
          <a:bodyPr wrap="square" lIns="0" tIns="0" rIns="0" bIns="0" rtlCol="0" anchor="ctr"/>
          <a:lstStyle/>
          <a:p>
            <a:pPr algn="ctr" indent="0" marL="0">
              <a:buNone/>
            </a:pPr>
            <a:r>
              <a:rPr lang="en-US" sz="1200" b="1" dirty="0">
                <a:solidFill>
                  <a:srgbClr val="FFFFFF"/>
                </a:solidFill>
              </a:rPr>
              <a:t> 근거 이유 </a:t>
            </a:r>
            <a:endParaRPr lang="en-US" sz="1200" dirty="0"/>
          </a:p>
        </p:txBody>
      </p:sp>
      <p:sp>
        <p:nvSpPr>
          <p:cNvPr id="8" name="Text 6"/>
          <p:cNvSpPr txBox="1"/>
          <p:nvPr/>
        </p:nvSpPr>
        <p:spPr>
          <a:xfrm>
            <a:off x="1920240" y="4544568"/>
            <a:ext cx="9555480" cy="621792"/>
          </a:xfrm>
          <a:prstGeom prst="rect">
            <a:avLst/>
          </a:prstGeom>
          <a:noFill/>
          <a:ln/>
        </p:spPr>
        <p:txBody>
          <a:bodyPr wrap="square" lIns="0" tIns="0" rIns="0" bIns="0" rtlCol="0" anchor="ctr">
            <a:normAutofit/>
          </a:bodyPr>
          <a:lstStyle/>
          <a:p>
            <a:pPr indent="0" marL="0">
              <a:lnSpc>
                <a:spcPct val="105000"/>
              </a:lnSpc>
              <a:buNone/>
            </a:pPr>
            <a:r>
              <a:rPr lang="en-US" sz="1400" b="1" dirty="0">
                <a:solidFill>
                  <a:srgbClr val="EF5B3F"/>
                </a:solidFill>
              </a:rPr>
              <a:t>(3) </a:t>
            </a:r>
            <a:pPr indent="0" marL="0">
              <a:lnSpc>
                <a:spcPct val="105000"/>
              </a:lnSpc>
              <a:buNone/>
            </a:pPr>
            <a:r>
              <a:rPr lang="en-US" sz="1400" dirty="0">
                <a:solidFill>
                  <a:srgbClr val="14453D"/>
                </a:solidFill>
              </a:rPr>
              <a:t>맹점을 찾는 질문 = 성찰의 구체적 내용 → 주어진 문장 바로 앞</a:t>
            </a:r>
            <a:endParaRPr lang="en-US" sz="1400" dirty="0"/>
          </a:p>
          <a:p>
            <a:pPr indent="0" marL="0">
              <a:lnSpc>
                <a:spcPct val="105000"/>
              </a:lnSpc>
              <a:buNone/>
            </a:pPr>
            <a:r>
              <a:rPr lang="en-US" sz="1400" b="1" dirty="0">
                <a:solidFill>
                  <a:srgbClr val="EF5B3F"/>
                </a:solidFill>
              </a:rPr>
              <a:t>(4) </a:t>
            </a:r>
            <a:pPr indent="0" marL="0">
              <a:lnSpc>
                <a:spcPct val="105000"/>
              </a:lnSpc>
              <a:buNone/>
            </a:pPr>
            <a:r>
              <a:rPr lang="en-US" sz="1400" dirty="0">
                <a:solidFill>
                  <a:srgbClr val="14453D"/>
                </a:solidFill>
              </a:rPr>
              <a:t>It = this reflection process → 주어진 문장 바로 뒤 (②)</a:t>
            </a:r>
            <a:endParaRPr lang="en-US" sz="1400" dirty="0"/>
          </a:p>
        </p:txBody>
      </p:sp>
      <p:sp>
        <p:nvSpPr>
          <p:cNvPr id="9" name="Shape 7"/>
          <p:cNvSpPr/>
          <p:nvPr/>
        </p:nvSpPr>
        <p:spPr>
          <a:xfrm>
            <a:off x="548640" y="5303520"/>
            <a:ext cx="11064240" cy="731520"/>
          </a:xfrm>
          <a:prstGeom prst="roundRect">
            <a:avLst>
              <a:gd name="adj" fmla="val 12500"/>
            </a:avLst>
          </a:prstGeom>
          <a:solidFill>
            <a:srgbClr val="EAF5EF"/>
          </a:solidFill>
          <a:ln w="12700">
            <a:solidFill>
              <a:srgbClr val="CFE6D9"/>
            </a:solidFill>
            <a:prstDash val="solid"/>
          </a:ln>
        </p:spPr>
      </p:sp>
      <p:sp>
        <p:nvSpPr>
          <p:cNvPr id="10" name="Text 8"/>
          <p:cNvSpPr txBox="1"/>
          <p:nvPr/>
        </p:nvSpPr>
        <p:spPr>
          <a:xfrm>
            <a:off x="731520" y="5349240"/>
            <a:ext cx="10698480" cy="640080"/>
          </a:xfrm>
          <a:prstGeom prst="rect">
            <a:avLst/>
          </a:prstGeom>
          <a:noFill/>
          <a:ln/>
        </p:spPr>
        <p:txBody>
          <a:bodyPr wrap="square" lIns="0" tIns="0" rIns="0" bIns="0" rtlCol="0" anchor="ctr">
            <a:normAutofit/>
          </a:bodyPr>
          <a:lstStyle/>
          <a:p>
            <a:pPr indent="0" marL="0">
              <a:lnSpc>
                <a:spcPct val="110000"/>
              </a:lnSpc>
              <a:buNone/>
            </a:pPr>
            <a:r>
              <a:rPr lang="en-US" sz="1400" b="1" dirty="0">
                <a:solidFill>
                  <a:srgbClr val="FFFFFF"/>
                </a:solidFill>
                <a:highlight>
                  <a:srgbClr val="1F7A64"/>
                </a:highlight>
              </a:rPr>
              <a:t> 어휘 </a:t>
            </a:r>
            <a:pPr indent="0" marL="0">
              <a:lnSpc>
                <a:spcPct val="110000"/>
              </a:lnSpc>
              <a:buNone/>
            </a:pPr>
            <a:r>
              <a:rPr lang="en-US" sz="1400" dirty="0">
                <a:solidFill>
                  <a:srgbClr val="000000"/>
                </a:solidFill>
              </a:rPr>
              <a:t>   </a:t>
            </a:r>
            <a:pPr indent="0" marL="0">
              <a:lnSpc>
                <a:spcPct val="110000"/>
              </a:lnSpc>
              <a:buNone/>
            </a:pPr>
            <a:r>
              <a:rPr lang="en-US" sz="1400" b="1" dirty="0">
                <a:solidFill>
                  <a:srgbClr val="1F7A64"/>
                </a:solidFill>
              </a:rPr>
              <a:t>internal </a:t>
            </a:r>
            <a:pPr indent="0" marL="0">
              <a:lnSpc>
                <a:spcPct val="110000"/>
              </a:lnSpc>
              <a:buNone/>
            </a:pPr>
            <a:r>
              <a:rPr lang="en-US" sz="1400" dirty="0">
                <a:solidFill>
                  <a:srgbClr val="1E2B2A"/>
                </a:solidFill>
              </a:rPr>
              <a:t>내적인   ·   </a:t>
            </a:r>
            <a:pPr indent="0" marL="0">
              <a:lnSpc>
                <a:spcPct val="110000"/>
              </a:lnSpc>
              <a:buNone/>
            </a:pPr>
            <a:r>
              <a:rPr lang="en-US" sz="1400" b="1" dirty="0">
                <a:solidFill>
                  <a:srgbClr val="1F7A64"/>
                </a:solidFill>
              </a:rPr>
              <a:t>identify </a:t>
            </a:r>
            <a:pPr indent="0" marL="0">
              <a:lnSpc>
                <a:spcPct val="110000"/>
              </a:lnSpc>
              <a:buNone/>
            </a:pPr>
            <a:r>
              <a:rPr lang="en-US" sz="1400" dirty="0">
                <a:solidFill>
                  <a:srgbClr val="1E2B2A"/>
                </a:solidFill>
              </a:rPr>
              <a:t>찾아내다   ·   </a:t>
            </a:r>
            <a:pPr indent="0" marL="0">
              <a:lnSpc>
                <a:spcPct val="110000"/>
              </a:lnSpc>
              <a:buNone/>
            </a:pPr>
            <a:r>
              <a:rPr lang="en-US" sz="1400" b="1" dirty="0">
                <a:solidFill>
                  <a:srgbClr val="1F7A64"/>
                </a:solidFill>
              </a:rPr>
              <a:t>corporate </a:t>
            </a:r>
            <a:pPr indent="0" marL="0">
              <a:lnSpc>
                <a:spcPct val="110000"/>
              </a:lnSpc>
              <a:buNone/>
            </a:pPr>
            <a:r>
              <a:rPr lang="en-US" sz="1400" dirty="0">
                <a:solidFill>
                  <a:srgbClr val="1E2B2A"/>
                </a:solidFill>
              </a:rPr>
              <a:t>기업의   ·   </a:t>
            </a:r>
            <a:pPr indent="0" marL="0">
              <a:lnSpc>
                <a:spcPct val="110000"/>
              </a:lnSpc>
              <a:buNone/>
            </a:pPr>
            <a:r>
              <a:rPr lang="en-US" sz="1400" b="1" dirty="0">
                <a:solidFill>
                  <a:srgbClr val="1F7A64"/>
                </a:solidFill>
              </a:rPr>
              <a:t>consistently </a:t>
            </a:r>
            <a:pPr indent="0" marL="0">
              <a:lnSpc>
                <a:spcPct val="110000"/>
              </a:lnSpc>
              <a:buNone/>
            </a:pPr>
            <a:r>
              <a:rPr lang="en-US" sz="1400" dirty="0">
                <a:solidFill>
                  <a:srgbClr val="1E2B2A"/>
                </a:solidFill>
              </a:rPr>
              <a:t>꾸준히   ·   </a:t>
            </a:r>
            <a:pPr indent="0" marL="0">
              <a:lnSpc>
                <a:spcPct val="110000"/>
              </a:lnSpc>
              <a:buNone/>
            </a:pPr>
            <a:r>
              <a:rPr lang="en-US" sz="1400" b="1" dirty="0">
                <a:solidFill>
                  <a:srgbClr val="1F7A64"/>
                </a:solidFill>
              </a:rPr>
              <a:t>innovative </a:t>
            </a:r>
            <a:pPr indent="0" marL="0">
              <a:lnSpc>
                <a:spcPct val="110000"/>
              </a:lnSpc>
              <a:buNone/>
            </a:pPr>
            <a:r>
              <a:rPr lang="en-US" sz="1400" dirty="0">
                <a:solidFill>
                  <a:srgbClr val="1E2B2A"/>
                </a:solidFill>
              </a:rPr>
              <a:t>혁신적인   ·   </a:t>
            </a:r>
            <a:pPr indent="0" marL="0">
              <a:lnSpc>
                <a:spcPct val="110000"/>
              </a:lnSpc>
              <a:buNone/>
            </a:pPr>
            <a:r>
              <a:rPr lang="en-US" sz="1400" b="1" dirty="0">
                <a:solidFill>
                  <a:srgbClr val="1F7A64"/>
                </a:solidFill>
              </a:rPr>
              <a:t>self-inquiry </a:t>
            </a:r>
            <a:pPr indent="0" marL="0">
              <a:lnSpc>
                <a:spcPct val="110000"/>
              </a:lnSpc>
              <a:buNone/>
            </a:pPr>
            <a:r>
              <a:rPr lang="en-US" sz="1400" dirty="0">
                <a:solidFill>
                  <a:srgbClr val="1E2B2A"/>
                </a:solidFill>
              </a:rPr>
              <a:t>자기 탐구   ·   </a:t>
            </a:r>
            <a:pPr indent="0" marL="0">
              <a:lnSpc>
                <a:spcPct val="110000"/>
              </a:lnSpc>
              <a:buNone/>
            </a:pPr>
            <a:r>
              <a:rPr lang="en-US" sz="1400" b="1" dirty="0">
                <a:solidFill>
                  <a:srgbClr val="1F7A64"/>
                </a:solidFill>
              </a:rPr>
              <a:t>excel </a:t>
            </a:r>
            <a:pPr indent="0" marL="0">
              <a:lnSpc>
                <a:spcPct val="110000"/>
              </a:lnSpc>
              <a:buNone/>
            </a:pPr>
            <a:r>
              <a:rPr lang="en-US" sz="1400" dirty="0">
                <a:solidFill>
                  <a:srgbClr val="1E2B2A"/>
                </a:solidFill>
              </a:rPr>
              <a:t>뛰어나다</a:t>
            </a:r>
            <a:endParaRPr lang="en-US" sz="1400" dirty="0"/>
          </a:p>
        </p:txBody>
      </p:sp>
      <p:sp>
        <p:nvSpPr>
          <p:cNvPr id="11" name="Text 9"/>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1100" dirty="0">
                <a:solidFill>
                  <a:srgbClr val="FFD45C"/>
                </a:solidFill>
              </a:rPr>
              <a:t>■ </a:t>
            </a:r>
            <a:pPr indent="0" marL="0">
              <a:buNone/>
            </a:pPr>
            <a:r>
              <a:rPr lang="en-US" sz="1100" dirty="0">
                <a:solidFill>
                  <a:srgbClr val="6E7F7C"/>
                </a:solidFill>
              </a:rPr>
              <a:t>형광 = 정답 근거 (이유는 노란 박스)     </a:t>
            </a:r>
            <a:pPr indent="0" marL="0">
              <a:buNone/>
            </a:pPr>
            <a:r>
              <a:rPr lang="en-US" sz="1100" dirty="0">
                <a:solidFill>
                  <a:srgbClr val="A9DDF3"/>
                </a:solidFill>
              </a:rPr>
              <a:t>■ </a:t>
            </a:r>
            <a:pPr indent="0" marL="0">
              <a:buNone/>
            </a:pPr>
            <a:r>
              <a:rPr lang="en-US" sz="1100" dirty="0">
                <a:solidFill>
                  <a:srgbClr val="6E7F7C"/>
                </a:solidFill>
              </a:rPr>
              <a:t>파란 형광 = 문법·내신 포인트     </a:t>
            </a:r>
            <a:pPr indent="0" marL="0">
              <a:buNone/>
            </a:pPr>
            <a:r>
              <a:rPr lang="en-US" sz="1100" b="1" dirty="0">
                <a:solidFill>
                  <a:srgbClr val="1F7A64"/>
                </a:solidFill>
              </a:rPr>
              <a:t>초록 점선 단어 </a:t>
            </a:r>
            <a:pPr indent="0" marL="0">
              <a:buNone/>
            </a:pPr>
            <a:r>
              <a:rPr lang="en-US" sz="1100" dirty="0">
                <a:solidFill>
                  <a:srgbClr val="6E7F7C"/>
                </a:solidFill>
              </a:rPr>
              <a:t>= 하단 어휘     </a:t>
            </a:r>
            <a:pPr indent="0" marL="0">
              <a:buNone/>
            </a:pPr>
            <a:r>
              <a:rPr lang="en-US" sz="1100" b="1" dirty="0">
                <a:solidFill>
                  <a:srgbClr val="1F7A64"/>
                </a:solidFill>
              </a:rPr>
              <a:t>(1) (2) (3) </a:t>
            </a:r>
            <a:pPr indent="0" marL="0">
              <a:buNone/>
            </a:pPr>
            <a:r>
              <a:rPr lang="en-US" sz="1100" dirty="0">
                <a:solidFill>
                  <a:srgbClr val="6E7F7C"/>
                </a:solidFill>
              </a:rPr>
              <a:t>= 문장 번호</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103  </a:t>
            </a:r>
            <a:pPr algn="l" indent="0" marL="0">
              <a:buNone/>
            </a:pPr>
            <a:r>
              <a:rPr lang="en-US" sz="3000" b="1" dirty="0">
                <a:solidFill>
                  <a:srgbClr val="14453D"/>
                </a:solidFill>
              </a:rPr>
              <a:t>자기 성찰 — 문장 삽입 변형</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삽입 변형 · 흐름 잡기</a:t>
            </a:r>
            <a:endParaRPr lang="en-US" sz="1200" dirty="0"/>
          </a:p>
        </p:txBody>
      </p:sp>
      <p:sp>
        <p:nvSpPr>
          <p:cNvPr id="4" name="Shape 2"/>
          <p:cNvSpPr/>
          <p:nvPr/>
        </p:nvSpPr>
        <p:spPr>
          <a:xfrm>
            <a:off x="548640" y="1325880"/>
            <a:ext cx="5212080" cy="2423160"/>
          </a:xfrm>
          <a:prstGeom prst="roundRect">
            <a:avLst>
              <a:gd name="adj" fmla="val 4528"/>
            </a:avLst>
          </a:prstGeom>
          <a:solidFill>
            <a:srgbClr val="E6F2ED"/>
          </a:solidFill>
          <a:ln w="12700">
            <a:solidFill>
              <a:srgbClr val="E6F2ED"/>
            </a:solidFill>
            <a:prstDash val="solid"/>
          </a:ln>
        </p:spPr>
      </p:sp>
      <p:sp>
        <p:nvSpPr>
          <p:cNvPr id="5" name="Text 3"/>
          <p:cNvSpPr txBox="1"/>
          <p:nvPr/>
        </p:nvSpPr>
        <p:spPr>
          <a:xfrm>
            <a:off x="822960" y="1463040"/>
            <a:ext cx="4663440" cy="320040"/>
          </a:xfrm>
          <a:prstGeom prst="rect">
            <a:avLst/>
          </a:prstGeom>
          <a:noFill/>
          <a:ln/>
        </p:spPr>
        <p:txBody>
          <a:bodyPr wrap="square" lIns="0" tIns="0" rIns="0" bIns="0" rtlCol="0" anchor="ctr"/>
          <a:lstStyle/>
          <a:p>
            <a:pPr indent="0" marL="0">
              <a:buNone/>
            </a:pPr>
            <a:r>
              <a:rPr lang="en-US" sz="1300" b="1" dirty="0">
                <a:solidFill>
                  <a:srgbClr val="1F7A64"/>
                </a:solidFill>
              </a:rPr>
              <a:t>STEP 1 · 주어진 문장</a:t>
            </a:r>
            <a:endParaRPr lang="en-US" sz="1300" dirty="0"/>
          </a:p>
        </p:txBody>
      </p:sp>
      <p:sp>
        <p:nvSpPr>
          <p:cNvPr id="6" name="Text 4"/>
          <p:cNvSpPr txBox="1"/>
          <p:nvPr/>
        </p:nvSpPr>
        <p:spPr>
          <a:xfrm>
            <a:off x="822960" y="1828800"/>
            <a:ext cx="4663440" cy="777240"/>
          </a:xfrm>
          <a:prstGeom prst="rect">
            <a:avLst/>
          </a:prstGeom>
          <a:noFill/>
          <a:ln/>
        </p:spPr>
        <p:txBody>
          <a:bodyPr wrap="square" lIns="0" tIns="0" rIns="0" bIns="0" rtlCol="0" anchor="t">
            <a:normAutofit/>
          </a:bodyPr>
          <a:lstStyle/>
          <a:p>
            <a:pPr indent="0" marL="0">
              <a:buNone/>
            </a:pPr>
            <a:r>
              <a:rPr lang="en-US" sz="1600" b="1" i="1" dirty="0">
                <a:solidFill>
                  <a:srgbClr val="14453D"/>
                </a:solidFill>
              </a:rPr>
              <a:t>This reflection process enables you to clearly see potential problems and ways to fix them.</a:t>
            </a:r>
            <a:endParaRPr lang="en-US" sz="1600" dirty="0"/>
          </a:p>
        </p:txBody>
      </p:sp>
      <p:sp>
        <p:nvSpPr>
          <p:cNvPr id="7" name="Text 5"/>
          <p:cNvSpPr txBox="1"/>
          <p:nvPr/>
        </p:nvSpPr>
        <p:spPr>
          <a:xfrm>
            <a:off x="822960" y="2606040"/>
            <a:ext cx="4663440" cy="502920"/>
          </a:xfrm>
          <a:prstGeom prst="rect">
            <a:avLst/>
          </a:prstGeom>
          <a:noFill/>
          <a:ln/>
        </p:spPr>
        <p:txBody>
          <a:bodyPr wrap="square" lIns="0" tIns="0" rIns="0" bIns="0" rtlCol="0" anchor="t">
            <a:normAutofit/>
          </a:bodyPr>
          <a:lstStyle/>
          <a:p>
            <a:pPr indent="0" marL="0">
              <a:buNone/>
            </a:pPr>
            <a:r>
              <a:rPr lang="en-US" sz="1400" dirty="0">
                <a:solidFill>
                  <a:srgbClr val="1E2B2A"/>
                </a:solidFill>
              </a:rPr>
              <a:t>이러한 성찰 과정은 잠재적인 문제들과 그것을 고칠 방법을 분명하게 보게 해 준다.</a:t>
            </a:r>
            <a:endParaRPr lang="en-US" sz="1400" dirty="0"/>
          </a:p>
        </p:txBody>
      </p:sp>
      <p:sp>
        <p:nvSpPr>
          <p:cNvPr id="8" name="Text 6"/>
          <p:cNvSpPr txBox="1"/>
          <p:nvPr/>
        </p:nvSpPr>
        <p:spPr>
          <a:xfrm>
            <a:off x="822960" y="3200400"/>
            <a:ext cx="4663440" cy="411480"/>
          </a:xfrm>
          <a:prstGeom prst="rect">
            <a:avLst/>
          </a:prstGeom>
          <a:noFill/>
          <a:ln/>
        </p:spPr>
        <p:txBody>
          <a:bodyPr wrap="square" lIns="0" tIns="0" rIns="0" bIns="0" rtlCol="0" anchor="ctr"/>
          <a:lstStyle/>
          <a:p>
            <a:pPr indent="0" marL="0">
              <a:buNone/>
            </a:pPr>
            <a:r>
              <a:rPr lang="en-US" sz="1500" b="1" dirty="0">
                <a:solidFill>
                  <a:srgbClr val="EF5B3F"/>
                </a:solidFill>
              </a:rPr>
              <a:t>찾을 것  </a:t>
            </a:r>
            <a:pPr indent="0" marL="0">
              <a:buNone/>
            </a:pPr>
            <a:r>
              <a:rPr lang="en-US" sz="1500" b="1" dirty="0">
                <a:solidFill>
                  <a:srgbClr val="14453D"/>
                </a:solidFill>
              </a:rPr>
              <a:t>This reflection process가 가리킬 '성찰 과정'은 어디서 처음 나오나?</a:t>
            </a:r>
            <a:endParaRPr lang="en-US" sz="1500" dirty="0"/>
          </a:p>
        </p:txBody>
      </p:sp>
      <p:sp>
        <p:nvSpPr>
          <p:cNvPr id="9" name="Shape 7"/>
          <p:cNvSpPr/>
          <p:nvPr/>
        </p:nvSpPr>
        <p:spPr>
          <a:xfrm>
            <a:off x="548640" y="3931920"/>
            <a:ext cx="5212080" cy="2331720"/>
          </a:xfrm>
          <a:prstGeom prst="roundRect">
            <a:avLst>
              <a:gd name="adj" fmla="val 4706"/>
            </a:avLst>
          </a:prstGeom>
          <a:solidFill>
            <a:srgbClr val="FFFFFF"/>
          </a:solidFill>
          <a:ln w="19050">
            <a:solidFill>
              <a:srgbClr val="EF5B3F"/>
            </a:solidFill>
            <a:prstDash val="solid"/>
          </a:ln>
        </p:spPr>
      </p:sp>
      <p:pic>
        <p:nvPicPr>
          <p:cNvPr id="10" name="Image 0" descr="preencoded.png">    </p:cNvPr>
          <p:cNvPicPr>
            <a:picLocks noChangeAspect="1"/>
          </p:cNvPicPr>
          <p:nvPr/>
        </p:nvPicPr>
        <p:blipFill>
          <a:blip r:embed="rId1"/>
          <a:stretch>
            <a:fillRect/>
          </a:stretch>
        </p:blipFill>
        <p:spPr>
          <a:xfrm>
            <a:off x="822960" y="4096512"/>
            <a:ext cx="274320" cy="274320"/>
          </a:xfrm>
          <a:prstGeom prst="rect">
            <a:avLst/>
          </a:prstGeom>
        </p:spPr>
      </p:pic>
      <p:sp>
        <p:nvSpPr>
          <p:cNvPr id="11" name="Text 8"/>
          <p:cNvSpPr txBox="1"/>
          <p:nvPr/>
        </p:nvSpPr>
        <p:spPr>
          <a:xfrm>
            <a:off x="1188720" y="4069080"/>
            <a:ext cx="4114800" cy="320040"/>
          </a:xfrm>
          <a:prstGeom prst="rect">
            <a:avLst/>
          </a:prstGeom>
          <a:noFill/>
          <a:ln/>
        </p:spPr>
        <p:txBody>
          <a:bodyPr wrap="square" lIns="0" tIns="0" rIns="0" bIns="0" rtlCol="0" anchor="ctr"/>
          <a:lstStyle/>
          <a:p>
            <a:pPr indent="0" marL="0">
              <a:buNone/>
            </a:pPr>
            <a:r>
              <a:rPr lang="en-US" sz="1300" b="1" dirty="0">
                <a:solidFill>
                  <a:srgbClr val="EF5B3F"/>
                </a:solidFill>
              </a:rPr>
              <a:t>STEP 2 · 결정적 단서</a:t>
            </a:r>
            <a:endParaRPr lang="en-US" sz="1300" dirty="0"/>
          </a:p>
        </p:txBody>
      </p:sp>
      <p:sp>
        <p:nvSpPr>
          <p:cNvPr id="12" name="Text 9"/>
          <p:cNvSpPr txBox="1"/>
          <p:nvPr/>
        </p:nvSpPr>
        <p:spPr>
          <a:xfrm>
            <a:off x="822960" y="4480560"/>
            <a:ext cx="4663440" cy="1005840"/>
          </a:xfrm>
          <a:prstGeom prst="rect">
            <a:avLst/>
          </a:prstGeom>
          <a:noFill/>
          <a:ln/>
        </p:spPr>
        <p:txBody>
          <a:bodyPr wrap="square" lIns="0" tIns="0" rIns="0" bIns="0" rtlCol="0" anchor="t"/>
          <a:lstStyle/>
          <a:p>
            <a:pPr indent="0" marL="0">
              <a:buNone/>
            </a:pPr>
            <a:r>
              <a:rPr lang="en-US" sz="1400" i="1" dirty="0">
                <a:solidFill>
                  <a:srgbClr val="14453D"/>
                </a:solidFill>
              </a:rPr>
              <a:t>During the process, you may ask yourself a series of questions to identify blind spots…</a:t>
            </a:r>
            <a:endParaRPr lang="en-US" sz="1400" dirty="0"/>
          </a:p>
        </p:txBody>
      </p:sp>
      <p:sp>
        <p:nvSpPr>
          <p:cNvPr id="13" name="Text 10"/>
          <p:cNvSpPr txBox="1"/>
          <p:nvPr/>
        </p:nvSpPr>
        <p:spPr>
          <a:xfrm>
            <a:off x="822960" y="5486400"/>
            <a:ext cx="4663440" cy="685800"/>
          </a:xfrm>
          <a:prstGeom prst="rect">
            <a:avLst/>
          </a:prstGeom>
          <a:noFill/>
          <a:ln/>
        </p:spPr>
        <p:txBody>
          <a:bodyPr wrap="square" lIns="0" tIns="0" rIns="0" bIns="0" rtlCol="0" anchor="t"/>
          <a:lstStyle/>
          <a:p>
            <a:pPr indent="0" marL="0">
              <a:buNone/>
            </a:pPr>
            <a:r>
              <a:rPr lang="en-US" sz="1300" dirty="0">
                <a:solidFill>
                  <a:srgbClr val="6E7F7C"/>
                </a:solidFill>
              </a:rPr>
              <a:t>맹점(blind spots)을 찾는 질문 → 주어진 문장의 potential problems로 연결</a:t>
            </a:r>
            <a:endParaRPr lang="en-US" sz="1300" dirty="0"/>
          </a:p>
        </p:txBody>
      </p:sp>
      <p:sp>
        <p:nvSpPr>
          <p:cNvPr id="14" name="Text 11"/>
          <p:cNvSpPr txBox="1"/>
          <p:nvPr/>
        </p:nvSpPr>
        <p:spPr>
          <a:xfrm>
            <a:off x="6217920" y="1325880"/>
            <a:ext cx="2743200" cy="320040"/>
          </a:xfrm>
          <a:prstGeom prst="rect">
            <a:avLst/>
          </a:prstGeom>
          <a:noFill/>
          <a:ln/>
        </p:spPr>
        <p:txBody>
          <a:bodyPr wrap="square" lIns="0" tIns="0" rIns="0" bIns="0" rtlCol="0" anchor="ctr"/>
          <a:lstStyle/>
          <a:p>
            <a:pPr indent="0" marL="0">
              <a:buNone/>
            </a:pPr>
            <a:r>
              <a:rPr lang="en-US" sz="1300" b="1" dirty="0">
                <a:solidFill>
                  <a:srgbClr val="1F7A64"/>
                </a:solidFill>
              </a:rPr>
              <a:t>글의 흐름</a:t>
            </a:r>
            <a:endParaRPr lang="en-US" sz="1300" dirty="0"/>
          </a:p>
        </p:txBody>
      </p:sp>
      <p:sp>
        <p:nvSpPr>
          <p:cNvPr id="15" name="Shape 12"/>
          <p:cNvSpPr/>
          <p:nvPr/>
        </p:nvSpPr>
        <p:spPr>
          <a:xfrm>
            <a:off x="6537960" y="2057400"/>
            <a:ext cx="0" cy="3511296"/>
          </a:xfrm>
          <a:prstGeom prst="line">
            <a:avLst/>
          </a:prstGeom>
          <a:noFill/>
          <a:ln w="38100">
            <a:solidFill>
              <a:srgbClr val="E6F2ED"/>
            </a:solidFill>
            <a:prstDash val="solid"/>
          </a:ln>
        </p:spPr>
      </p:sp>
      <p:sp>
        <p:nvSpPr>
          <p:cNvPr id="16" name="Text 13"/>
          <p:cNvSpPr/>
          <p:nvPr/>
        </p:nvSpPr>
        <p:spPr>
          <a:xfrm>
            <a:off x="6263640" y="1783080"/>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7" name="Text 14"/>
          <p:cNvSpPr txBox="1"/>
          <p:nvPr/>
        </p:nvSpPr>
        <p:spPr>
          <a:xfrm>
            <a:off x="7040880" y="1783080"/>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주어진 문장</a:t>
            </a:r>
            <a:endParaRPr lang="en-US" sz="1400" dirty="0"/>
          </a:p>
        </p:txBody>
      </p:sp>
      <p:sp>
        <p:nvSpPr>
          <p:cNvPr id="18" name="Text 15"/>
          <p:cNvSpPr txBox="1"/>
          <p:nvPr/>
        </p:nvSpPr>
        <p:spPr>
          <a:xfrm>
            <a:off x="7040880" y="2121408"/>
            <a:ext cx="4572000" cy="667512"/>
          </a:xfrm>
          <a:prstGeom prst="rect">
            <a:avLst/>
          </a:prstGeom>
          <a:noFill/>
          <a:ln/>
        </p:spPr>
        <p:txBody>
          <a:bodyPr wrap="square" lIns="0" tIns="0" rIns="0" bIns="0" rtlCol="0" anchor="t"/>
          <a:lstStyle/>
          <a:p>
            <a:pPr indent="0" marL="0">
              <a:buNone/>
            </a:pPr>
            <a:r>
              <a:rPr lang="en-US" sz="1400" dirty="0">
                <a:solidFill>
                  <a:srgbClr val="1E2B2A"/>
                </a:solidFill>
              </a:rPr>
              <a:t>This reflection process → 앞에 '성찰 과정'의 구체적 설명이 와야 함</a:t>
            </a:r>
            <a:endParaRPr lang="en-US" sz="1400" dirty="0"/>
          </a:p>
        </p:txBody>
      </p:sp>
      <p:sp>
        <p:nvSpPr>
          <p:cNvPr id="19" name="Text 16"/>
          <p:cNvSpPr/>
          <p:nvPr/>
        </p:nvSpPr>
        <p:spPr>
          <a:xfrm>
            <a:off x="6263640" y="2953512"/>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20" name="Text 17"/>
          <p:cNvSpPr txBox="1"/>
          <p:nvPr/>
        </p:nvSpPr>
        <p:spPr>
          <a:xfrm>
            <a:off x="7040880" y="2953512"/>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①자리 뒤</a:t>
            </a:r>
            <a:endParaRPr lang="en-US" sz="1400" dirty="0"/>
          </a:p>
        </p:txBody>
      </p:sp>
      <p:sp>
        <p:nvSpPr>
          <p:cNvPr id="21" name="Text 18"/>
          <p:cNvSpPr txBox="1"/>
          <p:nvPr/>
        </p:nvSpPr>
        <p:spPr>
          <a:xfrm>
            <a:off x="7040880" y="3291840"/>
            <a:ext cx="4572000" cy="667512"/>
          </a:xfrm>
          <a:prstGeom prst="rect">
            <a:avLst/>
          </a:prstGeom>
          <a:noFill/>
          <a:ln/>
        </p:spPr>
        <p:txBody>
          <a:bodyPr wrap="square" lIns="0" tIns="0" rIns="0" bIns="0" rtlCol="0" anchor="t"/>
          <a:lstStyle/>
          <a:p>
            <a:pPr indent="0" marL="0">
              <a:buNone/>
            </a:pPr>
            <a:r>
              <a:rPr lang="en-US" sz="1400" dirty="0">
                <a:solidFill>
                  <a:srgbClr val="1E2B2A"/>
                </a:solidFill>
              </a:rPr>
              <a:t>맹점을 찾기 위해 스스로 질문 = 성찰 과정의 내용</a:t>
            </a:r>
            <a:endParaRPr lang="en-US" sz="1400" dirty="0"/>
          </a:p>
        </p:txBody>
      </p:sp>
      <p:sp>
        <p:nvSpPr>
          <p:cNvPr id="22" name="Text 19"/>
          <p:cNvSpPr/>
          <p:nvPr/>
        </p:nvSpPr>
        <p:spPr>
          <a:xfrm>
            <a:off x="6263640" y="4123944"/>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3" name="Text 20"/>
          <p:cNvSpPr txBox="1"/>
          <p:nvPr/>
        </p:nvSpPr>
        <p:spPr>
          <a:xfrm>
            <a:off x="7040880" y="4123944"/>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②자리 뒤</a:t>
            </a:r>
            <a:endParaRPr lang="en-US" sz="1400" dirty="0"/>
          </a:p>
        </p:txBody>
      </p:sp>
      <p:sp>
        <p:nvSpPr>
          <p:cNvPr id="24" name="Text 21"/>
          <p:cNvSpPr txBox="1"/>
          <p:nvPr/>
        </p:nvSpPr>
        <p:spPr>
          <a:xfrm>
            <a:off x="7040880" y="4462272"/>
            <a:ext cx="4572000" cy="667512"/>
          </a:xfrm>
          <a:prstGeom prst="rect">
            <a:avLst/>
          </a:prstGeom>
          <a:noFill/>
          <a:ln/>
        </p:spPr>
        <p:txBody>
          <a:bodyPr wrap="square" lIns="0" tIns="0" rIns="0" bIns="0" rtlCol="0" anchor="t"/>
          <a:lstStyle/>
          <a:p>
            <a:pPr indent="0" marL="0">
              <a:buNone/>
            </a:pPr>
            <a:r>
              <a:rPr lang="en-US" sz="1400" dirty="0">
                <a:solidFill>
                  <a:srgbClr val="1E2B2A"/>
                </a:solidFill>
              </a:rPr>
              <a:t>It is not only … but also … → It이 가리킬 단수 명사 필요</a:t>
            </a:r>
            <a:endParaRPr lang="en-US" sz="1400" dirty="0"/>
          </a:p>
        </p:txBody>
      </p:sp>
      <p:sp>
        <p:nvSpPr>
          <p:cNvPr id="25" name="Text 22"/>
          <p:cNvSpPr/>
          <p:nvPr/>
        </p:nvSpPr>
        <p:spPr>
          <a:xfrm>
            <a:off x="6263640" y="5294376"/>
            <a:ext cx="548640" cy="548640"/>
          </a:xfrm>
          <a:prstGeom prst="ellipse">
            <a:avLst/>
          </a:prstGeom>
          <a:solidFill>
            <a:srgbClr val="EF5B3F"/>
          </a:solid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6" name="Text 23"/>
          <p:cNvSpPr txBox="1"/>
          <p:nvPr/>
        </p:nvSpPr>
        <p:spPr>
          <a:xfrm>
            <a:off x="7040880" y="5294376"/>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결론</a:t>
            </a:r>
            <a:endParaRPr lang="en-US" sz="1400" dirty="0"/>
          </a:p>
        </p:txBody>
      </p:sp>
      <p:sp>
        <p:nvSpPr>
          <p:cNvPr id="27" name="Text 24"/>
          <p:cNvSpPr txBox="1"/>
          <p:nvPr/>
        </p:nvSpPr>
        <p:spPr>
          <a:xfrm>
            <a:off x="7040880" y="5632704"/>
            <a:ext cx="4572000" cy="667512"/>
          </a:xfrm>
          <a:prstGeom prst="rect">
            <a:avLst/>
          </a:prstGeom>
          <a:noFill/>
          <a:ln/>
        </p:spPr>
        <p:txBody>
          <a:bodyPr wrap="square" lIns="0" tIns="0" rIns="0" bIns="0" rtlCol="0" anchor="t"/>
          <a:lstStyle/>
          <a:p>
            <a:pPr indent="0" marL="0">
              <a:buNone/>
            </a:pPr>
            <a:r>
              <a:rPr lang="en-US" sz="1400" dirty="0">
                <a:solidFill>
                  <a:srgbClr val="1E2B2A"/>
                </a:solidFill>
              </a:rPr>
              <a:t>질문으로 맹점 찾기 → [이 성찰 과정이 문제를 보게 함] → It(그것)은 개인·기업에 중요</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103  </a:t>
            </a:r>
            <a:pPr algn="l" indent="0" marL="0">
              <a:buNone/>
            </a:pPr>
            <a:r>
              <a:rPr lang="en-US" sz="3000" b="1" dirty="0">
                <a:solidFill>
                  <a:srgbClr val="14453D"/>
                </a:solidFill>
              </a:rPr>
              <a:t>정답 &amp; 해설</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삽입 변형 · 정답</a:t>
            </a:r>
            <a:endParaRPr lang="en-US" sz="1200" dirty="0"/>
          </a:p>
        </p:txBody>
      </p:sp>
      <p:sp>
        <p:nvSpPr>
          <p:cNvPr id="4" name="Shape 2"/>
          <p:cNvSpPr/>
          <p:nvPr/>
        </p:nvSpPr>
        <p:spPr>
          <a:xfrm>
            <a:off x="548640" y="1325880"/>
            <a:ext cx="3749040" cy="4983480"/>
          </a:xfrm>
          <a:prstGeom prst="roundRect">
            <a:avLst>
              <a:gd name="adj" fmla="val 3659"/>
            </a:avLst>
          </a:prstGeom>
          <a:solidFill>
            <a:srgbClr val="14453D"/>
          </a:solidFill>
          <a:ln w="12700">
            <a:solidFill>
              <a:srgbClr val="14453D"/>
            </a:solidFill>
            <a:prstDash val="solid"/>
          </a:ln>
        </p:spPr>
      </p:sp>
      <p:sp>
        <p:nvSpPr>
          <p:cNvPr id="5" name="Text 3"/>
          <p:cNvSpPr txBox="1"/>
          <p:nvPr/>
        </p:nvSpPr>
        <p:spPr>
          <a:xfrm>
            <a:off x="868680" y="1554480"/>
            <a:ext cx="3108960" cy="365760"/>
          </a:xfrm>
          <a:prstGeom prst="rect">
            <a:avLst/>
          </a:prstGeom>
          <a:noFill/>
          <a:ln/>
        </p:spPr>
        <p:txBody>
          <a:bodyPr wrap="square" lIns="0" tIns="0" rIns="0" bIns="0" rtlCol="0" anchor="ctr"/>
          <a:lstStyle/>
          <a:p>
            <a:pPr indent="0" marL="0">
              <a:buNone/>
            </a:pPr>
            <a:r>
              <a:rPr lang="en-US" sz="1600" b="1" dirty="0">
                <a:solidFill>
                  <a:srgbClr val="FFD45C"/>
                </a:solidFill>
              </a:rPr>
              <a:t>정답</a:t>
            </a:r>
            <a:endParaRPr lang="en-US" sz="1600" dirty="0"/>
          </a:p>
        </p:txBody>
      </p:sp>
      <p:sp>
        <p:nvSpPr>
          <p:cNvPr id="6" name="Text 4"/>
          <p:cNvSpPr txBox="1"/>
          <p:nvPr/>
        </p:nvSpPr>
        <p:spPr>
          <a:xfrm>
            <a:off x="868680" y="1920240"/>
            <a:ext cx="3108960" cy="1188720"/>
          </a:xfrm>
          <a:prstGeom prst="rect">
            <a:avLst/>
          </a:prstGeom>
          <a:noFill/>
          <a:ln/>
        </p:spPr>
        <p:txBody>
          <a:bodyPr wrap="square" lIns="0" tIns="0" rIns="0" bIns="0" rtlCol="0" anchor="ctr"/>
          <a:lstStyle/>
          <a:p>
            <a:pPr indent="0" marL="0">
              <a:buNone/>
            </a:pPr>
            <a:r>
              <a:rPr lang="en-US" sz="7200" b="1" dirty="0">
                <a:solidFill>
                  <a:srgbClr val="FFFFFF"/>
                </a:solidFill>
              </a:rPr>
              <a:t>②</a:t>
            </a:r>
            <a:endParaRPr lang="en-US" sz="7200" dirty="0"/>
          </a:p>
        </p:txBody>
      </p:sp>
      <p:sp>
        <p:nvSpPr>
          <p:cNvPr id="7" name="Text 5"/>
          <p:cNvSpPr txBox="1"/>
          <p:nvPr/>
        </p:nvSpPr>
        <p:spPr>
          <a:xfrm>
            <a:off x="868680" y="3337560"/>
            <a:ext cx="3154680" cy="1280160"/>
          </a:xfrm>
          <a:prstGeom prst="rect">
            <a:avLst/>
          </a:prstGeom>
          <a:noFill/>
          <a:ln/>
        </p:spPr>
        <p:txBody>
          <a:bodyPr wrap="square" lIns="0" tIns="0" rIns="0" bIns="0" rtlCol="0" anchor="t"/>
          <a:lstStyle/>
          <a:p>
            <a:pPr indent="0" marL="0">
              <a:buNone/>
            </a:pPr>
            <a:r>
              <a:rPr lang="en-US" sz="1700" b="1" i="1" dirty="0">
                <a:solidFill>
                  <a:srgbClr val="FFFFFF"/>
                </a:solidFill>
              </a:rPr>
              <a:t>( ② ) 자리</a:t>
            </a:r>
            <a:endParaRPr lang="en-US" sz="1700" dirty="0"/>
          </a:p>
        </p:txBody>
      </p:sp>
      <p:sp>
        <p:nvSpPr>
          <p:cNvPr id="8" name="Text 6"/>
          <p:cNvSpPr txBox="1"/>
          <p:nvPr/>
        </p:nvSpPr>
        <p:spPr>
          <a:xfrm>
            <a:off x="868680" y="4663440"/>
            <a:ext cx="3154680" cy="1463040"/>
          </a:xfrm>
          <a:prstGeom prst="rect">
            <a:avLst/>
          </a:prstGeom>
          <a:noFill/>
          <a:ln/>
        </p:spPr>
        <p:txBody>
          <a:bodyPr wrap="square" lIns="0" tIns="0" rIns="0" bIns="0" rtlCol="0" anchor="t"/>
          <a:lstStyle/>
          <a:p>
            <a:pPr indent="0" marL="0">
              <a:buNone/>
            </a:pPr>
            <a:r>
              <a:rPr lang="en-US" sz="1400" dirty="0">
                <a:solidFill>
                  <a:srgbClr val="E6F2ED"/>
                </a:solidFill>
              </a:rPr>
              <a:t>질문으로 맹점 찾기 → 이 성찰 과정이 문제를 보게 함 → It(성찰 과정)은 중요</a:t>
            </a:r>
            <a:endParaRPr lang="en-US" sz="1400" dirty="0"/>
          </a:p>
        </p:txBody>
      </p:sp>
      <p:sp>
        <p:nvSpPr>
          <p:cNvPr id="9" name="Shape 7"/>
          <p:cNvSpPr/>
          <p:nvPr/>
        </p:nvSpPr>
        <p:spPr>
          <a:xfrm>
            <a:off x="4572000" y="1325880"/>
            <a:ext cx="7040880" cy="905256"/>
          </a:xfrm>
          <a:prstGeom prst="roundRect">
            <a:avLst>
              <a:gd name="adj" fmla="val 10101"/>
            </a:avLst>
          </a:prstGeom>
          <a:solidFill>
            <a:srgbClr val="FFFFFF"/>
          </a:solidFill>
          <a:ln w="12700">
            <a:solidFill>
              <a:srgbClr val="E6F2ED"/>
            </a:solidFill>
            <a:prstDash val="solid"/>
          </a:ln>
        </p:spPr>
      </p:sp>
      <p:sp>
        <p:nvSpPr>
          <p:cNvPr id="10" name="Text 8"/>
          <p:cNvSpPr txBox="1"/>
          <p:nvPr/>
        </p:nvSpPr>
        <p:spPr>
          <a:xfrm>
            <a:off x="4754880" y="1435608"/>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①</a:t>
            </a:r>
            <a:endParaRPr lang="en-US" sz="2000" dirty="0"/>
          </a:p>
        </p:txBody>
      </p:sp>
      <p:sp>
        <p:nvSpPr>
          <p:cNvPr id="11" name="Text 9"/>
          <p:cNvSpPr txBox="1"/>
          <p:nvPr/>
        </p:nvSpPr>
        <p:spPr>
          <a:xfrm>
            <a:off x="5257800" y="1399032"/>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 ① ) 자리</a:t>
            </a:r>
            <a:endParaRPr lang="en-US" sz="1500" dirty="0"/>
          </a:p>
        </p:txBody>
      </p:sp>
      <p:sp>
        <p:nvSpPr>
          <p:cNvPr id="12" name="Text 10"/>
          <p:cNvSpPr txBox="1"/>
          <p:nvPr/>
        </p:nvSpPr>
        <p:spPr>
          <a:xfrm>
            <a:off x="5257800" y="1801368"/>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맹점 찾기 질문보다 '문제를 분명히 본다'는 결과가 먼저 나오게 됨</a:t>
            </a:r>
            <a:endParaRPr lang="en-US" sz="1300" dirty="0"/>
          </a:p>
        </p:txBody>
      </p:sp>
      <p:sp>
        <p:nvSpPr>
          <p:cNvPr id="13" name="Shape 11"/>
          <p:cNvSpPr/>
          <p:nvPr/>
        </p:nvSpPr>
        <p:spPr>
          <a:xfrm>
            <a:off x="4572000" y="2340864"/>
            <a:ext cx="7040880" cy="905256"/>
          </a:xfrm>
          <a:prstGeom prst="roundRect">
            <a:avLst>
              <a:gd name="adj" fmla="val 10101"/>
            </a:avLst>
          </a:prstGeom>
          <a:solidFill>
            <a:srgbClr val="F7E9E4"/>
          </a:solidFill>
          <a:ln w="25400">
            <a:solidFill>
              <a:srgbClr val="EF5B3F"/>
            </a:solidFill>
            <a:prstDash val="solid"/>
          </a:ln>
        </p:spPr>
      </p:sp>
      <p:sp>
        <p:nvSpPr>
          <p:cNvPr id="14" name="Text 12"/>
          <p:cNvSpPr txBox="1"/>
          <p:nvPr/>
        </p:nvSpPr>
        <p:spPr>
          <a:xfrm>
            <a:off x="4754880" y="2450592"/>
            <a:ext cx="411480" cy="411480"/>
          </a:xfrm>
          <a:prstGeom prst="rect">
            <a:avLst/>
          </a:prstGeom>
          <a:noFill/>
          <a:ln/>
        </p:spPr>
        <p:txBody>
          <a:bodyPr wrap="square" lIns="0" tIns="0" rIns="0" bIns="0" rtlCol="0" anchor="ctr"/>
          <a:lstStyle/>
          <a:p>
            <a:pPr indent="0" marL="0">
              <a:buNone/>
            </a:pPr>
            <a:r>
              <a:rPr lang="en-US" sz="2000" b="1" dirty="0">
                <a:solidFill>
                  <a:srgbClr val="EF5B3F"/>
                </a:solidFill>
              </a:rPr>
              <a:t>②</a:t>
            </a:r>
            <a:endParaRPr lang="en-US" sz="2000" dirty="0"/>
          </a:p>
        </p:txBody>
      </p:sp>
      <p:sp>
        <p:nvSpPr>
          <p:cNvPr id="15" name="Text 13"/>
          <p:cNvSpPr txBox="1"/>
          <p:nvPr/>
        </p:nvSpPr>
        <p:spPr>
          <a:xfrm>
            <a:off x="5257800" y="2414016"/>
            <a:ext cx="6172200" cy="411480"/>
          </a:xfrm>
          <a:prstGeom prst="rect">
            <a:avLst/>
          </a:prstGeom>
          <a:noFill/>
          <a:ln/>
        </p:spPr>
        <p:txBody>
          <a:bodyPr wrap="square" lIns="0" tIns="0" rIns="0" bIns="0" rtlCol="0" anchor="ctr">
            <a:normAutofit/>
          </a:bodyPr>
          <a:lstStyle/>
          <a:p>
            <a:pPr indent="0" marL="0">
              <a:buNone/>
            </a:pPr>
            <a:r>
              <a:rPr lang="en-US" sz="1500" b="1" dirty="0">
                <a:solidFill>
                  <a:srgbClr val="14453D"/>
                </a:solidFill>
              </a:rPr>
              <a:t>( ② ) 자리</a:t>
            </a:r>
            <a:endParaRPr lang="en-US" sz="1500" dirty="0"/>
          </a:p>
        </p:txBody>
      </p:sp>
      <p:sp>
        <p:nvSpPr>
          <p:cNvPr id="16" name="Text 14"/>
          <p:cNvSpPr txBox="1"/>
          <p:nvPr/>
        </p:nvSpPr>
        <p:spPr>
          <a:xfrm>
            <a:off x="5257800" y="2816352"/>
            <a:ext cx="6172200" cy="365760"/>
          </a:xfrm>
          <a:prstGeom prst="rect">
            <a:avLst/>
          </a:prstGeom>
          <a:noFill/>
          <a:ln/>
        </p:spPr>
        <p:txBody>
          <a:bodyPr wrap="square" lIns="0" tIns="0" rIns="0" bIns="0" rtlCol="0" anchor="ctr">
            <a:normAutofit/>
          </a:bodyPr>
          <a:lstStyle/>
          <a:p>
            <a:pPr indent="0" marL="0">
              <a:buNone/>
            </a:pPr>
            <a:r>
              <a:rPr lang="en-US" sz="1300" dirty="0">
                <a:solidFill>
                  <a:srgbClr val="EF5B3F"/>
                </a:solidFill>
              </a:rPr>
              <a:t>✔ 질문으로 맹점 찾기 → 이 성찰 과정이 문제를 보게 함 → It(성찰 과정)은 중요</a:t>
            </a:r>
            <a:endParaRPr lang="en-US" sz="1300" dirty="0"/>
          </a:p>
        </p:txBody>
      </p:sp>
      <p:sp>
        <p:nvSpPr>
          <p:cNvPr id="17" name="Shape 15"/>
          <p:cNvSpPr/>
          <p:nvPr/>
        </p:nvSpPr>
        <p:spPr>
          <a:xfrm>
            <a:off x="4572000" y="3355848"/>
            <a:ext cx="7040880" cy="905256"/>
          </a:xfrm>
          <a:prstGeom prst="roundRect">
            <a:avLst>
              <a:gd name="adj" fmla="val 10101"/>
            </a:avLst>
          </a:prstGeom>
          <a:solidFill>
            <a:srgbClr val="FFFFFF"/>
          </a:solidFill>
          <a:ln w="12700">
            <a:solidFill>
              <a:srgbClr val="E6F2ED"/>
            </a:solidFill>
            <a:prstDash val="solid"/>
          </a:ln>
        </p:spPr>
      </p:sp>
      <p:sp>
        <p:nvSpPr>
          <p:cNvPr id="18" name="Text 16"/>
          <p:cNvSpPr txBox="1"/>
          <p:nvPr/>
        </p:nvSpPr>
        <p:spPr>
          <a:xfrm>
            <a:off x="4754880" y="3465576"/>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③</a:t>
            </a:r>
            <a:endParaRPr lang="en-US" sz="2000" dirty="0"/>
          </a:p>
        </p:txBody>
      </p:sp>
      <p:sp>
        <p:nvSpPr>
          <p:cNvPr id="19" name="Text 17"/>
          <p:cNvSpPr txBox="1"/>
          <p:nvPr/>
        </p:nvSpPr>
        <p:spPr>
          <a:xfrm>
            <a:off x="5257800" y="3429000"/>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 ③ ) 자리</a:t>
            </a:r>
            <a:endParaRPr lang="en-US" sz="1500" dirty="0"/>
          </a:p>
        </p:txBody>
      </p:sp>
      <p:sp>
        <p:nvSpPr>
          <p:cNvPr id="20" name="Text 18"/>
          <p:cNvSpPr txBox="1"/>
          <p:nvPr/>
        </p:nvSpPr>
        <p:spPr>
          <a:xfrm>
            <a:off x="5257800" y="3831336"/>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It(개인·기업에 중요)이 가리킬 대상이 앞 문장과 끊김</a:t>
            </a:r>
            <a:endParaRPr lang="en-US" sz="1300" dirty="0"/>
          </a:p>
        </p:txBody>
      </p:sp>
      <p:sp>
        <p:nvSpPr>
          <p:cNvPr id="21" name="Shape 19"/>
          <p:cNvSpPr/>
          <p:nvPr/>
        </p:nvSpPr>
        <p:spPr>
          <a:xfrm>
            <a:off x="4572000" y="4370832"/>
            <a:ext cx="7040880" cy="905256"/>
          </a:xfrm>
          <a:prstGeom prst="roundRect">
            <a:avLst>
              <a:gd name="adj" fmla="val 10101"/>
            </a:avLst>
          </a:prstGeom>
          <a:solidFill>
            <a:srgbClr val="FFFFFF"/>
          </a:solidFill>
          <a:ln w="12700">
            <a:solidFill>
              <a:srgbClr val="E6F2ED"/>
            </a:solidFill>
            <a:prstDash val="solid"/>
          </a:ln>
        </p:spPr>
      </p:sp>
      <p:sp>
        <p:nvSpPr>
          <p:cNvPr id="22" name="Text 20"/>
          <p:cNvSpPr txBox="1"/>
          <p:nvPr/>
        </p:nvSpPr>
        <p:spPr>
          <a:xfrm>
            <a:off x="4754880" y="4480560"/>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④</a:t>
            </a:r>
            <a:endParaRPr lang="en-US" sz="2000" dirty="0"/>
          </a:p>
        </p:txBody>
      </p:sp>
      <p:sp>
        <p:nvSpPr>
          <p:cNvPr id="23" name="Text 21"/>
          <p:cNvSpPr txBox="1"/>
          <p:nvPr/>
        </p:nvSpPr>
        <p:spPr>
          <a:xfrm>
            <a:off x="5257800" y="4443984"/>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 ④ ) 자리</a:t>
            </a:r>
            <a:endParaRPr lang="en-US" sz="1500" dirty="0"/>
          </a:p>
        </p:txBody>
      </p:sp>
      <p:sp>
        <p:nvSpPr>
          <p:cNvPr id="24" name="Text 22"/>
          <p:cNvSpPr txBox="1"/>
          <p:nvPr/>
        </p:nvSpPr>
        <p:spPr>
          <a:xfrm>
            <a:off x="5257800" y="4846320"/>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회사 문화 → 구글 예시는 이미 자연스럽게 연결됨</a:t>
            </a:r>
            <a:endParaRPr lang="en-US" sz="1300" dirty="0"/>
          </a:p>
        </p:txBody>
      </p:sp>
      <p:sp>
        <p:nvSpPr>
          <p:cNvPr id="25" name="Shape 23"/>
          <p:cNvSpPr/>
          <p:nvPr/>
        </p:nvSpPr>
        <p:spPr>
          <a:xfrm>
            <a:off x="4572000" y="5385816"/>
            <a:ext cx="7040880" cy="905256"/>
          </a:xfrm>
          <a:prstGeom prst="roundRect">
            <a:avLst>
              <a:gd name="adj" fmla="val 10101"/>
            </a:avLst>
          </a:prstGeom>
          <a:solidFill>
            <a:srgbClr val="FFFFFF"/>
          </a:solidFill>
          <a:ln w="12700">
            <a:solidFill>
              <a:srgbClr val="E6F2ED"/>
            </a:solidFill>
            <a:prstDash val="solid"/>
          </a:ln>
        </p:spPr>
      </p:sp>
      <p:sp>
        <p:nvSpPr>
          <p:cNvPr id="26" name="Text 24"/>
          <p:cNvSpPr txBox="1"/>
          <p:nvPr/>
        </p:nvSpPr>
        <p:spPr>
          <a:xfrm>
            <a:off x="4754880" y="5495544"/>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⑤</a:t>
            </a:r>
            <a:endParaRPr lang="en-US" sz="2000" dirty="0"/>
          </a:p>
        </p:txBody>
      </p:sp>
      <p:sp>
        <p:nvSpPr>
          <p:cNvPr id="27" name="Text 25"/>
          <p:cNvSpPr txBox="1"/>
          <p:nvPr/>
        </p:nvSpPr>
        <p:spPr>
          <a:xfrm>
            <a:off x="5257800" y="5458968"/>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 ⑤ ) 자리</a:t>
            </a:r>
            <a:endParaRPr lang="en-US" sz="1500" dirty="0"/>
          </a:p>
        </p:txBody>
      </p:sp>
      <p:sp>
        <p:nvSpPr>
          <p:cNvPr id="28" name="Text 26"/>
          <p:cNvSpPr txBox="1"/>
          <p:nvPr/>
        </p:nvSpPr>
        <p:spPr>
          <a:xfrm>
            <a:off x="5257800" y="5861304"/>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구글 예시 → this self-awareness로 이미 연결됨</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103  </a:t>
            </a:r>
            <a:pPr algn="l" indent="0" marL="0">
              <a:buNone/>
            </a:pPr>
            <a:r>
              <a:rPr lang="en-US" sz="3000" b="1" dirty="0">
                <a:solidFill>
                  <a:srgbClr val="14453D"/>
                </a:solidFill>
              </a:rPr>
              <a:t>내신 어법 체크: 알맞은 것은?</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삽입 변형 · 어법</a:t>
            </a:r>
            <a:endParaRPr lang="en-US" sz="1200" dirty="0"/>
          </a:p>
        </p:txBody>
      </p:sp>
      <p:sp>
        <p:nvSpPr>
          <p:cNvPr id="4" name="Shape 2"/>
          <p:cNvSpPr/>
          <p:nvPr/>
        </p:nvSpPr>
        <p:spPr>
          <a:xfrm>
            <a:off x="548640" y="1325880"/>
            <a:ext cx="11064240" cy="1143000"/>
          </a:xfrm>
          <a:prstGeom prst="roundRect">
            <a:avLst>
              <a:gd name="adj" fmla="val 8000"/>
            </a:avLst>
          </a:prstGeom>
          <a:solidFill>
            <a:srgbClr val="F2F8FB"/>
          </a:solidFill>
          <a:ln w="12700">
            <a:solidFill>
              <a:srgbClr val="D3E5EE"/>
            </a:solidFill>
            <a:prstDash val="solid"/>
          </a:ln>
        </p:spPr>
      </p:sp>
      <p:sp>
        <p:nvSpPr>
          <p:cNvPr id="5" name="Text 3"/>
          <p:cNvSpPr/>
          <p:nvPr/>
        </p:nvSpPr>
        <p:spPr>
          <a:xfrm>
            <a:off x="777240" y="162306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1554480" y="132588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…blind spots that may be blocking you from </a:t>
            </a:r>
            <a:pPr indent="0" marL="0">
              <a:buNone/>
            </a:pPr>
            <a:r>
              <a:rPr lang="en-US" sz="1900" b="1" dirty="0">
                <a:solidFill>
                  <a:srgbClr val="EF5B3F"/>
                </a:solidFill>
              </a:rPr>
              <a:t>[reaching / reach]</a:t>
            </a:r>
            <a:pPr indent="0" marL="0">
              <a:buNone/>
            </a:pPr>
            <a:r>
              <a:rPr lang="en-US" sz="1900" dirty="0">
                <a:solidFill>
                  <a:srgbClr val="1E2B2A"/>
                </a:solidFill>
              </a:rPr>
              <a:t> your goals.</a:t>
            </a:r>
            <a:endParaRPr lang="en-US" sz="1900" dirty="0"/>
          </a:p>
        </p:txBody>
      </p:sp>
      <p:sp>
        <p:nvSpPr>
          <p:cNvPr id="7" name="Shape 5"/>
          <p:cNvSpPr/>
          <p:nvPr/>
        </p:nvSpPr>
        <p:spPr>
          <a:xfrm>
            <a:off x="548640" y="2606040"/>
            <a:ext cx="11064240" cy="1143000"/>
          </a:xfrm>
          <a:prstGeom prst="roundRect">
            <a:avLst>
              <a:gd name="adj" fmla="val 8000"/>
            </a:avLst>
          </a:prstGeom>
          <a:solidFill>
            <a:srgbClr val="FFFFFF"/>
          </a:solidFill>
          <a:ln w="12700">
            <a:solidFill>
              <a:srgbClr val="D3E5EE"/>
            </a:solidFill>
            <a:prstDash val="solid"/>
          </a:ln>
        </p:spPr>
      </p:sp>
      <p:sp>
        <p:nvSpPr>
          <p:cNvPr id="8" name="Text 6"/>
          <p:cNvSpPr/>
          <p:nvPr/>
        </p:nvSpPr>
        <p:spPr>
          <a:xfrm>
            <a:off x="777240" y="290322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9" name="Text 7"/>
          <p:cNvSpPr txBox="1"/>
          <p:nvPr/>
        </p:nvSpPr>
        <p:spPr>
          <a:xfrm>
            <a:off x="1554480" y="260604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It is not only essential in personal development but also </a:t>
            </a:r>
            <a:pPr indent="0" marL="0">
              <a:buNone/>
            </a:pPr>
            <a:r>
              <a:rPr lang="en-US" sz="1900" b="1" dirty="0">
                <a:solidFill>
                  <a:srgbClr val="EF5B3F"/>
                </a:solidFill>
              </a:rPr>
              <a:t>[critical / critically]</a:t>
            </a:r>
            <a:pPr indent="0" marL="0">
              <a:buNone/>
            </a:pPr>
            <a:r>
              <a:rPr lang="en-US" sz="1900" dirty="0">
                <a:solidFill>
                  <a:srgbClr val="1E2B2A"/>
                </a:solidFill>
              </a:rPr>
              <a:t> to corporate success.</a:t>
            </a:r>
            <a:endParaRPr lang="en-US" sz="1900" dirty="0"/>
          </a:p>
        </p:txBody>
      </p:sp>
      <p:sp>
        <p:nvSpPr>
          <p:cNvPr id="10" name="Shape 8"/>
          <p:cNvSpPr/>
          <p:nvPr/>
        </p:nvSpPr>
        <p:spPr>
          <a:xfrm>
            <a:off x="548640" y="3886200"/>
            <a:ext cx="11064240" cy="1143000"/>
          </a:xfrm>
          <a:prstGeom prst="roundRect">
            <a:avLst>
              <a:gd name="adj" fmla="val 8000"/>
            </a:avLst>
          </a:prstGeom>
          <a:solidFill>
            <a:srgbClr val="F2F8FB"/>
          </a:solidFill>
          <a:ln w="12700">
            <a:solidFill>
              <a:srgbClr val="D3E5EE"/>
            </a:solidFill>
            <a:prstDash val="solid"/>
          </a:ln>
        </p:spPr>
      </p:sp>
      <p:sp>
        <p:nvSpPr>
          <p:cNvPr id="11" name="Text 9"/>
          <p:cNvSpPr/>
          <p:nvPr/>
        </p:nvSpPr>
        <p:spPr>
          <a:xfrm>
            <a:off x="777240" y="418338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2" name="Text 10"/>
          <p:cNvSpPr txBox="1"/>
          <p:nvPr/>
        </p:nvSpPr>
        <p:spPr>
          <a:xfrm>
            <a:off x="1554480" y="388620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…promote a culture which </a:t>
            </a:r>
            <a:pPr indent="0" marL="0">
              <a:buNone/>
            </a:pPr>
            <a:r>
              <a:rPr lang="en-US" sz="1900" b="1" dirty="0">
                <a:solidFill>
                  <a:srgbClr val="EF5B3F"/>
                </a:solidFill>
              </a:rPr>
              <a:t>[include / includes]</a:t>
            </a:r>
            <a:pPr indent="0" marL="0">
              <a:buNone/>
            </a:pPr>
            <a:r>
              <a:rPr lang="en-US" sz="1900" dirty="0">
                <a:solidFill>
                  <a:srgbClr val="1E2B2A"/>
                </a:solidFill>
              </a:rPr>
              <a:t> this self-inquiry.</a:t>
            </a:r>
            <a:endParaRPr lang="en-US" sz="19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104  </a:t>
            </a:r>
            <a:pPr algn="l" indent="0" marL="0">
              <a:buNone/>
            </a:pPr>
            <a:r>
              <a:rPr lang="en-US" sz="2400" b="1" dirty="0">
                <a:solidFill>
                  <a:srgbClr val="14453D"/>
                </a:solidFill>
              </a:rPr>
              <a:t>문맥상 낱말의 쓰임이 적절하지 않은 것은?</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어휘 변형</a:t>
            </a:r>
            <a:endParaRPr lang="en-US" sz="1200" dirty="0"/>
          </a:p>
        </p:txBody>
      </p:sp>
      <p:sp>
        <p:nvSpPr>
          <p:cNvPr id="4" name="Shape 2"/>
          <p:cNvSpPr/>
          <p:nvPr/>
        </p:nvSpPr>
        <p:spPr>
          <a:xfrm>
            <a:off x="548640" y="1234440"/>
            <a:ext cx="11064240" cy="5074920"/>
          </a:xfrm>
          <a:prstGeom prst="roundRect">
            <a:avLst>
              <a:gd name="adj" fmla="val 1802"/>
            </a:avLst>
          </a:prstGeom>
          <a:solidFill>
            <a:srgbClr val="FFFFFF"/>
          </a:solidFill>
          <a:ln w="19050">
            <a:solidFill>
              <a:srgbClr val="E6F2ED"/>
            </a:solidFill>
            <a:prstDash val="solid"/>
          </a:ln>
        </p:spPr>
      </p:sp>
      <p:sp>
        <p:nvSpPr>
          <p:cNvPr id="5" name="Text 3"/>
          <p:cNvSpPr txBox="1"/>
          <p:nvPr/>
        </p:nvSpPr>
        <p:spPr>
          <a:xfrm>
            <a:off x="777240" y="1371600"/>
            <a:ext cx="10607040" cy="4846320"/>
          </a:xfrm>
          <a:prstGeom prst="rect">
            <a:avLst/>
          </a:prstGeom>
          <a:noFill/>
          <a:ln/>
        </p:spPr>
        <p:txBody>
          <a:bodyPr wrap="square" lIns="0" tIns="0" rIns="0" bIns="0" rtlCol="0" anchor="t"/>
          <a:lstStyle/>
          <a:p>
            <a:pPr indent="0" marL="0">
              <a:lnSpc>
                <a:spcPct val="115000"/>
              </a:lnSpc>
              <a:buNone/>
            </a:pPr>
            <a:r>
              <a:rPr lang="en-US" sz="2150" dirty="0">
                <a:solidFill>
                  <a:srgbClr val="1E2B2A"/>
                </a:solidFill>
              </a:rPr>
              <a:t>Formal organizations such as multinational corporations train workers to perform their jobs in a certain way and reward them for good </a:t>
            </a:r>
            <a:pPr indent="0" marL="0">
              <a:lnSpc>
                <a:spcPct val="115000"/>
              </a:lnSpc>
              <a:buNone/>
            </a:pPr>
            <a:r>
              <a:rPr lang="en-US" sz="2150" b="1" u="sng" dirty="0">
                <a:solidFill>
                  <a:srgbClr val="1E2B2A"/>
                </a:solidFill>
              </a:rPr>
              <a:t>①performance</a:t>
            </a:r>
            <a:pPr indent="0" marL="0">
              <a:lnSpc>
                <a:spcPct val="115000"/>
              </a:lnSpc>
              <a:buNone/>
            </a:pPr>
            <a:r>
              <a:rPr lang="en-US" sz="2150" dirty="0">
                <a:solidFill>
                  <a:srgbClr val="1E2B2A"/>
                </a:solidFill>
              </a:rPr>
              <a:t>.</a:t>
            </a:r>
            <a:pPr indent="0" marL="0">
              <a:lnSpc>
                <a:spcPct val="115000"/>
              </a:lnSpc>
              <a:buNone/>
            </a:pPr>
            <a:r>
              <a:rPr lang="en-US" sz="2150" dirty="0">
                <a:solidFill>
                  <a:srgbClr val="000000"/>
                </a:solidFill>
              </a:rPr>
              <a:t> </a:t>
            </a:r>
            <a:pPr indent="0" marL="0">
              <a:lnSpc>
                <a:spcPct val="115000"/>
              </a:lnSpc>
              <a:buNone/>
            </a:pPr>
            <a:r>
              <a:rPr lang="en-US" sz="2150" dirty="0">
                <a:solidFill>
                  <a:srgbClr val="1E2B2A"/>
                </a:solidFill>
              </a:rPr>
              <a:t>When workers are trained to respond </a:t>
            </a:r>
            <a:pPr indent="0" marL="0">
              <a:lnSpc>
                <a:spcPct val="115000"/>
              </a:lnSpc>
              <a:buNone/>
            </a:pPr>
            <a:r>
              <a:rPr lang="en-US" sz="2150" b="1" u="sng" dirty="0">
                <a:solidFill>
                  <a:srgbClr val="1E2B2A"/>
                </a:solidFill>
              </a:rPr>
              <a:t>②mindlessly</a:t>
            </a:r>
            <a:pPr indent="0" marL="0">
              <a:lnSpc>
                <a:spcPct val="115000"/>
              </a:lnSpc>
              <a:buNone/>
            </a:pPr>
            <a:r>
              <a:rPr lang="en-US" sz="2150" dirty="0">
                <a:solidFill>
                  <a:srgbClr val="1E2B2A"/>
                </a:solidFill>
              </a:rPr>
              <a:t> to the dictates of the job, however, they risk developing trained incapacity—the inability to respond to new or unusual circumstances or to recognize when official rules or procedures do not apply or may be doing harm.</a:t>
            </a:r>
            <a:pPr indent="0" marL="0">
              <a:lnSpc>
                <a:spcPct val="115000"/>
              </a:lnSpc>
              <a:buNone/>
            </a:pPr>
            <a:r>
              <a:rPr lang="en-US" sz="2150" dirty="0">
                <a:solidFill>
                  <a:srgbClr val="000000"/>
                </a:solidFill>
              </a:rPr>
              <a:t> </a:t>
            </a:r>
            <a:pPr indent="0" marL="0">
              <a:lnSpc>
                <a:spcPct val="115000"/>
              </a:lnSpc>
              <a:buNone/>
            </a:pPr>
            <a:r>
              <a:rPr lang="en-US" sz="2150" dirty="0">
                <a:solidFill>
                  <a:srgbClr val="1E2B2A"/>
                </a:solidFill>
              </a:rPr>
              <a:t>In other words, workers are trained to do their jobs in an efficient way to meet organizational goals while </a:t>
            </a:r>
            <a:pPr indent="0" marL="0">
              <a:lnSpc>
                <a:spcPct val="115000"/>
              </a:lnSpc>
              <a:buNone/>
            </a:pPr>
            <a:r>
              <a:rPr lang="en-US" sz="2150" b="1" u="sng" dirty="0">
                <a:solidFill>
                  <a:srgbClr val="1E2B2A"/>
                </a:solidFill>
              </a:rPr>
              <a:t>③ignoring</a:t>
            </a:r>
            <a:pPr indent="0" marL="0">
              <a:lnSpc>
                <a:spcPct val="115000"/>
              </a:lnSpc>
              <a:buNone/>
            </a:pPr>
            <a:r>
              <a:rPr lang="en-US" sz="2150" dirty="0">
                <a:solidFill>
                  <a:srgbClr val="1E2B2A"/>
                </a:solidFill>
              </a:rPr>
              <a:t> other important matters related to their health, the community, and the environment.</a:t>
            </a:r>
            <a:pPr indent="0" marL="0">
              <a:lnSpc>
                <a:spcPct val="115000"/>
              </a:lnSpc>
              <a:buNone/>
            </a:pPr>
            <a:r>
              <a:rPr lang="en-US" sz="2150" dirty="0">
                <a:solidFill>
                  <a:srgbClr val="000000"/>
                </a:solidFill>
              </a:rPr>
              <a:t> </a:t>
            </a:r>
            <a:pPr indent="0" marL="0">
              <a:lnSpc>
                <a:spcPct val="115000"/>
              </a:lnSpc>
              <a:buNone/>
            </a:pPr>
            <a:r>
              <a:rPr lang="en-US" sz="2150" dirty="0">
                <a:solidFill>
                  <a:srgbClr val="1E2B2A"/>
                </a:solidFill>
              </a:rPr>
              <a:t>At the root of trained incapacity is a job with little variety and </a:t>
            </a:r>
            <a:pPr indent="0" marL="0">
              <a:lnSpc>
                <a:spcPct val="115000"/>
              </a:lnSpc>
              <a:buNone/>
            </a:pPr>
            <a:r>
              <a:rPr lang="en-US" sz="2150" b="1" u="sng" dirty="0">
                <a:solidFill>
                  <a:srgbClr val="1E2B2A"/>
                </a:solidFill>
              </a:rPr>
              <a:t>④repetitive</a:t>
            </a:r>
            <a:pPr indent="0" marL="0">
              <a:lnSpc>
                <a:spcPct val="115000"/>
              </a:lnSpc>
              <a:buNone/>
            </a:pPr>
            <a:r>
              <a:rPr lang="en-US" sz="2150" dirty="0">
                <a:solidFill>
                  <a:srgbClr val="1E2B2A"/>
                </a:solidFill>
              </a:rPr>
              <a:t> tasks.</a:t>
            </a:r>
            <a:pPr indent="0" marL="0">
              <a:lnSpc>
                <a:spcPct val="115000"/>
              </a:lnSpc>
              <a:buNone/>
            </a:pPr>
            <a:r>
              <a:rPr lang="en-US" sz="2150" dirty="0">
                <a:solidFill>
                  <a:srgbClr val="000000"/>
                </a:solidFill>
              </a:rPr>
              <a:t> </a:t>
            </a:r>
            <a:pPr indent="0" marL="0">
              <a:lnSpc>
                <a:spcPct val="115000"/>
              </a:lnSpc>
              <a:buNone/>
            </a:pPr>
            <a:r>
              <a:rPr lang="en-US" sz="2150" dirty="0">
                <a:solidFill>
                  <a:srgbClr val="1E2B2A"/>
                </a:solidFill>
              </a:rPr>
              <a:t>Economist Thorstein Veblen argues that as variety in work </a:t>
            </a:r>
            <a:pPr indent="0" marL="0">
              <a:lnSpc>
                <a:spcPct val="115000"/>
              </a:lnSpc>
              <a:buNone/>
            </a:pPr>
            <a:r>
              <a:rPr lang="en-US" sz="2150" b="1" u="sng" dirty="0">
                <a:solidFill>
                  <a:srgbClr val="1E2B2A"/>
                </a:solidFill>
              </a:rPr>
              <a:t>⑤increases</a:t>
            </a:r>
            <a:pPr indent="0" marL="0">
              <a:lnSpc>
                <a:spcPct val="115000"/>
              </a:lnSpc>
              <a:buNone/>
            </a:pPr>
            <a:r>
              <a:rPr lang="en-US" sz="2150" dirty="0">
                <a:solidFill>
                  <a:srgbClr val="1E2B2A"/>
                </a:solidFill>
              </a:rPr>
              <a:t>, the amount of thought and time needed to perform a job also decreases.</a:t>
            </a:r>
            <a:endParaRPr lang="en-US" sz="21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104  </a:t>
            </a:r>
            <a:pPr algn="l" indent="0" marL="0">
              <a:buNone/>
            </a:pPr>
            <a:r>
              <a:rPr lang="en-US" sz="3000" b="1" dirty="0">
                <a:solidFill>
                  <a:srgbClr val="14453D"/>
                </a:solidFill>
              </a:rPr>
              <a:t>정답 근거 &amp; 문법 포인트</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어휘 변형 · 근거</a:t>
            </a:r>
            <a:endParaRPr lang="en-US" sz="1200" dirty="0"/>
          </a:p>
        </p:txBody>
      </p:sp>
      <p:sp>
        <p:nvSpPr>
          <p:cNvPr id="4" name="Shape 2"/>
          <p:cNvSpPr/>
          <p:nvPr/>
        </p:nvSpPr>
        <p:spPr>
          <a:xfrm>
            <a:off x="548640" y="1234440"/>
            <a:ext cx="11064240" cy="3172968"/>
          </a:xfrm>
          <a:prstGeom prst="roundRect">
            <a:avLst>
              <a:gd name="adj" fmla="val 2882"/>
            </a:avLst>
          </a:prstGeom>
          <a:solidFill>
            <a:srgbClr val="FFFFFF"/>
          </a:solidFill>
          <a:ln w="19050">
            <a:solidFill>
              <a:srgbClr val="E6F2ED"/>
            </a:solidFill>
            <a:prstDash val="solid"/>
          </a:ln>
        </p:spPr>
      </p:sp>
      <p:sp>
        <p:nvSpPr>
          <p:cNvPr id="5" name="Text 3"/>
          <p:cNvSpPr txBox="1"/>
          <p:nvPr/>
        </p:nvSpPr>
        <p:spPr>
          <a:xfrm>
            <a:off x="777240" y="1371600"/>
            <a:ext cx="10607040" cy="2944368"/>
          </a:xfrm>
          <a:prstGeom prst="rect">
            <a:avLst/>
          </a:prstGeom>
          <a:noFill/>
          <a:ln/>
        </p:spPr>
        <p:txBody>
          <a:bodyPr wrap="square" lIns="0" tIns="0" rIns="0" bIns="0" rtlCol="0" anchor="t">
            <a:normAutofit/>
          </a:bodyPr>
          <a:lstStyle/>
          <a:p>
            <a:pPr indent="0" marL="0">
              <a:lnSpc>
                <a:spcPct val="120000"/>
              </a:lnSpc>
              <a:buNone/>
            </a:pPr>
            <a:r>
              <a:rPr lang="en-US" sz="1300" b="1" dirty="0">
                <a:solidFill>
                  <a:srgbClr val="1F7A64"/>
                </a:solidFill>
              </a:rPr>
              <a:t>(1) </a:t>
            </a:r>
            <a:pPr indent="0" marL="0">
              <a:lnSpc>
                <a:spcPct val="120000"/>
              </a:lnSpc>
              <a:buNone/>
            </a:pPr>
            <a:r>
              <a:rPr lang="en-US" sz="1600" dirty="0">
                <a:solidFill>
                  <a:srgbClr val="1E2B2A"/>
                </a:solidFill>
              </a:rPr>
              <a:t>Formal organizations such as </a:t>
            </a:r>
            <a:pPr indent="0" marL="0">
              <a:lnSpc>
                <a:spcPct val="120000"/>
              </a:lnSpc>
              <a:buNone/>
            </a:pPr>
            <a:r>
              <a:rPr lang="en-US" sz="1600" u="dotted" dirty="0">
                <a:solidFill>
                  <a:srgbClr val="1F7A64"/>
                </a:solidFill>
                <a:uFill>
                  <a:solidFill>
                    <a:srgbClr val="1F7A64"/>
                  </a:solidFill>
                </a:uFill>
              </a:rPr>
              <a:t>multinational</a:t>
            </a:r>
            <a:pPr indent="0" marL="0">
              <a:lnSpc>
                <a:spcPct val="120000"/>
              </a:lnSpc>
              <a:buNone/>
            </a:pPr>
            <a:r>
              <a:rPr lang="en-US" sz="1600" dirty="0">
                <a:solidFill>
                  <a:srgbClr val="1E2B2A"/>
                </a:solidFill>
              </a:rPr>
              <a:t> corporations </a:t>
            </a:r>
            <a:pPr indent="0" marL="0">
              <a:lnSpc>
                <a:spcPct val="120000"/>
              </a:lnSpc>
              <a:buNone/>
            </a:pPr>
            <a:r>
              <a:rPr lang="en-US" sz="1600" b="1" dirty="0">
                <a:solidFill>
                  <a:srgbClr val="14453D"/>
                </a:solidFill>
                <a:highlight>
                  <a:srgbClr val="A9DDF3"/>
                </a:highlight>
              </a:rPr>
              <a:t>train workers to perform their jobs</a:t>
            </a:r>
            <a:pPr indent="0" marL="0">
              <a:lnSpc>
                <a:spcPct val="120000"/>
              </a:lnSpc>
              <a:buNone/>
            </a:pPr>
            <a:r>
              <a:rPr lang="en-US" sz="1600" dirty="0">
                <a:solidFill>
                  <a:srgbClr val="1E2B2A"/>
                </a:solidFill>
              </a:rPr>
              <a:t> in a certain way and reward them for good </a:t>
            </a:r>
            <a:pPr indent="0" marL="0">
              <a:lnSpc>
                <a:spcPct val="120000"/>
              </a:lnSpc>
              <a:buNone/>
            </a:pPr>
            <a:r>
              <a:rPr lang="en-US" sz="1600" b="1" u="sng" dirty="0">
                <a:solidFill>
                  <a:srgbClr val="1E2B2A"/>
                </a:solidFill>
              </a:rPr>
              <a:t>①performance</a:t>
            </a:r>
            <a:pPr indent="0" marL="0">
              <a:lnSpc>
                <a:spcPct val="120000"/>
              </a:lnSpc>
              <a:buNone/>
            </a:pPr>
            <a:r>
              <a:rPr lang="en-US" sz="1600" dirty="0">
                <a:solidFill>
                  <a:srgbClr val="1E2B2A"/>
                </a:solidFill>
              </a:rPr>
              <a:t>.</a:t>
            </a:r>
            <a:pPr indent="0" marL="0">
              <a:lnSpc>
                <a:spcPct val="120000"/>
              </a:lnSpc>
              <a:buNone/>
            </a:pPr>
            <a:r>
              <a:rPr lang="en-US" sz="1600" dirty="0">
                <a:solidFill>
                  <a:srgbClr val="000000"/>
                </a:solidFill>
              </a:rPr>
              <a:t> </a:t>
            </a:r>
            <a:pPr indent="0" marL="0">
              <a:lnSpc>
                <a:spcPct val="120000"/>
              </a:lnSpc>
              <a:buNone/>
            </a:pPr>
            <a:r>
              <a:rPr lang="en-US" sz="1300" b="1" dirty="0">
                <a:solidFill>
                  <a:srgbClr val="1F7A64"/>
                </a:solidFill>
              </a:rPr>
              <a:t>(2) </a:t>
            </a:r>
            <a:pPr indent="0" marL="0">
              <a:lnSpc>
                <a:spcPct val="120000"/>
              </a:lnSpc>
              <a:buNone/>
            </a:pPr>
            <a:r>
              <a:rPr lang="en-US" sz="1600" dirty="0">
                <a:solidFill>
                  <a:srgbClr val="1E2B2A"/>
                </a:solidFill>
              </a:rPr>
              <a:t>When workers are trained to respond </a:t>
            </a:r>
            <a:pPr indent="0" marL="0">
              <a:lnSpc>
                <a:spcPct val="120000"/>
              </a:lnSpc>
              <a:buNone/>
            </a:pPr>
            <a:r>
              <a:rPr lang="en-US" sz="1600" b="1" u="sng" dirty="0">
                <a:solidFill>
                  <a:srgbClr val="1E2B2A"/>
                </a:solidFill>
              </a:rPr>
              <a:t>②mindlessly</a:t>
            </a:r>
            <a:pPr indent="0" marL="0">
              <a:lnSpc>
                <a:spcPct val="120000"/>
              </a:lnSpc>
              <a:buNone/>
            </a:pPr>
            <a:r>
              <a:rPr lang="en-US" sz="1600" dirty="0">
                <a:solidFill>
                  <a:srgbClr val="1E2B2A"/>
                </a:solidFill>
              </a:rPr>
              <a:t> to the </a:t>
            </a:r>
            <a:pPr indent="0" marL="0">
              <a:lnSpc>
                <a:spcPct val="120000"/>
              </a:lnSpc>
              <a:buNone/>
            </a:pPr>
            <a:r>
              <a:rPr lang="en-US" sz="1600" u="dotted" dirty="0">
                <a:solidFill>
                  <a:srgbClr val="1F7A64"/>
                </a:solidFill>
                <a:uFill>
                  <a:solidFill>
                    <a:srgbClr val="1F7A64"/>
                  </a:solidFill>
                </a:uFill>
              </a:rPr>
              <a:t>dictates</a:t>
            </a:r>
            <a:pPr indent="0" marL="0">
              <a:lnSpc>
                <a:spcPct val="120000"/>
              </a:lnSpc>
              <a:buNone/>
            </a:pPr>
            <a:r>
              <a:rPr lang="en-US" sz="1600" dirty="0">
                <a:solidFill>
                  <a:srgbClr val="1E2B2A"/>
                </a:solidFill>
              </a:rPr>
              <a:t> of the job, however, </a:t>
            </a:r>
            <a:pPr indent="0" marL="0">
              <a:lnSpc>
                <a:spcPct val="120000"/>
              </a:lnSpc>
              <a:buNone/>
            </a:pPr>
            <a:r>
              <a:rPr lang="en-US" sz="1600" b="1" dirty="0">
                <a:solidFill>
                  <a:srgbClr val="14453D"/>
                </a:solidFill>
                <a:highlight>
                  <a:srgbClr val="A9DDF3"/>
                </a:highlight>
              </a:rPr>
              <a:t>they risk developing trained </a:t>
            </a:r>
            <a:pPr indent="0" marL="0">
              <a:lnSpc>
                <a:spcPct val="120000"/>
              </a:lnSpc>
              <a:buNone/>
            </a:pPr>
            <a:r>
              <a:rPr lang="en-US" sz="1600" b="1" u="dotted" dirty="0">
                <a:solidFill>
                  <a:srgbClr val="14453D"/>
                </a:solidFill>
                <a:highlight>
                  <a:srgbClr val="A9DDF3"/>
                </a:highlight>
                <a:uFill>
                  <a:solidFill>
                    <a:srgbClr val="1F7A64"/>
                  </a:solidFill>
                </a:uFill>
              </a:rPr>
              <a:t>incapacity</a:t>
            </a:r>
            <a:pPr indent="0" marL="0">
              <a:lnSpc>
                <a:spcPct val="120000"/>
              </a:lnSpc>
              <a:buNone/>
            </a:pPr>
            <a:r>
              <a:rPr lang="en-US" sz="1600" dirty="0">
                <a:solidFill>
                  <a:srgbClr val="1E2B2A"/>
                </a:solidFill>
              </a:rPr>
              <a:t>—the inability to respond to new or unusual circumstances or to recognize when official rules or </a:t>
            </a:r>
            <a:pPr indent="0" marL="0">
              <a:lnSpc>
                <a:spcPct val="120000"/>
              </a:lnSpc>
              <a:buNone/>
            </a:pPr>
            <a:r>
              <a:rPr lang="en-US" sz="1600" u="dotted" dirty="0">
                <a:solidFill>
                  <a:srgbClr val="1F7A64"/>
                </a:solidFill>
                <a:uFill>
                  <a:solidFill>
                    <a:srgbClr val="1F7A64"/>
                  </a:solidFill>
                </a:uFill>
              </a:rPr>
              <a:t>procedures</a:t>
            </a:r>
            <a:pPr indent="0" marL="0">
              <a:lnSpc>
                <a:spcPct val="120000"/>
              </a:lnSpc>
              <a:buNone/>
            </a:pPr>
            <a:r>
              <a:rPr lang="en-US" sz="1600" dirty="0">
                <a:solidFill>
                  <a:srgbClr val="1E2B2A"/>
                </a:solidFill>
              </a:rPr>
              <a:t> do not apply or may be doing harm.</a:t>
            </a:r>
            <a:pPr indent="0" marL="0">
              <a:lnSpc>
                <a:spcPct val="120000"/>
              </a:lnSpc>
              <a:buNone/>
            </a:pPr>
            <a:r>
              <a:rPr lang="en-US" sz="1600" dirty="0">
                <a:solidFill>
                  <a:srgbClr val="000000"/>
                </a:solidFill>
              </a:rPr>
              <a:t> </a:t>
            </a:r>
            <a:pPr indent="0" marL="0">
              <a:lnSpc>
                <a:spcPct val="120000"/>
              </a:lnSpc>
              <a:buNone/>
            </a:pPr>
            <a:r>
              <a:rPr lang="en-US" sz="1300" b="1" dirty="0">
                <a:solidFill>
                  <a:srgbClr val="1F7A64"/>
                </a:solidFill>
              </a:rPr>
              <a:t>(3) </a:t>
            </a:r>
            <a:pPr indent="0" marL="0">
              <a:lnSpc>
                <a:spcPct val="120000"/>
              </a:lnSpc>
              <a:buNone/>
            </a:pPr>
            <a:r>
              <a:rPr lang="en-US" sz="1600" dirty="0">
                <a:solidFill>
                  <a:srgbClr val="1E2B2A"/>
                </a:solidFill>
              </a:rPr>
              <a:t>In other words, workers are trained to do their jobs in an </a:t>
            </a:r>
            <a:pPr indent="0" marL="0">
              <a:lnSpc>
                <a:spcPct val="120000"/>
              </a:lnSpc>
              <a:buNone/>
            </a:pPr>
            <a:r>
              <a:rPr lang="en-US" sz="1600" u="dotted" dirty="0">
                <a:solidFill>
                  <a:srgbClr val="1F7A64"/>
                </a:solidFill>
                <a:uFill>
                  <a:solidFill>
                    <a:srgbClr val="1F7A64"/>
                  </a:solidFill>
                </a:uFill>
              </a:rPr>
              <a:t>efficient</a:t>
            </a:r>
            <a:pPr indent="0" marL="0">
              <a:lnSpc>
                <a:spcPct val="120000"/>
              </a:lnSpc>
              <a:buNone/>
            </a:pPr>
            <a:r>
              <a:rPr lang="en-US" sz="1600" dirty="0">
                <a:solidFill>
                  <a:srgbClr val="1E2B2A"/>
                </a:solidFill>
              </a:rPr>
              <a:t> way to meet organizational goals while </a:t>
            </a:r>
            <a:pPr indent="0" marL="0">
              <a:lnSpc>
                <a:spcPct val="120000"/>
              </a:lnSpc>
              <a:buNone/>
            </a:pPr>
            <a:r>
              <a:rPr lang="en-US" sz="1600" b="1" u="sng" dirty="0">
                <a:solidFill>
                  <a:srgbClr val="1E2B2A"/>
                </a:solidFill>
              </a:rPr>
              <a:t>③ignoring</a:t>
            </a:r>
            <a:pPr indent="0" marL="0">
              <a:lnSpc>
                <a:spcPct val="120000"/>
              </a:lnSpc>
              <a:buNone/>
            </a:pPr>
            <a:r>
              <a:rPr lang="en-US" sz="1600" dirty="0">
                <a:solidFill>
                  <a:srgbClr val="1E2B2A"/>
                </a:solidFill>
              </a:rPr>
              <a:t> other important matters related to their health, the community, and the environment.</a:t>
            </a:r>
            <a:pPr indent="0" marL="0">
              <a:lnSpc>
                <a:spcPct val="120000"/>
              </a:lnSpc>
              <a:buNone/>
            </a:pPr>
            <a:r>
              <a:rPr lang="en-US" sz="1600" dirty="0">
                <a:solidFill>
                  <a:srgbClr val="000000"/>
                </a:solidFill>
              </a:rPr>
              <a:t> </a:t>
            </a:r>
            <a:pPr indent="0" marL="0">
              <a:lnSpc>
                <a:spcPct val="120000"/>
              </a:lnSpc>
              <a:buNone/>
            </a:pPr>
            <a:r>
              <a:rPr lang="en-US" sz="1300" b="1" dirty="0">
                <a:solidFill>
                  <a:srgbClr val="1F7A64"/>
                </a:solidFill>
              </a:rPr>
              <a:t>(4) </a:t>
            </a:r>
            <a:pPr indent="0" marL="0">
              <a:lnSpc>
                <a:spcPct val="120000"/>
              </a:lnSpc>
              <a:buNone/>
            </a:pPr>
            <a:r>
              <a:rPr lang="en-US" sz="1600" b="1" dirty="0">
                <a:solidFill>
                  <a:srgbClr val="14453D"/>
                </a:solidFill>
                <a:highlight>
                  <a:srgbClr val="A9DDF3"/>
                </a:highlight>
              </a:rPr>
              <a:t>At the root of trained incapacity is a job</a:t>
            </a:r>
            <a:pPr indent="0" marL="0">
              <a:lnSpc>
                <a:spcPct val="120000"/>
              </a:lnSpc>
              <a:buNone/>
            </a:pPr>
            <a:r>
              <a:rPr lang="en-US" sz="1600" dirty="0">
                <a:solidFill>
                  <a:srgbClr val="1E2B2A"/>
                </a:solidFill>
                <a:highlight>
                  <a:srgbClr val="FFD45C"/>
                </a:highlight>
              </a:rPr>
              <a:t> with little variety and </a:t>
            </a:r>
            <a:pPr indent="0" marL="0">
              <a:lnSpc>
                <a:spcPct val="120000"/>
              </a:lnSpc>
              <a:buNone/>
            </a:pPr>
            <a:r>
              <a:rPr lang="en-US" sz="1600" b="1" u="sng" dirty="0">
                <a:solidFill>
                  <a:srgbClr val="1E2B2A"/>
                </a:solidFill>
                <a:highlight>
                  <a:srgbClr val="FFD45C"/>
                </a:highlight>
              </a:rPr>
              <a:t>④repetitive</a:t>
            </a:r>
            <a:pPr indent="0" marL="0">
              <a:lnSpc>
                <a:spcPct val="120000"/>
              </a:lnSpc>
              <a:buNone/>
            </a:pPr>
            <a:r>
              <a:rPr lang="en-US" sz="1600" dirty="0">
                <a:solidFill>
                  <a:srgbClr val="1E2B2A"/>
                </a:solidFill>
                <a:highlight>
                  <a:srgbClr val="FFD45C"/>
                </a:highlight>
              </a:rPr>
              <a:t> tasks.</a:t>
            </a:r>
            <a:pPr indent="0" marL="0">
              <a:lnSpc>
                <a:spcPct val="120000"/>
              </a:lnSpc>
              <a:buNone/>
            </a:pPr>
            <a:r>
              <a:rPr lang="en-US" sz="1600" dirty="0">
                <a:solidFill>
                  <a:srgbClr val="000000"/>
                </a:solidFill>
              </a:rPr>
              <a:t> </a:t>
            </a:r>
            <a:pPr indent="0" marL="0">
              <a:lnSpc>
                <a:spcPct val="120000"/>
              </a:lnSpc>
              <a:buNone/>
            </a:pPr>
            <a:r>
              <a:rPr lang="en-US" sz="1300" b="1" dirty="0">
                <a:solidFill>
                  <a:srgbClr val="1F7A64"/>
                </a:solidFill>
              </a:rPr>
              <a:t>(5) </a:t>
            </a:r>
            <a:pPr indent="0" marL="0">
              <a:lnSpc>
                <a:spcPct val="120000"/>
              </a:lnSpc>
              <a:buNone/>
            </a:pPr>
            <a:r>
              <a:rPr lang="en-US" sz="1600" dirty="0">
                <a:solidFill>
                  <a:srgbClr val="1E2B2A"/>
                </a:solidFill>
                <a:highlight>
                  <a:srgbClr val="FFD45C"/>
                </a:highlight>
              </a:rPr>
              <a:t>Economist Thorstein Veblen argues that as variety in work </a:t>
            </a:r>
            <a:pPr indent="0" marL="0">
              <a:lnSpc>
                <a:spcPct val="120000"/>
              </a:lnSpc>
              <a:buNone/>
            </a:pPr>
            <a:r>
              <a:rPr lang="en-US" sz="1600" b="1" u="sng" dirty="0">
                <a:solidFill>
                  <a:srgbClr val="1E2B2A"/>
                </a:solidFill>
                <a:highlight>
                  <a:srgbClr val="FFD45C"/>
                </a:highlight>
              </a:rPr>
              <a:t>⑤increases</a:t>
            </a:r>
            <a:pPr indent="0" marL="0">
              <a:lnSpc>
                <a:spcPct val="120000"/>
              </a:lnSpc>
              <a:buNone/>
            </a:pPr>
            <a:r>
              <a:rPr lang="en-US" sz="1600" dirty="0">
                <a:solidFill>
                  <a:srgbClr val="1E2B2A"/>
                </a:solidFill>
                <a:highlight>
                  <a:srgbClr val="FFD45C"/>
                </a:highlight>
              </a:rPr>
              <a:t>, </a:t>
            </a:r>
            <a:pPr indent="0" marL="0">
              <a:lnSpc>
                <a:spcPct val="120000"/>
              </a:lnSpc>
              <a:buNone/>
            </a:pPr>
            <a:r>
              <a:rPr lang="en-US" sz="1600" b="1" dirty="0">
                <a:solidFill>
                  <a:srgbClr val="14453D"/>
                </a:solidFill>
                <a:highlight>
                  <a:srgbClr val="A9DDF3"/>
                </a:highlight>
              </a:rPr>
              <a:t>the amount of thought and time needed to perform a job also decreases</a:t>
            </a:r>
            <a:pPr indent="0" marL="0">
              <a:lnSpc>
                <a:spcPct val="120000"/>
              </a:lnSpc>
              <a:buNone/>
            </a:pPr>
            <a:r>
              <a:rPr lang="en-US" sz="1600" dirty="0">
                <a:solidFill>
                  <a:srgbClr val="1E2B2A"/>
                </a:solidFill>
                <a:highlight>
                  <a:srgbClr val="FFD45C"/>
                </a:highlight>
              </a:rPr>
              <a:t>.</a:t>
            </a:r>
            <a:endParaRPr lang="en-US" sz="1300" dirty="0"/>
          </a:p>
        </p:txBody>
      </p:sp>
      <p:sp>
        <p:nvSpPr>
          <p:cNvPr id="6" name="Shape 4"/>
          <p:cNvSpPr/>
          <p:nvPr/>
        </p:nvSpPr>
        <p:spPr>
          <a:xfrm>
            <a:off x="548640" y="4498848"/>
            <a:ext cx="11064240" cy="713232"/>
          </a:xfrm>
          <a:prstGeom prst="roundRect">
            <a:avLst>
              <a:gd name="adj" fmla="val 12821"/>
            </a:avLst>
          </a:prstGeom>
          <a:solidFill>
            <a:srgbClr val="FFF6D6"/>
          </a:solidFill>
          <a:ln w="15875">
            <a:solidFill>
              <a:srgbClr val="FFD45C"/>
            </a:solidFill>
            <a:prstDash val="solid"/>
          </a:ln>
        </p:spPr>
      </p:sp>
      <p:sp>
        <p:nvSpPr>
          <p:cNvPr id="7" name="Text 5"/>
          <p:cNvSpPr txBox="1"/>
          <p:nvPr/>
        </p:nvSpPr>
        <p:spPr>
          <a:xfrm>
            <a:off x="731520" y="4572000"/>
            <a:ext cx="1051560" cy="274320"/>
          </a:xfrm>
          <a:prstGeom prst="rect">
            <a:avLst/>
          </a:prstGeom>
          <a:solidFill>
            <a:srgbClr val="EF5B3F"/>
          </a:solidFill>
          <a:ln/>
        </p:spPr>
        <p:txBody>
          <a:bodyPr wrap="square" lIns="0" tIns="0" rIns="0" bIns="0" rtlCol="0" anchor="ctr"/>
          <a:lstStyle/>
          <a:p>
            <a:pPr algn="ctr" indent="0" marL="0">
              <a:buNone/>
            </a:pPr>
            <a:r>
              <a:rPr lang="en-US" sz="1200" b="1" dirty="0">
                <a:solidFill>
                  <a:srgbClr val="FFFFFF"/>
                </a:solidFill>
              </a:rPr>
              <a:t> 근거 이유 </a:t>
            </a:r>
            <a:endParaRPr lang="en-US" sz="1200" dirty="0"/>
          </a:p>
        </p:txBody>
      </p:sp>
      <p:sp>
        <p:nvSpPr>
          <p:cNvPr id="8" name="Text 6"/>
          <p:cNvSpPr txBox="1"/>
          <p:nvPr/>
        </p:nvSpPr>
        <p:spPr>
          <a:xfrm>
            <a:off x="1920240" y="4544568"/>
            <a:ext cx="9555480" cy="621792"/>
          </a:xfrm>
          <a:prstGeom prst="rect">
            <a:avLst/>
          </a:prstGeom>
          <a:noFill/>
          <a:ln/>
        </p:spPr>
        <p:txBody>
          <a:bodyPr wrap="square" lIns="0" tIns="0" rIns="0" bIns="0" rtlCol="0" anchor="ctr">
            <a:normAutofit/>
          </a:bodyPr>
          <a:lstStyle/>
          <a:p>
            <a:pPr indent="0" marL="0">
              <a:lnSpc>
                <a:spcPct val="105000"/>
              </a:lnSpc>
              <a:buNone/>
            </a:pPr>
            <a:r>
              <a:rPr lang="en-US" sz="1400" b="1" dirty="0">
                <a:solidFill>
                  <a:srgbClr val="EF5B3F"/>
                </a:solidFill>
              </a:rPr>
              <a:t>(4) </a:t>
            </a:r>
            <a:pPr indent="0" marL="0">
              <a:lnSpc>
                <a:spcPct val="105000"/>
              </a:lnSpc>
              <a:buNone/>
            </a:pPr>
            <a:r>
              <a:rPr lang="en-US" sz="1400" dirty="0">
                <a:solidFill>
                  <a:srgbClr val="14453D"/>
                </a:solidFill>
              </a:rPr>
              <a:t>little variety = 다양성이 '줄어드는' 상황</a:t>
            </a:r>
            <a:endParaRPr lang="en-US" sz="1400" dirty="0"/>
          </a:p>
          <a:p>
            <a:pPr indent="0" marL="0">
              <a:lnSpc>
                <a:spcPct val="105000"/>
              </a:lnSpc>
              <a:buNone/>
            </a:pPr>
            <a:r>
              <a:rPr lang="en-US" sz="1400" b="1" dirty="0">
                <a:solidFill>
                  <a:srgbClr val="EF5B3F"/>
                </a:solidFill>
              </a:rPr>
              <a:t>(5) </a:t>
            </a:r>
            <a:pPr indent="0" marL="0">
              <a:lnSpc>
                <a:spcPct val="105000"/>
              </a:lnSpc>
              <a:buNone/>
            </a:pPr>
            <a:r>
              <a:rPr lang="en-US" sz="1400" dirty="0">
                <a:solidFill>
                  <a:srgbClr val="14453D"/>
                </a:solidFill>
              </a:rPr>
              <a:t>생각·시간 감소와 같은 방향이어야 함 → increases(✘) → decreases</a:t>
            </a:r>
            <a:endParaRPr lang="en-US" sz="1400" dirty="0"/>
          </a:p>
        </p:txBody>
      </p:sp>
      <p:sp>
        <p:nvSpPr>
          <p:cNvPr id="9" name="Shape 7"/>
          <p:cNvSpPr/>
          <p:nvPr/>
        </p:nvSpPr>
        <p:spPr>
          <a:xfrm>
            <a:off x="548640" y="5303520"/>
            <a:ext cx="11064240" cy="731520"/>
          </a:xfrm>
          <a:prstGeom prst="roundRect">
            <a:avLst>
              <a:gd name="adj" fmla="val 12500"/>
            </a:avLst>
          </a:prstGeom>
          <a:solidFill>
            <a:srgbClr val="EAF5EF"/>
          </a:solidFill>
          <a:ln w="12700">
            <a:solidFill>
              <a:srgbClr val="CFE6D9"/>
            </a:solidFill>
            <a:prstDash val="solid"/>
          </a:ln>
        </p:spPr>
      </p:sp>
      <p:sp>
        <p:nvSpPr>
          <p:cNvPr id="10" name="Text 8"/>
          <p:cNvSpPr txBox="1"/>
          <p:nvPr/>
        </p:nvSpPr>
        <p:spPr>
          <a:xfrm>
            <a:off x="731520" y="5349240"/>
            <a:ext cx="10698480" cy="640080"/>
          </a:xfrm>
          <a:prstGeom prst="rect">
            <a:avLst/>
          </a:prstGeom>
          <a:noFill/>
          <a:ln/>
        </p:spPr>
        <p:txBody>
          <a:bodyPr wrap="square" lIns="0" tIns="0" rIns="0" bIns="0" rtlCol="0" anchor="ctr">
            <a:normAutofit/>
          </a:bodyPr>
          <a:lstStyle/>
          <a:p>
            <a:pPr indent="0" marL="0">
              <a:lnSpc>
                <a:spcPct val="110000"/>
              </a:lnSpc>
              <a:buNone/>
            </a:pPr>
            <a:r>
              <a:rPr lang="en-US" sz="1400" b="1" dirty="0">
                <a:solidFill>
                  <a:srgbClr val="FFFFFF"/>
                </a:solidFill>
                <a:highlight>
                  <a:srgbClr val="1F7A64"/>
                </a:highlight>
              </a:rPr>
              <a:t> 어휘 </a:t>
            </a:r>
            <a:pPr indent="0" marL="0">
              <a:lnSpc>
                <a:spcPct val="110000"/>
              </a:lnSpc>
              <a:buNone/>
            </a:pPr>
            <a:r>
              <a:rPr lang="en-US" sz="1400" dirty="0">
                <a:solidFill>
                  <a:srgbClr val="000000"/>
                </a:solidFill>
              </a:rPr>
              <a:t>   </a:t>
            </a:r>
            <a:pPr indent="0" marL="0">
              <a:lnSpc>
                <a:spcPct val="110000"/>
              </a:lnSpc>
              <a:buNone/>
            </a:pPr>
            <a:r>
              <a:rPr lang="en-US" sz="1400" b="1" dirty="0">
                <a:solidFill>
                  <a:srgbClr val="1F7A64"/>
                </a:solidFill>
              </a:rPr>
              <a:t>multinational </a:t>
            </a:r>
            <a:pPr indent="0" marL="0">
              <a:lnSpc>
                <a:spcPct val="110000"/>
              </a:lnSpc>
              <a:buNone/>
            </a:pPr>
            <a:r>
              <a:rPr lang="en-US" sz="1400" dirty="0">
                <a:solidFill>
                  <a:srgbClr val="1E2B2A"/>
                </a:solidFill>
              </a:rPr>
              <a:t>다국적의   ·   </a:t>
            </a:r>
            <a:pPr indent="0" marL="0">
              <a:lnSpc>
                <a:spcPct val="110000"/>
              </a:lnSpc>
              <a:buNone/>
            </a:pPr>
            <a:r>
              <a:rPr lang="en-US" sz="1400" b="1" dirty="0">
                <a:solidFill>
                  <a:srgbClr val="1F7A64"/>
                </a:solidFill>
              </a:rPr>
              <a:t>dictates </a:t>
            </a:r>
            <a:pPr indent="0" marL="0">
              <a:lnSpc>
                <a:spcPct val="110000"/>
              </a:lnSpc>
              <a:buNone/>
            </a:pPr>
            <a:r>
              <a:rPr lang="en-US" sz="1400" dirty="0">
                <a:solidFill>
                  <a:srgbClr val="1E2B2A"/>
                </a:solidFill>
              </a:rPr>
              <a:t>지시   ·   </a:t>
            </a:r>
            <a:pPr indent="0" marL="0">
              <a:lnSpc>
                <a:spcPct val="110000"/>
              </a:lnSpc>
              <a:buNone/>
            </a:pPr>
            <a:r>
              <a:rPr lang="en-US" sz="1400" b="1" dirty="0">
                <a:solidFill>
                  <a:srgbClr val="1F7A64"/>
                </a:solidFill>
              </a:rPr>
              <a:t>incapacity </a:t>
            </a:r>
            <a:pPr indent="0" marL="0">
              <a:lnSpc>
                <a:spcPct val="110000"/>
              </a:lnSpc>
              <a:buNone/>
            </a:pPr>
            <a:r>
              <a:rPr lang="en-US" sz="1400" dirty="0">
                <a:solidFill>
                  <a:srgbClr val="1E2B2A"/>
                </a:solidFill>
              </a:rPr>
              <a:t>무능   ·   </a:t>
            </a:r>
            <a:pPr indent="0" marL="0">
              <a:lnSpc>
                <a:spcPct val="110000"/>
              </a:lnSpc>
              <a:buNone/>
            </a:pPr>
            <a:r>
              <a:rPr lang="en-US" sz="1400" b="1" dirty="0">
                <a:solidFill>
                  <a:srgbClr val="1F7A64"/>
                </a:solidFill>
              </a:rPr>
              <a:t>procedures </a:t>
            </a:r>
            <a:pPr indent="0" marL="0">
              <a:lnSpc>
                <a:spcPct val="110000"/>
              </a:lnSpc>
              <a:buNone/>
            </a:pPr>
            <a:r>
              <a:rPr lang="en-US" sz="1400" dirty="0">
                <a:solidFill>
                  <a:srgbClr val="1E2B2A"/>
                </a:solidFill>
              </a:rPr>
              <a:t>절차   ·   </a:t>
            </a:r>
            <a:pPr indent="0" marL="0">
              <a:lnSpc>
                <a:spcPct val="110000"/>
              </a:lnSpc>
              <a:buNone/>
            </a:pPr>
            <a:r>
              <a:rPr lang="en-US" sz="1400" b="1" dirty="0">
                <a:solidFill>
                  <a:srgbClr val="1F7A64"/>
                </a:solidFill>
              </a:rPr>
              <a:t>efficient </a:t>
            </a:r>
            <a:pPr indent="0" marL="0">
              <a:lnSpc>
                <a:spcPct val="110000"/>
              </a:lnSpc>
              <a:buNone/>
            </a:pPr>
            <a:r>
              <a:rPr lang="en-US" sz="1400" dirty="0">
                <a:solidFill>
                  <a:srgbClr val="1E2B2A"/>
                </a:solidFill>
              </a:rPr>
              <a:t>효율적인</a:t>
            </a:r>
            <a:endParaRPr lang="en-US" sz="1400" dirty="0"/>
          </a:p>
        </p:txBody>
      </p:sp>
      <p:sp>
        <p:nvSpPr>
          <p:cNvPr id="11" name="Text 9"/>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1100" dirty="0">
                <a:solidFill>
                  <a:srgbClr val="FFD45C"/>
                </a:solidFill>
              </a:rPr>
              <a:t>■ </a:t>
            </a:r>
            <a:pPr indent="0" marL="0">
              <a:buNone/>
            </a:pPr>
            <a:r>
              <a:rPr lang="en-US" sz="1100" dirty="0">
                <a:solidFill>
                  <a:srgbClr val="6E7F7C"/>
                </a:solidFill>
              </a:rPr>
              <a:t>형광 = 정답 근거 (이유는 노란 박스)     </a:t>
            </a:r>
            <a:pPr indent="0" marL="0">
              <a:buNone/>
            </a:pPr>
            <a:r>
              <a:rPr lang="en-US" sz="1100" dirty="0">
                <a:solidFill>
                  <a:srgbClr val="A9DDF3"/>
                </a:solidFill>
              </a:rPr>
              <a:t>■ </a:t>
            </a:r>
            <a:pPr indent="0" marL="0">
              <a:buNone/>
            </a:pPr>
            <a:r>
              <a:rPr lang="en-US" sz="1100" dirty="0">
                <a:solidFill>
                  <a:srgbClr val="6E7F7C"/>
                </a:solidFill>
              </a:rPr>
              <a:t>파란 형광 = 문법·내신 포인트     </a:t>
            </a:r>
            <a:pPr indent="0" marL="0">
              <a:buNone/>
            </a:pPr>
            <a:r>
              <a:rPr lang="en-US" sz="1100" b="1" dirty="0">
                <a:solidFill>
                  <a:srgbClr val="1F7A64"/>
                </a:solidFill>
              </a:rPr>
              <a:t>초록 점선 단어 </a:t>
            </a:r>
            <a:pPr indent="0" marL="0">
              <a:buNone/>
            </a:pPr>
            <a:r>
              <a:rPr lang="en-US" sz="1100" dirty="0">
                <a:solidFill>
                  <a:srgbClr val="6E7F7C"/>
                </a:solidFill>
              </a:rPr>
              <a:t>= 하단 어휘     </a:t>
            </a:r>
            <a:pPr indent="0" marL="0">
              <a:buNone/>
            </a:pPr>
            <a:r>
              <a:rPr lang="en-US" sz="1100" b="1" dirty="0">
                <a:solidFill>
                  <a:srgbClr val="1F7A64"/>
                </a:solidFill>
              </a:rPr>
              <a:t>(1) (2) (3) </a:t>
            </a:r>
            <a:pPr indent="0" marL="0">
              <a:buNone/>
            </a:pPr>
            <a:r>
              <a:rPr lang="en-US" sz="1100" dirty="0">
                <a:solidFill>
                  <a:srgbClr val="6E7F7C"/>
                </a:solidFill>
              </a:rPr>
              <a:t>= 문장 번호</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104  </a:t>
            </a:r>
            <a:pPr algn="l" indent="0" marL="0">
              <a:buNone/>
            </a:pPr>
            <a:r>
              <a:rPr lang="en-US" sz="3000" b="1" dirty="0">
                <a:solidFill>
                  <a:srgbClr val="14453D"/>
                </a:solidFill>
              </a:rPr>
              <a:t>훈련된 무능 — 어휘 변형</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어휘 변형 · 흐름 잡기</a:t>
            </a:r>
            <a:endParaRPr lang="en-US" sz="1200" dirty="0"/>
          </a:p>
        </p:txBody>
      </p:sp>
      <p:sp>
        <p:nvSpPr>
          <p:cNvPr id="4" name="Shape 2"/>
          <p:cNvSpPr/>
          <p:nvPr/>
        </p:nvSpPr>
        <p:spPr>
          <a:xfrm>
            <a:off x="548640" y="1325880"/>
            <a:ext cx="5212080" cy="2423160"/>
          </a:xfrm>
          <a:prstGeom prst="roundRect">
            <a:avLst>
              <a:gd name="adj" fmla="val 4528"/>
            </a:avLst>
          </a:prstGeom>
          <a:solidFill>
            <a:srgbClr val="E6F2ED"/>
          </a:solidFill>
          <a:ln w="12700">
            <a:solidFill>
              <a:srgbClr val="E6F2ED"/>
            </a:solidFill>
            <a:prstDash val="solid"/>
          </a:ln>
        </p:spPr>
      </p:sp>
      <p:sp>
        <p:nvSpPr>
          <p:cNvPr id="5" name="Text 3"/>
          <p:cNvSpPr txBox="1"/>
          <p:nvPr/>
        </p:nvSpPr>
        <p:spPr>
          <a:xfrm>
            <a:off x="822960" y="1463040"/>
            <a:ext cx="4663440" cy="320040"/>
          </a:xfrm>
          <a:prstGeom prst="rect">
            <a:avLst/>
          </a:prstGeom>
          <a:noFill/>
          <a:ln/>
        </p:spPr>
        <p:txBody>
          <a:bodyPr wrap="square" lIns="0" tIns="0" rIns="0" bIns="0" rtlCol="0" anchor="ctr"/>
          <a:lstStyle/>
          <a:p>
            <a:pPr indent="0" marL="0">
              <a:buNone/>
            </a:pPr>
            <a:r>
              <a:rPr lang="en-US" sz="1300" b="1" dirty="0">
                <a:solidFill>
                  <a:srgbClr val="1F7A64"/>
                </a:solidFill>
              </a:rPr>
              <a:t>STEP 1 · 의심 문장</a:t>
            </a:r>
            <a:endParaRPr lang="en-US" sz="1300" dirty="0"/>
          </a:p>
        </p:txBody>
      </p:sp>
      <p:sp>
        <p:nvSpPr>
          <p:cNvPr id="6" name="Text 4"/>
          <p:cNvSpPr txBox="1"/>
          <p:nvPr/>
        </p:nvSpPr>
        <p:spPr>
          <a:xfrm>
            <a:off x="822960" y="1828800"/>
            <a:ext cx="4663440" cy="777240"/>
          </a:xfrm>
          <a:prstGeom prst="rect">
            <a:avLst/>
          </a:prstGeom>
          <a:noFill/>
          <a:ln/>
        </p:spPr>
        <p:txBody>
          <a:bodyPr wrap="square" lIns="0" tIns="0" rIns="0" bIns="0" rtlCol="0" anchor="t">
            <a:normAutofit/>
          </a:bodyPr>
          <a:lstStyle/>
          <a:p>
            <a:pPr indent="0" marL="0">
              <a:buNone/>
            </a:pPr>
            <a:r>
              <a:rPr lang="en-US" sz="1600" b="1" i="1" dirty="0">
                <a:solidFill>
                  <a:srgbClr val="14453D"/>
                </a:solidFill>
              </a:rPr>
              <a:t>…as variety in work ⑤increases, the amount of thought and time needed to perform a job also decreases.</a:t>
            </a:r>
            <a:endParaRPr lang="en-US" sz="1600" dirty="0"/>
          </a:p>
        </p:txBody>
      </p:sp>
      <p:sp>
        <p:nvSpPr>
          <p:cNvPr id="7" name="Text 5"/>
          <p:cNvSpPr txBox="1"/>
          <p:nvPr/>
        </p:nvSpPr>
        <p:spPr>
          <a:xfrm>
            <a:off x="822960" y="2606040"/>
            <a:ext cx="4663440" cy="502920"/>
          </a:xfrm>
          <a:prstGeom prst="rect">
            <a:avLst/>
          </a:prstGeom>
          <a:noFill/>
          <a:ln/>
        </p:spPr>
        <p:txBody>
          <a:bodyPr wrap="square" lIns="0" tIns="0" rIns="0" bIns="0" rtlCol="0" anchor="t">
            <a:normAutofit/>
          </a:bodyPr>
          <a:lstStyle/>
          <a:p>
            <a:pPr indent="0" marL="0">
              <a:buNone/>
            </a:pPr>
            <a:r>
              <a:rPr lang="en-US" sz="1400" dirty="0">
                <a:solidFill>
                  <a:srgbClr val="1E2B2A"/>
                </a:solidFill>
              </a:rPr>
              <a:t>업무의 다양성이 ⑤증가할수록, 일에 필요한 생각과 시간도 감소한다 (?)</a:t>
            </a:r>
            <a:endParaRPr lang="en-US" sz="1400" dirty="0"/>
          </a:p>
        </p:txBody>
      </p:sp>
      <p:sp>
        <p:nvSpPr>
          <p:cNvPr id="8" name="Text 6"/>
          <p:cNvSpPr txBox="1"/>
          <p:nvPr/>
        </p:nvSpPr>
        <p:spPr>
          <a:xfrm>
            <a:off x="822960" y="3200400"/>
            <a:ext cx="4663440" cy="411480"/>
          </a:xfrm>
          <a:prstGeom prst="rect">
            <a:avLst/>
          </a:prstGeom>
          <a:noFill/>
          <a:ln/>
        </p:spPr>
        <p:txBody>
          <a:bodyPr wrap="square" lIns="0" tIns="0" rIns="0" bIns="0" rtlCol="0" anchor="ctr"/>
          <a:lstStyle/>
          <a:p>
            <a:pPr indent="0" marL="0">
              <a:buNone/>
            </a:pPr>
            <a:r>
              <a:rPr lang="en-US" sz="1500" b="1" dirty="0">
                <a:solidFill>
                  <a:srgbClr val="EF5B3F"/>
                </a:solidFill>
              </a:rPr>
              <a:t>찾을 것  </a:t>
            </a:r>
            <a:pPr indent="0" marL="0">
              <a:buNone/>
            </a:pPr>
            <a:r>
              <a:rPr lang="en-US" sz="1500" b="1" dirty="0">
                <a:solidFill>
                  <a:srgbClr val="14453D"/>
                </a:solidFill>
              </a:rPr>
              <a:t>업무 다양성과 '생각·시간'은 같이 늘까, 같이 줄까?</a:t>
            </a:r>
            <a:endParaRPr lang="en-US" sz="1500" dirty="0"/>
          </a:p>
        </p:txBody>
      </p:sp>
      <p:sp>
        <p:nvSpPr>
          <p:cNvPr id="9" name="Shape 7"/>
          <p:cNvSpPr/>
          <p:nvPr/>
        </p:nvSpPr>
        <p:spPr>
          <a:xfrm>
            <a:off x="548640" y="3931920"/>
            <a:ext cx="5212080" cy="2331720"/>
          </a:xfrm>
          <a:prstGeom prst="roundRect">
            <a:avLst>
              <a:gd name="adj" fmla="val 4706"/>
            </a:avLst>
          </a:prstGeom>
          <a:solidFill>
            <a:srgbClr val="FFFFFF"/>
          </a:solidFill>
          <a:ln w="19050">
            <a:solidFill>
              <a:srgbClr val="EF5B3F"/>
            </a:solidFill>
            <a:prstDash val="solid"/>
          </a:ln>
        </p:spPr>
      </p:sp>
      <p:pic>
        <p:nvPicPr>
          <p:cNvPr id="10" name="Image 0" descr="preencoded.png">    </p:cNvPr>
          <p:cNvPicPr>
            <a:picLocks noChangeAspect="1"/>
          </p:cNvPicPr>
          <p:nvPr/>
        </p:nvPicPr>
        <p:blipFill>
          <a:blip r:embed="rId1"/>
          <a:stretch>
            <a:fillRect/>
          </a:stretch>
        </p:blipFill>
        <p:spPr>
          <a:xfrm>
            <a:off x="822960" y="4096512"/>
            <a:ext cx="274320" cy="274320"/>
          </a:xfrm>
          <a:prstGeom prst="rect">
            <a:avLst/>
          </a:prstGeom>
        </p:spPr>
      </p:pic>
      <p:sp>
        <p:nvSpPr>
          <p:cNvPr id="11" name="Text 8"/>
          <p:cNvSpPr txBox="1"/>
          <p:nvPr/>
        </p:nvSpPr>
        <p:spPr>
          <a:xfrm>
            <a:off x="1188720" y="4069080"/>
            <a:ext cx="4114800" cy="320040"/>
          </a:xfrm>
          <a:prstGeom prst="rect">
            <a:avLst/>
          </a:prstGeom>
          <a:noFill/>
          <a:ln/>
        </p:spPr>
        <p:txBody>
          <a:bodyPr wrap="square" lIns="0" tIns="0" rIns="0" bIns="0" rtlCol="0" anchor="ctr"/>
          <a:lstStyle/>
          <a:p>
            <a:pPr indent="0" marL="0">
              <a:buNone/>
            </a:pPr>
            <a:r>
              <a:rPr lang="en-US" sz="1300" b="1" dirty="0">
                <a:solidFill>
                  <a:srgbClr val="EF5B3F"/>
                </a:solidFill>
              </a:rPr>
              <a:t>STEP 2 · 결정적 단서</a:t>
            </a:r>
            <a:endParaRPr lang="en-US" sz="1300" dirty="0"/>
          </a:p>
        </p:txBody>
      </p:sp>
      <p:sp>
        <p:nvSpPr>
          <p:cNvPr id="12" name="Text 9"/>
          <p:cNvSpPr txBox="1"/>
          <p:nvPr/>
        </p:nvSpPr>
        <p:spPr>
          <a:xfrm>
            <a:off x="822960" y="4480560"/>
            <a:ext cx="4663440" cy="1005840"/>
          </a:xfrm>
          <a:prstGeom prst="rect">
            <a:avLst/>
          </a:prstGeom>
          <a:noFill/>
          <a:ln/>
        </p:spPr>
        <p:txBody>
          <a:bodyPr wrap="square" lIns="0" tIns="0" rIns="0" bIns="0" rtlCol="0" anchor="t"/>
          <a:lstStyle/>
          <a:p>
            <a:pPr indent="0" marL="0">
              <a:buNone/>
            </a:pPr>
            <a:r>
              <a:rPr lang="en-US" sz="1400" i="1" dirty="0">
                <a:solidFill>
                  <a:srgbClr val="14453D"/>
                </a:solidFill>
              </a:rPr>
              <a:t>At the root of trained incapacity is a job with little variety and repetitive tasks.</a:t>
            </a:r>
            <a:endParaRPr lang="en-US" sz="1400" dirty="0"/>
          </a:p>
        </p:txBody>
      </p:sp>
      <p:sp>
        <p:nvSpPr>
          <p:cNvPr id="13" name="Text 10"/>
          <p:cNvSpPr txBox="1"/>
          <p:nvPr/>
        </p:nvSpPr>
        <p:spPr>
          <a:xfrm>
            <a:off x="822960" y="5486400"/>
            <a:ext cx="4663440" cy="685800"/>
          </a:xfrm>
          <a:prstGeom prst="rect">
            <a:avLst/>
          </a:prstGeom>
          <a:noFill/>
          <a:ln/>
        </p:spPr>
        <p:txBody>
          <a:bodyPr wrap="square" lIns="0" tIns="0" rIns="0" bIns="0" rtlCol="0" anchor="t"/>
          <a:lstStyle/>
          <a:p>
            <a:pPr indent="0" marL="0">
              <a:buNone/>
            </a:pPr>
            <a:r>
              <a:rPr lang="en-US" sz="1300" dirty="0">
                <a:solidFill>
                  <a:srgbClr val="6E7F7C"/>
                </a:solidFill>
              </a:rPr>
              <a:t>근원은 다양성이 거의 없는 업무 → 다양성이 '줄어드는' 상황</a:t>
            </a:r>
            <a:endParaRPr lang="en-US" sz="1300" dirty="0"/>
          </a:p>
        </p:txBody>
      </p:sp>
      <p:sp>
        <p:nvSpPr>
          <p:cNvPr id="14" name="Text 11"/>
          <p:cNvSpPr txBox="1"/>
          <p:nvPr/>
        </p:nvSpPr>
        <p:spPr>
          <a:xfrm>
            <a:off x="6217920" y="1325880"/>
            <a:ext cx="2743200" cy="320040"/>
          </a:xfrm>
          <a:prstGeom prst="rect">
            <a:avLst/>
          </a:prstGeom>
          <a:noFill/>
          <a:ln/>
        </p:spPr>
        <p:txBody>
          <a:bodyPr wrap="square" lIns="0" tIns="0" rIns="0" bIns="0" rtlCol="0" anchor="ctr"/>
          <a:lstStyle/>
          <a:p>
            <a:pPr indent="0" marL="0">
              <a:buNone/>
            </a:pPr>
            <a:r>
              <a:rPr lang="en-US" sz="1300" b="1" dirty="0">
                <a:solidFill>
                  <a:srgbClr val="1F7A64"/>
                </a:solidFill>
              </a:rPr>
              <a:t>글의 흐름</a:t>
            </a:r>
            <a:endParaRPr lang="en-US" sz="1300" dirty="0"/>
          </a:p>
        </p:txBody>
      </p:sp>
      <p:sp>
        <p:nvSpPr>
          <p:cNvPr id="15" name="Shape 12"/>
          <p:cNvSpPr/>
          <p:nvPr/>
        </p:nvSpPr>
        <p:spPr>
          <a:xfrm>
            <a:off x="6537960" y="2057400"/>
            <a:ext cx="0" cy="3511296"/>
          </a:xfrm>
          <a:prstGeom prst="line">
            <a:avLst/>
          </a:prstGeom>
          <a:noFill/>
          <a:ln w="38100">
            <a:solidFill>
              <a:srgbClr val="E6F2ED"/>
            </a:solidFill>
            <a:prstDash val="solid"/>
          </a:ln>
        </p:spPr>
      </p:sp>
      <p:sp>
        <p:nvSpPr>
          <p:cNvPr id="16" name="Text 13"/>
          <p:cNvSpPr/>
          <p:nvPr/>
        </p:nvSpPr>
        <p:spPr>
          <a:xfrm>
            <a:off x="6263640" y="1783080"/>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7" name="Text 14"/>
          <p:cNvSpPr txBox="1"/>
          <p:nvPr/>
        </p:nvSpPr>
        <p:spPr>
          <a:xfrm>
            <a:off x="7040880" y="1783080"/>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도입</a:t>
            </a:r>
            <a:endParaRPr lang="en-US" sz="1400" dirty="0"/>
          </a:p>
        </p:txBody>
      </p:sp>
      <p:sp>
        <p:nvSpPr>
          <p:cNvPr id="18" name="Text 15"/>
          <p:cNvSpPr txBox="1"/>
          <p:nvPr/>
        </p:nvSpPr>
        <p:spPr>
          <a:xfrm>
            <a:off x="7040880" y="2121408"/>
            <a:ext cx="4572000" cy="667512"/>
          </a:xfrm>
          <a:prstGeom prst="rect">
            <a:avLst/>
          </a:prstGeom>
          <a:noFill/>
          <a:ln/>
        </p:spPr>
        <p:txBody>
          <a:bodyPr wrap="square" lIns="0" tIns="0" rIns="0" bIns="0" rtlCol="0" anchor="t"/>
          <a:lstStyle/>
          <a:p>
            <a:pPr indent="0" marL="0">
              <a:buNone/>
            </a:pPr>
            <a:r>
              <a:rPr lang="en-US" sz="1400" dirty="0">
                <a:solidFill>
                  <a:srgbClr val="1E2B2A"/>
                </a:solidFill>
              </a:rPr>
              <a:t>조직은 정해진 방식으로 훈련하고 좋은 성과에 보상</a:t>
            </a:r>
            <a:endParaRPr lang="en-US" sz="1400" dirty="0"/>
          </a:p>
        </p:txBody>
      </p:sp>
      <p:sp>
        <p:nvSpPr>
          <p:cNvPr id="19" name="Text 16"/>
          <p:cNvSpPr/>
          <p:nvPr/>
        </p:nvSpPr>
        <p:spPr>
          <a:xfrm>
            <a:off x="6263640" y="2953512"/>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20" name="Text 17"/>
          <p:cNvSpPr txBox="1"/>
          <p:nvPr/>
        </p:nvSpPr>
        <p:spPr>
          <a:xfrm>
            <a:off x="7040880" y="2953512"/>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문제</a:t>
            </a:r>
            <a:endParaRPr lang="en-US" sz="1400" dirty="0"/>
          </a:p>
        </p:txBody>
      </p:sp>
      <p:sp>
        <p:nvSpPr>
          <p:cNvPr id="21" name="Text 18"/>
          <p:cNvSpPr txBox="1"/>
          <p:nvPr/>
        </p:nvSpPr>
        <p:spPr>
          <a:xfrm>
            <a:off x="7040880" y="3291840"/>
            <a:ext cx="4572000" cy="667512"/>
          </a:xfrm>
          <a:prstGeom prst="rect">
            <a:avLst/>
          </a:prstGeom>
          <a:noFill/>
          <a:ln/>
        </p:spPr>
        <p:txBody>
          <a:bodyPr wrap="square" lIns="0" tIns="0" rIns="0" bIns="0" rtlCol="0" anchor="t"/>
          <a:lstStyle/>
          <a:p>
            <a:pPr indent="0" marL="0">
              <a:buNone/>
            </a:pPr>
            <a:r>
              <a:rPr lang="en-US" sz="1400" dirty="0">
                <a:solidFill>
                  <a:srgbClr val="1E2B2A"/>
                </a:solidFill>
              </a:rPr>
              <a:t>생각 없이 반응 → 훈련된 무능, 다른 문제 무시</a:t>
            </a:r>
            <a:endParaRPr lang="en-US" sz="1400" dirty="0"/>
          </a:p>
        </p:txBody>
      </p:sp>
      <p:sp>
        <p:nvSpPr>
          <p:cNvPr id="22" name="Text 19"/>
          <p:cNvSpPr/>
          <p:nvPr/>
        </p:nvSpPr>
        <p:spPr>
          <a:xfrm>
            <a:off x="6263640" y="4123944"/>
            <a:ext cx="548640" cy="548640"/>
          </a:xfrm>
          <a:prstGeom prst="ellipse">
            <a:avLst/>
          </a:prstGeom>
          <a:solidFill>
            <a:srgbClr val="1F7A64"/>
          </a:solid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3" name="Text 20"/>
          <p:cNvSpPr txBox="1"/>
          <p:nvPr/>
        </p:nvSpPr>
        <p:spPr>
          <a:xfrm>
            <a:off x="7040880" y="4123944"/>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원인</a:t>
            </a:r>
            <a:endParaRPr lang="en-US" sz="1400" dirty="0"/>
          </a:p>
        </p:txBody>
      </p:sp>
      <p:sp>
        <p:nvSpPr>
          <p:cNvPr id="24" name="Text 21"/>
          <p:cNvSpPr txBox="1"/>
          <p:nvPr/>
        </p:nvSpPr>
        <p:spPr>
          <a:xfrm>
            <a:off x="7040880" y="4462272"/>
            <a:ext cx="4572000" cy="667512"/>
          </a:xfrm>
          <a:prstGeom prst="rect">
            <a:avLst/>
          </a:prstGeom>
          <a:noFill/>
          <a:ln/>
        </p:spPr>
        <p:txBody>
          <a:bodyPr wrap="square" lIns="0" tIns="0" rIns="0" bIns="0" rtlCol="0" anchor="t"/>
          <a:lstStyle/>
          <a:p>
            <a:pPr indent="0" marL="0">
              <a:buNone/>
            </a:pPr>
            <a:r>
              <a:rPr lang="en-US" sz="1400" dirty="0">
                <a:solidFill>
                  <a:srgbClr val="1E2B2A"/>
                </a:solidFill>
              </a:rPr>
              <a:t>다양성 없는 반복 업무 (little variety)</a:t>
            </a:r>
            <a:endParaRPr lang="en-US" sz="1400" dirty="0"/>
          </a:p>
        </p:txBody>
      </p:sp>
      <p:sp>
        <p:nvSpPr>
          <p:cNvPr id="25" name="Text 22"/>
          <p:cNvSpPr/>
          <p:nvPr/>
        </p:nvSpPr>
        <p:spPr>
          <a:xfrm>
            <a:off x="6263640" y="5294376"/>
            <a:ext cx="548640" cy="548640"/>
          </a:xfrm>
          <a:prstGeom prst="ellipse">
            <a:avLst/>
          </a:prstGeom>
          <a:solidFill>
            <a:srgbClr val="EF5B3F"/>
          </a:solid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6" name="Text 23"/>
          <p:cNvSpPr txBox="1"/>
          <p:nvPr/>
        </p:nvSpPr>
        <p:spPr>
          <a:xfrm>
            <a:off x="7040880" y="5294376"/>
            <a:ext cx="4480560" cy="320040"/>
          </a:xfrm>
          <a:prstGeom prst="rect">
            <a:avLst/>
          </a:prstGeom>
          <a:noFill/>
          <a:ln/>
        </p:spPr>
        <p:txBody>
          <a:bodyPr wrap="square" lIns="0" tIns="0" rIns="0" bIns="0" rtlCol="0" anchor="ctr"/>
          <a:lstStyle/>
          <a:p>
            <a:pPr indent="0" marL="0">
              <a:buNone/>
            </a:pPr>
            <a:r>
              <a:rPr lang="en-US" sz="1400" b="1" dirty="0">
                <a:solidFill>
                  <a:srgbClr val="1F7A64"/>
                </a:solidFill>
              </a:rPr>
              <a:t>결론</a:t>
            </a:r>
            <a:endParaRPr lang="en-US" sz="1400" dirty="0"/>
          </a:p>
        </p:txBody>
      </p:sp>
      <p:sp>
        <p:nvSpPr>
          <p:cNvPr id="27" name="Text 24"/>
          <p:cNvSpPr txBox="1"/>
          <p:nvPr/>
        </p:nvSpPr>
        <p:spPr>
          <a:xfrm>
            <a:off x="7040880" y="5632704"/>
            <a:ext cx="4572000" cy="667512"/>
          </a:xfrm>
          <a:prstGeom prst="rect">
            <a:avLst/>
          </a:prstGeom>
          <a:noFill/>
          <a:ln/>
        </p:spPr>
        <p:txBody>
          <a:bodyPr wrap="square" lIns="0" tIns="0" rIns="0" bIns="0" rtlCol="0" anchor="t"/>
          <a:lstStyle/>
          <a:p>
            <a:pPr indent="0" marL="0">
              <a:buNone/>
            </a:pPr>
            <a:r>
              <a:rPr lang="en-US" sz="1400" dirty="0">
                <a:solidFill>
                  <a:srgbClr val="1E2B2A"/>
                </a:solidFill>
              </a:rPr>
              <a:t>다양성이 '감소'할수록 생각·시간도 감소 → ⑤ increases ✘</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104  </a:t>
            </a:r>
            <a:pPr algn="l" indent="0" marL="0">
              <a:buNone/>
            </a:pPr>
            <a:r>
              <a:rPr lang="en-US" sz="3000" b="1" dirty="0">
                <a:solidFill>
                  <a:srgbClr val="14453D"/>
                </a:solidFill>
              </a:rPr>
              <a:t>정답 &amp; 해설</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어휘 변형 · 정답</a:t>
            </a:r>
            <a:endParaRPr lang="en-US" sz="1200" dirty="0"/>
          </a:p>
        </p:txBody>
      </p:sp>
      <p:sp>
        <p:nvSpPr>
          <p:cNvPr id="4" name="Shape 2"/>
          <p:cNvSpPr/>
          <p:nvPr/>
        </p:nvSpPr>
        <p:spPr>
          <a:xfrm>
            <a:off x="548640" y="1325880"/>
            <a:ext cx="3749040" cy="4983480"/>
          </a:xfrm>
          <a:prstGeom prst="roundRect">
            <a:avLst>
              <a:gd name="adj" fmla="val 3659"/>
            </a:avLst>
          </a:prstGeom>
          <a:solidFill>
            <a:srgbClr val="14453D"/>
          </a:solidFill>
          <a:ln w="12700">
            <a:solidFill>
              <a:srgbClr val="14453D"/>
            </a:solidFill>
            <a:prstDash val="solid"/>
          </a:ln>
        </p:spPr>
      </p:sp>
      <p:sp>
        <p:nvSpPr>
          <p:cNvPr id="5" name="Text 3"/>
          <p:cNvSpPr txBox="1"/>
          <p:nvPr/>
        </p:nvSpPr>
        <p:spPr>
          <a:xfrm>
            <a:off x="868680" y="1554480"/>
            <a:ext cx="3108960" cy="365760"/>
          </a:xfrm>
          <a:prstGeom prst="rect">
            <a:avLst/>
          </a:prstGeom>
          <a:noFill/>
          <a:ln/>
        </p:spPr>
        <p:txBody>
          <a:bodyPr wrap="square" lIns="0" tIns="0" rIns="0" bIns="0" rtlCol="0" anchor="ctr"/>
          <a:lstStyle/>
          <a:p>
            <a:pPr indent="0" marL="0">
              <a:buNone/>
            </a:pPr>
            <a:r>
              <a:rPr lang="en-US" sz="1600" b="1" dirty="0">
                <a:solidFill>
                  <a:srgbClr val="FFD45C"/>
                </a:solidFill>
              </a:rPr>
              <a:t>정답</a:t>
            </a:r>
            <a:endParaRPr lang="en-US" sz="1600" dirty="0"/>
          </a:p>
        </p:txBody>
      </p:sp>
      <p:sp>
        <p:nvSpPr>
          <p:cNvPr id="6" name="Text 4"/>
          <p:cNvSpPr txBox="1"/>
          <p:nvPr/>
        </p:nvSpPr>
        <p:spPr>
          <a:xfrm>
            <a:off x="868680" y="1920240"/>
            <a:ext cx="3108960" cy="1188720"/>
          </a:xfrm>
          <a:prstGeom prst="rect">
            <a:avLst/>
          </a:prstGeom>
          <a:noFill/>
          <a:ln/>
        </p:spPr>
        <p:txBody>
          <a:bodyPr wrap="square" lIns="0" tIns="0" rIns="0" bIns="0" rtlCol="0" anchor="ctr"/>
          <a:lstStyle/>
          <a:p>
            <a:pPr indent="0" marL="0">
              <a:buNone/>
            </a:pPr>
            <a:r>
              <a:rPr lang="en-US" sz="7200" b="1" dirty="0">
                <a:solidFill>
                  <a:srgbClr val="FFFFFF"/>
                </a:solidFill>
              </a:rPr>
              <a:t>⑤</a:t>
            </a:r>
            <a:endParaRPr lang="en-US" sz="7200" dirty="0"/>
          </a:p>
        </p:txBody>
      </p:sp>
      <p:sp>
        <p:nvSpPr>
          <p:cNvPr id="7" name="Text 5"/>
          <p:cNvSpPr txBox="1"/>
          <p:nvPr/>
        </p:nvSpPr>
        <p:spPr>
          <a:xfrm>
            <a:off x="868680" y="3337560"/>
            <a:ext cx="3154680" cy="1280160"/>
          </a:xfrm>
          <a:prstGeom prst="rect">
            <a:avLst/>
          </a:prstGeom>
          <a:noFill/>
          <a:ln/>
        </p:spPr>
        <p:txBody>
          <a:bodyPr wrap="square" lIns="0" tIns="0" rIns="0" bIns="0" rtlCol="0" anchor="t"/>
          <a:lstStyle/>
          <a:p>
            <a:pPr indent="0" marL="0">
              <a:buNone/>
            </a:pPr>
            <a:r>
              <a:rPr lang="en-US" sz="1700" b="1" i="1" dirty="0">
                <a:solidFill>
                  <a:srgbClr val="FFFFFF"/>
                </a:solidFill>
              </a:rPr>
              <a:t>increases</a:t>
            </a:r>
            <a:endParaRPr lang="en-US" sz="1700" dirty="0"/>
          </a:p>
        </p:txBody>
      </p:sp>
      <p:sp>
        <p:nvSpPr>
          <p:cNvPr id="8" name="Text 6"/>
          <p:cNvSpPr txBox="1"/>
          <p:nvPr/>
        </p:nvSpPr>
        <p:spPr>
          <a:xfrm>
            <a:off x="868680" y="4663440"/>
            <a:ext cx="3154680" cy="1463040"/>
          </a:xfrm>
          <a:prstGeom prst="rect">
            <a:avLst/>
          </a:prstGeom>
          <a:noFill/>
          <a:ln/>
        </p:spPr>
        <p:txBody>
          <a:bodyPr wrap="square" lIns="0" tIns="0" rIns="0" bIns="0" rtlCol="0" anchor="t"/>
          <a:lstStyle/>
          <a:p>
            <a:pPr indent="0" marL="0">
              <a:buNone/>
            </a:pPr>
            <a:r>
              <a:rPr lang="en-US" sz="1400" dirty="0">
                <a:solidFill>
                  <a:srgbClr val="E6F2ED"/>
                </a:solidFill>
              </a:rPr>
              <a:t>increases → decreases로 고쳐야 함: 다양성 감소 ↔ 생각·시간 감소</a:t>
            </a:r>
            <a:endParaRPr lang="en-US" sz="1400" dirty="0"/>
          </a:p>
        </p:txBody>
      </p:sp>
      <p:sp>
        <p:nvSpPr>
          <p:cNvPr id="9" name="Shape 7"/>
          <p:cNvSpPr/>
          <p:nvPr/>
        </p:nvSpPr>
        <p:spPr>
          <a:xfrm>
            <a:off x="4572000" y="1325880"/>
            <a:ext cx="7040880" cy="905256"/>
          </a:xfrm>
          <a:prstGeom prst="roundRect">
            <a:avLst>
              <a:gd name="adj" fmla="val 10101"/>
            </a:avLst>
          </a:prstGeom>
          <a:solidFill>
            <a:srgbClr val="FFFFFF"/>
          </a:solidFill>
          <a:ln w="12700">
            <a:solidFill>
              <a:srgbClr val="E6F2ED"/>
            </a:solidFill>
            <a:prstDash val="solid"/>
          </a:ln>
        </p:spPr>
      </p:sp>
      <p:sp>
        <p:nvSpPr>
          <p:cNvPr id="10" name="Text 8"/>
          <p:cNvSpPr txBox="1"/>
          <p:nvPr/>
        </p:nvSpPr>
        <p:spPr>
          <a:xfrm>
            <a:off x="4754880" y="1435608"/>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①</a:t>
            </a:r>
            <a:endParaRPr lang="en-US" sz="2000" dirty="0"/>
          </a:p>
        </p:txBody>
      </p:sp>
      <p:sp>
        <p:nvSpPr>
          <p:cNvPr id="11" name="Text 9"/>
          <p:cNvSpPr txBox="1"/>
          <p:nvPr/>
        </p:nvSpPr>
        <p:spPr>
          <a:xfrm>
            <a:off x="5257800" y="1399032"/>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performance</a:t>
            </a:r>
            <a:endParaRPr lang="en-US" sz="1500" dirty="0"/>
          </a:p>
        </p:txBody>
      </p:sp>
      <p:sp>
        <p:nvSpPr>
          <p:cNvPr id="12" name="Text 10"/>
          <p:cNvSpPr txBox="1"/>
          <p:nvPr/>
        </p:nvSpPr>
        <p:spPr>
          <a:xfrm>
            <a:off x="5257800" y="1801368"/>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좋은 성과에 보상 — 적절</a:t>
            </a:r>
            <a:endParaRPr lang="en-US" sz="1300" dirty="0"/>
          </a:p>
        </p:txBody>
      </p:sp>
      <p:sp>
        <p:nvSpPr>
          <p:cNvPr id="13" name="Shape 11"/>
          <p:cNvSpPr/>
          <p:nvPr/>
        </p:nvSpPr>
        <p:spPr>
          <a:xfrm>
            <a:off x="4572000" y="2340864"/>
            <a:ext cx="7040880" cy="905256"/>
          </a:xfrm>
          <a:prstGeom prst="roundRect">
            <a:avLst>
              <a:gd name="adj" fmla="val 10101"/>
            </a:avLst>
          </a:prstGeom>
          <a:solidFill>
            <a:srgbClr val="FFFFFF"/>
          </a:solidFill>
          <a:ln w="12700">
            <a:solidFill>
              <a:srgbClr val="E6F2ED"/>
            </a:solidFill>
            <a:prstDash val="solid"/>
          </a:ln>
        </p:spPr>
      </p:sp>
      <p:sp>
        <p:nvSpPr>
          <p:cNvPr id="14" name="Text 12"/>
          <p:cNvSpPr txBox="1"/>
          <p:nvPr/>
        </p:nvSpPr>
        <p:spPr>
          <a:xfrm>
            <a:off x="4754880" y="2450592"/>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②</a:t>
            </a:r>
            <a:endParaRPr lang="en-US" sz="2000" dirty="0"/>
          </a:p>
        </p:txBody>
      </p:sp>
      <p:sp>
        <p:nvSpPr>
          <p:cNvPr id="15" name="Text 13"/>
          <p:cNvSpPr txBox="1"/>
          <p:nvPr/>
        </p:nvSpPr>
        <p:spPr>
          <a:xfrm>
            <a:off x="5257800" y="2414016"/>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mindlessly</a:t>
            </a:r>
            <a:endParaRPr lang="en-US" sz="1500" dirty="0"/>
          </a:p>
        </p:txBody>
      </p:sp>
      <p:sp>
        <p:nvSpPr>
          <p:cNvPr id="16" name="Text 14"/>
          <p:cNvSpPr txBox="1"/>
          <p:nvPr/>
        </p:nvSpPr>
        <p:spPr>
          <a:xfrm>
            <a:off x="5257800" y="2816352"/>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생각 없이 반응 → 훈련된 무능 — 적절</a:t>
            </a:r>
            <a:endParaRPr lang="en-US" sz="1300" dirty="0"/>
          </a:p>
        </p:txBody>
      </p:sp>
      <p:sp>
        <p:nvSpPr>
          <p:cNvPr id="17" name="Shape 15"/>
          <p:cNvSpPr/>
          <p:nvPr/>
        </p:nvSpPr>
        <p:spPr>
          <a:xfrm>
            <a:off x="4572000" y="3355848"/>
            <a:ext cx="7040880" cy="905256"/>
          </a:xfrm>
          <a:prstGeom prst="roundRect">
            <a:avLst>
              <a:gd name="adj" fmla="val 10101"/>
            </a:avLst>
          </a:prstGeom>
          <a:solidFill>
            <a:srgbClr val="FFFFFF"/>
          </a:solidFill>
          <a:ln w="12700">
            <a:solidFill>
              <a:srgbClr val="E6F2ED"/>
            </a:solidFill>
            <a:prstDash val="solid"/>
          </a:ln>
        </p:spPr>
      </p:sp>
      <p:sp>
        <p:nvSpPr>
          <p:cNvPr id="18" name="Text 16"/>
          <p:cNvSpPr txBox="1"/>
          <p:nvPr/>
        </p:nvSpPr>
        <p:spPr>
          <a:xfrm>
            <a:off x="4754880" y="3465576"/>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③</a:t>
            </a:r>
            <a:endParaRPr lang="en-US" sz="2000" dirty="0"/>
          </a:p>
        </p:txBody>
      </p:sp>
      <p:sp>
        <p:nvSpPr>
          <p:cNvPr id="19" name="Text 17"/>
          <p:cNvSpPr txBox="1"/>
          <p:nvPr/>
        </p:nvSpPr>
        <p:spPr>
          <a:xfrm>
            <a:off x="5257800" y="3429000"/>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ignoring</a:t>
            </a:r>
            <a:endParaRPr lang="en-US" sz="1500" dirty="0"/>
          </a:p>
        </p:txBody>
      </p:sp>
      <p:sp>
        <p:nvSpPr>
          <p:cNvPr id="20" name="Text 18"/>
          <p:cNvSpPr txBox="1"/>
          <p:nvPr/>
        </p:nvSpPr>
        <p:spPr>
          <a:xfrm>
            <a:off x="5257800" y="3831336"/>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효율만 좇다 다른 문제를 무시 — 적절</a:t>
            </a:r>
            <a:endParaRPr lang="en-US" sz="1300" dirty="0"/>
          </a:p>
        </p:txBody>
      </p:sp>
      <p:sp>
        <p:nvSpPr>
          <p:cNvPr id="21" name="Shape 19"/>
          <p:cNvSpPr/>
          <p:nvPr/>
        </p:nvSpPr>
        <p:spPr>
          <a:xfrm>
            <a:off x="4572000" y="4370832"/>
            <a:ext cx="7040880" cy="905256"/>
          </a:xfrm>
          <a:prstGeom prst="roundRect">
            <a:avLst>
              <a:gd name="adj" fmla="val 10101"/>
            </a:avLst>
          </a:prstGeom>
          <a:solidFill>
            <a:srgbClr val="FFFFFF"/>
          </a:solidFill>
          <a:ln w="12700">
            <a:solidFill>
              <a:srgbClr val="E6F2ED"/>
            </a:solidFill>
            <a:prstDash val="solid"/>
          </a:ln>
        </p:spPr>
      </p:sp>
      <p:sp>
        <p:nvSpPr>
          <p:cNvPr id="22" name="Text 20"/>
          <p:cNvSpPr txBox="1"/>
          <p:nvPr/>
        </p:nvSpPr>
        <p:spPr>
          <a:xfrm>
            <a:off x="4754880" y="4480560"/>
            <a:ext cx="411480" cy="411480"/>
          </a:xfrm>
          <a:prstGeom prst="rect">
            <a:avLst/>
          </a:prstGeom>
          <a:noFill/>
          <a:ln/>
        </p:spPr>
        <p:txBody>
          <a:bodyPr wrap="square" lIns="0" tIns="0" rIns="0" bIns="0" rtlCol="0" anchor="ctr"/>
          <a:lstStyle/>
          <a:p>
            <a:pPr indent="0" marL="0">
              <a:buNone/>
            </a:pPr>
            <a:r>
              <a:rPr lang="en-US" sz="2000" b="1" dirty="0">
                <a:solidFill>
                  <a:srgbClr val="6E7F7C"/>
                </a:solidFill>
              </a:rPr>
              <a:t>④</a:t>
            </a:r>
            <a:endParaRPr lang="en-US" sz="2000" dirty="0"/>
          </a:p>
        </p:txBody>
      </p:sp>
      <p:sp>
        <p:nvSpPr>
          <p:cNvPr id="23" name="Text 21"/>
          <p:cNvSpPr txBox="1"/>
          <p:nvPr/>
        </p:nvSpPr>
        <p:spPr>
          <a:xfrm>
            <a:off x="5257800" y="4443984"/>
            <a:ext cx="6172200" cy="411480"/>
          </a:xfrm>
          <a:prstGeom prst="rect">
            <a:avLst/>
          </a:prstGeom>
          <a:noFill/>
          <a:ln/>
        </p:spPr>
        <p:txBody>
          <a:bodyPr wrap="square" lIns="0" tIns="0" rIns="0" bIns="0" rtlCol="0" anchor="ctr">
            <a:normAutofit/>
          </a:bodyPr>
          <a:lstStyle/>
          <a:p>
            <a:pPr indent="0" marL="0">
              <a:buNone/>
            </a:pPr>
            <a:r>
              <a:rPr lang="en-US" sz="1500" dirty="0">
                <a:solidFill>
                  <a:srgbClr val="14453D"/>
                </a:solidFill>
              </a:rPr>
              <a:t>repetitive</a:t>
            </a:r>
            <a:endParaRPr lang="en-US" sz="1500" dirty="0"/>
          </a:p>
        </p:txBody>
      </p:sp>
      <p:sp>
        <p:nvSpPr>
          <p:cNvPr id="24" name="Text 22"/>
          <p:cNvSpPr txBox="1"/>
          <p:nvPr/>
        </p:nvSpPr>
        <p:spPr>
          <a:xfrm>
            <a:off x="5257800" y="4846320"/>
            <a:ext cx="6172200" cy="365760"/>
          </a:xfrm>
          <a:prstGeom prst="rect">
            <a:avLst/>
          </a:prstGeom>
          <a:noFill/>
          <a:ln/>
        </p:spPr>
        <p:txBody>
          <a:bodyPr wrap="square" lIns="0" tIns="0" rIns="0" bIns="0" rtlCol="0" anchor="ctr">
            <a:normAutofit/>
          </a:bodyPr>
          <a:lstStyle/>
          <a:p>
            <a:pPr indent="0" marL="0">
              <a:buNone/>
            </a:pPr>
            <a:r>
              <a:rPr lang="en-US" sz="1300" dirty="0">
                <a:solidFill>
                  <a:srgbClr val="6E7F7C"/>
                </a:solidFill>
              </a:rPr>
              <a:t>○ little variety와 짝 — 적절</a:t>
            </a:r>
            <a:endParaRPr lang="en-US" sz="1300" dirty="0"/>
          </a:p>
        </p:txBody>
      </p:sp>
      <p:sp>
        <p:nvSpPr>
          <p:cNvPr id="25" name="Shape 23"/>
          <p:cNvSpPr/>
          <p:nvPr/>
        </p:nvSpPr>
        <p:spPr>
          <a:xfrm>
            <a:off x="4572000" y="5385816"/>
            <a:ext cx="7040880" cy="905256"/>
          </a:xfrm>
          <a:prstGeom prst="roundRect">
            <a:avLst>
              <a:gd name="adj" fmla="val 10101"/>
            </a:avLst>
          </a:prstGeom>
          <a:solidFill>
            <a:srgbClr val="F7E9E4"/>
          </a:solidFill>
          <a:ln w="25400">
            <a:solidFill>
              <a:srgbClr val="EF5B3F"/>
            </a:solidFill>
            <a:prstDash val="solid"/>
          </a:ln>
        </p:spPr>
      </p:sp>
      <p:sp>
        <p:nvSpPr>
          <p:cNvPr id="26" name="Text 24"/>
          <p:cNvSpPr txBox="1"/>
          <p:nvPr/>
        </p:nvSpPr>
        <p:spPr>
          <a:xfrm>
            <a:off x="4754880" y="5495544"/>
            <a:ext cx="411480" cy="411480"/>
          </a:xfrm>
          <a:prstGeom prst="rect">
            <a:avLst/>
          </a:prstGeom>
          <a:noFill/>
          <a:ln/>
        </p:spPr>
        <p:txBody>
          <a:bodyPr wrap="square" lIns="0" tIns="0" rIns="0" bIns="0" rtlCol="0" anchor="ctr"/>
          <a:lstStyle/>
          <a:p>
            <a:pPr indent="0" marL="0">
              <a:buNone/>
            </a:pPr>
            <a:r>
              <a:rPr lang="en-US" sz="2000" b="1" dirty="0">
                <a:solidFill>
                  <a:srgbClr val="EF5B3F"/>
                </a:solidFill>
              </a:rPr>
              <a:t>⑤</a:t>
            </a:r>
            <a:endParaRPr lang="en-US" sz="2000" dirty="0"/>
          </a:p>
        </p:txBody>
      </p:sp>
      <p:sp>
        <p:nvSpPr>
          <p:cNvPr id="27" name="Text 25"/>
          <p:cNvSpPr txBox="1"/>
          <p:nvPr/>
        </p:nvSpPr>
        <p:spPr>
          <a:xfrm>
            <a:off x="5257800" y="5458968"/>
            <a:ext cx="6172200" cy="411480"/>
          </a:xfrm>
          <a:prstGeom prst="rect">
            <a:avLst/>
          </a:prstGeom>
          <a:noFill/>
          <a:ln/>
        </p:spPr>
        <p:txBody>
          <a:bodyPr wrap="square" lIns="0" tIns="0" rIns="0" bIns="0" rtlCol="0" anchor="ctr">
            <a:normAutofit/>
          </a:bodyPr>
          <a:lstStyle/>
          <a:p>
            <a:pPr indent="0" marL="0">
              <a:buNone/>
            </a:pPr>
            <a:r>
              <a:rPr lang="en-US" sz="1500" b="1" dirty="0">
                <a:solidFill>
                  <a:srgbClr val="14453D"/>
                </a:solidFill>
              </a:rPr>
              <a:t>increases</a:t>
            </a:r>
            <a:endParaRPr lang="en-US" sz="1500" dirty="0"/>
          </a:p>
        </p:txBody>
      </p:sp>
      <p:sp>
        <p:nvSpPr>
          <p:cNvPr id="28" name="Text 26"/>
          <p:cNvSpPr txBox="1"/>
          <p:nvPr/>
        </p:nvSpPr>
        <p:spPr>
          <a:xfrm>
            <a:off x="5257800" y="5861304"/>
            <a:ext cx="6172200" cy="365760"/>
          </a:xfrm>
          <a:prstGeom prst="rect">
            <a:avLst/>
          </a:prstGeom>
          <a:noFill/>
          <a:ln/>
        </p:spPr>
        <p:txBody>
          <a:bodyPr wrap="square" lIns="0" tIns="0" rIns="0" bIns="0" rtlCol="0" anchor="ctr">
            <a:normAutofit/>
          </a:bodyPr>
          <a:lstStyle/>
          <a:p>
            <a:pPr indent="0" marL="0">
              <a:buNone/>
            </a:pPr>
            <a:r>
              <a:rPr lang="en-US" sz="1300" dirty="0">
                <a:solidFill>
                  <a:srgbClr val="EF5B3F"/>
                </a:solidFill>
              </a:rPr>
              <a:t>✔ increases → decreases로 고쳐야 함: 다양성 감소 ↔ 생각·시간 감소</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EF5B3F"/>
                </a:solidFill>
              </a:rPr>
              <a:t>Ex 104  </a:t>
            </a:r>
            <a:pPr algn="l" indent="0" marL="0">
              <a:buNone/>
            </a:pPr>
            <a:r>
              <a:rPr lang="en-US" sz="3000" b="1" dirty="0">
                <a:solidFill>
                  <a:srgbClr val="14453D"/>
                </a:solidFill>
              </a:rPr>
              <a:t>내신 어법 체크: 알맞은 것은?</a:t>
            </a:r>
            <a:endParaRPr lang="en-US" sz="3000" dirty="0"/>
          </a:p>
        </p:txBody>
      </p:sp>
      <p:sp>
        <p:nvSpPr>
          <p:cNvPr id="3" name="Text 1"/>
          <p:cNvSpPr/>
          <p:nvPr/>
        </p:nvSpPr>
        <p:spPr>
          <a:xfrm>
            <a:off x="9692640" y="548640"/>
            <a:ext cx="1920240" cy="329184"/>
          </a:xfrm>
          <a:prstGeom prst="roundRect">
            <a:avLst>
              <a:gd name="adj" fmla="val 41667"/>
            </a:avLst>
          </a:prstGeom>
          <a:solidFill>
            <a:srgbClr val="E6F2ED"/>
          </a:solidFill>
          <a:ln/>
        </p:spPr>
        <p:txBody>
          <a:bodyPr wrap="square" lIns="0" tIns="0" rIns="0" bIns="0" rtlCol="0" anchor="ctr"/>
          <a:lstStyle/>
          <a:p>
            <a:pPr algn="ctr" indent="0" marL="0">
              <a:buNone/>
            </a:pPr>
            <a:r>
              <a:rPr lang="en-US" sz="1200" b="1" dirty="0">
                <a:solidFill>
                  <a:srgbClr val="14453D"/>
                </a:solidFill>
              </a:rPr>
              <a:t>어휘 변형 · 어법</a:t>
            </a:r>
            <a:endParaRPr lang="en-US" sz="1200" dirty="0"/>
          </a:p>
        </p:txBody>
      </p:sp>
      <p:sp>
        <p:nvSpPr>
          <p:cNvPr id="4" name="Shape 2"/>
          <p:cNvSpPr/>
          <p:nvPr/>
        </p:nvSpPr>
        <p:spPr>
          <a:xfrm>
            <a:off x="548640" y="1325880"/>
            <a:ext cx="11064240" cy="1143000"/>
          </a:xfrm>
          <a:prstGeom prst="roundRect">
            <a:avLst>
              <a:gd name="adj" fmla="val 8000"/>
            </a:avLst>
          </a:prstGeom>
          <a:solidFill>
            <a:srgbClr val="F2F8FB"/>
          </a:solidFill>
          <a:ln w="12700">
            <a:solidFill>
              <a:srgbClr val="D3E5EE"/>
            </a:solidFill>
            <a:prstDash val="solid"/>
          </a:ln>
        </p:spPr>
      </p:sp>
      <p:sp>
        <p:nvSpPr>
          <p:cNvPr id="5" name="Text 3"/>
          <p:cNvSpPr/>
          <p:nvPr/>
        </p:nvSpPr>
        <p:spPr>
          <a:xfrm>
            <a:off x="777240" y="162306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1554480" y="132588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Formal organizations train workers </a:t>
            </a:r>
            <a:pPr indent="0" marL="0">
              <a:buNone/>
            </a:pPr>
            <a:r>
              <a:rPr lang="en-US" sz="1900" b="1" dirty="0">
                <a:solidFill>
                  <a:srgbClr val="EF5B3F"/>
                </a:solidFill>
              </a:rPr>
              <a:t>[to perform / perform]</a:t>
            </a:r>
            <a:pPr indent="0" marL="0">
              <a:buNone/>
            </a:pPr>
            <a:r>
              <a:rPr lang="en-US" sz="1900" dirty="0">
                <a:solidFill>
                  <a:srgbClr val="1E2B2A"/>
                </a:solidFill>
              </a:rPr>
              <a:t> their jobs in a certain way.</a:t>
            </a:r>
            <a:endParaRPr lang="en-US" sz="1900" dirty="0"/>
          </a:p>
        </p:txBody>
      </p:sp>
      <p:sp>
        <p:nvSpPr>
          <p:cNvPr id="7" name="Shape 5"/>
          <p:cNvSpPr/>
          <p:nvPr/>
        </p:nvSpPr>
        <p:spPr>
          <a:xfrm>
            <a:off x="548640" y="2606040"/>
            <a:ext cx="11064240" cy="1143000"/>
          </a:xfrm>
          <a:prstGeom prst="roundRect">
            <a:avLst>
              <a:gd name="adj" fmla="val 8000"/>
            </a:avLst>
          </a:prstGeom>
          <a:solidFill>
            <a:srgbClr val="FFFFFF"/>
          </a:solidFill>
          <a:ln w="12700">
            <a:solidFill>
              <a:srgbClr val="D3E5EE"/>
            </a:solidFill>
            <a:prstDash val="solid"/>
          </a:ln>
        </p:spPr>
      </p:sp>
      <p:sp>
        <p:nvSpPr>
          <p:cNvPr id="8" name="Text 6"/>
          <p:cNvSpPr/>
          <p:nvPr/>
        </p:nvSpPr>
        <p:spPr>
          <a:xfrm>
            <a:off x="777240" y="290322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9" name="Text 7"/>
          <p:cNvSpPr txBox="1"/>
          <p:nvPr/>
        </p:nvSpPr>
        <p:spPr>
          <a:xfrm>
            <a:off x="1554480" y="260604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…trained incapacity—the inability </a:t>
            </a:r>
            <a:pPr indent="0" marL="0">
              <a:buNone/>
            </a:pPr>
            <a:r>
              <a:rPr lang="en-US" sz="1900" b="1" dirty="0">
                <a:solidFill>
                  <a:srgbClr val="EF5B3F"/>
                </a:solidFill>
              </a:rPr>
              <a:t>[to respond / responding]</a:t>
            </a:r>
            <a:pPr indent="0" marL="0">
              <a:buNone/>
            </a:pPr>
            <a:r>
              <a:rPr lang="en-US" sz="1900" dirty="0">
                <a:solidFill>
                  <a:srgbClr val="1E2B2A"/>
                </a:solidFill>
              </a:rPr>
              <a:t> to new or unusual circumstances.</a:t>
            </a:r>
            <a:endParaRPr lang="en-US" sz="1900" dirty="0"/>
          </a:p>
        </p:txBody>
      </p:sp>
      <p:sp>
        <p:nvSpPr>
          <p:cNvPr id="10" name="Shape 8"/>
          <p:cNvSpPr/>
          <p:nvPr/>
        </p:nvSpPr>
        <p:spPr>
          <a:xfrm>
            <a:off x="548640" y="3886200"/>
            <a:ext cx="11064240" cy="1143000"/>
          </a:xfrm>
          <a:prstGeom prst="roundRect">
            <a:avLst>
              <a:gd name="adj" fmla="val 8000"/>
            </a:avLst>
          </a:prstGeom>
          <a:solidFill>
            <a:srgbClr val="F2F8FB"/>
          </a:solidFill>
          <a:ln w="12700">
            <a:solidFill>
              <a:srgbClr val="D3E5EE"/>
            </a:solidFill>
            <a:prstDash val="solid"/>
          </a:ln>
        </p:spPr>
      </p:sp>
      <p:sp>
        <p:nvSpPr>
          <p:cNvPr id="11" name="Text 9"/>
          <p:cNvSpPr/>
          <p:nvPr/>
        </p:nvSpPr>
        <p:spPr>
          <a:xfrm>
            <a:off x="777240" y="4183380"/>
            <a:ext cx="548640" cy="548640"/>
          </a:xfrm>
          <a:prstGeom prst="ellipse">
            <a:avLst/>
          </a:prstGeom>
          <a:solidFill>
            <a:srgbClr val="1F7A64"/>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2" name="Text 10"/>
          <p:cNvSpPr txBox="1"/>
          <p:nvPr/>
        </p:nvSpPr>
        <p:spPr>
          <a:xfrm>
            <a:off x="1554480" y="3886200"/>
            <a:ext cx="9875520" cy="1143000"/>
          </a:xfrm>
          <a:prstGeom prst="rect">
            <a:avLst/>
          </a:prstGeom>
          <a:noFill/>
          <a:ln/>
        </p:spPr>
        <p:txBody>
          <a:bodyPr wrap="square" lIns="0" tIns="0" rIns="0" bIns="0" rtlCol="0" anchor="ctr">
            <a:normAutofit/>
          </a:bodyPr>
          <a:lstStyle/>
          <a:p>
            <a:pPr indent="0" marL="0">
              <a:buNone/>
            </a:pPr>
            <a:r>
              <a:rPr lang="en-US" sz="1900" dirty="0">
                <a:solidFill>
                  <a:srgbClr val="1E2B2A"/>
                </a:solidFill>
              </a:rPr>
              <a:t>…the amount of thought and time needed to perform a job also </a:t>
            </a:r>
            <a:pPr indent="0" marL="0">
              <a:buNone/>
            </a:pPr>
            <a:r>
              <a:rPr lang="en-US" sz="1900" b="1" dirty="0">
                <a:solidFill>
                  <a:srgbClr val="EF5B3F"/>
                </a:solidFill>
              </a:rPr>
              <a:t>[decrease / decreases]</a:t>
            </a:r>
            <a:pPr indent="0" marL="0">
              <a:buNone/>
            </a:pPr>
            <a:r>
              <a:rPr lang="en-US" sz="1900" dirty="0">
                <a:solidFill>
                  <a:srgbClr val="1E2B2A"/>
                </a:solidFill>
              </a:rPr>
              <a:t>.</a:t>
            </a:r>
            <a:endParaRPr lang="en-US" sz="19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14453D"/>
                </a:solidFill>
              </a:rPr>
              <a:t>어휘 스피드 퀴즈</a:t>
            </a:r>
            <a:endParaRPr lang="en-US" sz="3000" dirty="0"/>
          </a:p>
        </p:txBody>
      </p:sp>
      <p:sp>
        <p:nvSpPr>
          <p:cNvPr id="3" name="Text 1"/>
          <p:cNvSpPr/>
          <p:nvPr/>
        </p:nvSpPr>
        <p:spPr>
          <a:xfrm>
            <a:off x="9692640" y="548640"/>
            <a:ext cx="1920240" cy="329184"/>
          </a:xfrm>
          <a:prstGeom prst="roundRect">
            <a:avLst>
              <a:gd name="adj" fmla="val 41667"/>
            </a:avLst>
          </a:prstGeom>
          <a:solidFill>
            <a:srgbClr val="EF5B3F"/>
          </a:solidFill>
          <a:ln/>
        </p:spPr>
        <p:txBody>
          <a:bodyPr wrap="square" lIns="0" tIns="0" rIns="0" bIns="0" rtlCol="0" anchor="ctr"/>
          <a:lstStyle/>
          <a:p>
            <a:pPr algn="ctr" indent="0" marL="0">
              <a:buNone/>
            </a:pPr>
            <a:r>
              <a:rPr lang="en-US" sz="1200" b="1" dirty="0">
                <a:solidFill>
                  <a:srgbClr val="FFFFFF"/>
                </a:solidFill>
              </a:rPr>
              <a:t>복습 미니테스트</a:t>
            </a:r>
            <a:endParaRPr lang="en-US" sz="1200" dirty="0"/>
          </a:p>
        </p:txBody>
      </p:sp>
      <p:sp>
        <p:nvSpPr>
          <p:cNvPr id="4" name="Shape 2"/>
          <p:cNvSpPr/>
          <p:nvPr/>
        </p:nvSpPr>
        <p:spPr>
          <a:xfrm>
            <a:off x="548640" y="1325880"/>
            <a:ext cx="3566160" cy="1101852"/>
          </a:xfrm>
          <a:prstGeom prst="roundRect">
            <a:avLst>
              <a:gd name="adj" fmla="val 9959"/>
            </a:avLst>
          </a:prstGeom>
          <a:solidFill>
            <a:srgbClr val="FFFFFF"/>
          </a:solidFill>
          <a:ln w="19050">
            <a:solidFill>
              <a:srgbClr val="E6F2ED"/>
            </a:solidFill>
            <a:prstDash val="solid"/>
          </a:ln>
        </p:spPr>
      </p:sp>
      <p:sp>
        <p:nvSpPr>
          <p:cNvPr id="5" name="Text 3"/>
          <p:cNvSpPr/>
          <p:nvPr/>
        </p:nvSpPr>
        <p:spPr>
          <a:xfrm>
            <a:off x="731520" y="1648206"/>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71600" y="1325880"/>
            <a:ext cx="2606040" cy="1101852"/>
          </a:xfrm>
          <a:prstGeom prst="rect">
            <a:avLst/>
          </a:prstGeom>
          <a:noFill/>
          <a:ln/>
        </p:spPr>
        <p:txBody>
          <a:bodyPr wrap="square" lIns="0" tIns="0" rIns="0" bIns="0" rtlCol="0" anchor="ctr">
            <a:normAutofit/>
          </a:bodyPr>
          <a:lstStyle/>
          <a:p>
            <a:pPr indent="0" marL="0">
              <a:buNone/>
            </a:pPr>
            <a:r>
              <a:rPr lang="en-US" sz="2000" b="1" dirty="0">
                <a:solidFill>
                  <a:srgbClr val="14453D"/>
                </a:solidFill>
              </a:rPr>
              <a:t>preserve</a:t>
            </a:r>
            <a:endParaRPr lang="en-US" sz="2000" dirty="0"/>
          </a:p>
        </p:txBody>
      </p:sp>
      <p:sp>
        <p:nvSpPr>
          <p:cNvPr id="7" name="Shape 5"/>
          <p:cNvSpPr/>
          <p:nvPr/>
        </p:nvSpPr>
        <p:spPr>
          <a:xfrm>
            <a:off x="4297680" y="1325880"/>
            <a:ext cx="3566160" cy="1101852"/>
          </a:xfrm>
          <a:prstGeom prst="roundRect">
            <a:avLst>
              <a:gd name="adj" fmla="val 9959"/>
            </a:avLst>
          </a:prstGeom>
          <a:solidFill>
            <a:srgbClr val="FFFFFF"/>
          </a:solidFill>
          <a:ln w="19050">
            <a:solidFill>
              <a:srgbClr val="E6F2ED"/>
            </a:solidFill>
            <a:prstDash val="solid"/>
          </a:ln>
        </p:spPr>
      </p:sp>
      <p:sp>
        <p:nvSpPr>
          <p:cNvPr id="8" name="Text 6"/>
          <p:cNvSpPr/>
          <p:nvPr/>
        </p:nvSpPr>
        <p:spPr>
          <a:xfrm>
            <a:off x="4480560" y="1648206"/>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Text 7"/>
          <p:cNvSpPr txBox="1"/>
          <p:nvPr/>
        </p:nvSpPr>
        <p:spPr>
          <a:xfrm>
            <a:off x="5120640" y="1325880"/>
            <a:ext cx="2606040" cy="1101852"/>
          </a:xfrm>
          <a:prstGeom prst="rect">
            <a:avLst/>
          </a:prstGeom>
          <a:noFill/>
          <a:ln/>
        </p:spPr>
        <p:txBody>
          <a:bodyPr wrap="square" lIns="0" tIns="0" rIns="0" bIns="0" rtlCol="0" anchor="ctr">
            <a:normAutofit/>
          </a:bodyPr>
          <a:lstStyle/>
          <a:p>
            <a:pPr indent="0" marL="0">
              <a:buNone/>
            </a:pPr>
            <a:r>
              <a:rPr lang="en-US" sz="2000" b="1" dirty="0">
                <a:solidFill>
                  <a:srgbClr val="14453D"/>
                </a:solidFill>
              </a:rPr>
              <a:t>heritage</a:t>
            </a:r>
            <a:endParaRPr lang="en-US" sz="2000" dirty="0"/>
          </a:p>
        </p:txBody>
      </p:sp>
      <p:sp>
        <p:nvSpPr>
          <p:cNvPr id="10" name="Shape 8"/>
          <p:cNvSpPr/>
          <p:nvPr/>
        </p:nvSpPr>
        <p:spPr>
          <a:xfrm>
            <a:off x="8046720" y="1325880"/>
            <a:ext cx="3566160" cy="1101852"/>
          </a:xfrm>
          <a:prstGeom prst="roundRect">
            <a:avLst>
              <a:gd name="adj" fmla="val 9959"/>
            </a:avLst>
          </a:prstGeom>
          <a:solidFill>
            <a:srgbClr val="FFFFFF"/>
          </a:solidFill>
          <a:ln w="19050">
            <a:solidFill>
              <a:srgbClr val="E6F2ED"/>
            </a:solidFill>
            <a:prstDash val="solid"/>
          </a:ln>
        </p:spPr>
      </p:sp>
      <p:sp>
        <p:nvSpPr>
          <p:cNvPr id="11" name="Text 9"/>
          <p:cNvSpPr/>
          <p:nvPr/>
        </p:nvSpPr>
        <p:spPr>
          <a:xfrm>
            <a:off x="8229600" y="1648206"/>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2" name="Text 10"/>
          <p:cNvSpPr txBox="1"/>
          <p:nvPr/>
        </p:nvSpPr>
        <p:spPr>
          <a:xfrm>
            <a:off x="8869680" y="1325880"/>
            <a:ext cx="2606040" cy="1101852"/>
          </a:xfrm>
          <a:prstGeom prst="rect">
            <a:avLst/>
          </a:prstGeom>
          <a:noFill/>
          <a:ln/>
        </p:spPr>
        <p:txBody>
          <a:bodyPr wrap="square" lIns="0" tIns="0" rIns="0" bIns="0" rtlCol="0" anchor="ctr">
            <a:normAutofit/>
          </a:bodyPr>
          <a:lstStyle/>
          <a:p>
            <a:pPr indent="0" marL="0">
              <a:buNone/>
            </a:pPr>
            <a:r>
              <a:rPr lang="en-US" sz="2000" b="1" dirty="0">
                <a:solidFill>
                  <a:srgbClr val="14453D"/>
                </a:solidFill>
              </a:rPr>
              <a:t>identical</a:t>
            </a:r>
            <a:endParaRPr lang="en-US" sz="2000" dirty="0"/>
          </a:p>
        </p:txBody>
      </p:sp>
      <p:sp>
        <p:nvSpPr>
          <p:cNvPr id="13" name="Shape 11"/>
          <p:cNvSpPr/>
          <p:nvPr/>
        </p:nvSpPr>
        <p:spPr>
          <a:xfrm>
            <a:off x="548640" y="2537460"/>
            <a:ext cx="3566160" cy="1101852"/>
          </a:xfrm>
          <a:prstGeom prst="roundRect">
            <a:avLst>
              <a:gd name="adj" fmla="val 9959"/>
            </a:avLst>
          </a:prstGeom>
          <a:solidFill>
            <a:srgbClr val="FFFFFF"/>
          </a:solidFill>
          <a:ln w="19050">
            <a:solidFill>
              <a:srgbClr val="E6F2ED"/>
            </a:solidFill>
            <a:prstDash val="solid"/>
          </a:ln>
        </p:spPr>
      </p:sp>
      <p:sp>
        <p:nvSpPr>
          <p:cNvPr id="14" name="Text 12"/>
          <p:cNvSpPr/>
          <p:nvPr/>
        </p:nvSpPr>
        <p:spPr>
          <a:xfrm>
            <a:off x="731520" y="2859786"/>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5" name="Text 13"/>
          <p:cNvSpPr txBox="1"/>
          <p:nvPr/>
        </p:nvSpPr>
        <p:spPr>
          <a:xfrm>
            <a:off x="1371600" y="2537460"/>
            <a:ext cx="2606040" cy="1101852"/>
          </a:xfrm>
          <a:prstGeom prst="rect">
            <a:avLst/>
          </a:prstGeom>
          <a:noFill/>
          <a:ln/>
        </p:spPr>
        <p:txBody>
          <a:bodyPr wrap="square" lIns="0" tIns="0" rIns="0" bIns="0" rtlCol="0" anchor="ctr">
            <a:normAutofit/>
          </a:bodyPr>
          <a:lstStyle/>
          <a:p>
            <a:pPr indent="0" marL="0">
              <a:buNone/>
            </a:pPr>
            <a:r>
              <a:rPr lang="en-US" sz="2000" b="1" dirty="0">
                <a:solidFill>
                  <a:srgbClr val="14453D"/>
                </a:solidFill>
              </a:rPr>
              <a:t>inclined</a:t>
            </a:r>
            <a:endParaRPr lang="en-US" sz="2000" dirty="0"/>
          </a:p>
        </p:txBody>
      </p:sp>
      <p:sp>
        <p:nvSpPr>
          <p:cNvPr id="16" name="Shape 14"/>
          <p:cNvSpPr/>
          <p:nvPr/>
        </p:nvSpPr>
        <p:spPr>
          <a:xfrm>
            <a:off x="4297680" y="2537460"/>
            <a:ext cx="3566160" cy="1101852"/>
          </a:xfrm>
          <a:prstGeom prst="roundRect">
            <a:avLst>
              <a:gd name="adj" fmla="val 9959"/>
            </a:avLst>
          </a:prstGeom>
          <a:solidFill>
            <a:srgbClr val="FFFFFF"/>
          </a:solidFill>
          <a:ln w="19050">
            <a:solidFill>
              <a:srgbClr val="E6F2ED"/>
            </a:solidFill>
            <a:prstDash val="solid"/>
          </a:ln>
        </p:spPr>
      </p:sp>
      <p:sp>
        <p:nvSpPr>
          <p:cNvPr id="17" name="Text 15"/>
          <p:cNvSpPr/>
          <p:nvPr/>
        </p:nvSpPr>
        <p:spPr>
          <a:xfrm>
            <a:off x="4480560" y="2859786"/>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8" name="Text 16"/>
          <p:cNvSpPr txBox="1"/>
          <p:nvPr/>
        </p:nvSpPr>
        <p:spPr>
          <a:xfrm>
            <a:off x="5120640" y="2537460"/>
            <a:ext cx="2606040" cy="1101852"/>
          </a:xfrm>
          <a:prstGeom prst="rect">
            <a:avLst/>
          </a:prstGeom>
          <a:noFill/>
          <a:ln/>
        </p:spPr>
        <p:txBody>
          <a:bodyPr wrap="square" lIns="0" tIns="0" rIns="0" bIns="0" rtlCol="0" anchor="ctr">
            <a:normAutofit/>
          </a:bodyPr>
          <a:lstStyle/>
          <a:p>
            <a:pPr indent="0" marL="0">
              <a:buNone/>
            </a:pPr>
            <a:r>
              <a:rPr lang="en-US" sz="2000" b="1" dirty="0">
                <a:solidFill>
                  <a:srgbClr val="14453D"/>
                </a:solidFill>
              </a:rPr>
              <a:t>consistently</a:t>
            </a:r>
            <a:endParaRPr lang="en-US" sz="2000" dirty="0"/>
          </a:p>
        </p:txBody>
      </p:sp>
      <p:sp>
        <p:nvSpPr>
          <p:cNvPr id="19" name="Shape 17"/>
          <p:cNvSpPr/>
          <p:nvPr/>
        </p:nvSpPr>
        <p:spPr>
          <a:xfrm>
            <a:off x="8046720" y="2537460"/>
            <a:ext cx="3566160" cy="1101852"/>
          </a:xfrm>
          <a:prstGeom prst="roundRect">
            <a:avLst>
              <a:gd name="adj" fmla="val 9959"/>
            </a:avLst>
          </a:prstGeom>
          <a:solidFill>
            <a:srgbClr val="FFFFFF"/>
          </a:solidFill>
          <a:ln w="19050">
            <a:solidFill>
              <a:srgbClr val="E6F2ED"/>
            </a:solidFill>
            <a:prstDash val="solid"/>
          </a:ln>
        </p:spPr>
      </p:sp>
      <p:sp>
        <p:nvSpPr>
          <p:cNvPr id="20" name="Text 18"/>
          <p:cNvSpPr/>
          <p:nvPr/>
        </p:nvSpPr>
        <p:spPr>
          <a:xfrm>
            <a:off x="8229600" y="2859786"/>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1" name="Text 19"/>
          <p:cNvSpPr txBox="1"/>
          <p:nvPr/>
        </p:nvSpPr>
        <p:spPr>
          <a:xfrm>
            <a:off x="8869680" y="2537460"/>
            <a:ext cx="2606040" cy="1101852"/>
          </a:xfrm>
          <a:prstGeom prst="rect">
            <a:avLst/>
          </a:prstGeom>
          <a:noFill/>
          <a:ln/>
        </p:spPr>
        <p:txBody>
          <a:bodyPr wrap="square" lIns="0" tIns="0" rIns="0" bIns="0" rtlCol="0" anchor="ctr">
            <a:normAutofit/>
          </a:bodyPr>
          <a:lstStyle/>
          <a:p>
            <a:pPr indent="0" marL="0">
              <a:buNone/>
            </a:pPr>
            <a:r>
              <a:rPr lang="en-US" sz="2000" b="1" dirty="0">
                <a:solidFill>
                  <a:srgbClr val="14453D"/>
                </a:solidFill>
              </a:rPr>
              <a:t>sophisticated</a:t>
            </a:r>
            <a:endParaRPr lang="en-US" sz="2000" dirty="0"/>
          </a:p>
        </p:txBody>
      </p:sp>
      <p:sp>
        <p:nvSpPr>
          <p:cNvPr id="22" name="Shape 20"/>
          <p:cNvSpPr/>
          <p:nvPr/>
        </p:nvSpPr>
        <p:spPr>
          <a:xfrm>
            <a:off x="548640" y="3749040"/>
            <a:ext cx="3566160" cy="1101852"/>
          </a:xfrm>
          <a:prstGeom prst="roundRect">
            <a:avLst>
              <a:gd name="adj" fmla="val 9959"/>
            </a:avLst>
          </a:prstGeom>
          <a:solidFill>
            <a:srgbClr val="FFFFFF"/>
          </a:solidFill>
          <a:ln w="19050">
            <a:solidFill>
              <a:srgbClr val="E6F2ED"/>
            </a:solidFill>
            <a:prstDash val="solid"/>
          </a:ln>
        </p:spPr>
      </p:sp>
      <p:sp>
        <p:nvSpPr>
          <p:cNvPr id="23" name="Text 21"/>
          <p:cNvSpPr/>
          <p:nvPr/>
        </p:nvSpPr>
        <p:spPr>
          <a:xfrm>
            <a:off x="731520" y="4071366"/>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24" name="Text 22"/>
          <p:cNvSpPr txBox="1"/>
          <p:nvPr/>
        </p:nvSpPr>
        <p:spPr>
          <a:xfrm>
            <a:off x="1371600" y="3749040"/>
            <a:ext cx="2606040" cy="1101852"/>
          </a:xfrm>
          <a:prstGeom prst="rect">
            <a:avLst/>
          </a:prstGeom>
          <a:noFill/>
          <a:ln/>
        </p:spPr>
        <p:txBody>
          <a:bodyPr wrap="square" lIns="0" tIns="0" rIns="0" bIns="0" rtlCol="0" anchor="ctr">
            <a:normAutofit/>
          </a:bodyPr>
          <a:lstStyle/>
          <a:p>
            <a:pPr indent="0" marL="0">
              <a:buNone/>
            </a:pPr>
            <a:r>
              <a:rPr lang="en-US" sz="2000" b="1" dirty="0">
                <a:solidFill>
                  <a:srgbClr val="14453D"/>
                </a:solidFill>
              </a:rPr>
              <a:t>predator</a:t>
            </a:r>
            <a:endParaRPr lang="en-US" sz="2000" dirty="0"/>
          </a:p>
        </p:txBody>
      </p:sp>
      <p:sp>
        <p:nvSpPr>
          <p:cNvPr id="25" name="Shape 23"/>
          <p:cNvSpPr/>
          <p:nvPr/>
        </p:nvSpPr>
        <p:spPr>
          <a:xfrm>
            <a:off x="4297680" y="3749040"/>
            <a:ext cx="3566160" cy="1101852"/>
          </a:xfrm>
          <a:prstGeom prst="roundRect">
            <a:avLst>
              <a:gd name="adj" fmla="val 9959"/>
            </a:avLst>
          </a:prstGeom>
          <a:solidFill>
            <a:srgbClr val="FFFFFF"/>
          </a:solidFill>
          <a:ln w="19050">
            <a:solidFill>
              <a:srgbClr val="E6F2ED"/>
            </a:solidFill>
            <a:prstDash val="solid"/>
          </a:ln>
        </p:spPr>
      </p:sp>
      <p:sp>
        <p:nvSpPr>
          <p:cNvPr id="26" name="Text 24"/>
          <p:cNvSpPr/>
          <p:nvPr/>
        </p:nvSpPr>
        <p:spPr>
          <a:xfrm>
            <a:off x="4480560" y="4071366"/>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8</a:t>
            </a:r>
            <a:endParaRPr lang="en-US" sz="1400" dirty="0"/>
          </a:p>
        </p:txBody>
      </p:sp>
      <p:sp>
        <p:nvSpPr>
          <p:cNvPr id="27" name="Text 25"/>
          <p:cNvSpPr txBox="1"/>
          <p:nvPr/>
        </p:nvSpPr>
        <p:spPr>
          <a:xfrm>
            <a:off x="5120640" y="3749040"/>
            <a:ext cx="2606040" cy="1101852"/>
          </a:xfrm>
          <a:prstGeom prst="rect">
            <a:avLst/>
          </a:prstGeom>
          <a:noFill/>
          <a:ln/>
        </p:spPr>
        <p:txBody>
          <a:bodyPr wrap="square" lIns="0" tIns="0" rIns="0" bIns="0" rtlCol="0" anchor="ctr">
            <a:normAutofit/>
          </a:bodyPr>
          <a:lstStyle/>
          <a:p>
            <a:pPr indent="0" marL="0">
              <a:buNone/>
            </a:pPr>
            <a:r>
              <a:rPr lang="en-US" sz="2000" b="1" dirty="0">
                <a:solidFill>
                  <a:srgbClr val="14453D"/>
                </a:solidFill>
              </a:rPr>
              <a:t>phenomenon</a:t>
            </a:r>
            <a:endParaRPr lang="en-US" sz="2000" dirty="0"/>
          </a:p>
        </p:txBody>
      </p:sp>
      <p:sp>
        <p:nvSpPr>
          <p:cNvPr id="28" name="Shape 26"/>
          <p:cNvSpPr/>
          <p:nvPr/>
        </p:nvSpPr>
        <p:spPr>
          <a:xfrm>
            <a:off x="8046720" y="3749040"/>
            <a:ext cx="3566160" cy="1101852"/>
          </a:xfrm>
          <a:prstGeom prst="roundRect">
            <a:avLst>
              <a:gd name="adj" fmla="val 9959"/>
            </a:avLst>
          </a:prstGeom>
          <a:solidFill>
            <a:srgbClr val="FFFFFF"/>
          </a:solidFill>
          <a:ln w="19050">
            <a:solidFill>
              <a:srgbClr val="E6F2ED"/>
            </a:solidFill>
            <a:prstDash val="solid"/>
          </a:ln>
        </p:spPr>
      </p:sp>
      <p:sp>
        <p:nvSpPr>
          <p:cNvPr id="29" name="Text 27"/>
          <p:cNvSpPr/>
          <p:nvPr/>
        </p:nvSpPr>
        <p:spPr>
          <a:xfrm>
            <a:off x="8229600" y="4071366"/>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9</a:t>
            </a:r>
            <a:endParaRPr lang="en-US" sz="1400" dirty="0"/>
          </a:p>
        </p:txBody>
      </p:sp>
      <p:sp>
        <p:nvSpPr>
          <p:cNvPr id="30" name="Text 28"/>
          <p:cNvSpPr txBox="1"/>
          <p:nvPr/>
        </p:nvSpPr>
        <p:spPr>
          <a:xfrm>
            <a:off x="8869680" y="3749040"/>
            <a:ext cx="2606040" cy="1101852"/>
          </a:xfrm>
          <a:prstGeom prst="rect">
            <a:avLst/>
          </a:prstGeom>
          <a:noFill/>
          <a:ln/>
        </p:spPr>
        <p:txBody>
          <a:bodyPr wrap="square" lIns="0" tIns="0" rIns="0" bIns="0" rtlCol="0" anchor="ctr">
            <a:normAutofit/>
          </a:bodyPr>
          <a:lstStyle/>
          <a:p>
            <a:pPr indent="0" marL="0">
              <a:buNone/>
            </a:pPr>
            <a:r>
              <a:rPr lang="en-US" sz="2000" b="1" dirty="0">
                <a:solidFill>
                  <a:srgbClr val="14453D"/>
                </a:solidFill>
              </a:rPr>
              <a:t>respondent</a:t>
            </a:r>
            <a:endParaRPr lang="en-US" sz="2000" dirty="0"/>
          </a:p>
        </p:txBody>
      </p:sp>
      <p:sp>
        <p:nvSpPr>
          <p:cNvPr id="31" name="Shape 29"/>
          <p:cNvSpPr/>
          <p:nvPr/>
        </p:nvSpPr>
        <p:spPr>
          <a:xfrm>
            <a:off x="548640" y="4960620"/>
            <a:ext cx="3566160" cy="1101852"/>
          </a:xfrm>
          <a:prstGeom prst="roundRect">
            <a:avLst>
              <a:gd name="adj" fmla="val 9959"/>
            </a:avLst>
          </a:prstGeom>
          <a:solidFill>
            <a:srgbClr val="FFFFFF"/>
          </a:solidFill>
          <a:ln w="19050">
            <a:solidFill>
              <a:srgbClr val="E6F2ED"/>
            </a:solidFill>
            <a:prstDash val="solid"/>
          </a:ln>
        </p:spPr>
      </p:sp>
      <p:sp>
        <p:nvSpPr>
          <p:cNvPr id="32" name="Text 30"/>
          <p:cNvSpPr/>
          <p:nvPr/>
        </p:nvSpPr>
        <p:spPr>
          <a:xfrm>
            <a:off x="731520" y="5282946"/>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10</a:t>
            </a:r>
            <a:endParaRPr lang="en-US" sz="1400" dirty="0"/>
          </a:p>
        </p:txBody>
      </p:sp>
      <p:sp>
        <p:nvSpPr>
          <p:cNvPr id="33" name="Text 31"/>
          <p:cNvSpPr txBox="1"/>
          <p:nvPr/>
        </p:nvSpPr>
        <p:spPr>
          <a:xfrm>
            <a:off x="1371600" y="4960620"/>
            <a:ext cx="2606040" cy="1101852"/>
          </a:xfrm>
          <a:prstGeom prst="rect">
            <a:avLst/>
          </a:prstGeom>
          <a:noFill/>
          <a:ln/>
        </p:spPr>
        <p:txBody>
          <a:bodyPr wrap="square" lIns="0" tIns="0" rIns="0" bIns="0" rtlCol="0" anchor="ctr">
            <a:normAutofit/>
          </a:bodyPr>
          <a:lstStyle/>
          <a:p>
            <a:pPr indent="0" marL="0">
              <a:buNone/>
            </a:pPr>
            <a:r>
              <a:rPr lang="en-US" sz="2000" b="1" dirty="0">
                <a:solidFill>
                  <a:srgbClr val="14453D"/>
                </a:solidFill>
              </a:rPr>
              <a:t>persistence</a:t>
            </a:r>
            <a:endParaRPr lang="en-US" sz="2000" dirty="0"/>
          </a:p>
        </p:txBody>
      </p:sp>
      <p:sp>
        <p:nvSpPr>
          <p:cNvPr id="34" name="Shape 32"/>
          <p:cNvSpPr/>
          <p:nvPr/>
        </p:nvSpPr>
        <p:spPr>
          <a:xfrm>
            <a:off x="4297680" y="4960620"/>
            <a:ext cx="3566160" cy="1101852"/>
          </a:xfrm>
          <a:prstGeom prst="roundRect">
            <a:avLst>
              <a:gd name="adj" fmla="val 9959"/>
            </a:avLst>
          </a:prstGeom>
          <a:solidFill>
            <a:srgbClr val="FFFFFF"/>
          </a:solidFill>
          <a:ln w="19050">
            <a:solidFill>
              <a:srgbClr val="E6F2ED"/>
            </a:solidFill>
            <a:prstDash val="solid"/>
          </a:ln>
        </p:spPr>
      </p:sp>
      <p:sp>
        <p:nvSpPr>
          <p:cNvPr id="35" name="Text 33"/>
          <p:cNvSpPr/>
          <p:nvPr/>
        </p:nvSpPr>
        <p:spPr>
          <a:xfrm>
            <a:off x="4480560" y="5282946"/>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11</a:t>
            </a:r>
            <a:endParaRPr lang="en-US" sz="1400" dirty="0"/>
          </a:p>
        </p:txBody>
      </p:sp>
      <p:sp>
        <p:nvSpPr>
          <p:cNvPr id="36" name="Text 34"/>
          <p:cNvSpPr txBox="1"/>
          <p:nvPr/>
        </p:nvSpPr>
        <p:spPr>
          <a:xfrm>
            <a:off x="5120640" y="4960620"/>
            <a:ext cx="2606040" cy="1101852"/>
          </a:xfrm>
          <a:prstGeom prst="rect">
            <a:avLst/>
          </a:prstGeom>
          <a:noFill/>
          <a:ln/>
        </p:spPr>
        <p:txBody>
          <a:bodyPr wrap="square" lIns="0" tIns="0" rIns="0" bIns="0" rtlCol="0" anchor="ctr">
            <a:normAutofit/>
          </a:bodyPr>
          <a:lstStyle/>
          <a:p>
            <a:pPr indent="0" marL="0">
              <a:buNone/>
            </a:pPr>
            <a:r>
              <a:rPr lang="en-US" sz="2000" b="1" dirty="0">
                <a:solidFill>
                  <a:srgbClr val="14453D"/>
                </a:solidFill>
              </a:rPr>
              <a:t>incapacity</a:t>
            </a:r>
            <a:endParaRPr lang="en-US" sz="2000" dirty="0"/>
          </a:p>
        </p:txBody>
      </p:sp>
      <p:sp>
        <p:nvSpPr>
          <p:cNvPr id="37" name="Shape 35"/>
          <p:cNvSpPr/>
          <p:nvPr/>
        </p:nvSpPr>
        <p:spPr>
          <a:xfrm>
            <a:off x="8046720" y="4960620"/>
            <a:ext cx="3566160" cy="1101852"/>
          </a:xfrm>
          <a:prstGeom prst="roundRect">
            <a:avLst>
              <a:gd name="adj" fmla="val 9959"/>
            </a:avLst>
          </a:prstGeom>
          <a:solidFill>
            <a:srgbClr val="FFFFFF"/>
          </a:solidFill>
          <a:ln w="19050">
            <a:solidFill>
              <a:srgbClr val="E6F2ED"/>
            </a:solidFill>
            <a:prstDash val="solid"/>
          </a:ln>
        </p:spPr>
      </p:sp>
      <p:sp>
        <p:nvSpPr>
          <p:cNvPr id="38" name="Text 36"/>
          <p:cNvSpPr/>
          <p:nvPr/>
        </p:nvSpPr>
        <p:spPr>
          <a:xfrm>
            <a:off x="8229600" y="5282946"/>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12</a:t>
            </a:r>
            <a:endParaRPr lang="en-US" sz="1400" dirty="0"/>
          </a:p>
        </p:txBody>
      </p:sp>
      <p:sp>
        <p:nvSpPr>
          <p:cNvPr id="39" name="Text 37"/>
          <p:cNvSpPr txBox="1"/>
          <p:nvPr/>
        </p:nvSpPr>
        <p:spPr>
          <a:xfrm>
            <a:off x="8869680" y="4960620"/>
            <a:ext cx="2606040" cy="1101852"/>
          </a:xfrm>
          <a:prstGeom prst="rect">
            <a:avLst/>
          </a:prstGeom>
          <a:noFill/>
          <a:ln/>
        </p:spPr>
        <p:txBody>
          <a:bodyPr wrap="square" lIns="0" tIns="0" rIns="0" bIns="0" rtlCol="0" anchor="ctr">
            <a:normAutofit/>
          </a:bodyPr>
          <a:lstStyle/>
          <a:p>
            <a:pPr indent="0" marL="0">
              <a:buNone/>
            </a:pPr>
            <a:r>
              <a:rPr lang="en-US" sz="2000" b="1" dirty="0">
                <a:solidFill>
                  <a:srgbClr val="14453D"/>
                </a:solidFill>
              </a:rPr>
              <a:t>indifferent</a:t>
            </a:r>
            <a:endParaRPr lang="en-US" sz="2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14453D"/>
                </a:solidFill>
              </a:rPr>
              <a:t>어휘 스피드 퀴즈 — 정답</a:t>
            </a:r>
            <a:endParaRPr lang="en-US" sz="3000" dirty="0"/>
          </a:p>
        </p:txBody>
      </p:sp>
      <p:sp>
        <p:nvSpPr>
          <p:cNvPr id="3" name="Text 1"/>
          <p:cNvSpPr/>
          <p:nvPr/>
        </p:nvSpPr>
        <p:spPr>
          <a:xfrm>
            <a:off x="9692640" y="548640"/>
            <a:ext cx="1920240" cy="329184"/>
          </a:xfrm>
          <a:prstGeom prst="roundRect">
            <a:avLst>
              <a:gd name="adj" fmla="val 41667"/>
            </a:avLst>
          </a:prstGeom>
          <a:solidFill>
            <a:srgbClr val="EF5B3F"/>
          </a:solidFill>
          <a:ln/>
        </p:spPr>
        <p:txBody>
          <a:bodyPr wrap="square" lIns="0" tIns="0" rIns="0" bIns="0" rtlCol="0" anchor="ctr"/>
          <a:lstStyle/>
          <a:p>
            <a:pPr algn="ctr" indent="0" marL="0">
              <a:buNone/>
            </a:pPr>
            <a:r>
              <a:rPr lang="en-US" sz="1200" b="1" dirty="0">
                <a:solidFill>
                  <a:srgbClr val="FFFFFF"/>
                </a:solidFill>
              </a:rPr>
              <a:t>복습 미니테스트</a:t>
            </a:r>
            <a:endParaRPr lang="en-US" sz="1200" dirty="0"/>
          </a:p>
        </p:txBody>
      </p:sp>
      <p:sp>
        <p:nvSpPr>
          <p:cNvPr id="4" name="Shape 2"/>
          <p:cNvSpPr/>
          <p:nvPr/>
        </p:nvSpPr>
        <p:spPr>
          <a:xfrm>
            <a:off x="548640" y="1325880"/>
            <a:ext cx="3566160" cy="1101852"/>
          </a:xfrm>
          <a:prstGeom prst="roundRect">
            <a:avLst>
              <a:gd name="adj" fmla="val 9959"/>
            </a:avLst>
          </a:prstGeom>
          <a:solidFill>
            <a:srgbClr val="E6F2ED"/>
          </a:solidFill>
          <a:ln w="19050">
            <a:solidFill>
              <a:srgbClr val="E6F2ED"/>
            </a:solidFill>
            <a:prstDash val="solid"/>
          </a:ln>
        </p:spPr>
      </p:sp>
      <p:sp>
        <p:nvSpPr>
          <p:cNvPr id="5" name="Text 3"/>
          <p:cNvSpPr/>
          <p:nvPr/>
        </p:nvSpPr>
        <p:spPr>
          <a:xfrm>
            <a:off x="731520" y="1648206"/>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71600" y="1325880"/>
            <a:ext cx="2606040" cy="1101852"/>
          </a:xfrm>
          <a:prstGeom prst="rect">
            <a:avLst/>
          </a:prstGeom>
          <a:noFill/>
          <a:ln/>
        </p:spPr>
        <p:txBody>
          <a:bodyPr wrap="square" lIns="0" tIns="0" rIns="0" bIns="0" rtlCol="0" anchor="ctr">
            <a:normAutofit/>
          </a:bodyPr>
          <a:lstStyle/>
          <a:p>
            <a:pPr indent="0" marL="0">
              <a:buNone/>
            </a:pPr>
            <a:r>
              <a:rPr lang="en-US" sz="2000" b="1" dirty="0">
                <a:solidFill>
                  <a:srgbClr val="14453D"/>
                </a:solidFill>
              </a:rPr>
              <a:t>preserve</a:t>
            </a:r>
            <a:endParaRPr lang="en-US" sz="2000" dirty="0"/>
          </a:p>
          <a:p>
            <a:pPr indent="0" marL="0">
              <a:buNone/>
            </a:pPr>
            <a:r>
              <a:rPr lang="en-US" sz="2000" b="1" dirty="0">
                <a:solidFill>
                  <a:srgbClr val="EF5B3F"/>
                </a:solidFill>
              </a:rPr>
              <a:t>보존하다</a:t>
            </a:r>
            <a:endParaRPr lang="en-US" sz="2000" dirty="0"/>
          </a:p>
        </p:txBody>
      </p:sp>
      <p:sp>
        <p:nvSpPr>
          <p:cNvPr id="7" name="Shape 5"/>
          <p:cNvSpPr/>
          <p:nvPr/>
        </p:nvSpPr>
        <p:spPr>
          <a:xfrm>
            <a:off x="4297680" y="1325880"/>
            <a:ext cx="3566160" cy="1101852"/>
          </a:xfrm>
          <a:prstGeom prst="roundRect">
            <a:avLst>
              <a:gd name="adj" fmla="val 9959"/>
            </a:avLst>
          </a:prstGeom>
          <a:solidFill>
            <a:srgbClr val="E6F2ED"/>
          </a:solidFill>
          <a:ln w="19050">
            <a:solidFill>
              <a:srgbClr val="E6F2ED"/>
            </a:solidFill>
            <a:prstDash val="solid"/>
          </a:ln>
        </p:spPr>
      </p:sp>
      <p:sp>
        <p:nvSpPr>
          <p:cNvPr id="8" name="Text 6"/>
          <p:cNvSpPr/>
          <p:nvPr/>
        </p:nvSpPr>
        <p:spPr>
          <a:xfrm>
            <a:off x="4480560" y="1648206"/>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Text 7"/>
          <p:cNvSpPr txBox="1"/>
          <p:nvPr/>
        </p:nvSpPr>
        <p:spPr>
          <a:xfrm>
            <a:off x="5120640" y="1325880"/>
            <a:ext cx="2606040" cy="1101852"/>
          </a:xfrm>
          <a:prstGeom prst="rect">
            <a:avLst/>
          </a:prstGeom>
          <a:noFill/>
          <a:ln/>
        </p:spPr>
        <p:txBody>
          <a:bodyPr wrap="square" lIns="0" tIns="0" rIns="0" bIns="0" rtlCol="0" anchor="ctr">
            <a:normAutofit/>
          </a:bodyPr>
          <a:lstStyle/>
          <a:p>
            <a:pPr indent="0" marL="0">
              <a:buNone/>
            </a:pPr>
            <a:r>
              <a:rPr lang="en-US" sz="2000" b="1" dirty="0">
                <a:solidFill>
                  <a:srgbClr val="14453D"/>
                </a:solidFill>
              </a:rPr>
              <a:t>heritage</a:t>
            </a:r>
            <a:endParaRPr lang="en-US" sz="2000" dirty="0"/>
          </a:p>
          <a:p>
            <a:pPr indent="0" marL="0">
              <a:buNone/>
            </a:pPr>
            <a:r>
              <a:rPr lang="en-US" sz="2000" b="1" dirty="0">
                <a:solidFill>
                  <a:srgbClr val="EF5B3F"/>
                </a:solidFill>
              </a:rPr>
              <a:t>유산</a:t>
            </a:r>
            <a:endParaRPr lang="en-US" sz="2000" dirty="0"/>
          </a:p>
        </p:txBody>
      </p:sp>
      <p:sp>
        <p:nvSpPr>
          <p:cNvPr id="10" name="Shape 8"/>
          <p:cNvSpPr/>
          <p:nvPr/>
        </p:nvSpPr>
        <p:spPr>
          <a:xfrm>
            <a:off x="8046720" y="1325880"/>
            <a:ext cx="3566160" cy="1101852"/>
          </a:xfrm>
          <a:prstGeom prst="roundRect">
            <a:avLst>
              <a:gd name="adj" fmla="val 9959"/>
            </a:avLst>
          </a:prstGeom>
          <a:solidFill>
            <a:srgbClr val="E6F2ED"/>
          </a:solidFill>
          <a:ln w="19050">
            <a:solidFill>
              <a:srgbClr val="E6F2ED"/>
            </a:solidFill>
            <a:prstDash val="solid"/>
          </a:ln>
        </p:spPr>
      </p:sp>
      <p:sp>
        <p:nvSpPr>
          <p:cNvPr id="11" name="Text 9"/>
          <p:cNvSpPr/>
          <p:nvPr/>
        </p:nvSpPr>
        <p:spPr>
          <a:xfrm>
            <a:off x="8229600" y="1648206"/>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2" name="Text 10"/>
          <p:cNvSpPr txBox="1"/>
          <p:nvPr/>
        </p:nvSpPr>
        <p:spPr>
          <a:xfrm>
            <a:off x="8869680" y="1325880"/>
            <a:ext cx="2606040" cy="1101852"/>
          </a:xfrm>
          <a:prstGeom prst="rect">
            <a:avLst/>
          </a:prstGeom>
          <a:noFill/>
          <a:ln/>
        </p:spPr>
        <p:txBody>
          <a:bodyPr wrap="square" lIns="0" tIns="0" rIns="0" bIns="0" rtlCol="0" anchor="ctr">
            <a:normAutofit/>
          </a:bodyPr>
          <a:lstStyle/>
          <a:p>
            <a:pPr indent="0" marL="0">
              <a:buNone/>
            </a:pPr>
            <a:r>
              <a:rPr lang="en-US" sz="2000" b="1" dirty="0">
                <a:solidFill>
                  <a:srgbClr val="14453D"/>
                </a:solidFill>
              </a:rPr>
              <a:t>identical</a:t>
            </a:r>
            <a:endParaRPr lang="en-US" sz="2000" dirty="0"/>
          </a:p>
          <a:p>
            <a:pPr indent="0" marL="0">
              <a:buNone/>
            </a:pPr>
            <a:r>
              <a:rPr lang="en-US" sz="2000" b="1" dirty="0">
                <a:solidFill>
                  <a:srgbClr val="EF5B3F"/>
                </a:solidFill>
              </a:rPr>
              <a:t>동일한</a:t>
            </a:r>
            <a:endParaRPr lang="en-US" sz="2000" dirty="0"/>
          </a:p>
        </p:txBody>
      </p:sp>
      <p:sp>
        <p:nvSpPr>
          <p:cNvPr id="13" name="Shape 11"/>
          <p:cNvSpPr/>
          <p:nvPr/>
        </p:nvSpPr>
        <p:spPr>
          <a:xfrm>
            <a:off x="548640" y="2537460"/>
            <a:ext cx="3566160" cy="1101852"/>
          </a:xfrm>
          <a:prstGeom prst="roundRect">
            <a:avLst>
              <a:gd name="adj" fmla="val 9959"/>
            </a:avLst>
          </a:prstGeom>
          <a:solidFill>
            <a:srgbClr val="E6F2ED"/>
          </a:solidFill>
          <a:ln w="19050">
            <a:solidFill>
              <a:srgbClr val="E6F2ED"/>
            </a:solidFill>
            <a:prstDash val="solid"/>
          </a:ln>
        </p:spPr>
      </p:sp>
      <p:sp>
        <p:nvSpPr>
          <p:cNvPr id="14" name="Text 12"/>
          <p:cNvSpPr/>
          <p:nvPr/>
        </p:nvSpPr>
        <p:spPr>
          <a:xfrm>
            <a:off x="731520" y="2859786"/>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5" name="Text 13"/>
          <p:cNvSpPr txBox="1"/>
          <p:nvPr/>
        </p:nvSpPr>
        <p:spPr>
          <a:xfrm>
            <a:off x="1371600" y="2537460"/>
            <a:ext cx="2606040" cy="1101852"/>
          </a:xfrm>
          <a:prstGeom prst="rect">
            <a:avLst/>
          </a:prstGeom>
          <a:noFill/>
          <a:ln/>
        </p:spPr>
        <p:txBody>
          <a:bodyPr wrap="square" lIns="0" tIns="0" rIns="0" bIns="0" rtlCol="0" anchor="ctr">
            <a:normAutofit/>
          </a:bodyPr>
          <a:lstStyle/>
          <a:p>
            <a:pPr indent="0" marL="0">
              <a:buNone/>
            </a:pPr>
            <a:r>
              <a:rPr lang="en-US" sz="2000" b="1" dirty="0">
                <a:solidFill>
                  <a:srgbClr val="14453D"/>
                </a:solidFill>
              </a:rPr>
              <a:t>inclined</a:t>
            </a:r>
            <a:endParaRPr lang="en-US" sz="2000" dirty="0"/>
          </a:p>
          <a:p>
            <a:pPr indent="0" marL="0">
              <a:buNone/>
            </a:pPr>
            <a:r>
              <a:rPr lang="en-US" sz="2000" b="1" dirty="0">
                <a:solidFill>
                  <a:srgbClr val="EF5B3F"/>
                </a:solidFill>
              </a:rPr>
              <a:t>~하고 싶은</a:t>
            </a:r>
            <a:endParaRPr lang="en-US" sz="2000" dirty="0"/>
          </a:p>
        </p:txBody>
      </p:sp>
      <p:sp>
        <p:nvSpPr>
          <p:cNvPr id="16" name="Shape 14"/>
          <p:cNvSpPr/>
          <p:nvPr/>
        </p:nvSpPr>
        <p:spPr>
          <a:xfrm>
            <a:off x="4297680" y="2537460"/>
            <a:ext cx="3566160" cy="1101852"/>
          </a:xfrm>
          <a:prstGeom prst="roundRect">
            <a:avLst>
              <a:gd name="adj" fmla="val 9959"/>
            </a:avLst>
          </a:prstGeom>
          <a:solidFill>
            <a:srgbClr val="E6F2ED"/>
          </a:solidFill>
          <a:ln w="19050">
            <a:solidFill>
              <a:srgbClr val="E6F2ED"/>
            </a:solidFill>
            <a:prstDash val="solid"/>
          </a:ln>
        </p:spPr>
      </p:sp>
      <p:sp>
        <p:nvSpPr>
          <p:cNvPr id="17" name="Text 15"/>
          <p:cNvSpPr/>
          <p:nvPr/>
        </p:nvSpPr>
        <p:spPr>
          <a:xfrm>
            <a:off x="4480560" y="2859786"/>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8" name="Text 16"/>
          <p:cNvSpPr txBox="1"/>
          <p:nvPr/>
        </p:nvSpPr>
        <p:spPr>
          <a:xfrm>
            <a:off x="5120640" y="2537460"/>
            <a:ext cx="2606040" cy="1101852"/>
          </a:xfrm>
          <a:prstGeom prst="rect">
            <a:avLst/>
          </a:prstGeom>
          <a:noFill/>
          <a:ln/>
        </p:spPr>
        <p:txBody>
          <a:bodyPr wrap="square" lIns="0" tIns="0" rIns="0" bIns="0" rtlCol="0" anchor="ctr">
            <a:normAutofit/>
          </a:bodyPr>
          <a:lstStyle/>
          <a:p>
            <a:pPr indent="0" marL="0">
              <a:buNone/>
            </a:pPr>
            <a:r>
              <a:rPr lang="en-US" sz="2000" b="1" dirty="0">
                <a:solidFill>
                  <a:srgbClr val="14453D"/>
                </a:solidFill>
              </a:rPr>
              <a:t>consistently</a:t>
            </a:r>
            <a:endParaRPr lang="en-US" sz="2000" dirty="0"/>
          </a:p>
          <a:p>
            <a:pPr indent="0" marL="0">
              <a:buNone/>
            </a:pPr>
            <a:r>
              <a:rPr lang="en-US" sz="2000" b="1" dirty="0">
                <a:solidFill>
                  <a:srgbClr val="EF5B3F"/>
                </a:solidFill>
              </a:rPr>
              <a:t>꾸준히</a:t>
            </a:r>
            <a:endParaRPr lang="en-US" sz="2000" dirty="0"/>
          </a:p>
        </p:txBody>
      </p:sp>
      <p:sp>
        <p:nvSpPr>
          <p:cNvPr id="19" name="Shape 17"/>
          <p:cNvSpPr/>
          <p:nvPr/>
        </p:nvSpPr>
        <p:spPr>
          <a:xfrm>
            <a:off x="8046720" y="2537460"/>
            <a:ext cx="3566160" cy="1101852"/>
          </a:xfrm>
          <a:prstGeom prst="roundRect">
            <a:avLst>
              <a:gd name="adj" fmla="val 9959"/>
            </a:avLst>
          </a:prstGeom>
          <a:solidFill>
            <a:srgbClr val="E6F2ED"/>
          </a:solidFill>
          <a:ln w="19050">
            <a:solidFill>
              <a:srgbClr val="E6F2ED"/>
            </a:solidFill>
            <a:prstDash val="solid"/>
          </a:ln>
        </p:spPr>
      </p:sp>
      <p:sp>
        <p:nvSpPr>
          <p:cNvPr id="20" name="Text 18"/>
          <p:cNvSpPr/>
          <p:nvPr/>
        </p:nvSpPr>
        <p:spPr>
          <a:xfrm>
            <a:off x="8229600" y="2859786"/>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1" name="Text 19"/>
          <p:cNvSpPr txBox="1"/>
          <p:nvPr/>
        </p:nvSpPr>
        <p:spPr>
          <a:xfrm>
            <a:off x="8869680" y="2537460"/>
            <a:ext cx="2606040" cy="1101852"/>
          </a:xfrm>
          <a:prstGeom prst="rect">
            <a:avLst/>
          </a:prstGeom>
          <a:noFill/>
          <a:ln/>
        </p:spPr>
        <p:txBody>
          <a:bodyPr wrap="square" lIns="0" tIns="0" rIns="0" bIns="0" rtlCol="0" anchor="ctr">
            <a:normAutofit/>
          </a:bodyPr>
          <a:lstStyle/>
          <a:p>
            <a:pPr indent="0" marL="0">
              <a:buNone/>
            </a:pPr>
            <a:r>
              <a:rPr lang="en-US" sz="2000" b="1" dirty="0">
                <a:solidFill>
                  <a:srgbClr val="14453D"/>
                </a:solidFill>
              </a:rPr>
              <a:t>sophisticated</a:t>
            </a:r>
            <a:endParaRPr lang="en-US" sz="2000" dirty="0"/>
          </a:p>
          <a:p>
            <a:pPr indent="0" marL="0">
              <a:buNone/>
            </a:pPr>
            <a:r>
              <a:rPr lang="en-US" sz="2000" b="1" dirty="0">
                <a:solidFill>
                  <a:srgbClr val="EF5B3F"/>
                </a:solidFill>
              </a:rPr>
              <a:t>정교한</a:t>
            </a:r>
            <a:endParaRPr lang="en-US" sz="2000" dirty="0"/>
          </a:p>
        </p:txBody>
      </p:sp>
      <p:sp>
        <p:nvSpPr>
          <p:cNvPr id="22" name="Shape 20"/>
          <p:cNvSpPr/>
          <p:nvPr/>
        </p:nvSpPr>
        <p:spPr>
          <a:xfrm>
            <a:off x="548640" y="3749040"/>
            <a:ext cx="3566160" cy="1101852"/>
          </a:xfrm>
          <a:prstGeom prst="roundRect">
            <a:avLst>
              <a:gd name="adj" fmla="val 9959"/>
            </a:avLst>
          </a:prstGeom>
          <a:solidFill>
            <a:srgbClr val="E6F2ED"/>
          </a:solidFill>
          <a:ln w="19050">
            <a:solidFill>
              <a:srgbClr val="E6F2ED"/>
            </a:solidFill>
            <a:prstDash val="solid"/>
          </a:ln>
        </p:spPr>
      </p:sp>
      <p:sp>
        <p:nvSpPr>
          <p:cNvPr id="23" name="Text 21"/>
          <p:cNvSpPr/>
          <p:nvPr/>
        </p:nvSpPr>
        <p:spPr>
          <a:xfrm>
            <a:off x="731520" y="4071366"/>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24" name="Text 22"/>
          <p:cNvSpPr txBox="1"/>
          <p:nvPr/>
        </p:nvSpPr>
        <p:spPr>
          <a:xfrm>
            <a:off x="1371600" y="3749040"/>
            <a:ext cx="2606040" cy="1101852"/>
          </a:xfrm>
          <a:prstGeom prst="rect">
            <a:avLst/>
          </a:prstGeom>
          <a:noFill/>
          <a:ln/>
        </p:spPr>
        <p:txBody>
          <a:bodyPr wrap="square" lIns="0" tIns="0" rIns="0" bIns="0" rtlCol="0" anchor="ctr">
            <a:normAutofit/>
          </a:bodyPr>
          <a:lstStyle/>
          <a:p>
            <a:pPr indent="0" marL="0">
              <a:buNone/>
            </a:pPr>
            <a:r>
              <a:rPr lang="en-US" sz="2000" b="1" dirty="0">
                <a:solidFill>
                  <a:srgbClr val="14453D"/>
                </a:solidFill>
              </a:rPr>
              <a:t>predator</a:t>
            </a:r>
            <a:endParaRPr lang="en-US" sz="2000" dirty="0"/>
          </a:p>
          <a:p>
            <a:pPr indent="0" marL="0">
              <a:buNone/>
            </a:pPr>
            <a:r>
              <a:rPr lang="en-US" sz="2000" b="1" dirty="0">
                <a:solidFill>
                  <a:srgbClr val="EF5B3F"/>
                </a:solidFill>
              </a:rPr>
              <a:t>포식자</a:t>
            </a:r>
            <a:endParaRPr lang="en-US" sz="2000" dirty="0"/>
          </a:p>
        </p:txBody>
      </p:sp>
      <p:sp>
        <p:nvSpPr>
          <p:cNvPr id="25" name="Shape 23"/>
          <p:cNvSpPr/>
          <p:nvPr/>
        </p:nvSpPr>
        <p:spPr>
          <a:xfrm>
            <a:off x="4297680" y="3749040"/>
            <a:ext cx="3566160" cy="1101852"/>
          </a:xfrm>
          <a:prstGeom prst="roundRect">
            <a:avLst>
              <a:gd name="adj" fmla="val 9959"/>
            </a:avLst>
          </a:prstGeom>
          <a:solidFill>
            <a:srgbClr val="E6F2ED"/>
          </a:solidFill>
          <a:ln w="19050">
            <a:solidFill>
              <a:srgbClr val="E6F2ED"/>
            </a:solidFill>
            <a:prstDash val="solid"/>
          </a:ln>
        </p:spPr>
      </p:sp>
      <p:sp>
        <p:nvSpPr>
          <p:cNvPr id="26" name="Text 24"/>
          <p:cNvSpPr/>
          <p:nvPr/>
        </p:nvSpPr>
        <p:spPr>
          <a:xfrm>
            <a:off x="4480560" y="4071366"/>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8</a:t>
            </a:r>
            <a:endParaRPr lang="en-US" sz="1400" dirty="0"/>
          </a:p>
        </p:txBody>
      </p:sp>
      <p:sp>
        <p:nvSpPr>
          <p:cNvPr id="27" name="Text 25"/>
          <p:cNvSpPr txBox="1"/>
          <p:nvPr/>
        </p:nvSpPr>
        <p:spPr>
          <a:xfrm>
            <a:off x="5120640" y="3749040"/>
            <a:ext cx="2606040" cy="1101852"/>
          </a:xfrm>
          <a:prstGeom prst="rect">
            <a:avLst/>
          </a:prstGeom>
          <a:noFill/>
          <a:ln/>
        </p:spPr>
        <p:txBody>
          <a:bodyPr wrap="square" lIns="0" tIns="0" rIns="0" bIns="0" rtlCol="0" anchor="ctr">
            <a:normAutofit/>
          </a:bodyPr>
          <a:lstStyle/>
          <a:p>
            <a:pPr indent="0" marL="0">
              <a:buNone/>
            </a:pPr>
            <a:r>
              <a:rPr lang="en-US" sz="2000" b="1" dirty="0">
                <a:solidFill>
                  <a:srgbClr val="14453D"/>
                </a:solidFill>
              </a:rPr>
              <a:t>phenomenon</a:t>
            </a:r>
            <a:endParaRPr lang="en-US" sz="2000" dirty="0"/>
          </a:p>
          <a:p>
            <a:pPr indent="0" marL="0">
              <a:buNone/>
            </a:pPr>
            <a:r>
              <a:rPr lang="en-US" sz="2000" b="1" dirty="0">
                <a:solidFill>
                  <a:srgbClr val="EF5B3F"/>
                </a:solidFill>
              </a:rPr>
              <a:t>현상</a:t>
            </a:r>
            <a:endParaRPr lang="en-US" sz="2000" dirty="0"/>
          </a:p>
        </p:txBody>
      </p:sp>
      <p:sp>
        <p:nvSpPr>
          <p:cNvPr id="28" name="Shape 26"/>
          <p:cNvSpPr/>
          <p:nvPr/>
        </p:nvSpPr>
        <p:spPr>
          <a:xfrm>
            <a:off x="8046720" y="3749040"/>
            <a:ext cx="3566160" cy="1101852"/>
          </a:xfrm>
          <a:prstGeom prst="roundRect">
            <a:avLst>
              <a:gd name="adj" fmla="val 9959"/>
            </a:avLst>
          </a:prstGeom>
          <a:solidFill>
            <a:srgbClr val="E6F2ED"/>
          </a:solidFill>
          <a:ln w="19050">
            <a:solidFill>
              <a:srgbClr val="E6F2ED"/>
            </a:solidFill>
            <a:prstDash val="solid"/>
          </a:ln>
        </p:spPr>
      </p:sp>
      <p:sp>
        <p:nvSpPr>
          <p:cNvPr id="29" name="Text 27"/>
          <p:cNvSpPr/>
          <p:nvPr/>
        </p:nvSpPr>
        <p:spPr>
          <a:xfrm>
            <a:off x="8229600" y="4071366"/>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9</a:t>
            </a:r>
            <a:endParaRPr lang="en-US" sz="1400" dirty="0"/>
          </a:p>
        </p:txBody>
      </p:sp>
      <p:sp>
        <p:nvSpPr>
          <p:cNvPr id="30" name="Text 28"/>
          <p:cNvSpPr txBox="1"/>
          <p:nvPr/>
        </p:nvSpPr>
        <p:spPr>
          <a:xfrm>
            <a:off x="8869680" y="3749040"/>
            <a:ext cx="2606040" cy="1101852"/>
          </a:xfrm>
          <a:prstGeom prst="rect">
            <a:avLst/>
          </a:prstGeom>
          <a:noFill/>
          <a:ln/>
        </p:spPr>
        <p:txBody>
          <a:bodyPr wrap="square" lIns="0" tIns="0" rIns="0" bIns="0" rtlCol="0" anchor="ctr">
            <a:normAutofit/>
          </a:bodyPr>
          <a:lstStyle/>
          <a:p>
            <a:pPr indent="0" marL="0">
              <a:buNone/>
            </a:pPr>
            <a:r>
              <a:rPr lang="en-US" sz="2000" b="1" dirty="0">
                <a:solidFill>
                  <a:srgbClr val="14453D"/>
                </a:solidFill>
              </a:rPr>
              <a:t>respondent</a:t>
            </a:r>
            <a:endParaRPr lang="en-US" sz="2000" dirty="0"/>
          </a:p>
          <a:p>
            <a:pPr indent="0" marL="0">
              <a:buNone/>
            </a:pPr>
            <a:r>
              <a:rPr lang="en-US" sz="2000" b="1" dirty="0">
                <a:solidFill>
                  <a:srgbClr val="EF5B3F"/>
                </a:solidFill>
              </a:rPr>
              <a:t>응답자</a:t>
            </a:r>
            <a:endParaRPr lang="en-US" sz="2000" dirty="0"/>
          </a:p>
        </p:txBody>
      </p:sp>
      <p:sp>
        <p:nvSpPr>
          <p:cNvPr id="31" name="Shape 29"/>
          <p:cNvSpPr/>
          <p:nvPr/>
        </p:nvSpPr>
        <p:spPr>
          <a:xfrm>
            <a:off x="548640" y="4960620"/>
            <a:ext cx="3566160" cy="1101852"/>
          </a:xfrm>
          <a:prstGeom prst="roundRect">
            <a:avLst>
              <a:gd name="adj" fmla="val 9959"/>
            </a:avLst>
          </a:prstGeom>
          <a:solidFill>
            <a:srgbClr val="E6F2ED"/>
          </a:solidFill>
          <a:ln w="19050">
            <a:solidFill>
              <a:srgbClr val="E6F2ED"/>
            </a:solidFill>
            <a:prstDash val="solid"/>
          </a:ln>
        </p:spPr>
      </p:sp>
      <p:sp>
        <p:nvSpPr>
          <p:cNvPr id="32" name="Text 30"/>
          <p:cNvSpPr/>
          <p:nvPr/>
        </p:nvSpPr>
        <p:spPr>
          <a:xfrm>
            <a:off x="731520" y="5282946"/>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10</a:t>
            </a:r>
            <a:endParaRPr lang="en-US" sz="1400" dirty="0"/>
          </a:p>
        </p:txBody>
      </p:sp>
      <p:sp>
        <p:nvSpPr>
          <p:cNvPr id="33" name="Text 31"/>
          <p:cNvSpPr txBox="1"/>
          <p:nvPr/>
        </p:nvSpPr>
        <p:spPr>
          <a:xfrm>
            <a:off x="1371600" y="4960620"/>
            <a:ext cx="2606040" cy="1101852"/>
          </a:xfrm>
          <a:prstGeom prst="rect">
            <a:avLst/>
          </a:prstGeom>
          <a:noFill/>
          <a:ln/>
        </p:spPr>
        <p:txBody>
          <a:bodyPr wrap="square" lIns="0" tIns="0" rIns="0" bIns="0" rtlCol="0" anchor="ctr">
            <a:normAutofit/>
          </a:bodyPr>
          <a:lstStyle/>
          <a:p>
            <a:pPr indent="0" marL="0">
              <a:buNone/>
            </a:pPr>
            <a:r>
              <a:rPr lang="en-US" sz="2000" b="1" dirty="0">
                <a:solidFill>
                  <a:srgbClr val="14453D"/>
                </a:solidFill>
              </a:rPr>
              <a:t>persistence</a:t>
            </a:r>
            <a:endParaRPr lang="en-US" sz="2000" dirty="0"/>
          </a:p>
          <a:p>
            <a:pPr indent="0" marL="0">
              <a:buNone/>
            </a:pPr>
            <a:r>
              <a:rPr lang="en-US" sz="2000" b="1" dirty="0">
                <a:solidFill>
                  <a:srgbClr val="EF5B3F"/>
                </a:solidFill>
              </a:rPr>
              <a:t>끈기</a:t>
            </a:r>
            <a:endParaRPr lang="en-US" sz="2000" dirty="0"/>
          </a:p>
        </p:txBody>
      </p:sp>
      <p:sp>
        <p:nvSpPr>
          <p:cNvPr id="34" name="Shape 32"/>
          <p:cNvSpPr/>
          <p:nvPr/>
        </p:nvSpPr>
        <p:spPr>
          <a:xfrm>
            <a:off x="4297680" y="4960620"/>
            <a:ext cx="3566160" cy="1101852"/>
          </a:xfrm>
          <a:prstGeom prst="roundRect">
            <a:avLst>
              <a:gd name="adj" fmla="val 9959"/>
            </a:avLst>
          </a:prstGeom>
          <a:solidFill>
            <a:srgbClr val="E6F2ED"/>
          </a:solidFill>
          <a:ln w="19050">
            <a:solidFill>
              <a:srgbClr val="E6F2ED"/>
            </a:solidFill>
            <a:prstDash val="solid"/>
          </a:ln>
        </p:spPr>
      </p:sp>
      <p:sp>
        <p:nvSpPr>
          <p:cNvPr id="35" name="Text 33"/>
          <p:cNvSpPr/>
          <p:nvPr/>
        </p:nvSpPr>
        <p:spPr>
          <a:xfrm>
            <a:off x="4480560" y="5282946"/>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11</a:t>
            </a:r>
            <a:endParaRPr lang="en-US" sz="1400" dirty="0"/>
          </a:p>
        </p:txBody>
      </p:sp>
      <p:sp>
        <p:nvSpPr>
          <p:cNvPr id="36" name="Text 34"/>
          <p:cNvSpPr txBox="1"/>
          <p:nvPr/>
        </p:nvSpPr>
        <p:spPr>
          <a:xfrm>
            <a:off x="5120640" y="4960620"/>
            <a:ext cx="2606040" cy="1101852"/>
          </a:xfrm>
          <a:prstGeom prst="rect">
            <a:avLst/>
          </a:prstGeom>
          <a:noFill/>
          <a:ln/>
        </p:spPr>
        <p:txBody>
          <a:bodyPr wrap="square" lIns="0" tIns="0" rIns="0" bIns="0" rtlCol="0" anchor="ctr">
            <a:normAutofit/>
          </a:bodyPr>
          <a:lstStyle/>
          <a:p>
            <a:pPr indent="0" marL="0">
              <a:buNone/>
            </a:pPr>
            <a:r>
              <a:rPr lang="en-US" sz="2000" b="1" dirty="0">
                <a:solidFill>
                  <a:srgbClr val="14453D"/>
                </a:solidFill>
              </a:rPr>
              <a:t>incapacity</a:t>
            </a:r>
            <a:endParaRPr lang="en-US" sz="2000" dirty="0"/>
          </a:p>
          <a:p>
            <a:pPr indent="0" marL="0">
              <a:buNone/>
            </a:pPr>
            <a:r>
              <a:rPr lang="en-US" sz="2000" b="1" dirty="0">
                <a:solidFill>
                  <a:srgbClr val="EF5B3F"/>
                </a:solidFill>
              </a:rPr>
              <a:t>무능</a:t>
            </a:r>
            <a:endParaRPr lang="en-US" sz="2000" dirty="0"/>
          </a:p>
        </p:txBody>
      </p:sp>
      <p:sp>
        <p:nvSpPr>
          <p:cNvPr id="37" name="Shape 35"/>
          <p:cNvSpPr/>
          <p:nvPr/>
        </p:nvSpPr>
        <p:spPr>
          <a:xfrm>
            <a:off x="8046720" y="4960620"/>
            <a:ext cx="3566160" cy="1101852"/>
          </a:xfrm>
          <a:prstGeom prst="roundRect">
            <a:avLst>
              <a:gd name="adj" fmla="val 9959"/>
            </a:avLst>
          </a:prstGeom>
          <a:solidFill>
            <a:srgbClr val="E6F2ED"/>
          </a:solidFill>
          <a:ln w="19050">
            <a:solidFill>
              <a:srgbClr val="E6F2ED"/>
            </a:solidFill>
            <a:prstDash val="solid"/>
          </a:ln>
        </p:spPr>
      </p:sp>
      <p:sp>
        <p:nvSpPr>
          <p:cNvPr id="38" name="Text 36"/>
          <p:cNvSpPr/>
          <p:nvPr/>
        </p:nvSpPr>
        <p:spPr>
          <a:xfrm>
            <a:off x="8229600" y="5282946"/>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12</a:t>
            </a:r>
            <a:endParaRPr lang="en-US" sz="1400" dirty="0"/>
          </a:p>
        </p:txBody>
      </p:sp>
      <p:sp>
        <p:nvSpPr>
          <p:cNvPr id="39" name="Text 37"/>
          <p:cNvSpPr txBox="1"/>
          <p:nvPr/>
        </p:nvSpPr>
        <p:spPr>
          <a:xfrm>
            <a:off x="8869680" y="4960620"/>
            <a:ext cx="2606040" cy="1101852"/>
          </a:xfrm>
          <a:prstGeom prst="rect">
            <a:avLst/>
          </a:prstGeom>
          <a:noFill/>
          <a:ln/>
        </p:spPr>
        <p:txBody>
          <a:bodyPr wrap="square" lIns="0" tIns="0" rIns="0" bIns="0" rtlCol="0" anchor="ctr">
            <a:normAutofit/>
          </a:bodyPr>
          <a:lstStyle/>
          <a:p>
            <a:pPr indent="0" marL="0">
              <a:buNone/>
            </a:pPr>
            <a:r>
              <a:rPr lang="en-US" sz="2000" b="1" dirty="0">
                <a:solidFill>
                  <a:srgbClr val="14453D"/>
                </a:solidFill>
              </a:rPr>
              <a:t>indifferent</a:t>
            </a:r>
            <a:endParaRPr lang="en-US" sz="2000" dirty="0"/>
          </a:p>
          <a:p>
            <a:pPr indent="0" marL="0">
              <a:buNone/>
            </a:pPr>
            <a:r>
              <a:rPr lang="en-US" sz="2000" b="1" dirty="0">
                <a:solidFill>
                  <a:srgbClr val="EF5B3F"/>
                </a:solidFill>
              </a:rPr>
              <a:t>무관심한</a:t>
            </a:r>
            <a:endParaRPr lang="en-US" sz="2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14453D"/>
                </a:solidFill>
              </a:rPr>
              <a:t>어법 골든벨: 알맞은 것은?</a:t>
            </a:r>
            <a:endParaRPr lang="en-US" sz="3000" dirty="0"/>
          </a:p>
        </p:txBody>
      </p:sp>
      <p:sp>
        <p:nvSpPr>
          <p:cNvPr id="3" name="Text 1"/>
          <p:cNvSpPr/>
          <p:nvPr/>
        </p:nvSpPr>
        <p:spPr>
          <a:xfrm>
            <a:off x="9692640" y="548640"/>
            <a:ext cx="1920240" cy="329184"/>
          </a:xfrm>
          <a:prstGeom prst="roundRect">
            <a:avLst>
              <a:gd name="adj" fmla="val 41667"/>
            </a:avLst>
          </a:prstGeom>
          <a:solidFill>
            <a:srgbClr val="EF5B3F"/>
          </a:solidFill>
          <a:ln/>
        </p:spPr>
        <p:txBody>
          <a:bodyPr wrap="square" lIns="0" tIns="0" rIns="0" bIns="0" rtlCol="0" anchor="ctr"/>
          <a:lstStyle/>
          <a:p>
            <a:pPr algn="ctr" indent="0" marL="0">
              <a:buNone/>
            </a:pPr>
            <a:r>
              <a:rPr lang="en-US" sz="1200" b="1" dirty="0">
                <a:solidFill>
                  <a:srgbClr val="FFFFFF"/>
                </a:solidFill>
              </a:rPr>
              <a:t>복습 미니테스트</a:t>
            </a:r>
            <a:endParaRPr lang="en-US" sz="1200" dirty="0"/>
          </a:p>
        </p:txBody>
      </p:sp>
      <p:sp>
        <p:nvSpPr>
          <p:cNvPr id="4" name="Shape 2"/>
          <p:cNvSpPr/>
          <p:nvPr/>
        </p:nvSpPr>
        <p:spPr>
          <a:xfrm>
            <a:off x="548640" y="1280160"/>
            <a:ext cx="11064240" cy="731520"/>
          </a:xfrm>
          <a:prstGeom prst="roundRect">
            <a:avLst>
              <a:gd name="adj" fmla="val 12500"/>
            </a:avLst>
          </a:prstGeom>
          <a:solidFill>
            <a:srgbClr val="F7FAF9"/>
          </a:solidFill>
          <a:ln w="12700">
            <a:solidFill>
              <a:srgbClr val="E6F2ED"/>
            </a:solidFill>
            <a:prstDash val="solid"/>
          </a:ln>
        </p:spPr>
      </p:sp>
      <p:sp>
        <p:nvSpPr>
          <p:cNvPr id="5" name="Text 3"/>
          <p:cNvSpPr/>
          <p:nvPr/>
        </p:nvSpPr>
        <p:spPr>
          <a:xfrm>
            <a:off x="731520" y="1417320"/>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71600" y="1280160"/>
            <a:ext cx="10058400" cy="731520"/>
          </a:xfrm>
          <a:prstGeom prst="rect">
            <a:avLst/>
          </a:prstGeom>
          <a:noFill/>
          <a:ln/>
        </p:spPr>
        <p:txBody>
          <a:bodyPr wrap="square" lIns="0" tIns="0" rIns="0" bIns="0" rtlCol="0" anchor="ctr">
            <a:normAutofit/>
          </a:bodyPr>
          <a:lstStyle/>
          <a:p>
            <a:pPr indent="0" marL="0">
              <a:buNone/>
            </a:pPr>
            <a:r>
              <a:rPr lang="en-US" sz="1700" dirty="0">
                <a:solidFill>
                  <a:srgbClr val="1E2B2A"/>
                </a:solidFill>
              </a:rPr>
              <a:t>Many cases of such social contagion </a:t>
            </a:r>
            <a:pPr indent="0" marL="0">
              <a:buNone/>
            </a:pPr>
            <a:r>
              <a:rPr lang="en-US" sz="1700" b="1" dirty="0">
                <a:solidFill>
                  <a:srgbClr val="EF5B3F"/>
                </a:solidFill>
              </a:rPr>
              <a:t>[happen / happens]</a:t>
            </a:r>
            <a:pPr indent="0" marL="0">
              <a:buNone/>
            </a:pPr>
            <a:r>
              <a:rPr lang="en-US" sz="1700" dirty="0">
                <a:solidFill>
                  <a:srgbClr val="1E2B2A"/>
                </a:solidFill>
              </a:rPr>
              <a:t> in subtle ways. (Ex 94)</a:t>
            </a:r>
            <a:endParaRPr lang="en-US" sz="1700" dirty="0"/>
          </a:p>
        </p:txBody>
      </p:sp>
      <p:sp>
        <p:nvSpPr>
          <p:cNvPr id="7" name="Shape 5"/>
          <p:cNvSpPr/>
          <p:nvPr/>
        </p:nvSpPr>
        <p:spPr>
          <a:xfrm>
            <a:off x="548640" y="2103120"/>
            <a:ext cx="11064240" cy="731520"/>
          </a:xfrm>
          <a:prstGeom prst="roundRect">
            <a:avLst>
              <a:gd name="adj" fmla="val 12500"/>
            </a:avLst>
          </a:prstGeom>
          <a:solidFill>
            <a:srgbClr val="FFFFFF"/>
          </a:solidFill>
          <a:ln w="12700">
            <a:solidFill>
              <a:srgbClr val="E6F2ED"/>
            </a:solidFill>
            <a:prstDash val="solid"/>
          </a:ln>
        </p:spPr>
      </p:sp>
      <p:sp>
        <p:nvSpPr>
          <p:cNvPr id="8" name="Text 6"/>
          <p:cNvSpPr/>
          <p:nvPr/>
        </p:nvSpPr>
        <p:spPr>
          <a:xfrm>
            <a:off x="731520" y="2240280"/>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Text 7"/>
          <p:cNvSpPr txBox="1"/>
          <p:nvPr/>
        </p:nvSpPr>
        <p:spPr>
          <a:xfrm>
            <a:off x="1371600" y="2103120"/>
            <a:ext cx="10058400" cy="731520"/>
          </a:xfrm>
          <a:prstGeom prst="rect">
            <a:avLst/>
          </a:prstGeom>
          <a:noFill/>
          <a:ln/>
        </p:spPr>
        <p:txBody>
          <a:bodyPr wrap="square" lIns="0" tIns="0" rIns="0" bIns="0" rtlCol="0" anchor="ctr">
            <a:normAutofit/>
          </a:bodyPr>
          <a:lstStyle/>
          <a:p>
            <a:pPr indent="0" marL="0">
              <a:buNone/>
            </a:pPr>
            <a:r>
              <a:rPr lang="en-US" sz="1700" dirty="0">
                <a:solidFill>
                  <a:srgbClr val="1E2B2A"/>
                </a:solidFill>
              </a:rPr>
              <a:t>…a sophisticated sense of smell, which </a:t>
            </a:r>
            <a:pPr indent="0" marL="0">
              <a:buNone/>
            </a:pPr>
            <a:r>
              <a:rPr lang="en-US" sz="1700" b="1" dirty="0">
                <a:solidFill>
                  <a:srgbClr val="EF5B3F"/>
                </a:solidFill>
              </a:rPr>
              <a:t>[consists of / is consisted of]</a:t>
            </a:r>
            <a:pPr indent="0" marL="0">
              <a:buNone/>
            </a:pPr>
            <a:r>
              <a:rPr lang="en-US" sz="1700" dirty="0">
                <a:solidFill>
                  <a:srgbClr val="1E2B2A"/>
                </a:solidFill>
              </a:rPr>
              <a:t> two systems. (Ex 96)</a:t>
            </a:r>
            <a:endParaRPr lang="en-US" sz="1700" dirty="0"/>
          </a:p>
        </p:txBody>
      </p:sp>
      <p:sp>
        <p:nvSpPr>
          <p:cNvPr id="10" name="Shape 8"/>
          <p:cNvSpPr/>
          <p:nvPr/>
        </p:nvSpPr>
        <p:spPr>
          <a:xfrm>
            <a:off x="548640" y="2926080"/>
            <a:ext cx="11064240" cy="731520"/>
          </a:xfrm>
          <a:prstGeom prst="roundRect">
            <a:avLst>
              <a:gd name="adj" fmla="val 12500"/>
            </a:avLst>
          </a:prstGeom>
          <a:solidFill>
            <a:srgbClr val="F7FAF9"/>
          </a:solidFill>
          <a:ln w="12700">
            <a:solidFill>
              <a:srgbClr val="E6F2ED"/>
            </a:solidFill>
            <a:prstDash val="solid"/>
          </a:ln>
        </p:spPr>
      </p:sp>
      <p:sp>
        <p:nvSpPr>
          <p:cNvPr id="11" name="Text 9"/>
          <p:cNvSpPr/>
          <p:nvPr/>
        </p:nvSpPr>
        <p:spPr>
          <a:xfrm>
            <a:off x="731520" y="3063240"/>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2" name="Text 10"/>
          <p:cNvSpPr txBox="1"/>
          <p:nvPr/>
        </p:nvSpPr>
        <p:spPr>
          <a:xfrm>
            <a:off x="1371600" y="2926080"/>
            <a:ext cx="10058400" cy="731520"/>
          </a:xfrm>
          <a:prstGeom prst="rect">
            <a:avLst/>
          </a:prstGeom>
          <a:noFill/>
          <a:ln/>
        </p:spPr>
        <p:txBody>
          <a:bodyPr wrap="square" lIns="0" tIns="0" rIns="0" bIns="0" rtlCol="0" anchor="ctr">
            <a:normAutofit/>
          </a:bodyPr>
          <a:lstStyle/>
          <a:p>
            <a:pPr indent="0" marL="0">
              <a:buNone/>
            </a:pPr>
            <a:r>
              <a:rPr lang="en-US" sz="1700" dirty="0">
                <a:solidFill>
                  <a:srgbClr val="1E2B2A"/>
                </a:solidFill>
              </a:rPr>
              <a:t>This reflection process enables you </a:t>
            </a:r>
            <a:pPr indent="0" marL="0">
              <a:buNone/>
            </a:pPr>
            <a:r>
              <a:rPr lang="en-US" sz="1700" b="1" dirty="0">
                <a:solidFill>
                  <a:srgbClr val="EF5B3F"/>
                </a:solidFill>
              </a:rPr>
              <a:t>[to clearly see / clearly see]</a:t>
            </a:r>
            <a:pPr indent="0" marL="0">
              <a:buNone/>
            </a:pPr>
            <a:r>
              <a:rPr lang="en-US" sz="1700" dirty="0">
                <a:solidFill>
                  <a:srgbClr val="1E2B2A"/>
                </a:solidFill>
              </a:rPr>
              <a:t> potential problems. (Ex 95)</a:t>
            </a:r>
            <a:endParaRPr lang="en-US" sz="1700" dirty="0"/>
          </a:p>
        </p:txBody>
      </p:sp>
      <p:sp>
        <p:nvSpPr>
          <p:cNvPr id="13" name="Shape 11"/>
          <p:cNvSpPr/>
          <p:nvPr/>
        </p:nvSpPr>
        <p:spPr>
          <a:xfrm>
            <a:off x="548640" y="3749040"/>
            <a:ext cx="11064240" cy="731520"/>
          </a:xfrm>
          <a:prstGeom prst="roundRect">
            <a:avLst>
              <a:gd name="adj" fmla="val 12500"/>
            </a:avLst>
          </a:prstGeom>
          <a:solidFill>
            <a:srgbClr val="FFFFFF"/>
          </a:solidFill>
          <a:ln w="12700">
            <a:solidFill>
              <a:srgbClr val="E6F2ED"/>
            </a:solidFill>
            <a:prstDash val="solid"/>
          </a:ln>
        </p:spPr>
      </p:sp>
      <p:sp>
        <p:nvSpPr>
          <p:cNvPr id="14" name="Text 12"/>
          <p:cNvSpPr/>
          <p:nvPr/>
        </p:nvSpPr>
        <p:spPr>
          <a:xfrm>
            <a:off x="731520" y="3886200"/>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5" name="Text 13"/>
          <p:cNvSpPr txBox="1"/>
          <p:nvPr/>
        </p:nvSpPr>
        <p:spPr>
          <a:xfrm>
            <a:off x="1371600" y="3749040"/>
            <a:ext cx="10058400" cy="731520"/>
          </a:xfrm>
          <a:prstGeom prst="rect">
            <a:avLst/>
          </a:prstGeom>
          <a:noFill/>
          <a:ln/>
        </p:spPr>
        <p:txBody>
          <a:bodyPr wrap="square" lIns="0" tIns="0" rIns="0" bIns="0" rtlCol="0" anchor="ctr">
            <a:normAutofit/>
          </a:bodyPr>
          <a:lstStyle/>
          <a:p>
            <a:pPr indent="0" marL="0">
              <a:buNone/>
            </a:pPr>
            <a:r>
              <a:rPr lang="en-US" sz="1700" dirty="0">
                <a:solidFill>
                  <a:srgbClr val="1E2B2A"/>
                </a:solidFill>
              </a:rPr>
              <a:t>At the root of trained incapacity </a:t>
            </a:r>
            <a:pPr indent="0" marL="0">
              <a:buNone/>
            </a:pPr>
            <a:r>
              <a:rPr lang="en-US" sz="1700" b="1" dirty="0">
                <a:solidFill>
                  <a:srgbClr val="EF5B3F"/>
                </a:solidFill>
              </a:rPr>
              <a:t>[is / are]</a:t>
            </a:r>
            <a:pPr indent="0" marL="0">
              <a:buNone/>
            </a:pPr>
            <a:r>
              <a:rPr lang="en-US" sz="1700" dirty="0">
                <a:solidFill>
                  <a:srgbClr val="1E2B2A"/>
                </a:solidFill>
              </a:rPr>
              <a:t> a job with little variety. (Ex 100)</a:t>
            </a:r>
            <a:endParaRPr lang="en-US" sz="1700" dirty="0"/>
          </a:p>
        </p:txBody>
      </p:sp>
      <p:sp>
        <p:nvSpPr>
          <p:cNvPr id="16" name="Shape 14"/>
          <p:cNvSpPr/>
          <p:nvPr/>
        </p:nvSpPr>
        <p:spPr>
          <a:xfrm>
            <a:off x="548640" y="4572000"/>
            <a:ext cx="11064240" cy="731520"/>
          </a:xfrm>
          <a:prstGeom prst="roundRect">
            <a:avLst>
              <a:gd name="adj" fmla="val 12500"/>
            </a:avLst>
          </a:prstGeom>
          <a:solidFill>
            <a:srgbClr val="F7FAF9"/>
          </a:solidFill>
          <a:ln w="12700">
            <a:solidFill>
              <a:srgbClr val="E6F2ED"/>
            </a:solidFill>
            <a:prstDash val="solid"/>
          </a:ln>
        </p:spPr>
      </p:sp>
      <p:sp>
        <p:nvSpPr>
          <p:cNvPr id="17" name="Text 15"/>
          <p:cNvSpPr/>
          <p:nvPr/>
        </p:nvSpPr>
        <p:spPr>
          <a:xfrm>
            <a:off x="731520" y="4709160"/>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8" name="Text 16"/>
          <p:cNvSpPr txBox="1"/>
          <p:nvPr/>
        </p:nvSpPr>
        <p:spPr>
          <a:xfrm>
            <a:off x="1371600" y="4572000"/>
            <a:ext cx="10058400" cy="731520"/>
          </a:xfrm>
          <a:prstGeom prst="rect">
            <a:avLst/>
          </a:prstGeom>
          <a:noFill/>
          <a:ln/>
        </p:spPr>
        <p:txBody>
          <a:bodyPr wrap="square" lIns="0" tIns="0" rIns="0" bIns="0" rtlCol="0" anchor="ctr">
            <a:normAutofit/>
          </a:bodyPr>
          <a:lstStyle/>
          <a:p>
            <a:pPr indent="0" marL="0">
              <a:buNone/>
            </a:pPr>
            <a:r>
              <a:rPr lang="en-US" sz="1700" dirty="0">
                <a:solidFill>
                  <a:srgbClr val="1E2B2A"/>
                </a:solidFill>
              </a:rPr>
              <a:t>Robert Ferber had respondents </a:t>
            </a:r>
            <a:pPr indent="0" marL="0">
              <a:buNone/>
            </a:pPr>
            <a:r>
              <a:rPr lang="en-US" sz="1700" b="1" dirty="0">
                <a:solidFill>
                  <a:srgbClr val="EF5B3F"/>
                </a:solidFill>
              </a:rPr>
              <a:t>[rate / to rate]</a:t>
            </a:r>
            <a:pPr indent="0" marL="0">
              <a:buNone/>
            </a:pPr>
            <a:r>
              <a:rPr lang="en-US" sz="1700" dirty="0">
                <a:solidFill>
                  <a:srgbClr val="1E2B2A"/>
                </a:solidFill>
              </a:rPr>
              <a:t> a list of occupations. (Ex 98)</a:t>
            </a:r>
            <a:endParaRPr lang="en-US" sz="1700" dirty="0"/>
          </a:p>
        </p:txBody>
      </p:sp>
      <p:sp>
        <p:nvSpPr>
          <p:cNvPr id="19" name="Shape 17"/>
          <p:cNvSpPr/>
          <p:nvPr/>
        </p:nvSpPr>
        <p:spPr>
          <a:xfrm>
            <a:off x="548640" y="5394960"/>
            <a:ext cx="11064240" cy="731520"/>
          </a:xfrm>
          <a:prstGeom prst="roundRect">
            <a:avLst>
              <a:gd name="adj" fmla="val 12500"/>
            </a:avLst>
          </a:prstGeom>
          <a:solidFill>
            <a:srgbClr val="FFFFFF"/>
          </a:solidFill>
          <a:ln w="12700">
            <a:solidFill>
              <a:srgbClr val="E6F2ED"/>
            </a:solidFill>
            <a:prstDash val="solid"/>
          </a:ln>
        </p:spPr>
      </p:sp>
      <p:sp>
        <p:nvSpPr>
          <p:cNvPr id="20" name="Text 18"/>
          <p:cNvSpPr/>
          <p:nvPr/>
        </p:nvSpPr>
        <p:spPr>
          <a:xfrm>
            <a:off x="731520" y="5532120"/>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1" name="Text 19"/>
          <p:cNvSpPr txBox="1"/>
          <p:nvPr/>
        </p:nvSpPr>
        <p:spPr>
          <a:xfrm>
            <a:off x="1371600" y="5394960"/>
            <a:ext cx="10058400" cy="731520"/>
          </a:xfrm>
          <a:prstGeom prst="rect">
            <a:avLst/>
          </a:prstGeom>
          <a:noFill/>
          <a:ln/>
        </p:spPr>
        <p:txBody>
          <a:bodyPr wrap="square" lIns="0" tIns="0" rIns="0" bIns="0" rtlCol="0" anchor="ctr">
            <a:normAutofit/>
          </a:bodyPr>
          <a:lstStyle/>
          <a:p>
            <a:pPr indent="0" marL="0">
              <a:buNone/>
            </a:pPr>
            <a:r>
              <a:rPr lang="en-US" sz="1700" dirty="0">
                <a:solidFill>
                  <a:srgbClr val="1E2B2A"/>
                </a:solidFill>
              </a:rPr>
              <a:t>The more complicated the plan was, </a:t>
            </a:r>
            <a:pPr indent="0" marL="0">
              <a:buNone/>
            </a:pPr>
            <a:r>
              <a:rPr lang="en-US" sz="1700" b="1" dirty="0">
                <a:solidFill>
                  <a:srgbClr val="EF5B3F"/>
                </a:solidFill>
              </a:rPr>
              <a:t>[the sooner / sooner]</a:t>
            </a:r>
            <a:pPr indent="0" marL="0">
              <a:buNone/>
            </a:pPr>
            <a:r>
              <a:rPr lang="en-US" sz="1700" dirty="0">
                <a:solidFill>
                  <a:srgbClr val="1E2B2A"/>
                </a:solidFill>
              </a:rPr>
              <a:t> they dropped it. (Ex 99)</a:t>
            </a:r>
            <a:endParaRPr lang="en-US" sz="17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rgbClr val="14453D"/>
                </a:solidFill>
              </a:rPr>
              <a:t>어법 골든벨 — 정답</a:t>
            </a:r>
            <a:endParaRPr lang="en-US" sz="3000" dirty="0"/>
          </a:p>
        </p:txBody>
      </p:sp>
      <p:sp>
        <p:nvSpPr>
          <p:cNvPr id="3" name="Text 1"/>
          <p:cNvSpPr/>
          <p:nvPr/>
        </p:nvSpPr>
        <p:spPr>
          <a:xfrm>
            <a:off x="9692640" y="548640"/>
            <a:ext cx="1920240" cy="329184"/>
          </a:xfrm>
          <a:prstGeom prst="roundRect">
            <a:avLst>
              <a:gd name="adj" fmla="val 41667"/>
            </a:avLst>
          </a:prstGeom>
          <a:solidFill>
            <a:srgbClr val="EF5B3F"/>
          </a:solidFill>
          <a:ln/>
        </p:spPr>
        <p:txBody>
          <a:bodyPr wrap="square" lIns="0" tIns="0" rIns="0" bIns="0" rtlCol="0" anchor="ctr"/>
          <a:lstStyle/>
          <a:p>
            <a:pPr algn="ctr" indent="0" marL="0">
              <a:buNone/>
            </a:pPr>
            <a:r>
              <a:rPr lang="en-US" sz="1200" b="1" dirty="0">
                <a:solidFill>
                  <a:srgbClr val="FFFFFF"/>
                </a:solidFill>
              </a:rPr>
              <a:t>복습 미니테스트</a:t>
            </a:r>
            <a:endParaRPr lang="en-US" sz="1200" dirty="0"/>
          </a:p>
        </p:txBody>
      </p:sp>
      <p:sp>
        <p:nvSpPr>
          <p:cNvPr id="4" name="Shape 2"/>
          <p:cNvSpPr/>
          <p:nvPr/>
        </p:nvSpPr>
        <p:spPr>
          <a:xfrm>
            <a:off x="548640" y="1280160"/>
            <a:ext cx="11064240" cy="731520"/>
          </a:xfrm>
          <a:prstGeom prst="roundRect">
            <a:avLst>
              <a:gd name="adj" fmla="val 12500"/>
            </a:avLst>
          </a:prstGeom>
          <a:solidFill>
            <a:srgbClr val="F7FAF9"/>
          </a:solidFill>
          <a:ln w="12700">
            <a:solidFill>
              <a:srgbClr val="E6F2ED"/>
            </a:solidFill>
            <a:prstDash val="solid"/>
          </a:ln>
        </p:spPr>
      </p:sp>
      <p:sp>
        <p:nvSpPr>
          <p:cNvPr id="5" name="Text 3"/>
          <p:cNvSpPr/>
          <p:nvPr/>
        </p:nvSpPr>
        <p:spPr>
          <a:xfrm>
            <a:off x="731520" y="1417320"/>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71600" y="1280160"/>
            <a:ext cx="10058400" cy="731520"/>
          </a:xfrm>
          <a:prstGeom prst="rect">
            <a:avLst/>
          </a:prstGeom>
          <a:noFill/>
          <a:ln/>
        </p:spPr>
        <p:txBody>
          <a:bodyPr wrap="square" lIns="0" tIns="0" rIns="0" bIns="0" rtlCol="0" anchor="ctr">
            <a:normAutofit/>
          </a:bodyPr>
          <a:lstStyle/>
          <a:p>
            <a:pPr indent="0" marL="0">
              <a:buNone/>
            </a:pPr>
            <a:r>
              <a:rPr lang="en-US" sz="1700" dirty="0">
                <a:solidFill>
                  <a:srgbClr val="1E2B2A"/>
                </a:solidFill>
              </a:rPr>
              <a:t>Many cases of such social contagion </a:t>
            </a:r>
            <a:pPr indent="0" marL="0">
              <a:buNone/>
            </a:pPr>
            <a:r>
              <a:rPr lang="en-US" sz="1700" b="1" dirty="0">
                <a:solidFill>
                  <a:srgbClr val="14453D"/>
                </a:solidFill>
                <a:highlight>
                  <a:srgbClr val="A9DDF3"/>
                </a:highlight>
              </a:rPr>
              <a:t>happen</a:t>
            </a:r>
            <a:pPr indent="0" marL="0">
              <a:buNone/>
            </a:pPr>
            <a:r>
              <a:rPr lang="en-US" sz="1700" dirty="0">
                <a:solidFill>
                  <a:srgbClr val="1E2B2A"/>
                </a:solidFill>
              </a:rPr>
              <a:t> in subtle ways. (Ex 94)</a:t>
            </a:r>
            <a:pPr indent="0" marL="0">
              <a:buNone/>
            </a:pPr>
            <a:r>
              <a:rPr lang="en-US" sz="1300" dirty="0">
                <a:solidFill>
                  <a:srgbClr val="6E7F7C"/>
                </a:solidFill>
              </a:rPr>
              <a:t>   ← 주어 cases(복수)</a:t>
            </a:r>
            <a:endParaRPr lang="en-US" sz="1700" dirty="0"/>
          </a:p>
        </p:txBody>
      </p:sp>
      <p:sp>
        <p:nvSpPr>
          <p:cNvPr id="7" name="Shape 5"/>
          <p:cNvSpPr/>
          <p:nvPr/>
        </p:nvSpPr>
        <p:spPr>
          <a:xfrm>
            <a:off x="548640" y="2103120"/>
            <a:ext cx="11064240" cy="731520"/>
          </a:xfrm>
          <a:prstGeom prst="roundRect">
            <a:avLst>
              <a:gd name="adj" fmla="val 12500"/>
            </a:avLst>
          </a:prstGeom>
          <a:solidFill>
            <a:srgbClr val="FFFFFF"/>
          </a:solidFill>
          <a:ln w="12700">
            <a:solidFill>
              <a:srgbClr val="E6F2ED"/>
            </a:solidFill>
            <a:prstDash val="solid"/>
          </a:ln>
        </p:spPr>
      </p:sp>
      <p:sp>
        <p:nvSpPr>
          <p:cNvPr id="8" name="Text 6"/>
          <p:cNvSpPr/>
          <p:nvPr/>
        </p:nvSpPr>
        <p:spPr>
          <a:xfrm>
            <a:off x="731520" y="2240280"/>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Text 7"/>
          <p:cNvSpPr txBox="1"/>
          <p:nvPr/>
        </p:nvSpPr>
        <p:spPr>
          <a:xfrm>
            <a:off x="1371600" y="2103120"/>
            <a:ext cx="10058400" cy="731520"/>
          </a:xfrm>
          <a:prstGeom prst="rect">
            <a:avLst/>
          </a:prstGeom>
          <a:noFill/>
          <a:ln/>
        </p:spPr>
        <p:txBody>
          <a:bodyPr wrap="square" lIns="0" tIns="0" rIns="0" bIns="0" rtlCol="0" anchor="ctr">
            <a:normAutofit/>
          </a:bodyPr>
          <a:lstStyle/>
          <a:p>
            <a:pPr indent="0" marL="0">
              <a:buNone/>
            </a:pPr>
            <a:r>
              <a:rPr lang="en-US" sz="1700" dirty="0">
                <a:solidFill>
                  <a:srgbClr val="1E2B2A"/>
                </a:solidFill>
              </a:rPr>
              <a:t>…a sophisticated sense of smell, which </a:t>
            </a:r>
            <a:pPr indent="0" marL="0">
              <a:buNone/>
            </a:pPr>
            <a:r>
              <a:rPr lang="en-US" sz="1700" b="1" dirty="0">
                <a:solidFill>
                  <a:srgbClr val="14453D"/>
                </a:solidFill>
                <a:highlight>
                  <a:srgbClr val="A9DDF3"/>
                </a:highlight>
              </a:rPr>
              <a:t>consists of</a:t>
            </a:r>
            <a:pPr indent="0" marL="0">
              <a:buNone/>
            </a:pPr>
            <a:r>
              <a:rPr lang="en-US" sz="1700" dirty="0">
                <a:solidFill>
                  <a:srgbClr val="1E2B2A"/>
                </a:solidFill>
              </a:rPr>
              <a:t> two systems. (Ex 96)</a:t>
            </a:r>
            <a:pPr indent="0" marL="0">
              <a:buNone/>
            </a:pPr>
            <a:r>
              <a:rPr lang="en-US" sz="1300" dirty="0">
                <a:solidFill>
                  <a:srgbClr val="6E7F7C"/>
                </a:solidFill>
              </a:rPr>
              <a:t>   ← consist는 수동태 불가</a:t>
            </a:r>
            <a:endParaRPr lang="en-US" sz="1700" dirty="0"/>
          </a:p>
        </p:txBody>
      </p:sp>
      <p:sp>
        <p:nvSpPr>
          <p:cNvPr id="10" name="Shape 8"/>
          <p:cNvSpPr/>
          <p:nvPr/>
        </p:nvSpPr>
        <p:spPr>
          <a:xfrm>
            <a:off x="548640" y="2926080"/>
            <a:ext cx="11064240" cy="731520"/>
          </a:xfrm>
          <a:prstGeom prst="roundRect">
            <a:avLst>
              <a:gd name="adj" fmla="val 12500"/>
            </a:avLst>
          </a:prstGeom>
          <a:solidFill>
            <a:srgbClr val="F7FAF9"/>
          </a:solidFill>
          <a:ln w="12700">
            <a:solidFill>
              <a:srgbClr val="E6F2ED"/>
            </a:solidFill>
            <a:prstDash val="solid"/>
          </a:ln>
        </p:spPr>
      </p:sp>
      <p:sp>
        <p:nvSpPr>
          <p:cNvPr id="11" name="Text 9"/>
          <p:cNvSpPr/>
          <p:nvPr/>
        </p:nvSpPr>
        <p:spPr>
          <a:xfrm>
            <a:off x="731520" y="3063240"/>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2" name="Text 10"/>
          <p:cNvSpPr txBox="1"/>
          <p:nvPr/>
        </p:nvSpPr>
        <p:spPr>
          <a:xfrm>
            <a:off x="1371600" y="2926080"/>
            <a:ext cx="10058400" cy="731520"/>
          </a:xfrm>
          <a:prstGeom prst="rect">
            <a:avLst/>
          </a:prstGeom>
          <a:noFill/>
          <a:ln/>
        </p:spPr>
        <p:txBody>
          <a:bodyPr wrap="square" lIns="0" tIns="0" rIns="0" bIns="0" rtlCol="0" anchor="ctr">
            <a:normAutofit/>
          </a:bodyPr>
          <a:lstStyle/>
          <a:p>
            <a:pPr indent="0" marL="0">
              <a:buNone/>
            </a:pPr>
            <a:r>
              <a:rPr lang="en-US" sz="1700" dirty="0">
                <a:solidFill>
                  <a:srgbClr val="1E2B2A"/>
                </a:solidFill>
              </a:rPr>
              <a:t>This reflection process enables you </a:t>
            </a:r>
            <a:pPr indent="0" marL="0">
              <a:buNone/>
            </a:pPr>
            <a:r>
              <a:rPr lang="en-US" sz="1700" b="1" dirty="0">
                <a:solidFill>
                  <a:srgbClr val="14453D"/>
                </a:solidFill>
                <a:highlight>
                  <a:srgbClr val="A9DDF3"/>
                </a:highlight>
              </a:rPr>
              <a:t>to clearly see</a:t>
            </a:r>
            <a:pPr indent="0" marL="0">
              <a:buNone/>
            </a:pPr>
            <a:r>
              <a:rPr lang="en-US" sz="1700" dirty="0">
                <a:solidFill>
                  <a:srgbClr val="1E2B2A"/>
                </a:solidFill>
              </a:rPr>
              <a:t> potential problems. (Ex 95)</a:t>
            </a:r>
            <a:pPr indent="0" marL="0">
              <a:buNone/>
            </a:pPr>
            <a:r>
              <a:rPr lang="en-US" sz="1300" dirty="0">
                <a:solidFill>
                  <a:srgbClr val="6E7F7C"/>
                </a:solidFill>
              </a:rPr>
              <a:t>   ← enable O to V</a:t>
            </a:r>
            <a:endParaRPr lang="en-US" sz="1700" dirty="0"/>
          </a:p>
        </p:txBody>
      </p:sp>
      <p:sp>
        <p:nvSpPr>
          <p:cNvPr id="13" name="Shape 11"/>
          <p:cNvSpPr/>
          <p:nvPr/>
        </p:nvSpPr>
        <p:spPr>
          <a:xfrm>
            <a:off x="548640" y="3749040"/>
            <a:ext cx="11064240" cy="731520"/>
          </a:xfrm>
          <a:prstGeom prst="roundRect">
            <a:avLst>
              <a:gd name="adj" fmla="val 12500"/>
            </a:avLst>
          </a:prstGeom>
          <a:solidFill>
            <a:srgbClr val="FFFFFF"/>
          </a:solidFill>
          <a:ln w="12700">
            <a:solidFill>
              <a:srgbClr val="E6F2ED"/>
            </a:solidFill>
            <a:prstDash val="solid"/>
          </a:ln>
        </p:spPr>
      </p:sp>
      <p:sp>
        <p:nvSpPr>
          <p:cNvPr id="14" name="Text 12"/>
          <p:cNvSpPr/>
          <p:nvPr/>
        </p:nvSpPr>
        <p:spPr>
          <a:xfrm>
            <a:off x="731520" y="3886200"/>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5" name="Text 13"/>
          <p:cNvSpPr txBox="1"/>
          <p:nvPr/>
        </p:nvSpPr>
        <p:spPr>
          <a:xfrm>
            <a:off x="1371600" y="3749040"/>
            <a:ext cx="10058400" cy="731520"/>
          </a:xfrm>
          <a:prstGeom prst="rect">
            <a:avLst/>
          </a:prstGeom>
          <a:noFill/>
          <a:ln/>
        </p:spPr>
        <p:txBody>
          <a:bodyPr wrap="square" lIns="0" tIns="0" rIns="0" bIns="0" rtlCol="0" anchor="ctr">
            <a:normAutofit/>
          </a:bodyPr>
          <a:lstStyle/>
          <a:p>
            <a:pPr indent="0" marL="0">
              <a:buNone/>
            </a:pPr>
            <a:r>
              <a:rPr lang="en-US" sz="1700" dirty="0">
                <a:solidFill>
                  <a:srgbClr val="1E2B2A"/>
                </a:solidFill>
              </a:rPr>
              <a:t>At the root of trained incapacity </a:t>
            </a:r>
            <a:pPr indent="0" marL="0">
              <a:buNone/>
            </a:pPr>
            <a:r>
              <a:rPr lang="en-US" sz="1700" b="1" dirty="0">
                <a:solidFill>
                  <a:srgbClr val="14453D"/>
                </a:solidFill>
                <a:highlight>
                  <a:srgbClr val="A9DDF3"/>
                </a:highlight>
              </a:rPr>
              <a:t>is</a:t>
            </a:r>
            <a:pPr indent="0" marL="0">
              <a:buNone/>
            </a:pPr>
            <a:r>
              <a:rPr lang="en-US" sz="1700" dirty="0">
                <a:solidFill>
                  <a:srgbClr val="1E2B2A"/>
                </a:solidFill>
              </a:rPr>
              <a:t> a job with little variety. (Ex 100)</a:t>
            </a:r>
            <a:pPr indent="0" marL="0">
              <a:buNone/>
            </a:pPr>
            <a:r>
              <a:rPr lang="en-US" sz="1300" dirty="0">
                <a:solidFill>
                  <a:srgbClr val="6E7F7C"/>
                </a:solidFill>
              </a:rPr>
              <a:t>   ← 부사구 도치 → 주어 a job(단수)</a:t>
            </a:r>
            <a:endParaRPr lang="en-US" sz="1700" dirty="0"/>
          </a:p>
        </p:txBody>
      </p:sp>
      <p:sp>
        <p:nvSpPr>
          <p:cNvPr id="16" name="Shape 14"/>
          <p:cNvSpPr/>
          <p:nvPr/>
        </p:nvSpPr>
        <p:spPr>
          <a:xfrm>
            <a:off x="548640" y="4572000"/>
            <a:ext cx="11064240" cy="731520"/>
          </a:xfrm>
          <a:prstGeom prst="roundRect">
            <a:avLst>
              <a:gd name="adj" fmla="val 12500"/>
            </a:avLst>
          </a:prstGeom>
          <a:solidFill>
            <a:srgbClr val="F7FAF9"/>
          </a:solidFill>
          <a:ln w="12700">
            <a:solidFill>
              <a:srgbClr val="E6F2ED"/>
            </a:solidFill>
            <a:prstDash val="solid"/>
          </a:ln>
        </p:spPr>
      </p:sp>
      <p:sp>
        <p:nvSpPr>
          <p:cNvPr id="17" name="Text 15"/>
          <p:cNvSpPr/>
          <p:nvPr/>
        </p:nvSpPr>
        <p:spPr>
          <a:xfrm>
            <a:off x="731520" y="4709160"/>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8" name="Text 16"/>
          <p:cNvSpPr txBox="1"/>
          <p:nvPr/>
        </p:nvSpPr>
        <p:spPr>
          <a:xfrm>
            <a:off x="1371600" y="4572000"/>
            <a:ext cx="10058400" cy="731520"/>
          </a:xfrm>
          <a:prstGeom prst="rect">
            <a:avLst/>
          </a:prstGeom>
          <a:noFill/>
          <a:ln/>
        </p:spPr>
        <p:txBody>
          <a:bodyPr wrap="square" lIns="0" tIns="0" rIns="0" bIns="0" rtlCol="0" anchor="ctr">
            <a:normAutofit/>
          </a:bodyPr>
          <a:lstStyle/>
          <a:p>
            <a:pPr indent="0" marL="0">
              <a:buNone/>
            </a:pPr>
            <a:r>
              <a:rPr lang="en-US" sz="1700" dirty="0">
                <a:solidFill>
                  <a:srgbClr val="1E2B2A"/>
                </a:solidFill>
              </a:rPr>
              <a:t>Robert Ferber had respondents </a:t>
            </a:r>
            <a:pPr indent="0" marL="0">
              <a:buNone/>
            </a:pPr>
            <a:r>
              <a:rPr lang="en-US" sz="1700" b="1" dirty="0">
                <a:solidFill>
                  <a:srgbClr val="14453D"/>
                </a:solidFill>
                <a:highlight>
                  <a:srgbClr val="A9DDF3"/>
                </a:highlight>
              </a:rPr>
              <a:t>rate</a:t>
            </a:r>
            <a:pPr indent="0" marL="0">
              <a:buNone/>
            </a:pPr>
            <a:r>
              <a:rPr lang="en-US" sz="1700" dirty="0">
                <a:solidFill>
                  <a:srgbClr val="1E2B2A"/>
                </a:solidFill>
              </a:rPr>
              <a:t> a list of occupations. (Ex 98)</a:t>
            </a:r>
            <a:pPr indent="0" marL="0">
              <a:buNone/>
            </a:pPr>
            <a:r>
              <a:rPr lang="en-US" sz="1300" dirty="0">
                <a:solidFill>
                  <a:srgbClr val="6E7F7C"/>
                </a:solidFill>
              </a:rPr>
              <a:t>   ← 사역동사 have + O + 동사원형</a:t>
            </a:r>
            <a:endParaRPr lang="en-US" sz="1700" dirty="0"/>
          </a:p>
        </p:txBody>
      </p:sp>
      <p:sp>
        <p:nvSpPr>
          <p:cNvPr id="19" name="Shape 17"/>
          <p:cNvSpPr/>
          <p:nvPr/>
        </p:nvSpPr>
        <p:spPr>
          <a:xfrm>
            <a:off x="548640" y="5394960"/>
            <a:ext cx="11064240" cy="731520"/>
          </a:xfrm>
          <a:prstGeom prst="roundRect">
            <a:avLst>
              <a:gd name="adj" fmla="val 12500"/>
            </a:avLst>
          </a:prstGeom>
          <a:solidFill>
            <a:srgbClr val="FFFFFF"/>
          </a:solidFill>
          <a:ln w="12700">
            <a:solidFill>
              <a:srgbClr val="E6F2ED"/>
            </a:solidFill>
            <a:prstDash val="solid"/>
          </a:ln>
        </p:spPr>
      </p:sp>
      <p:sp>
        <p:nvSpPr>
          <p:cNvPr id="20" name="Text 18"/>
          <p:cNvSpPr/>
          <p:nvPr/>
        </p:nvSpPr>
        <p:spPr>
          <a:xfrm>
            <a:off x="731520" y="5532120"/>
            <a:ext cx="457200" cy="457200"/>
          </a:xfrm>
          <a:prstGeom prst="ellipse">
            <a:avLst/>
          </a:prstGeom>
          <a:solidFill>
            <a:srgbClr val="1F7A64"/>
          </a:solid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1" name="Text 19"/>
          <p:cNvSpPr txBox="1"/>
          <p:nvPr/>
        </p:nvSpPr>
        <p:spPr>
          <a:xfrm>
            <a:off x="1371600" y="5394960"/>
            <a:ext cx="10058400" cy="731520"/>
          </a:xfrm>
          <a:prstGeom prst="rect">
            <a:avLst/>
          </a:prstGeom>
          <a:noFill/>
          <a:ln/>
        </p:spPr>
        <p:txBody>
          <a:bodyPr wrap="square" lIns="0" tIns="0" rIns="0" bIns="0" rtlCol="0" anchor="ctr">
            <a:normAutofit/>
          </a:bodyPr>
          <a:lstStyle/>
          <a:p>
            <a:pPr indent="0" marL="0">
              <a:buNone/>
            </a:pPr>
            <a:r>
              <a:rPr lang="en-US" sz="1700" dirty="0">
                <a:solidFill>
                  <a:srgbClr val="1E2B2A"/>
                </a:solidFill>
              </a:rPr>
              <a:t>The more complicated the plan was, </a:t>
            </a:r>
            <a:pPr indent="0" marL="0">
              <a:buNone/>
            </a:pPr>
            <a:r>
              <a:rPr lang="en-US" sz="1700" b="1" dirty="0">
                <a:solidFill>
                  <a:srgbClr val="14453D"/>
                </a:solidFill>
                <a:highlight>
                  <a:srgbClr val="A9DDF3"/>
                </a:highlight>
              </a:rPr>
              <a:t>the sooner</a:t>
            </a:r>
            <a:pPr indent="0" marL="0">
              <a:buNone/>
            </a:pPr>
            <a:r>
              <a:rPr lang="en-US" sz="1700" dirty="0">
                <a:solidFill>
                  <a:srgbClr val="1E2B2A"/>
                </a:solidFill>
              </a:rPr>
              <a:t> they dropped it. (Ex 99)</a:t>
            </a:r>
            <a:pPr indent="0" marL="0">
              <a:buNone/>
            </a:pPr>
            <a:r>
              <a:rPr lang="en-US" sz="1300" dirty="0">
                <a:solidFill>
                  <a:srgbClr val="6E7F7C"/>
                </a:solidFill>
              </a:rPr>
              <a:t>   ← the 비교급, the 비교급</a:t>
            </a:r>
            <a:endParaRPr lang="en-US" sz="17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7C"/>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914400"/>
            <a:ext cx="822960" cy="822960"/>
          </a:xfrm>
          <a:prstGeom prst="rect">
            <a:avLst/>
          </a:prstGeom>
        </p:spPr>
      </p:pic>
      <p:sp>
        <p:nvSpPr>
          <p:cNvPr id="3" name="Text 0"/>
          <p:cNvSpPr/>
          <p:nvPr>
            <p:ph idx="100" type="title" hasCustomPrompt="1"/>
          </p:nvPr>
        </p:nvSpPr>
        <p:spPr>
          <a:xfrm>
            <a:off x="731520" y="2011680"/>
            <a:ext cx="10698480" cy="1463040"/>
          </a:xfrm>
          <a:prstGeom prst="rect">
            <a:avLst/>
          </a:prstGeom>
          <a:noFill/>
          <a:ln/>
        </p:spPr>
        <p:txBody>
          <a:bodyPr wrap="square" lIns="0" tIns="0" rIns="0" bIns="0" rtlCol="0" anchor="ctr"/>
          <a:lstStyle/>
          <a:p>
            <a:pPr algn="l" indent="0" marL="0">
              <a:buNone/>
            </a:pPr>
            <a:r>
              <a:rPr lang="en-US" sz="4400" b="1" dirty="0">
                <a:solidFill>
                  <a:srgbClr val="FFFFFF"/>
                </a:solidFill>
              </a:rPr>
              <a:t>요약문의 답은 본문 주제문의 '다른 말'이다</a:t>
            </a:r>
            <a:endParaRPr lang="en-US" sz="4400" dirty="0"/>
          </a:p>
        </p:txBody>
      </p:sp>
      <p:sp>
        <p:nvSpPr>
          <p:cNvPr id="4" name="Text 0"/>
          <p:cNvSpPr/>
          <p:nvPr>
            <p:ph idx="101" type="body" hasCustomPrompt="1"/>
          </p:nvPr>
        </p:nvSpPr>
        <p:spPr>
          <a:xfrm>
            <a:off x="731520" y="3566160"/>
            <a:ext cx="10698480" cy="1280160"/>
          </a:xfrm>
          <a:prstGeom prst="rect">
            <a:avLst/>
          </a:prstGeom>
          <a:noFill/>
          <a:ln/>
        </p:spPr>
        <p:txBody>
          <a:bodyPr wrap="square" lIns="0" tIns="0" rIns="0" bIns="0" rtlCol="0" anchor="t"/>
          <a:lstStyle/>
          <a:p>
            <a:pPr algn="l" indent="0" marL="0">
              <a:buNone/>
            </a:pPr>
            <a:r>
              <a:rPr lang="en-US" sz="2000" dirty="0">
                <a:solidFill>
                  <a:srgbClr val="E6F2ED"/>
                </a:solidFill>
              </a:rPr>
              <a:t>① 요약문부터 읽기   ② 주제문·결론 찾기   ③ 짝으로 검증하기</a:t>
            </a:r>
            <a:endParaRPr lang="en-US" sz="2000" dirty="0"/>
          </a:p>
          <a:p>
            <a:pPr algn="l" indent="0" marL="0">
              <a:buNone/>
            </a:pPr>
            <a:r>
              <a:rPr lang="en-US" sz="2000" b="1" dirty="0">
                <a:solidFill>
                  <a:srgbClr val="FFD45C"/>
                </a:solidFill>
              </a:rPr>
              <a:t>복습 과제: 틀린 문제의 요약문 (A)·(B)를 본문 속 단어로 다시 찾아 써 오기</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87</Slides>
  <Notes>87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87</vt:i4>
      </vt:variant>
    </vt:vector>
  </HeadingPairs>
  <TitlesOfParts>
    <vt:vector size="9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독해 유형심화 Unit 08 해설강의</dc:title>
  <dc:subject>PptxGenJS Presentation</dc:subject>
  <dc:creator>David</dc:creator>
  <cp:lastModifiedBy>David</cp:lastModifiedBy>
  <cp:revision>1</cp:revision>
  <dcterms:created xsi:type="dcterms:W3CDTF">2026-10-13T18:59:18Z</dcterms:created>
  <dcterms:modified xsi:type="dcterms:W3CDTF">2026-10-13T18:59:18Z</dcterms:modified>
</cp:coreProperties>
</file>